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516" r:id="rId2"/>
    <p:sldId id="364" r:id="rId3"/>
    <p:sldId id="293" r:id="rId4"/>
    <p:sldId id="517" r:id="rId5"/>
    <p:sldId id="365" r:id="rId6"/>
    <p:sldId id="367" r:id="rId7"/>
    <p:sldId id="362" r:id="rId8"/>
    <p:sldId id="370" r:id="rId9"/>
    <p:sldId id="369" r:id="rId10"/>
    <p:sldId id="518" r:id="rId11"/>
    <p:sldId id="371" r:id="rId12"/>
    <p:sldId id="372" r:id="rId13"/>
    <p:sldId id="363" r:id="rId14"/>
    <p:sldId id="515" r:id="rId15"/>
    <p:sldId id="519" r:id="rId16"/>
    <p:sldId id="520" r:id="rId17"/>
    <p:sldId id="521" r:id="rId18"/>
    <p:sldId id="522" r:id="rId19"/>
    <p:sldId id="523" r:id="rId20"/>
    <p:sldId id="524" r:id="rId21"/>
    <p:sldId id="525" r:id="rId22"/>
    <p:sldId id="526" r:id="rId23"/>
    <p:sldId id="527" r:id="rId24"/>
    <p:sldId id="528" r:id="rId25"/>
    <p:sldId id="529" r:id="rId26"/>
    <p:sldId id="530" r:id="rId27"/>
    <p:sldId id="531" r:id="rId28"/>
    <p:sldId id="532" r:id="rId29"/>
    <p:sldId id="533" r:id="rId30"/>
    <p:sldId id="534" r:id="rId31"/>
    <p:sldId id="535" r:id="rId32"/>
    <p:sldId id="562" r:id="rId33"/>
    <p:sldId id="536" r:id="rId34"/>
    <p:sldId id="561" r:id="rId35"/>
    <p:sldId id="537" r:id="rId36"/>
    <p:sldId id="540" r:id="rId37"/>
    <p:sldId id="541" r:id="rId38"/>
    <p:sldId id="542" r:id="rId39"/>
    <p:sldId id="543" r:id="rId40"/>
    <p:sldId id="544" r:id="rId41"/>
    <p:sldId id="545" r:id="rId42"/>
    <p:sldId id="546" r:id="rId43"/>
    <p:sldId id="547" r:id="rId44"/>
    <p:sldId id="548" r:id="rId45"/>
    <p:sldId id="549" r:id="rId46"/>
    <p:sldId id="550" r:id="rId47"/>
    <p:sldId id="551" r:id="rId48"/>
    <p:sldId id="552" r:id="rId49"/>
    <p:sldId id="553" r:id="rId50"/>
    <p:sldId id="554" r:id="rId51"/>
    <p:sldId id="555" r:id="rId52"/>
    <p:sldId id="556" r:id="rId53"/>
    <p:sldId id="557" r:id="rId54"/>
    <p:sldId id="558" r:id="rId55"/>
    <p:sldId id="559" r:id="rId56"/>
    <p:sldId id="560" r:id="rId57"/>
  </p:sldIdLst>
  <p:sldSz cx="9144000" cy="6858000" type="screen4x3"/>
  <p:notesSz cx="6735763" cy="9866313"/>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FF3300"/>
    <a:srgbClr val="000099"/>
    <a:srgbClr val="FF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4604" autoAdjust="0"/>
  </p:normalViewPr>
  <p:slideViewPr>
    <p:cSldViewPr>
      <p:cViewPr varScale="1">
        <p:scale>
          <a:sx n="113" d="100"/>
          <a:sy n="113" d="100"/>
        </p:scale>
        <p:origin x="161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9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emf"/><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 Id="rId4"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image" Target="../media/image19.emf"/><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 Id="rId4" Type="http://schemas.openxmlformats.org/officeDocument/2006/relationships/image" Target="../media/image44.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image" Target="../media/image60.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image" Target="../media/image63.emf"/><Relationship Id="rId4" Type="http://schemas.openxmlformats.org/officeDocument/2006/relationships/image" Target="../media/image66.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image" Target="../media/image75.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7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98307" name="Rectangle 3"/>
          <p:cNvSpPr>
            <a:spLocks noGrp="1" noChangeArrowheads="1"/>
          </p:cNvSpPr>
          <p:nvPr>
            <p:ph type="dt" sz="quarter" idx="1"/>
          </p:nvPr>
        </p:nvSpPr>
        <p:spPr bwMode="auto">
          <a:xfrm>
            <a:off x="3816932"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98308" name="Rectangle 4"/>
          <p:cNvSpPr>
            <a:spLocks noGrp="1" noChangeArrowheads="1"/>
          </p:cNvSpPr>
          <p:nvPr>
            <p:ph type="ftr" sz="quarter" idx="2"/>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98309" name="Rectangle 5"/>
          <p:cNvSpPr>
            <a:spLocks noGrp="1" noChangeArrowheads="1"/>
          </p:cNvSpPr>
          <p:nvPr>
            <p:ph type="sldNum" sz="quarter" idx="3"/>
          </p:nvPr>
        </p:nvSpPr>
        <p:spPr bwMode="auto">
          <a:xfrm>
            <a:off x="3816932"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0C3DDC6-6A2C-42A6-B9B7-9EA83C342821}" type="slidenum">
              <a:rPr lang="en-US" altLang="zh-CN"/>
              <a:pPr>
                <a:defRPr/>
              </a:pPr>
              <a:t>‹#›</a:t>
            </a:fld>
            <a:endParaRPr lang="en-US" altLang="zh-CN"/>
          </a:p>
        </p:txBody>
      </p:sp>
    </p:spTree>
    <p:extLst>
      <p:ext uri="{BB962C8B-B14F-4D97-AF65-F5344CB8AC3E}">
        <p14:creationId xmlns:p14="http://schemas.microsoft.com/office/powerpoint/2010/main" val="2240902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95235" name="Rectangle 3"/>
          <p:cNvSpPr>
            <a:spLocks noGrp="1" noChangeArrowheads="1"/>
          </p:cNvSpPr>
          <p:nvPr>
            <p:ph type="dt" idx="1"/>
          </p:nvPr>
        </p:nvSpPr>
        <p:spPr bwMode="auto">
          <a:xfrm>
            <a:off x="3816932"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01700" y="739775"/>
            <a:ext cx="4932363"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5237" name="Rectangle 5"/>
          <p:cNvSpPr>
            <a:spLocks noGrp="1" noChangeArrowheads="1"/>
          </p:cNvSpPr>
          <p:nvPr>
            <p:ph type="body" sz="quarter" idx="3"/>
          </p:nvPr>
        </p:nvSpPr>
        <p:spPr bwMode="auto">
          <a:xfrm>
            <a:off x="898102" y="4686499"/>
            <a:ext cx="4939560" cy="4439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5238" name="Rectangle 6"/>
          <p:cNvSpPr>
            <a:spLocks noGrp="1" noChangeArrowheads="1"/>
          </p:cNvSpPr>
          <p:nvPr>
            <p:ph type="ftr" sz="quarter" idx="4"/>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95239" name="Rectangle 7"/>
          <p:cNvSpPr>
            <a:spLocks noGrp="1" noChangeArrowheads="1"/>
          </p:cNvSpPr>
          <p:nvPr>
            <p:ph type="sldNum" sz="quarter" idx="5"/>
          </p:nvPr>
        </p:nvSpPr>
        <p:spPr bwMode="auto">
          <a:xfrm>
            <a:off x="3816932"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8D26423-D1AC-49B4-8C7E-D7B84EAF1C28}" type="slidenum">
              <a:rPr lang="en-US" altLang="zh-CN"/>
              <a:pPr>
                <a:defRPr/>
              </a:pPr>
              <a:t>‹#›</a:t>
            </a:fld>
            <a:endParaRPr lang="en-US" altLang="zh-CN"/>
          </a:p>
        </p:txBody>
      </p:sp>
    </p:spTree>
    <p:extLst>
      <p:ext uri="{BB962C8B-B14F-4D97-AF65-F5344CB8AC3E}">
        <p14:creationId xmlns:p14="http://schemas.microsoft.com/office/powerpoint/2010/main" val="3587772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8D26423-D1AC-49B4-8C7E-D7B84EAF1C28}" type="slidenum">
              <a:rPr lang="en-US" altLang="zh-CN" smtClean="0"/>
              <a:pPr>
                <a:defRPr/>
              </a:pPr>
              <a:t>30</a:t>
            </a:fld>
            <a:endParaRPr lang="en-US" altLang="zh-CN"/>
          </a:p>
        </p:txBody>
      </p:sp>
    </p:spTree>
    <p:extLst>
      <p:ext uri="{BB962C8B-B14F-4D97-AF65-F5344CB8AC3E}">
        <p14:creationId xmlns:p14="http://schemas.microsoft.com/office/powerpoint/2010/main" val="3010727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0E4B228-5326-4F6F-A1C1-3B07CBD3BD25}" type="slidenum">
              <a:rPr lang="en-US" altLang="zh-CN"/>
              <a:pPr>
                <a:spcBef>
                  <a:spcPct val="0"/>
                </a:spcBef>
              </a:pPr>
              <a:t>31</a:t>
            </a:fld>
            <a:endParaRPr lang="en-US" altLang="zh-CN"/>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extLst>
      <p:ext uri="{BB962C8B-B14F-4D97-AF65-F5344CB8AC3E}">
        <p14:creationId xmlns:p14="http://schemas.microsoft.com/office/powerpoint/2010/main" val="3809613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EB37889-8F7E-4958-A59C-C53B8E64853A}" type="slidenum">
              <a:rPr lang="en-US" altLang="zh-CN"/>
              <a:pPr>
                <a:defRPr/>
              </a:pPr>
              <a:t>‹#›</a:t>
            </a:fld>
            <a:endParaRPr lang="en-US" altLang="zh-CN"/>
          </a:p>
        </p:txBody>
      </p:sp>
    </p:spTree>
    <p:extLst>
      <p:ext uri="{BB962C8B-B14F-4D97-AF65-F5344CB8AC3E}">
        <p14:creationId xmlns:p14="http://schemas.microsoft.com/office/powerpoint/2010/main" val="390461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F6DAC6E-051E-43BF-A607-F6F4F9E2F096}" type="slidenum">
              <a:rPr lang="en-US" altLang="zh-CN"/>
              <a:pPr>
                <a:defRPr/>
              </a:pPr>
              <a:t>‹#›</a:t>
            </a:fld>
            <a:endParaRPr lang="en-US" altLang="zh-CN"/>
          </a:p>
        </p:txBody>
      </p:sp>
    </p:spTree>
    <p:extLst>
      <p:ext uri="{BB962C8B-B14F-4D97-AF65-F5344CB8AC3E}">
        <p14:creationId xmlns:p14="http://schemas.microsoft.com/office/powerpoint/2010/main" val="292241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95D2784-9352-48DC-9739-21571277B191}" type="slidenum">
              <a:rPr lang="en-US" altLang="zh-CN"/>
              <a:pPr>
                <a:defRPr/>
              </a:pPr>
              <a:t>‹#›</a:t>
            </a:fld>
            <a:endParaRPr lang="en-US" altLang="zh-CN"/>
          </a:p>
        </p:txBody>
      </p:sp>
    </p:spTree>
    <p:extLst>
      <p:ext uri="{BB962C8B-B14F-4D97-AF65-F5344CB8AC3E}">
        <p14:creationId xmlns:p14="http://schemas.microsoft.com/office/powerpoint/2010/main" val="1603150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6CD904D-DCB6-4AC4-B959-E7608D4C7593}" type="slidenum">
              <a:rPr lang="en-US" altLang="zh-CN"/>
              <a:pPr>
                <a:defRPr/>
              </a:pPr>
              <a:t>‹#›</a:t>
            </a:fld>
            <a:endParaRPr lang="en-US" altLang="zh-CN"/>
          </a:p>
        </p:txBody>
      </p:sp>
    </p:spTree>
    <p:extLst>
      <p:ext uri="{BB962C8B-B14F-4D97-AF65-F5344CB8AC3E}">
        <p14:creationId xmlns:p14="http://schemas.microsoft.com/office/powerpoint/2010/main" val="2500942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A39410D-DA94-481D-899C-F16AAF2AE1EF}" type="slidenum">
              <a:rPr lang="en-US" altLang="zh-CN"/>
              <a:pPr>
                <a:defRPr/>
              </a:pPr>
              <a:t>‹#›</a:t>
            </a:fld>
            <a:endParaRPr lang="en-US" altLang="zh-CN"/>
          </a:p>
        </p:txBody>
      </p:sp>
    </p:spTree>
    <p:extLst>
      <p:ext uri="{BB962C8B-B14F-4D97-AF65-F5344CB8AC3E}">
        <p14:creationId xmlns:p14="http://schemas.microsoft.com/office/powerpoint/2010/main" val="54457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483704B-B939-41F0-A9C6-BADB80BC3F1C}" type="slidenum">
              <a:rPr lang="en-US" altLang="zh-CN"/>
              <a:pPr>
                <a:defRPr/>
              </a:pPr>
              <a:t>‹#›</a:t>
            </a:fld>
            <a:endParaRPr lang="en-US" altLang="zh-CN"/>
          </a:p>
        </p:txBody>
      </p:sp>
    </p:spTree>
    <p:extLst>
      <p:ext uri="{BB962C8B-B14F-4D97-AF65-F5344CB8AC3E}">
        <p14:creationId xmlns:p14="http://schemas.microsoft.com/office/powerpoint/2010/main" val="1764272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324DAC4-A72B-4AD4-8480-0E4C6687AABC}" type="slidenum">
              <a:rPr lang="en-US" altLang="zh-CN"/>
              <a:pPr>
                <a:defRPr/>
              </a:pPr>
              <a:t>‹#›</a:t>
            </a:fld>
            <a:endParaRPr lang="en-US" altLang="zh-CN"/>
          </a:p>
        </p:txBody>
      </p:sp>
    </p:spTree>
    <p:extLst>
      <p:ext uri="{BB962C8B-B14F-4D97-AF65-F5344CB8AC3E}">
        <p14:creationId xmlns:p14="http://schemas.microsoft.com/office/powerpoint/2010/main" val="2187944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C1DB5FA-8287-40A1-AF40-A4859F6D4DBC}" type="slidenum">
              <a:rPr lang="en-US" altLang="zh-CN"/>
              <a:pPr>
                <a:defRPr/>
              </a:pPr>
              <a:t>‹#›</a:t>
            </a:fld>
            <a:endParaRPr lang="en-US" altLang="zh-CN"/>
          </a:p>
        </p:txBody>
      </p:sp>
    </p:spTree>
    <p:extLst>
      <p:ext uri="{BB962C8B-B14F-4D97-AF65-F5344CB8AC3E}">
        <p14:creationId xmlns:p14="http://schemas.microsoft.com/office/powerpoint/2010/main" val="413138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963356-02F0-4D3E-A2A4-6A9DF9063953}" type="slidenum">
              <a:rPr lang="en-US" altLang="zh-CN"/>
              <a:pPr>
                <a:defRPr/>
              </a:pPr>
              <a:t>‹#›</a:t>
            </a:fld>
            <a:endParaRPr lang="en-US" altLang="zh-CN"/>
          </a:p>
        </p:txBody>
      </p:sp>
    </p:spTree>
    <p:extLst>
      <p:ext uri="{BB962C8B-B14F-4D97-AF65-F5344CB8AC3E}">
        <p14:creationId xmlns:p14="http://schemas.microsoft.com/office/powerpoint/2010/main" val="357238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05422F7-D7BD-42D2-A70B-6558D104D3FA}" type="slidenum">
              <a:rPr lang="en-US" altLang="zh-CN"/>
              <a:pPr>
                <a:defRPr/>
              </a:pPr>
              <a:t>‹#›</a:t>
            </a:fld>
            <a:endParaRPr lang="en-US" altLang="zh-CN"/>
          </a:p>
        </p:txBody>
      </p:sp>
    </p:spTree>
    <p:extLst>
      <p:ext uri="{BB962C8B-B14F-4D97-AF65-F5344CB8AC3E}">
        <p14:creationId xmlns:p14="http://schemas.microsoft.com/office/powerpoint/2010/main" val="3849322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F25AA01-150D-4F1C-9C7E-4EA1923F21FF}" type="slidenum">
              <a:rPr lang="en-US" altLang="zh-CN"/>
              <a:pPr>
                <a:defRPr/>
              </a:pPr>
              <a:t>‹#›</a:t>
            </a:fld>
            <a:endParaRPr lang="en-US" altLang="zh-CN"/>
          </a:p>
        </p:txBody>
      </p:sp>
    </p:spTree>
    <p:extLst>
      <p:ext uri="{BB962C8B-B14F-4D97-AF65-F5344CB8AC3E}">
        <p14:creationId xmlns:p14="http://schemas.microsoft.com/office/powerpoint/2010/main" val="2684830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1060D82-A295-48AC-ABCB-F0A96F247CAD}" type="slidenum">
              <a:rPr lang="en-US" altLang="zh-CN"/>
              <a:pPr>
                <a:defRPr/>
              </a:pPr>
              <a:t>‹#›</a:t>
            </a:fld>
            <a:endParaRPr lang="en-US" altLang="zh-CN"/>
          </a:p>
        </p:txBody>
      </p:sp>
    </p:spTree>
    <p:extLst>
      <p:ext uri="{BB962C8B-B14F-4D97-AF65-F5344CB8AC3E}">
        <p14:creationId xmlns:p14="http://schemas.microsoft.com/office/powerpoint/2010/main" val="3169311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80B99985-1685-4831-85EC-51C986793D8E}" type="slidenum">
              <a:rPr lang="en-US" altLang="zh-CN"/>
              <a:pPr>
                <a:defRPr/>
              </a:pPr>
              <a:t>‹#›</a:t>
            </a:fld>
            <a:endParaRPr lang="en-US" altLang="zh-CN"/>
          </a:p>
        </p:txBody>
      </p:sp>
    </p:spTree>
    <p:extLst>
      <p:ext uri="{BB962C8B-B14F-4D97-AF65-F5344CB8AC3E}">
        <p14:creationId xmlns:p14="http://schemas.microsoft.com/office/powerpoint/2010/main" val="568448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7329A17-1EC1-483A-A006-6F2782D3D5E6}" type="slidenum">
              <a:rPr lang="en-US" altLang="zh-CN"/>
              <a:pPr>
                <a:defRPr/>
              </a:pPr>
              <a:t>‹#›</a:t>
            </a:fld>
            <a:endParaRPr lang="en-US" altLang="zh-CN"/>
          </a:p>
        </p:txBody>
      </p:sp>
    </p:spTree>
    <p:extLst>
      <p:ext uri="{BB962C8B-B14F-4D97-AF65-F5344CB8AC3E}">
        <p14:creationId xmlns:p14="http://schemas.microsoft.com/office/powerpoint/2010/main" val="3518495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C052816-64D3-498C-9DA8-C8AA923E735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0.emf"/><Relationship Id="rId5" Type="http://schemas.openxmlformats.org/officeDocument/2006/relationships/oleObject" Target="../embeddings/oleObject10.bin"/><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3.emf"/><Relationship Id="rId5" Type="http://schemas.openxmlformats.org/officeDocument/2006/relationships/oleObject" Target="../embeddings/oleObject13.bin"/><Relationship Id="rId10" Type="http://schemas.openxmlformats.org/officeDocument/2006/relationships/image" Target="../media/image15.emf"/><Relationship Id="rId4" Type="http://schemas.openxmlformats.org/officeDocument/2006/relationships/image" Target="../media/image12.emf"/><Relationship Id="rId9" Type="http://schemas.openxmlformats.org/officeDocument/2006/relationships/oleObject" Target="../embeddings/oleObject15.bin"/></Relationships>
</file>

<file path=ppt/slides/_rels/slide9.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17.emf"/><Relationship Id="rId5" Type="http://schemas.openxmlformats.org/officeDocument/2006/relationships/oleObject" Target="../embeddings/oleObject17.bin"/><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8" Type="http://schemas.openxmlformats.org/officeDocument/2006/relationships/image" Target="../media/image21.e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0.e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oleObject" Target="../embeddings/oleObject22.bin"/><Relationship Id="rId14" Type="http://schemas.openxmlformats.org/officeDocument/2006/relationships/image" Target="../media/image24.emf"/></Relationships>
</file>

<file path=ppt/slides/_rels/slide11.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6.wmf"/><Relationship Id="rId5" Type="http://schemas.openxmlformats.org/officeDocument/2006/relationships/oleObject" Target="../embeddings/oleObject26.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8.bin"/></Relationships>
</file>

<file path=ppt/slides/_rels/slide12.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0.wmf"/><Relationship Id="rId5" Type="http://schemas.openxmlformats.org/officeDocument/2006/relationships/oleObject" Target="../embeddings/oleObject30.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34.wmf"/><Relationship Id="rId5" Type="http://schemas.openxmlformats.org/officeDocument/2006/relationships/oleObject" Target="../embeddings/oleObject34.bin"/><Relationship Id="rId4" Type="http://schemas.openxmlformats.org/officeDocument/2006/relationships/image" Target="../media/image33.wmf"/></Relationships>
</file>

<file path=ppt/slides/_rels/slide1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39.wmf"/><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36.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8.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4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2.emf"/><Relationship Id="rId5" Type="http://schemas.openxmlformats.org/officeDocument/2006/relationships/oleObject" Target="../embeddings/oleObject42.bin"/><Relationship Id="rId10" Type="http://schemas.openxmlformats.org/officeDocument/2006/relationships/image" Target="../media/image44.emf"/><Relationship Id="rId4" Type="http://schemas.openxmlformats.org/officeDocument/2006/relationships/image" Target="../media/image41.emf"/><Relationship Id="rId9" Type="http://schemas.openxmlformats.org/officeDocument/2006/relationships/oleObject" Target="../embeddings/oleObject44.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6.emf"/><Relationship Id="rId5" Type="http://schemas.openxmlformats.org/officeDocument/2006/relationships/oleObject" Target="../embeddings/oleObject46.bin"/><Relationship Id="rId4" Type="http://schemas.openxmlformats.org/officeDocument/2006/relationships/image" Target="../media/image4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7.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49.emf"/><Relationship Id="rId5" Type="http://schemas.openxmlformats.org/officeDocument/2006/relationships/oleObject" Target="../embeddings/oleObject49.bin"/><Relationship Id="rId4" Type="http://schemas.openxmlformats.org/officeDocument/2006/relationships/image" Target="../media/image48.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vmlDrawing" Target="../drawings/vmlDrawing19.vml"/><Relationship Id="rId5" Type="http://schemas.openxmlformats.org/officeDocument/2006/relationships/image" Target="../media/image50.wmf"/><Relationship Id="rId4" Type="http://schemas.openxmlformats.org/officeDocument/2006/relationships/oleObject" Target="../embeddings/oleObject50.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3.bin"/><Relationship Id="rId3" Type="http://schemas.openxmlformats.org/officeDocument/2006/relationships/notesSlide" Target="../notesSlides/notesSlide2.xml"/><Relationship Id="rId7" Type="http://schemas.openxmlformats.org/officeDocument/2006/relationships/image" Target="../media/image52.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52.bin"/><Relationship Id="rId5" Type="http://schemas.openxmlformats.org/officeDocument/2006/relationships/image" Target="../media/image51.wmf"/><Relationship Id="rId4" Type="http://schemas.openxmlformats.org/officeDocument/2006/relationships/oleObject" Target="../embeddings/oleObject51.bin"/><Relationship Id="rId9" Type="http://schemas.openxmlformats.org/officeDocument/2006/relationships/image" Target="../media/image53.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4.xml"/><Relationship Id="rId1" Type="http://schemas.openxmlformats.org/officeDocument/2006/relationships/vmlDrawing" Target="../drawings/vmlDrawing21.vml"/><Relationship Id="rId4" Type="http://schemas.openxmlformats.org/officeDocument/2006/relationships/image" Target="../media/image54.wmf"/></Relationships>
</file>

<file path=ppt/slides/_rels/slide34.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56.emf"/><Relationship Id="rId5" Type="http://schemas.openxmlformats.org/officeDocument/2006/relationships/oleObject" Target="../embeddings/oleObject56.bin"/><Relationship Id="rId4" Type="http://schemas.openxmlformats.org/officeDocument/2006/relationships/image" Target="../media/image55.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4.xml"/><Relationship Id="rId1" Type="http://schemas.openxmlformats.org/officeDocument/2006/relationships/vmlDrawing" Target="../drawings/vmlDrawing23.vml"/><Relationship Id="rId4" Type="http://schemas.openxmlformats.org/officeDocument/2006/relationships/image" Target="../media/image58.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59.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61.emf"/><Relationship Id="rId5" Type="http://schemas.openxmlformats.org/officeDocument/2006/relationships/oleObject" Target="../embeddings/oleObject61.bin"/><Relationship Id="rId4" Type="http://schemas.openxmlformats.org/officeDocument/2006/relationships/image" Target="../media/image60.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62.emf"/></Relationships>
</file>

<file path=ppt/slides/_rels/slide41.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14.xml"/><Relationship Id="rId1" Type="http://schemas.openxmlformats.org/officeDocument/2006/relationships/vmlDrawing" Target="../drawings/vmlDrawing27.vml"/><Relationship Id="rId6" Type="http://schemas.openxmlformats.org/officeDocument/2006/relationships/image" Target="../media/image64.emf"/><Relationship Id="rId5" Type="http://schemas.openxmlformats.org/officeDocument/2006/relationships/oleObject" Target="../embeddings/oleObject64.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66.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67.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9.vml"/><Relationship Id="rId4" Type="http://schemas.openxmlformats.org/officeDocument/2006/relationships/image" Target="../media/image68.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69.emf"/></Relationships>
</file>

<file path=ppt/slides/_rels/slide50.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71.wmf"/><Relationship Id="rId5" Type="http://schemas.openxmlformats.org/officeDocument/2006/relationships/oleObject" Target="../embeddings/oleObject71.bin"/><Relationship Id="rId4" Type="http://schemas.openxmlformats.org/officeDocument/2006/relationships/image" Target="../media/image70.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73.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7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76.emf"/><Relationship Id="rId5" Type="http://schemas.openxmlformats.org/officeDocument/2006/relationships/oleObject" Target="../embeddings/oleObject76.bin"/><Relationship Id="rId4" Type="http://schemas.openxmlformats.org/officeDocument/2006/relationships/image" Target="../media/image75.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77.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fld id="{44032286-89DA-4DFF-99E6-EB2F1A619DEA}"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eaLnBrk="1" hangingPunct="1"/>
              <a:t>1</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smtClean="0">
                <a:latin typeface="Times New Roman" panose="02020603050405020304" pitchFamily="18" charset="0"/>
                <a:ea typeface="华文中宋" panose="02010600040101010101" pitchFamily="2" charset="-122"/>
                <a:cs typeface="Times New Roman" panose="02020603050405020304" pitchFamily="18" charset="0"/>
              </a:rPr>
              <a:t>第</a:t>
            </a:r>
            <a:r>
              <a:rPr lang="en-US" altLang="zh-CN" b="1" smtClean="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b="1" smtClean="0">
                <a:latin typeface="Times New Roman" panose="02020603050405020304" pitchFamily="18" charset="0"/>
                <a:ea typeface="华文中宋" panose="02010600040101010101" pitchFamily="2" charset="-122"/>
                <a:cs typeface="Times New Roman" panose="02020603050405020304" pitchFamily="18" charset="0"/>
              </a:rPr>
              <a:t>章 电路分析方法和定理</a:t>
            </a:r>
          </a:p>
        </p:txBody>
      </p:sp>
      <p:sp>
        <p:nvSpPr>
          <p:cNvPr id="307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2.1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简单的电阻电路</a:t>
            </a:r>
          </a:p>
          <a:p>
            <a:pPr eaLnBrk="1" hangingPunct="1"/>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2.2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支路电流分析法</a:t>
            </a:r>
          </a:p>
          <a:p>
            <a:pPr eaLnBrk="1" hangingPunct="1"/>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2.3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节点电位分析法</a:t>
            </a:r>
          </a:p>
          <a:p>
            <a:pPr eaLnBrk="1" hangingPunct="1"/>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2.4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叠加定理</a:t>
            </a:r>
          </a:p>
          <a:p>
            <a:pPr eaLnBrk="1" hangingPunct="1"/>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2.5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等效电源定理</a:t>
            </a:r>
          </a:p>
        </p:txBody>
      </p:sp>
      <p:sp>
        <p:nvSpPr>
          <p:cNvPr id="3078" name="Rectangle 4"/>
          <p:cNvSpPr>
            <a:spLocks noChangeArrowheads="1"/>
          </p:cNvSpPr>
          <p:nvPr/>
        </p:nvSpPr>
        <p:spPr bwMode="auto">
          <a:xfrm>
            <a:off x="395288" y="1125538"/>
            <a:ext cx="8207375" cy="152400"/>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832232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95BC439-89C2-4FA8-B351-2D5349F21D12}"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491" name="Rectangle 2"/>
          <p:cNvSpPr>
            <a:spLocks noGrp="1" noChangeArrowheads="1"/>
          </p:cNvSpPr>
          <p:nvPr>
            <p:ph type="ctrTitle"/>
          </p:nvPr>
        </p:nvSpPr>
        <p:spPr>
          <a:xfrm>
            <a:off x="177800" y="206375"/>
            <a:ext cx="7924800" cy="53340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nchor="ctr"/>
          <a:lstStyle/>
          <a:p>
            <a:pPr eaLnBrk="1" hangingPunct="1"/>
            <a:r>
              <a:rPr lang="en-US" altLang="zh-CN" sz="3600" b="1" dirty="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2.1 </a:t>
            </a:r>
            <a:r>
              <a:rPr lang="zh-CN" altLang="en-US" sz="3600" b="1" dirty="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简单的电阻电路</a:t>
            </a:r>
          </a:p>
        </p:txBody>
      </p:sp>
      <p:sp>
        <p:nvSpPr>
          <p:cNvPr id="63492" name="Rectangle 3"/>
          <p:cNvSpPr>
            <a:spLocks noGrp="1" noChangeArrowheads="1"/>
          </p:cNvSpPr>
          <p:nvPr>
            <p:ph type="subTitle" idx="1"/>
          </p:nvPr>
        </p:nvSpPr>
        <p:spPr>
          <a:xfrm>
            <a:off x="29433" y="959643"/>
            <a:ext cx="6400800" cy="519113"/>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algn="just" eaLnBrk="1" hangingPunct="1">
              <a:spcBef>
                <a:spcPct val="50000"/>
              </a:spcBef>
            </a:pPr>
            <a:r>
              <a:rPr lang="en-US" altLang="zh-CN" sz="28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8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电阻的串联</a:t>
            </a:r>
          </a:p>
        </p:txBody>
      </p:sp>
      <p:grpSp>
        <p:nvGrpSpPr>
          <p:cNvPr id="138244" name="Group 4"/>
          <p:cNvGrpSpPr>
            <a:grpSpLocks/>
          </p:cNvGrpSpPr>
          <p:nvPr/>
        </p:nvGrpSpPr>
        <p:grpSpPr bwMode="auto">
          <a:xfrm>
            <a:off x="990600" y="3200400"/>
            <a:ext cx="2293938" cy="2676525"/>
            <a:chOff x="240" y="649"/>
            <a:chExt cx="1445" cy="1686"/>
          </a:xfrm>
        </p:grpSpPr>
        <p:sp>
          <p:nvSpPr>
            <p:cNvPr id="63499" name="Line 5"/>
            <p:cNvSpPr>
              <a:spLocks noChangeShapeType="1"/>
            </p:cNvSpPr>
            <p:nvPr/>
          </p:nvSpPr>
          <p:spPr bwMode="auto">
            <a:xfrm>
              <a:off x="528" y="2313"/>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00" name="Line 6"/>
            <p:cNvSpPr>
              <a:spLocks noChangeShapeType="1"/>
            </p:cNvSpPr>
            <p:nvPr/>
          </p:nvSpPr>
          <p:spPr bwMode="auto">
            <a:xfrm>
              <a:off x="1296" y="1024"/>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47" name="Rectangle 7"/>
            <p:cNvSpPr>
              <a:spLocks noChangeArrowheads="1"/>
            </p:cNvSpPr>
            <p:nvPr/>
          </p:nvSpPr>
          <p:spPr bwMode="auto">
            <a:xfrm>
              <a:off x="1391" y="1257"/>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48" name="Rectangle 8"/>
            <p:cNvSpPr>
              <a:spLocks noChangeArrowheads="1"/>
            </p:cNvSpPr>
            <p:nvPr/>
          </p:nvSpPr>
          <p:spPr bwMode="auto">
            <a:xfrm rot="-10800000">
              <a:off x="1235" y="1257"/>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49" name="Rectangle 9"/>
            <p:cNvSpPr>
              <a:spLocks noChangeArrowheads="1"/>
            </p:cNvSpPr>
            <p:nvPr/>
          </p:nvSpPr>
          <p:spPr bwMode="auto">
            <a:xfrm>
              <a:off x="929" y="1177"/>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04" name="Line 10"/>
            <p:cNvSpPr>
              <a:spLocks noChangeShapeType="1"/>
            </p:cNvSpPr>
            <p:nvPr/>
          </p:nvSpPr>
          <p:spPr bwMode="auto">
            <a:xfrm rot="5400000" flipH="1" flipV="1">
              <a:off x="798" y="803"/>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05" name="Line 11"/>
            <p:cNvSpPr>
              <a:spLocks noChangeShapeType="1"/>
            </p:cNvSpPr>
            <p:nvPr/>
          </p:nvSpPr>
          <p:spPr bwMode="auto">
            <a:xfrm flipH="1" flipV="1">
              <a:off x="528" y="1017"/>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52" name="Rectangle 12"/>
            <p:cNvSpPr>
              <a:spLocks noChangeArrowheads="1"/>
            </p:cNvSpPr>
            <p:nvPr/>
          </p:nvSpPr>
          <p:spPr bwMode="auto">
            <a:xfrm>
              <a:off x="369" y="1513"/>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53" name="Rectangle 13"/>
            <p:cNvSpPr>
              <a:spLocks noChangeArrowheads="1"/>
            </p:cNvSpPr>
            <p:nvPr/>
          </p:nvSpPr>
          <p:spPr bwMode="auto">
            <a:xfrm>
              <a:off x="1344" y="1833"/>
              <a:ext cx="34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38254" name="Rectangle 14"/>
            <p:cNvSpPr>
              <a:spLocks noChangeArrowheads="1"/>
            </p:cNvSpPr>
            <p:nvPr/>
          </p:nvSpPr>
          <p:spPr bwMode="auto">
            <a:xfrm>
              <a:off x="911" y="1753"/>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38255" name="Rectangle 15"/>
            <p:cNvSpPr>
              <a:spLocks noChangeArrowheads="1"/>
            </p:cNvSpPr>
            <p:nvPr/>
          </p:nvSpPr>
          <p:spPr bwMode="auto">
            <a:xfrm>
              <a:off x="726" y="649"/>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38256" name="Text Box 16"/>
            <p:cNvSpPr txBox="1">
              <a:spLocks noChangeArrowheads="1"/>
            </p:cNvSpPr>
            <p:nvPr/>
          </p:nvSpPr>
          <p:spPr bwMode="auto">
            <a:xfrm>
              <a:off x="854" y="1017"/>
              <a:ext cx="50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8257" name="Text Box 17"/>
            <p:cNvSpPr txBox="1">
              <a:spLocks noChangeArrowheads="1"/>
            </p:cNvSpPr>
            <p:nvPr/>
          </p:nvSpPr>
          <p:spPr bwMode="auto">
            <a:xfrm>
              <a:off x="960" y="1401"/>
              <a:ext cx="27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8258" name="Text Box 18"/>
            <p:cNvSpPr txBox="1">
              <a:spLocks noChangeArrowheads="1"/>
            </p:cNvSpPr>
            <p:nvPr/>
          </p:nvSpPr>
          <p:spPr bwMode="auto">
            <a:xfrm>
              <a:off x="240" y="1017"/>
              <a:ext cx="50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8259" name="Text Box 19"/>
            <p:cNvSpPr txBox="1">
              <a:spLocks noChangeArrowheads="1"/>
            </p:cNvSpPr>
            <p:nvPr/>
          </p:nvSpPr>
          <p:spPr bwMode="auto">
            <a:xfrm>
              <a:off x="854" y="1593"/>
              <a:ext cx="50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8260" name="Text Box 20"/>
            <p:cNvSpPr txBox="1">
              <a:spLocks noChangeArrowheads="1"/>
            </p:cNvSpPr>
            <p:nvPr/>
          </p:nvSpPr>
          <p:spPr bwMode="auto">
            <a:xfrm>
              <a:off x="384" y="2025"/>
              <a:ext cx="27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8261" name="Text Box 21"/>
            <p:cNvSpPr txBox="1">
              <a:spLocks noChangeArrowheads="1"/>
            </p:cNvSpPr>
            <p:nvPr/>
          </p:nvSpPr>
          <p:spPr bwMode="auto">
            <a:xfrm>
              <a:off x="960" y="1977"/>
              <a:ext cx="27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3516" name="Line 22"/>
            <p:cNvSpPr>
              <a:spLocks noChangeShapeType="1"/>
            </p:cNvSpPr>
            <p:nvPr/>
          </p:nvSpPr>
          <p:spPr bwMode="auto">
            <a:xfrm>
              <a:off x="1296" y="2073"/>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17" name="Line 23"/>
            <p:cNvSpPr>
              <a:spLocks noChangeShapeType="1"/>
            </p:cNvSpPr>
            <p:nvPr/>
          </p:nvSpPr>
          <p:spPr bwMode="auto">
            <a:xfrm>
              <a:off x="1296" y="1497"/>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18" name="Oval 24"/>
            <p:cNvSpPr>
              <a:spLocks noChangeArrowheads="1"/>
            </p:cNvSpPr>
            <p:nvPr/>
          </p:nvSpPr>
          <p:spPr bwMode="auto">
            <a:xfrm>
              <a:off x="480" y="100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3519" name="Oval 25"/>
            <p:cNvSpPr>
              <a:spLocks noChangeArrowheads="1"/>
            </p:cNvSpPr>
            <p:nvPr/>
          </p:nvSpPr>
          <p:spPr bwMode="auto">
            <a:xfrm>
              <a:off x="480" y="2287"/>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66" name="Rectangle 26"/>
            <p:cNvSpPr>
              <a:spLocks noChangeArrowheads="1"/>
            </p:cNvSpPr>
            <p:nvPr/>
          </p:nvSpPr>
          <p:spPr bwMode="auto">
            <a:xfrm rot="-10800000">
              <a:off x="1235" y="1846"/>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38281" name="Rectangle 41"/>
          <p:cNvSpPr>
            <a:spLocks noChangeArrowheads="1"/>
          </p:cNvSpPr>
          <p:nvPr/>
        </p:nvSpPr>
        <p:spPr bwMode="auto">
          <a:xfrm>
            <a:off x="890249" y="1661712"/>
            <a:ext cx="762000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5000"/>
              </a:lnSpc>
              <a:spcBef>
                <a:spcPct val="5000"/>
              </a:spcBef>
              <a:defRPr/>
            </a:pPr>
            <a:r>
              <a:rPr kumimoji="1" lang="en-US" altLang="zh-CN" b="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b="1" dirty="0" smtClean="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电阻串联时，流过各个元件的电流是同一个</a:t>
            </a:r>
            <a:r>
              <a:rPr kumimoji="1" lang="zh-CN" altLang="en-US" b="1" dirty="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a:t>
            </a:r>
            <a:r>
              <a:rPr kumimoji="1" lang="zh-CN" altLang="en-US" b="1" dirty="0" smtClean="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，总的电压</a:t>
            </a:r>
            <a:r>
              <a:rPr kumimoji="1" lang="zh-CN" altLang="en-US" b="1" dirty="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是各个</a:t>
            </a:r>
            <a:r>
              <a:rPr kumimoji="1" lang="zh-CN" altLang="en-US" b="1" dirty="0" smtClean="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元件的电压之和。</a:t>
            </a:r>
            <a:endParaRPr kumimoji="1" lang="en-US" altLang="zh-CN" b="1" dirty="0" smtClean="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05000"/>
              </a:lnSpc>
              <a:spcBef>
                <a:spcPct val="5000"/>
              </a:spcBef>
              <a:defRPr/>
            </a:pPr>
            <a:r>
              <a:rPr kumimoji="1" lang="zh-CN" altLang="en-US" b="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a:t>
            </a:r>
            <a:r>
              <a:rPr kumimoji="1" lang="en-US" altLang="zh-CN" b="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b="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得</a:t>
            </a:r>
          </a:p>
        </p:txBody>
      </p:sp>
      <p:sp>
        <p:nvSpPr>
          <p:cNvPr id="138282" name="Rectangle 42"/>
          <p:cNvSpPr>
            <a:spLocks noChangeArrowheads="1"/>
          </p:cNvSpPr>
          <p:nvPr/>
        </p:nvSpPr>
        <p:spPr bwMode="auto">
          <a:xfrm>
            <a:off x="3444876" y="3887316"/>
            <a:ext cx="3587750"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   </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 </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  </a:t>
            </a:r>
          </a:p>
          <a:p>
            <a:pPr eaLnBrk="1" hangingPunct="1">
              <a:lnSpc>
                <a:spcPct val="105000"/>
              </a:lnSpc>
              <a:spcBef>
                <a:spcPct val="5000"/>
              </a:spcBef>
              <a:defRPr/>
            </a:pP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lnSpc>
                <a:spcPct val="105000"/>
              </a:lnSpc>
              <a:spcBef>
                <a:spcPct val="5000"/>
              </a:spcBef>
              <a:defRPr/>
            </a:pP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得    </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 </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a:p>
            <a:pPr algn="ctr" eaLnBrk="1" hangingPunct="1">
              <a:lnSpc>
                <a:spcPct val="105000"/>
              </a:lnSpc>
              <a:spcBef>
                <a:spcPct val="5000"/>
              </a:spcBef>
              <a:defRPr/>
            </a:pPr>
            <a:endParaRPr kumimoji="1" lang="en-US" altLang="zh-CN" b="1" baseline="-25000" dirty="0"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83" name="Rectangle 43"/>
          <p:cNvSpPr>
            <a:spLocks noChangeArrowheads="1"/>
          </p:cNvSpPr>
          <p:nvPr/>
        </p:nvSpPr>
        <p:spPr bwMode="auto">
          <a:xfrm>
            <a:off x="4140200" y="2420938"/>
            <a:ext cx="381635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en-US" altLang="zh-CN" b="1" i="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 </a:t>
            </a:r>
            <a:r>
              <a:rPr kumimoji="1" lang="en-US" altLang="zh-CN"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-----------KVL</a:t>
            </a:r>
            <a:endParaRPr kumimoji="1" lang="en-US" altLang="zh-CN" b="1" baseline="-25000"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8285" name="Rectangle 45"/>
          <p:cNvSpPr>
            <a:spLocks noChangeArrowheads="1"/>
          </p:cNvSpPr>
          <p:nvPr/>
        </p:nvSpPr>
        <p:spPr bwMode="auto">
          <a:xfrm>
            <a:off x="3276600" y="3124200"/>
            <a:ext cx="5688013"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zh-CN" altLang="en-US" b="1"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总的电压等于各个元件电压之和。</a:t>
            </a:r>
          </a:p>
        </p:txBody>
      </p:sp>
      <p:sp>
        <p:nvSpPr>
          <p:cNvPr id="138287" name="Text Box 47"/>
          <p:cNvSpPr txBox="1">
            <a:spLocks noChangeArrowheads="1"/>
          </p:cNvSpPr>
          <p:nvPr/>
        </p:nvSpPr>
        <p:spPr bwMode="auto">
          <a:xfrm>
            <a:off x="3276600" y="5715000"/>
            <a:ext cx="58674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5000"/>
              </a:lnSpc>
              <a:spcBef>
                <a:spcPct val="5000"/>
              </a:spcBef>
              <a:defRPr/>
            </a:pPr>
            <a:r>
              <a:rPr kumimoji="1" lang="en-US" altLang="zh-CN"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 </a:t>
            </a:r>
            <a:r>
              <a:rPr kumimoji="1" lang="zh-CN" altLang="en-US"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称为</a:t>
            </a:r>
            <a:r>
              <a:rPr kumimoji="1" lang="en-US" altLang="zh-CN"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R1</a:t>
            </a:r>
            <a:r>
              <a:rPr kumimoji="1" lang="zh-CN" altLang="en-US"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与</a:t>
            </a:r>
            <a:r>
              <a:rPr kumimoji="1" lang="en-US" altLang="zh-CN"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R2</a:t>
            </a:r>
            <a:r>
              <a:rPr kumimoji="1" lang="zh-CN" altLang="en-US" b="1" dirty="0" smtClean="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串联时的等效电阻。</a:t>
            </a:r>
          </a:p>
        </p:txBody>
      </p:sp>
      <p:sp>
        <p:nvSpPr>
          <p:cNvPr id="34"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 name="AutoShape 45"/>
          <p:cNvSpPr>
            <a:spLocks noChangeArrowheads="1"/>
          </p:cNvSpPr>
          <p:nvPr/>
        </p:nvSpPr>
        <p:spPr bwMode="auto">
          <a:xfrm>
            <a:off x="5946467" y="4941716"/>
            <a:ext cx="2435642" cy="731623"/>
          </a:xfrm>
          <a:prstGeom prst="wedgeRoundRectCallout">
            <a:avLst>
              <a:gd name="adj1" fmla="val -75783"/>
              <a:gd name="adj2" fmla="val 1118"/>
              <a:gd name="adj3" fmla="val 16667"/>
            </a:avLst>
          </a:prstGeom>
          <a:solidFill>
            <a:schemeClr val="bg1"/>
          </a:solidFill>
          <a:ln w="38100" algn="ctr">
            <a:solidFill>
              <a:schemeClr val="tx1"/>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en-US" altLang="zh-CN" sz="2400"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a:p>
            <a:pPr algn="l" eaLnBrk="1" hangingPunct="1"/>
            <a:endParaRPr lang="en-US" altLang="zh-CN" sz="2400"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 name="Text Box 38"/>
          <p:cNvSpPr txBox="1">
            <a:spLocks noChangeArrowheads="1"/>
          </p:cNvSpPr>
          <p:nvPr/>
        </p:nvSpPr>
        <p:spPr bwMode="auto">
          <a:xfrm>
            <a:off x="6020186" y="4997333"/>
            <a:ext cx="1371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考虑到</a:t>
            </a:r>
          </a:p>
        </p:txBody>
      </p:sp>
      <p:graphicFrame>
        <p:nvGraphicFramePr>
          <p:cNvPr id="38" name="Object 41"/>
          <p:cNvGraphicFramePr>
            <a:graphicFrameLocks noChangeAspect="1"/>
          </p:cNvGraphicFramePr>
          <p:nvPr>
            <p:extLst>
              <p:ext uri="{D42A27DB-BD31-4B8C-83A1-F6EECF244321}">
                <p14:modId xmlns:p14="http://schemas.microsoft.com/office/powerpoint/2010/main" val="1688261036"/>
              </p:ext>
            </p:extLst>
          </p:nvPr>
        </p:nvGraphicFramePr>
        <p:xfrm>
          <a:off x="7164288" y="4935538"/>
          <a:ext cx="1008112" cy="660485"/>
        </p:xfrm>
        <a:graphic>
          <a:graphicData uri="http://schemas.openxmlformats.org/presentationml/2006/ole">
            <mc:AlternateContent xmlns:mc="http://schemas.openxmlformats.org/markup-compatibility/2006">
              <mc:Choice xmlns:v="urn:schemas-microsoft-com:vml" Requires="v">
                <p:oleObj spid="_x0000_s100358" name="公式" r:id="rId3" imgW="507960" imgH="406080" progId="Equation.3">
                  <p:embed/>
                </p:oleObj>
              </mc:Choice>
              <mc:Fallback>
                <p:oleObj name="公式" r:id="rId3" imgW="507960" imgH="406080" progId="Equation.3">
                  <p:embed/>
                  <p:pic>
                    <p:nvPicPr>
                      <p:cNvPr id="0" name=""/>
                      <p:cNvPicPr>
                        <a:picLocks noChangeAspect="1" noChangeArrowheads="1"/>
                      </p:cNvPicPr>
                      <p:nvPr/>
                    </p:nvPicPr>
                    <p:blipFill>
                      <a:blip r:embed="rId4"/>
                      <a:srcRect/>
                      <a:stretch>
                        <a:fillRect/>
                      </a:stretch>
                    </p:blipFill>
                    <p:spPr bwMode="auto">
                      <a:xfrm>
                        <a:off x="7164288" y="4935538"/>
                        <a:ext cx="1008112" cy="660485"/>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8244"/>
                                        </p:tgtEl>
                                        <p:attrNameLst>
                                          <p:attrName>style.visibility</p:attrName>
                                        </p:attrNameLst>
                                      </p:cBhvr>
                                      <p:to>
                                        <p:strVal val="visible"/>
                                      </p:to>
                                    </p:set>
                                    <p:animEffect transition="in" filter="wipe(left)">
                                      <p:cBhvr>
                                        <p:cTn id="7" dur="500"/>
                                        <p:tgtEl>
                                          <p:spTgt spid="138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81">
                                            <p:txEl>
                                              <p:pRg st="0" end="0"/>
                                            </p:txEl>
                                          </p:spTgt>
                                        </p:tgtEl>
                                        <p:attrNameLst>
                                          <p:attrName>style.visibility</p:attrName>
                                        </p:attrNameLst>
                                      </p:cBhvr>
                                      <p:to>
                                        <p:strVal val="visible"/>
                                      </p:to>
                                    </p:set>
                                    <p:animEffect transition="in" filter="wipe(left)">
                                      <p:cBhvr>
                                        <p:cTn id="12" dur="500"/>
                                        <p:tgtEl>
                                          <p:spTgt spid="13828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281">
                                            <p:txEl>
                                              <p:pRg st="1" end="1"/>
                                            </p:txEl>
                                          </p:spTgt>
                                        </p:tgtEl>
                                        <p:attrNameLst>
                                          <p:attrName>style.visibility</p:attrName>
                                        </p:attrNameLst>
                                      </p:cBhvr>
                                      <p:to>
                                        <p:strVal val="visible"/>
                                      </p:to>
                                    </p:set>
                                    <p:animEffect transition="in" filter="wipe(left)">
                                      <p:cBhvr>
                                        <p:cTn id="17" dur="500"/>
                                        <p:tgtEl>
                                          <p:spTgt spid="13828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83">
                                            <p:txEl>
                                              <p:pRg st="0" end="0"/>
                                            </p:txEl>
                                          </p:spTgt>
                                        </p:tgtEl>
                                        <p:attrNameLst>
                                          <p:attrName>style.visibility</p:attrName>
                                        </p:attrNameLst>
                                      </p:cBhvr>
                                      <p:to>
                                        <p:strVal val="visible"/>
                                      </p:to>
                                    </p:set>
                                    <p:animEffect transition="in" filter="wipe(left)">
                                      <p:cBhvr>
                                        <p:cTn id="22" dur="500"/>
                                        <p:tgtEl>
                                          <p:spTgt spid="138283">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85">
                                            <p:txEl>
                                              <p:pRg st="0" end="0"/>
                                            </p:txEl>
                                          </p:spTgt>
                                        </p:tgtEl>
                                        <p:attrNameLst>
                                          <p:attrName>style.visibility</p:attrName>
                                        </p:attrNameLst>
                                      </p:cBhvr>
                                      <p:to>
                                        <p:strVal val="visible"/>
                                      </p:to>
                                    </p:set>
                                    <p:animEffect transition="in" filter="wipe(left)">
                                      <p:cBhvr>
                                        <p:cTn id="27" dur="500"/>
                                        <p:tgtEl>
                                          <p:spTgt spid="138285">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8282"/>
                                        </p:tgtEl>
                                        <p:attrNameLst>
                                          <p:attrName>style.visibility</p:attrName>
                                        </p:attrNameLst>
                                      </p:cBhvr>
                                      <p:to>
                                        <p:strVal val="visible"/>
                                      </p:to>
                                    </p:set>
                                    <p:animEffect transition="in" filter="blinds(horizontal)">
                                      <p:cBhvr>
                                        <p:cTn id="32" dur="500"/>
                                        <p:tgtEl>
                                          <p:spTgt spid="1382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8287"/>
                                        </p:tgtEl>
                                        <p:attrNameLst>
                                          <p:attrName>style.visibility</p:attrName>
                                        </p:attrNameLst>
                                      </p:cBhvr>
                                      <p:to>
                                        <p:strVal val="visible"/>
                                      </p:to>
                                    </p:set>
                                    <p:animEffect transition="in" filter="blinds(horizontal)">
                                      <p:cBhvr>
                                        <p:cTn id="37" dur="500"/>
                                        <p:tgtEl>
                                          <p:spTgt spid="138287"/>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1+#ppt_w/2"/>
                                          </p:val>
                                        </p:tav>
                                        <p:tav tm="100000">
                                          <p:val>
                                            <p:strVal val="#ppt_x"/>
                                          </p:val>
                                        </p:tav>
                                      </p:tavLst>
                                    </p:anim>
                                    <p:anim calcmode="lin" valueType="num">
                                      <p:cBhvr additive="base">
                                        <p:cTn id="4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8"/>
                                        </p:tgtEl>
                                        <p:attrNameLst>
                                          <p:attrName>style.visibility</p:attrName>
                                        </p:attrNameLst>
                                      </p:cBhvr>
                                      <p:to>
                                        <p:strVal val="visible"/>
                                      </p:to>
                                    </p:set>
                                    <p:anim calcmode="lin" valueType="num">
                                      <p:cBhvr additive="base">
                                        <p:cTn id="48" dur="500" fill="hold"/>
                                        <p:tgtEl>
                                          <p:spTgt spid="38"/>
                                        </p:tgtEl>
                                        <p:attrNameLst>
                                          <p:attrName>ppt_x</p:attrName>
                                        </p:attrNameLst>
                                      </p:cBhvr>
                                      <p:tavLst>
                                        <p:tav tm="0">
                                          <p:val>
                                            <p:strVal val="#ppt_x"/>
                                          </p:val>
                                        </p:tav>
                                        <p:tav tm="100000">
                                          <p:val>
                                            <p:strVal val="#ppt_x"/>
                                          </p:val>
                                        </p:tav>
                                      </p:tavLst>
                                    </p:anim>
                                    <p:anim calcmode="lin" valueType="num">
                                      <p:cBhvr additive="base">
                                        <p:cTn id="49" dur="500" fill="hold"/>
                                        <p:tgtEl>
                                          <p:spTgt spid="38"/>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 calcmode="lin" valueType="num">
                                      <p:cBhvr additive="base">
                                        <p:cTn id="52" dur="500" fill="hold"/>
                                        <p:tgtEl>
                                          <p:spTgt spid="37"/>
                                        </p:tgtEl>
                                        <p:attrNameLst>
                                          <p:attrName>ppt_x</p:attrName>
                                        </p:attrNameLst>
                                      </p:cBhvr>
                                      <p:tavLst>
                                        <p:tav tm="0">
                                          <p:val>
                                            <p:strVal val="#ppt_x"/>
                                          </p:val>
                                        </p:tav>
                                        <p:tav tm="100000">
                                          <p:val>
                                            <p:strVal val="#ppt_x"/>
                                          </p:val>
                                        </p:tav>
                                      </p:tavLst>
                                    </p:anim>
                                    <p:anim calcmode="lin" valueType="num">
                                      <p:cBhvr additive="base">
                                        <p:cTn id="53"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81" grpId="0" build="p" autoUpdateAnimBg="0"/>
      <p:bldP spid="138282" grpId="0"/>
      <p:bldP spid="138283" grpId="0" build="p" autoUpdateAnimBg="0"/>
      <p:bldP spid="138285" grpId="0" build="p" autoUpdateAnimBg="0"/>
      <p:bldP spid="138287" grpId="0"/>
      <p:bldP spid="35" grpId="0" animBg="1"/>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50" name="Rectangle 6"/>
          <p:cNvSpPr>
            <a:spLocks noChangeArrowheads="1"/>
          </p:cNvSpPr>
          <p:nvPr/>
        </p:nvSpPr>
        <p:spPr bwMode="auto">
          <a:xfrm>
            <a:off x="1068388" y="4319373"/>
            <a:ext cx="5289550" cy="796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zh-CN" altLang="en-US" b="1" dirty="0"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两个电阻串联时的分压公式：</a:t>
            </a:r>
          </a:p>
        </p:txBody>
      </p:sp>
      <p:graphicFrame>
        <p:nvGraphicFramePr>
          <p:cNvPr id="57351" name="Object 7"/>
          <p:cNvGraphicFramePr>
            <a:graphicFrameLocks noChangeAspect="1"/>
          </p:cNvGraphicFramePr>
          <p:nvPr>
            <p:extLst>
              <p:ext uri="{D42A27DB-BD31-4B8C-83A1-F6EECF244321}">
                <p14:modId xmlns:p14="http://schemas.microsoft.com/office/powerpoint/2010/main" val="3848124620"/>
              </p:ext>
            </p:extLst>
          </p:nvPr>
        </p:nvGraphicFramePr>
        <p:xfrm>
          <a:off x="1893406" y="4887698"/>
          <a:ext cx="2336800" cy="1035050"/>
        </p:xfrm>
        <a:graphic>
          <a:graphicData uri="http://schemas.openxmlformats.org/presentationml/2006/ole">
            <mc:AlternateContent xmlns:mc="http://schemas.openxmlformats.org/markup-compatibility/2006">
              <mc:Choice xmlns:v="urn:schemas-microsoft-com:vml" Requires="v">
                <p:oleObj spid="_x0000_s64637" name="公式" r:id="rId3" imgW="943034" imgH="390420" progId="Equation.3">
                  <p:embed/>
                </p:oleObj>
              </mc:Choice>
              <mc:Fallback>
                <p:oleObj name="公式" r:id="rId3" imgW="943034" imgH="39042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3406" y="4887698"/>
                        <a:ext cx="233680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2" name="Object 8"/>
          <p:cNvGraphicFramePr>
            <a:graphicFrameLocks noChangeAspect="1"/>
          </p:cNvGraphicFramePr>
          <p:nvPr>
            <p:extLst>
              <p:ext uri="{D42A27DB-BD31-4B8C-83A1-F6EECF244321}">
                <p14:modId xmlns:p14="http://schemas.microsoft.com/office/powerpoint/2010/main" val="959142114"/>
              </p:ext>
            </p:extLst>
          </p:nvPr>
        </p:nvGraphicFramePr>
        <p:xfrm>
          <a:off x="5349394" y="4887698"/>
          <a:ext cx="2438400" cy="1065212"/>
        </p:xfrm>
        <a:graphic>
          <a:graphicData uri="http://schemas.openxmlformats.org/presentationml/2006/ole">
            <mc:AlternateContent xmlns:mc="http://schemas.openxmlformats.org/markup-compatibility/2006">
              <mc:Choice xmlns:v="urn:schemas-microsoft-com:vml" Requires="v">
                <p:oleObj spid="_x0000_s64638" name="公式" r:id="rId5" imgW="961943" imgH="390420" progId="Equation.3">
                  <p:embed/>
                </p:oleObj>
              </mc:Choice>
              <mc:Fallback>
                <p:oleObj name="公式" r:id="rId5" imgW="961943" imgH="39042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9394" y="4887698"/>
                        <a:ext cx="2438400"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517" name="Group 55"/>
          <p:cNvGrpSpPr>
            <a:grpSpLocks/>
          </p:cNvGrpSpPr>
          <p:nvPr/>
        </p:nvGrpSpPr>
        <p:grpSpPr bwMode="auto">
          <a:xfrm>
            <a:off x="1258888" y="406400"/>
            <a:ext cx="2293937" cy="2703513"/>
            <a:chOff x="283" y="336"/>
            <a:chExt cx="1445" cy="1703"/>
          </a:xfrm>
        </p:grpSpPr>
        <p:sp>
          <p:nvSpPr>
            <p:cNvPr id="64534" name="Line 12"/>
            <p:cNvSpPr>
              <a:spLocks noChangeShapeType="1"/>
            </p:cNvSpPr>
            <p:nvPr/>
          </p:nvSpPr>
          <p:spPr bwMode="auto">
            <a:xfrm>
              <a:off x="571" y="2000"/>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35" name="Line 13"/>
            <p:cNvSpPr>
              <a:spLocks noChangeShapeType="1"/>
            </p:cNvSpPr>
            <p:nvPr/>
          </p:nvSpPr>
          <p:spPr bwMode="auto">
            <a:xfrm>
              <a:off x="1339" y="711"/>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58" name="Rectangle 14"/>
            <p:cNvSpPr>
              <a:spLocks noChangeArrowheads="1"/>
            </p:cNvSpPr>
            <p:nvPr/>
          </p:nvSpPr>
          <p:spPr bwMode="auto">
            <a:xfrm>
              <a:off x="1418" y="944"/>
              <a:ext cx="2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defRPr/>
              </a:pP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59" name="Rectangle 15"/>
            <p:cNvSpPr>
              <a:spLocks noChangeArrowheads="1"/>
            </p:cNvSpPr>
            <p:nvPr/>
          </p:nvSpPr>
          <p:spPr bwMode="auto">
            <a:xfrm rot="-10800000">
              <a:off x="1278" y="944"/>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0" name="Rectangle 16"/>
            <p:cNvSpPr>
              <a:spLocks noChangeArrowheads="1"/>
            </p:cNvSpPr>
            <p:nvPr/>
          </p:nvSpPr>
          <p:spPr bwMode="auto">
            <a:xfrm>
              <a:off x="912" y="864"/>
              <a:ext cx="356"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39" name="Line 17"/>
            <p:cNvSpPr>
              <a:spLocks noChangeShapeType="1"/>
            </p:cNvSpPr>
            <p:nvPr/>
          </p:nvSpPr>
          <p:spPr bwMode="auto">
            <a:xfrm rot="5400000" flipH="1" flipV="1">
              <a:off x="841" y="490"/>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40" name="Line 18"/>
            <p:cNvSpPr>
              <a:spLocks noChangeShapeType="1"/>
            </p:cNvSpPr>
            <p:nvPr/>
          </p:nvSpPr>
          <p:spPr bwMode="auto">
            <a:xfrm flipH="1" flipV="1">
              <a:off x="571" y="704"/>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3" name="Rectangle 19"/>
            <p:cNvSpPr>
              <a:spLocks noChangeArrowheads="1"/>
            </p:cNvSpPr>
            <p:nvPr/>
          </p:nvSpPr>
          <p:spPr bwMode="auto">
            <a:xfrm>
              <a:off x="412" y="1200"/>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800"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4" name="Rectangle 20"/>
            <p:cNvSpPr>
              <a:spLocks noChangeArrowheads="1"/>
            </p:cNvSpPr>
            <p:nvPr/>
          </p:nvSpPr>
          <p:spPr bwMode="auto">
            <a:xfrm>
              <a:off x="1387" y="1520"/>
              <a:ext cx="341"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57365" name="Rectangle 21"/>
            <p:cNvSpPr>
              <a:spLocks noChangeArrowheads="1"/>
            </p:cNvSpPr>
            <p:nvPr/>
          </p:nvSpPr>
          <p:spPr bwMode="auto">
            <a:xfrm>
              <a:off x="912" y="1440"/>
              <a:ext cx="356"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57366" name="Rectangle 22"/>
            <p:cNvSpPr>
              <a:spLocks noChangeArrowheads="1"/>
            </p:cNvSpPr>
            <p:nvPr/>
          </p:nvSpPr>
          <p:spPr bwMode="auto">
            <a:xfrm>
              <a:off x="769" y="336"/>
              <a:ext cx="20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57367" name="Text Box 23"/>
            <p:cNvSpPr txBox="1">
              <a:spLocks noChangeArrowheads="1"/>
            </p:cNvSpPr>
            <p:nvPr/>
          </p:nvSpPr>
          <p:spPr bwMode="auto">
            <a:xfrm>
              <a:off x="897" y="704"/>
              <a:ext cx="50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68" name="Text Box 24"/>
            <p:cNvSpPr txBox="1">
              <a:spLocks noChangeArrowheads="1"/>
            </p:cNvSpPr>
            <p:nvPr/>
          </p:nvSpPr>
          <p:spPr bwMode="auto">
            <a:xfrm>
              <a:off x="1003" y="1088"/>
              <a:ext cx="2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69" name="Text Box 25"/>
            <p:cNvSpPr txBox="1">
              <a:spLocks noChangeArrowheads="1"/>
            </p:cNvSpPr>
            <p:nvPr/>
          </p:nvSpPr>
          <p:spPr bwMode="auto">
            <a:xfrm>
              <a:off x="283" y="704"/>
              <a:ext cx="50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70" name="Text Box 26"/>
            <p:cNvSpPr txBox="1">
              <a:spLocks noChangeArrowheads="1"/>
            </p:cNvSpPr>
            <p:nvPr/>
          </p:nvSpPr>
          <p:spPr bwMode="auto">
            <a:xfrm>
              <a:off x="897" y="1280"/>
              <a:ext cx="50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71" name="Text Box 27"/>
            <p:cNvSpPr txBox="1">
              <a:spLocks noChangeArrowheads="1"/>
            </p:cNvSpPr>
            <p:nvPr/>
          </p:nvSpPr>
          <p:spPr bwMode="auto">
            <a:xfrm>
              <a:off x="427" y="1712"/>
              <a:ext cx="2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72" name="Text Box 28"/>
            <p:cNvSpPr txBox="1">
              <a:spLocks noChangeArrowheads="1"/>
            </p:cNvSpPr>
            <p:nvPr/>
          </p:nvSpPr>
          <p:spPr bwMode="auto">
            <a:xfrm>
              <a:off x="1003" y="1664"/>
              <a:ext cx="2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551" name="Line 29"/>
            <p:cNvSpPr>
              <a:spLocks noChangeShapeType="1"/>
            </p:cNvSpPr>
            <p:nvPr/>
          </p:nvSpPr>
          <p:spPr bwMode="auto">
            <a:xfrm>
              <a:off x="1339" y="1760"/>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52" name="Line 30"/>
            <p:cNvSpPr>
              <a:spLocks noChangeShapeType="1"/>
            </p:cNvSpPr>
            <p:nvPr/>
          </p:nvSpPr>
          <p:spPr bwMode="auto">
            <a:xfrm>
              <a:off x="1339" y="1184"/>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53" name="Oval 31"/>
            <p:cNvSpPr>
              <a:spLocks noChangeArrowheads="1"/>
            </p:cNvSpPr>
            <p:nvPr/>
          </p:nvSpPr>
          <p:spPr bwMode="auto">
            <a:xfrm>
              <a:off x="523" y="696"/>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54" name="Oval 32"/>
            <p:cNvSpPr>
              <a:spLocks noChangeArrowheads="1"/>
            </p:cNvSpPr>
            <p:nvPr/>
          </p:nvSpPr>
          <p:spPr bwMode="auto">
            <a:xfrm>
              <a:off x="523" y="197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77" name="Rectangle 33"/>
            <p:cNvSpPr>
              <a:spLocks noChangeArrowheads="1"/>
            </p:cNvSpPr>
            <p:nvPr/>
          </p:nvSpPr>
          <p:spPr bwMode="auto">
            <a:xfrm rot="-10800000">
              <a:off x="1278" y="1533"/>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7378" name="Group 34"/>
          <p:cNvGrpSpPr>
            <a:grpSpLocks/>
          </p:cNvGrpSpPr>
          <p:nvPr/>
        </p:nvGrpSpPr>
        <p:grpSpPr bwMode="auto">
          <a:xfrm>
            <a:off x="5291138" y="838200"/>
            <a:ext cx="2209800" cy="2093913"/>
            <a:chOff x="240" y="2713"/>
            <a:chExt cx="1392" cy="1319"/>
          </a:xfrm>
        </p:grpSpPr>
        <p:sp>
          <p:nvSpPr>
            <p:cNvPr id="64521" name="Line 35"/>
            <p:cNvSpPr>
              <a:spLocks noChangeShapeType="1"/>
            </p:cNvSpPr>
            <p:nvPr/>
          </p:nvSpPr>
          <p:spPr bwMode="auto">
            <a:xfrm>
              <a:off x="528" y="3993"/>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0" name="Rectangle 36"/>
            <p:cNvSpPr>
              <a:spLocks noChangeArrowheads="1"/>
            </p:cNvSpPr>
            <p:nvPr/>
          </p:nvSpPr>
          <p:spPr bwMode="auto">
            <a:xfrm>
              <a:off x="1328" y="3449"/>
              <a:ext cx="3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1" name="Rectangle 37"/>
            <p:cNvSpPr>
              <a:spLocks noChangeArrowheads="1"/>
            </p:cNvSpPr>
            <p:nvPr/>
          </p:nvSpPr>
          <p:spPr bwMode="auto">
            <a:xfrm rot="-10800000">
              <a:off x="1235" y="3439"/>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24" name="Line 38"/>
            <p:cNvSpPr>
              <a:spLocks noChangeShapeType="1"/>
            </p:cNvSpPr>
            <p:nvPr/>
          </p:nvSpPr>
          <p:spPr bwMode="auto">
            <a:xfrm rot="5400000" flipH="1" flipV="1">
              <a:off x="798" y="2867"/>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25" name="Line 39"/>
            <p:cNvSpPr>
              <a:spLocks noChangeShapeType="1"/>
            </p:cNvSpPr>
            <p:nvPr/>
          </p:nvSpPr>
          <p:spPr bwMode="auto">
            <a:xfrm flipH="1" flipV="1">
              <a:off x="528" y="3081"/>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4" name="Rectangle 40"/>
            <p:cNvSpPr>
              <a:spLocks noChangeArrowheads="1"/>
            </p:cNvSpPr>
            <p:nvPr/>
          </p:nvSpPr>
          <p:spPr bwMode="auto">
            <a:xfrm>
              <a:off x="369" y="3407"/>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800"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5" name="Rectangle 41"/>
            <p:cNvSpPr>
              <a:spLocks noChangeArrowheads="1"/>
            </p:cNvSpPr>
            <p:nvPr/>
          </p:nvSpPr>
          <p:spPr bwMode="auto">
            <a:xfrm>
              <a:off x="726" y="2713"/>
              <a:ext cx="20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sz="2800"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57386" name="Text Box 42"/>
            <p:cNvSpPr txBox="1">
              <a:spLocks noChangeArrowheads="1"/>
            </p:cNvSpPr>
            <p:nvPr/>
          </p:nvSpPr>
          <p:spPr bwMode="auto">
            <a:xfrm>
              <a:off x="240" y="3081"/>
              <a:ext cx="50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7387" name="Text Box 43"/>
            <p:cNvSpPr txBox="1">
              <a:spLocks noChangeArrowheads="1"/>
            </p:cNvSpPr>
            <p:nvPr/>
          </p:nvSpPr>
          <p:spPr bwMode="auto">
            <a:xfrm>
              <a:off x="384" y="3705"/>
              <a:ext cx="27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530" name="Line 44"/>
            <p:cNvSpPr>
              <a:spLocks noChangeShapeType="1"/>
            </p:cNvSpPr>
            <p:nvPr/>
          </p:nvSpPr>
          <p:spPr bwMode="auto">
            <a:xfrm>
              <a:off x="1296" y="3652"/>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31" name="Oval 45"/>
            <p:cNvSpPr>
              <a:spLocks noChangeArrowheads="1"/>
            </p:cNvSpPr>
            <p:nvPr/>
          </p:nvSpPr>
          <p:spPr bwMode="auto">
            <a:xfrm>
              <a:off x="480" y="3049"/>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32" name="Oval 46"/>
            <p:cNvSpPr>
              <a:spLocks noChangeArrowheads="1"/>
            </p:cNvSpPr>
            <p:nvPr/>
          </p:nvSpPr>
          <p:spPr bwMode="auto">
            <a:xfrm>
              <a:off x="480" y="3967"/>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33" name="Line 47"/>
            <p:cNvSpPr>
              <a:spLocks noChangeShapeType="1"/>
            </p:cNvSpPr>
            <p:nvPr/>
          </p:nvSpPr>
          <p:spPr bwMode="auto">
            <a:xfrm>
              <a:off x="1296" y="3079"/>
              <a:ext cx="0" cy="36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57398" name="Object 54"/>
          <p:cNvGraphicFramePr>
            <a:graphicFrameLocks noChangeAspect="1"/>
          </p:cNvGraphicFramePr>
          <p:nvPr>
            <p:extLst>
              <p:ext uri="{D42A27DB-BD31-4B8C-83A1-F6EECF244321}">
                <p14:modId xmlns:p14="http://schemas.microsoft.com/office/powerpoint/2010/main" val="801877983"/>
              </p:ext>
            </p:extLst>
          </p:nvPr>
        </p:nvGraphicFramePr>
        <p:xfrm>
          <a:off x="1539394" y="3278643"/>
          <a:ext cx="6248400" cy="827088"/>
        </p:xfrm>
        <a:graphic>
          <a:graphicData uri="http://schemas.openxmlformats.org/presentationml/2006/ole">
            <mc:AlternateContent xmlns:mc="http://schemas.openxmlformats.org/markup-compatibility/2006">
              <mc:Choice xmlns:v="urn:schemas-microsoft-com:vml" Requires="v">
                <p:oleObj spid="_x0000_s64639" name="Equation" r:id="rId7" imgW="2685932" imgH="371520" progId="Equation.3">
                  <p:embed/>
                </p:oleObj>
              </mc:Choice>
              <mc:Fallback>
                <p:oleObj name="Equation" r:id="rId7" imgW="2685932" imgH="371520" progId="Equation.3">
                  <p:embed/>
                  <p:pic>
                    <p:nvPicPr>
                      <p:cNvPr id="0" name="Object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9394" y="3278643"/>
                        <a:ext cx="6248400" cy="827088"/>
                      </a:xfrm>
                      <a:prstGeom prst="rect">
                        <a:avLst/>
                      </a:prstGeom>
                      <a:noFill/>
                      <a:ln>
                        <a:noFill/>
                      </a:ln>
                      <a:effectLst/>
                      <a:extLst/>
                    </p:spPr>
                  </p:pic>
                </p:oleObj>
              </mc:Fallback>
            </mc:AlternateContent>
          </a:graphicData>
        </a:graphic>
      </p:graphicFrame>
      <p:sp>
        <p:nvSpPr>
          <p:cNvPr id="64520" name="AutoShape 56"/>
          <p:cNvSpPr>
            <a:spLocks noChangeArrowheads="1"/>
          </p:cNvSpPr>
          <p:nvPr/>
        </p:nvSpPr>
        <p:spPr bwMode="auto">
          <a:xfrm>
            <a:off x="3779838" y="1557338"/>
            <a:ext cx="1066800" cy="762000"/>
          </a:xfrm>
          <a:prstGeom prst="rightArrow">
            <a:avLst>
              <a:gd name="adj1" fmla="val 50000"/>
              <a:gd name="adj2" fmla="val 3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7F6DAC6E-051E-43BF-A607-F6F4F9E2F096}" type="slidenum">
              <a:rPr lang="en-US" altLang="zh-CN" smtClean="0"/>
              <a:pPr>
                <a:defRPr/>
              </a:pPr>
              <a:t>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7378"/>
                                        </p:tgtEl>
                                        <p:attrNameLst>
                                          <p:attrName>style.visibility</p:attrName>
                                        </p:attrNameLst>
                                      </p:cBhvr>
                                      <p:to>
                                        <p:strVal val="visible"/>
                                      </p:to>
                                    </p:set>
                                    <p:animEffect transition="in" filter="wipe(up)">
                                      <p:cBhvr>
                                        <p:cTn id="7" dur="500"/>
                                        <p:tgtEl>
                                          <p:spTgt spid="57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7398"/>
                                        </p:tgtEl>
                                        <p:attrNameLst>
                                          <p:attrName>style.visibility</p:attrName>
                                        </p:attrNameLst>
                                      </p:cBhvr>
                                      <p:to>
                                        <p:strVal val="visible"/>
                                      </p:to>
                                    </p:set>
                                    <p:animEffect transition="in" filter="wipe(left)">
                                      <p:cBhvr>
                                        <p:cTn id="12" dur="500"/>
                                        <p:tgtEl>
                                          <p:spTgt spid="573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50">
                                            <p:txEl>
                                              <p:pRg st="0" end="0"/>
                                            </p:txEl>
                                          </p:spTgt>
                                        </p:tgtEl>
                                        <p:attrNameLst>
                                          <p:attrName>style.visibility</p:attrName>
                                        </p:attrNameLst>
                                      </p:cBhvr>
                                      <p:to>
                                        <p:strVal val="visible"/>
                                      </p:to>
                                    </p:set>
                                    <p:animEffect transition="in" filter="wipe(left)">
                                      <p:cBhvr>
                                        <p:cTn id="17" dur="500"/>
                                        <p:tgtEl>
                                          <p:spTgt spid="5735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7351"/>
                                        </p:tgtEl>
                                        <p:attrNameLst>
                                          <p:attrName>style.visibility</p:attrName>
                                        </p:attrNameLst>
                                      </p:cBhvr>
                                      <p:to>
                                        <p:strVal val="visible"/>
                                      </p:to>
                                    </p:set>
                                    <p:animEffect transition="in" filter="wipe(left)">
                                      <p:cBhvr>
                                        <p:cTn id="22" dur="500"/>
                                        <p:tgtEl>
                                          <p:spTgt spid="573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7352"/>
                                        </p:tgtEl>
                                        <p:attrNameLst>
                                          <p:attrName>style.visibility</p:attrName>
                                        </p:attrNameLst>
                                      </p:cBhvr>
                                      <p:to>
                                        <p:strVal val="visible"/>
                                      </p:to>
                                    </p:set>
                                    <p:animEffect transition="in" filter="wipe(left)">
                                      <p:cBhvr>
                                        <p:cTn id="27" dur="500"/>
                                        <p:tgtEl>
                                          <p:spTgt spid="57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2" name="Rectangle 4"/>
          <p:cNvSpPr>
            <a:spLocks noGrp="1" noChangeArrowheads="1"/>
          </p:cNvSpPr>
          <p:nvPr>
            <p:ph type="body" sz="half" idx="1"/>
          </p:nvPr>
        </p:nvSpPr>
        <p:spPr bwMode="auto">
          <a:xfrm>
            <a:off x="611560" y="571501"/>
            <a:ext cx="7489825" cy="576262"/>
          </a:xfrm>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defRPr/>
            </a:pPr>
            <a:r>
              <a:rPr lang="zh-CN" altLang="en-US" sz="24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扩展为多个电阻串联的情况：</a:t>
            </a:r>
          </a:p>
        </p:txBody>
      </p:sp>
      <p:grpSp>
        <p:nvGrpSpPr>
          <p:cNvPr id="2" name="Group 38"/>
          <p:cNvGrpSpPr>
            <a:grpSpLocks/>
          </p:cNvGrpSpPr>
          <p:nvPr/>
        </p:nvGrpSpPr>
        <p:grpSpPr bwMode="auto">
          <a:xfrm>
            <a:off x="788988" y="1284288"/>
            <a:ext cx="2559050" cy="4737100"/>
            <a:chOff x="340" y="890"/>
            <a:chExt cx="1612" cy="2984"/>
          </a:xfrm>
        </p:grpSpPr>
        <p:sp>
          <p:nvSpPr>
            <p:cNvPr id="6152" name="Line 7"/>
            <p:cNvSpPr>
              <a:spLocks noChangeShapeType="1"/>
            </p:cNvSpPr>
            <p:nvPr/>
          </p:nvSpPr>
          <p:spPr bwMode="auto">
            <a:xfrm>
              <a:off x="1396" y="1265"/>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16" name="Rectangle 8"/>
            <p:cNvSpPr>
              <a:spLocks noChangeArrowheads="1"/>
            </p:cNvSpPr>
            <p:nvPr/>
          </p:nvSpPr>
          <p:spPr bwMode="auto">
            <a:xfrm>
              <a:off x="1476" y="1498"/>
              <a:ext cx="183" cy="233"/>
            </a:xfrm>
            <a:prstGeom prst="rect">
              <a:avLst/>
            </a:prstGeom>
            <a:noFill/>
            <a:ln w="9525">
              <a:noFill/>
              <a:miter lim="800000"/>
              <a:headEnd/>
              <a:tailEnd/>
            </a:ln>
          </p:spPr>
          <p:txBody>
            <a:bodyPr wrap="none" lIns="0" tIns="0" rIns="0" bIns="0">
              <a:spAutoFit/>
            </a:bodyPr>
            <a:lstStyle/>
            <a:p>
              <a:pPr>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17" name="Rectangle 9"/>
            <p:cNvSpPr>
              <a:spLocks noChangeArrowheads="1"/>
            </p:cNvSpPr>
            <p:nvPr/>
          </p:nvSpPr>
          <p:spPr bwMode="auto">
            <a:xfrm rot="-10800000">
              <a:off x="1335" y="1498"/>
              <a:ext cx="109" cy="227"/>
            </a:xfrm>
            <a:prstGeom prst="rect">
              <a:avLst/>
            </a:prstGeom>
            <a:noFill/>
            <a:ln w="39751">
              <a:solidFill>
                <a:schemeClr val="tx2"/>
              </a:solidFill>
              <a:miter lim="800000"/>
              <a:headEnd/>
              <a:tailEnd/>
            </a:ln>
          </p:spPr>
          <p:txBody>
            <a:bodyPr rot="10800000"/>
            <a:lstStyle/>
            <a:p>
              <a:pPr eaLnBrk="0" hangingPunct="0">
                <a:defRPr/>
              </a:pPr>
              <a:endParaRPr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18" name="Rectangle 10"/>
            <p:cNvSpPr>
              <a:spLocks noChangeArrowheads="1"/>
            </p:cNvSpPr>
            <p:nvPr/>
          </p:nvSpPr>
          <p:spPr bwMode="auto">
            <a:xfrm>
              <a:off x="1029" y="1418"/>
              <a:ext cx="321" cy="291"/>
            </a:xfrm>
            <a:prstGeom prst="rect">
              <a:avLst/>
            </a:prstGeom>
            <a:noFill/>
            <a:ln w="9525">
              <a:noFill/>
              <a:miter lim="800000"/>
              <a:headEnd/>
              <a:tailEnd/>
            </a:ln>
            <a:effectLst/>
          </p:spPr>
          <p:txBody>
            <a:bodyPr wrap="none">
              <a:spAutoFit/>
            </a:bodyPr>
            <a:lstStyle/>
            <a:p>
              <a:pPr algn="l" eaLnBrk="0" hangingPunct="0">
                <a:defRPr/>
              </a:pPr>
              <a:r>
                <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6" name="Line 11"/>
            <p:cNvSpPr>
              <a:spLocks noChangeShapeType="1"/>
            </p:cNvSpPr>
            <p:nvPr/>
          </p:nvSpPr>
          <p:spPr bwMode="auto">
            <a:xfrm rot="5400000" flipH="1" flipV="1">
              <a:off x="898" y="1044"/>
              <a:ext cx="0" cy="314"/>
            </a:xfrm>
            <a:prstGeom prst="line">
              <a:avLst/>
            </a:prstGeom>
            <a:noFill/>
            <a:ln w="38100">
              <a:solidFill>
                <a:srgbClr val="FF0000"/>
              </a:solidFill>
              <a:round/>
              <a:headEnd/>
              <a:tailEnd type="arrow"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7" name="Line 12"/>
            <p:cNvSpPr>
              <a:spLocks noChangeShapeType="1"/>
            </p:cNvSpPr>
            <p:nvPr/>
          </p:nvSpPr>
          <p:spPr bwMode="auto">
            <a:xfrm flipH="1" flipV="1">
              <a:off x="628" y="1258"/>
              <a:ext cx="768"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21" name="Rectangle 13"/>
            <p:cNvSpPr>
              <a:spLocks noChangeArrowheads="1"/>
            </p:cNvSpPr>
            <p:nvPr/>
          </p:nvSpPr>
          <p:spPr bwMode="auto">
            <a:xfrm>
              <a:off x="431" y="2432"/>
              <a:ext cx="257" cy="291"/>
            </a:xfrm>
            <a:prstGeom prst="rect">
              <a:avLst/>
            </a:prstGeom>
            <a:noFill/>
            <a:ln w="9525">
              <a:noFill/>
              <a:miter lim="800000"/>
              <a:headEnd/>
              <a:tailEnd/>
            </a:ln>
            <a:effectLst/>
          </p:spPr>
          <p:txBody>
            <a:bodyPr wrap="none">
              <a:spAutoFit/>
            </a:bodyPr>
            <a:lstStyle/>
            <a:p>
              <a:pPr algn="l" eaLnBrk="0" hangingPunct="0">
                <a:defRPr/>
              </a:pPr>
              <a:r>
                <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22" name="Rectangle 14"/>
            <p:cNvSpPr>
              <a:spLocks noChangeArrowheads="1"/>
            </p:cNvSpPr>
            <p:nvPr/>
          </p:nvSpPr>
          <p:spPr bwMode="auto">
            <a:xfrm>
              <a:off x="1444" y="2097"/>
              <a:ext cx="341" cy="291"/>
            </a:xfrm>
            <a:prstGeom prst="rect">
              <a:avLst/>
            </a:prstGeom>
            <a:noFill/>
            <a:ln w="9525">
              <a:noFill/>
              <a:miter lim="800000"/>
              <a:headEnd/>
              <a:tailEnd/>
            </a:ln>
            <a:effectLst/>
          </p:spPr>
          <p:txBody>
            <a:bodyPr>
              <a:spAutoFit/>
            </a:bodyPr>
            <a:lstStyle/>
            <a:p>
              <a:pPr algn="l" eaLnBrk="0" hangingPunct="0">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503823" name="Rectangle 15"/>
            <p:cNvSpPr>
              <a:spLocks noChangeArrowheads="1"/>
            </p:cNvSpPr>
            <p:nvPr/>
          </p:nvSpPr>
          <p:spPr bwMode="auto">
            <a:xfrm>
              <a:off x="1011" y="2017"/>
              <a:ext cx="321" cy="291"/>
            </a:xfrm>
            <a:prstGeom prst="rect">
              <a:avLst/>
            </a:prstGeom>
            <a:noFill/>
            <a:ln w="9525">
              <a:noFill/>
              <a:miter lim="800000"/>
              <a:headEnd/>
              <a:tailEnd/>
            </a:ln>
            <a:effectLst/>
          </p:spPr>
          <p:txBody>
            <a:bodyPr wrap="none">
              <a:spAutoFit/>
            </a:bodyPr>
            <a:lstStyle/>
            <a:p>
              <a:pPr algn="l" eaLnBrk="0" hangingPunct="0">
                <a:defRPr/>
              </a:pPr>
              <a:r>
                <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503824" name="Rectangle 16"/>
            <p:cNvSpPr>
              <a:spLocks noChangeArrowheads="1"/>
            </p:cNvSpPr>
            <p:nvPr/>
          </p:nvSpPr>
          <p:spPr bwMode="auto">
            <a:xfrm>
              <a:off x="826" y="890"/>
              <a:ext cx="182" cy="291"/>
            </a:xfrm>
            <a:prstGeom prst="rect">
              <a:avLst/>
            </a:prstGeom>
            <a:noFill/>
            <a:ln w="9525">
              <a:noFill/>
              <a:miter lim="800000"/>
              <a:headEnd/>
              <a:tailEnd/>
            </a:ln>
            <a:effectLst/>
          </p:spPr>
          <p:txBody>
            <a:bodyPr wrap="none">
              <a:spAutoFit/>
            </a:bodyPr>
            <a:lstStyle/>
            <a:p>
              <a:pPr algn="l" eaLnBrk="0" hangingPunct="0">
                <a:defRPr/>
              </a:pPr>
              <a:r>
                <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503825" name="Text Box 17"/>
            <p:cNvSpPr txBox="1">
              <a:spLocks noChangeArrowheads="1"/>
            </p:cNvSpPr>
            <p:nvPr/>
          </p:nvSpPr>
          <p:spPr bwMode="auto">
            <a:xfrm>
              <a:off x="954" y="1258"/>
              <a:ext cx="507" cy="327"/>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26" name="Text Box 18"/>
            <p:cNvSpPr txBox="1">
              <a:spLocks noChangeArrowheads="1"/>
            </p:cNvSpPr>
            <p:nvPr/>
          </p:nvSpPr>
          <p:spPr bwMode="auto">
            <a:xfrm>
              <a:off x="1060" y="1642"/>
              <a:ext cx="274" cy="291"/>
            </a:xfrm>
            <a:prstGeom prst="rect">
              <a:avLst/>
            </a:prstGeom>
            <a:noFill/>
            <a:ln w="9525">
              <a:noFill/>
              <a:miter lim="800000"/>
              <a:headEnd/>
              <a:tailEnd/>
            </a:ln>
            <a:effectLst/>
          </p:spPr>
          <p:txBody>
            <a:bodyPr>
              <a:spAutoFit/>
            </a:bodyPr>
            <a:lstStyle/>
            <a:p>
              <a:pPr eaLnBrk="0" hangingPunct="0">
                <a:spcBef>
                  <a:spcPct val="50000"/>
                </a:spcBef>
                <a:defRPr/>
              </a:pPr>
              <a:r>
                <a:rPr lang="en-US" altLang="zh-CN">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27" name="Text Box 19"/>
            <p:cNvSpPr txBox="1">
              <a:spLocks noChangeArrowheads="1"/>
            </p:cNvSpPr>
            <p:nvPr/>
          </p:nvSpPr>
          <p:spPr bwMode="auto">
            <a:xfrm>
              <a:off x="340" y="1258"/>
              <a:ext cx="507" cy="327"/>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28" name="Text Box 20"/>
            <p:cNvSpPr txBox="1">
              <a:spLocks noChangeArrowheads="1"/>
            </p:cNvSpPr>
            <p:nvPr/>
          </p:nvSpPr>
          <p:spPr bwMode="auto">
            <a:xfrm>
              <a:off x="954" y="1857"/>
              <a:ext cx="507" cy="327"/>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29" name="Text Box 21"/>
            <p:cNvSpPr txBox="1">
              <a:spLocks noChangeArrowheads="1"/>
            </p:cNvSpPr>
            <p:nvPr/>
          </p:nvSpPr>
          <p:spPr bwMode="auto">
            <a:xfrm>
              <a:off x="484" y="3521"/>
              <a:ext cx="274" cy="291"/>
            </a:xfrm>
            <a:prstGeom prst="rect">
              <a:avLst/>
            </a:prstGeom>
            <a:noFill/>
            <a:ln w="9525">
              <a:noFill/>
              <a:miter lim="800000"/>
              <a:headEnd/>
              <a:tailEnd/>
            </a:ln>
            <a:effectLst/>
          </p:spPr>
          <p:txBody>
            <a:bodyPr>
              <a:spAutoFit/>
            </a:bodyPr>
            <a:lstStyle/>
            <a:p>
              <a:pPr eaLnBrk="0" hangingPunct="0">
                <a:spcBef>
                  <a:spcPct val="50000"/>
                </a:spcBef>
                <a:defRPr/>
              </a:pPr>
              <a:r>
                <a:rPr lang="en-US" altLang="zh-CN">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30" name="Text Box 22"/>
            <p:cNvSpPr txBox="1">
              <a:spLocks noChangeArrowheads="1"/>
            </p:cNvSpPr>
            <p:nvPr/>
          </p:nvSpPr>
          <p:spPr bwMode="auto">
            <a:xfrm>
              <a:off x="1060" y="2241"/>
              <a:ext cx="274" cy="291"/>
            </a:xfrm>
            <a:prstGeom prst="rect">
              <a:avLst/>
            </a:prstGeom>
            <a:noFill/>
            <a:ln w="9525">
              <a:noFill/>
              <a:miter lim="800000"/>
              <a:headEnd/>
              <a:tailEnd/>
            </a:ln>
            <a:effectLst/>
          </p:spPr>
          <p:txBody>
            <a:bodyPr>
              <a:spAutoFit/>
            </a:bodyPr>
            <a:lstStyle/>
            <a:p>
              <a:pPr eaLnBrk="0" hangingPunct="0">
                <a:spcBef>
                  <a:spcPct val="50000"/>
                </a:spcBef>
                <a:defRPr/>
              </a:pPr>
              <a:r>
                <a:rPr lang="en-US" altLang="zh-CN">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68" name="Line 24"/>
            <p:cNvSpPr>
              <a:spLocks noChangeShapeType="1"/>
            </p:cNvSpPr>
            <p:nvPr/>
          </p:nvSpPr>
          <p:spPr bwMode="auto">
            <a:xfrm>
              <a:off x="1396" y="1738"/>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69" name="Oval 25"/>
            <p:cNvSpPr>
              <a:spLocks noChangeArrowheads="1"/>
            </p:cNvSpPr>
            <p:nvPr/>
          </p:nvSpPr>
          <p:spPr bwMode="auto">
            <a:xfrm>
              <a:off x="580" y="1250"/>
              <a:ext cx="48" cy="4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6170" name="Group 28"/>
            <p:cNvGrpSpPr>
              <a:grpSpLocks/>
            </p:cNvGrpSpPr>
            <p:nvPr/>
          </p:nvGrpSpPr>
          <p:grpSpPr bwMode="auto">
            <a:xfrm>
              <a:off x="562" y="3826"/>
              <a:ext cx="832" cy="48"/>
              <a:chOff x="580" y="2528"/>
              <a:chExt cx="832" cy="48"/>
            </a:xfrm>
          </p:grpSpPr>
          <p:sp>
            <p:nvSpPr>
              <p:cNvPr id="6181" name="Line 6"/>
              <p:cNvSpPr>
                <a:spLocks noChangeShapeType="1"/>
              </p:cNvSpPr>
              <p:nvPr/>
            </p:nvSpPr>
            <p:spPr bwMode="auto">
              <a:xfrm>
                <a:off x="628" y="255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82" name="Oval 26"/>
              <p:cNvSpPr>
                <a:spLocks noChangeArrowheads="1"/>
              </p:cNvSpPr>
              <p:nvPr/>
            </p:nvSpPr>
            <p:spPr bwMode="auto">
              <a:xfrm>
                <a:off x="580" y="2528"/>
                <a:ext cx="48" cy="4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03835" name="Rectangle 27"/>
            <p:cNvSpPr>
              <a:spLocks noChangeArrowheads="1"/>
            </p:cNvSpPr>
            <p:nvPr/>
          </p:nvSpPr>
          <p:spPr bwMode="auto">
            <a:xfrm rot="-10800000">
              <a:off x="1335" y="2087"/>
              <a:ext cx="109" cy="227"/>
            </a:xfrm>
            <a:prstGeom prst="rect">
              <a:avLst/>
            </a:prstGeom>
            <a:noFill/>
            <a:ln w="39751">
              <a:solidFill>
                <a:schemeClr val="tx2"/>
              </a:solidFill>
              <a:miter lim="800000"/>
              <a:headEnd/>
              <a:tailEnd/>
            </a:ln>
          </p:spPr>
          <p:txBody>
            <a:bodyPr rot="10800000"/>
            <a:lstStyle/>
            <a:p>
              <a:pPr eaLnBrk="0" hangingPunct="0">
                <a:defRPr/>
              </a:pPr>
              <a:endParaRPr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72" name="Line 29"/>
            <p:cNvSpPr>
              <a:spLocks noChangeShapeType="1"/>
            </p:cNvSpPr>
            <p:nvPr/>
          </p:nvSpPr>
          <p:spPr bwMode="auto">
            <a:xfrm>
              <a:off x="1383" y="2323"/>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73" name="Line 30"/>
            <p:cNvSpPr>
              <a:spLocks noChangeShapeType="1"/>
            </p:cNvSpPr>
            <p:nvPr/>
          </p:nvSpPr>
          <p:spPr bwMode="auto">
            <a:xfrm>
              <a:off x="1383" y="2659"/>
              <a:ext cx="0" cy="336"/>
            </a:xfrm>
            <a:prstGeom prst="line">
              <a:avLst/>
            </a:prstGeom>
            <a:noFill/>
            <a:ln w="39751">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74" name="Line 31"/>
            <p:cNvSpPr>
              <a:spLocks noChangeShapeType="1"/>
            </p:cNvSpPr>
            <p:nvPr/>
          </p:nvSpPr>
          <p:spPr bwMode="auto">
            <a:xfrm>
              <a:off x="1383" y="2976"/>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40" name="Rectangle 32"/>
            <p:cNvSpPr>
              <a:spLocks noChangeArrowheads="1"/>
            </p:cNvSpPr>
            <p:nvPr/>
          </p:nvSpPr>
          <p:spPr bwMode="auto">
            <a:xfrm rot="-10800000">
              <a:off x="1329" y="3303"/>
              <a:ext cx="109" cy="227"/>
            </a:xfrm>
            <a:prstGeom prst="rect">
              <a:avLst/>
            </a:prstGeom>
            <a:noFill/>
            <a:ln w="39751">
              <a:solidFill>
                <a:schemeClr val="tx2"/>
              </a:solidFill>
              <a:miter lim="800000"/>
              <a:headEnd/>
              <a:tailEnd/>
            </a:ln>
          </p:spPr>
          <p:txBody>
            <a:bodyPr rot="10800000"/>
            <a:lstStyle/>
            <a:p>
              <a:pPr eaLnBrk="0" hangingPunct="0">
                <a:defRPr/>
              </a:pPr>
              <a:endParaRPr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76" name="Line 33"/>
            <p:cNvSpPr>
              <a:spLocks noChangeShapeType="1"/>
            </p:cNvSpPr>
            <p:nvPr/>
          </p:nvSpPr>
          <p:spPr bwMode="auto">
            <a:xfrm>
              <a:off x="1383" y="3521"/>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3842" name="Rectangle 34"/>
            <p:cNvSpPr>
              <a:spLocks noChangeArrowheads="1"/>
            </p:cNvSpPr>
            <p:nvPr/>
          </p:nvSpPr>
          <p:spPr bwMode="auto">
            <a:xfrm>
              <a:off x="1429" y="3286"/>
              <a:ext cx="523" cy="291"/>
            </a:xfrm>
            <a:prstGeom prst="rect">
              <a:avLst/>
            </a:prstGeom>
            <a:noFill/>
            <a:ln w="9525">
              <a:noFill/>
              <a:miter lim="800000"/>
              <a:headEnd/>
              <a:tailEnd/>
            </a:ln>
            <a:effectLst/>
          </p:spPr>
          <p:txBody>
            <a:bodyPr>
              <a:spAutoFit/>
            </a:bodyPr>
            <a:lstStyle/>
            <a:p>
              <a:pPr algn="l" eaLnBrk="0" hangingPunct="0">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p>
          </p:txBody>
        </p:sp>
        <p:sp>
          <p:nvSpPr>
            <p:cNvPr id="503843" name="Rectangle 35"/>
            <p:cNvSpPr>
              <a:spLocks noChangeArrowheads="1"/>
            </p:cNvSpPr>
            <p:nvPr/>
          </p:nvSpPr>
          <p:spPr bwMode="auto">
            <a:xfrm>
              <a:off x="971" y="3206"/>
              <a:ext cx="321" cy="291"/>
            </a:xfrm>
            <a:prstGeom prst="rect">
              <a:avLst/>
            </a:prstGeom>
            <a:noFill/>
            <a:ln w="9525">
              <a:noFill/>
              <a:miter lim="800000"/>
              <a:headEnd/>
              <a:tailEnd/>
            </a:ln>
            <a:effectLst/>
          </p:spPr>
          <p:txBody>
            <a:bodyPr wrap="none">
              <a:spAutoFit/>
            </a:bodyPr>
            <a:lstStyle/>
            <a:p>
              <a:pPr algn="l" eaLnBrk="0" hangingPunct="0">
                <a:defRPr/>
              </a:pPr>
              <a:r>
                <a:rPr kumimoji="1" lang="en-US" altLang="zh-CN"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p>
          </p:txBody>
        </p:sp>
        <p:sp>
          <p:nvSpPr>
            <p:cNvPr id="503844" name="Text Box 36"/>
            <p:cNvSpPr txBox="1">
              <a:spLocks noChangeArrowheads="1"/>
            </p:cNvSpPr>
            <p:nvPr/>
          </p:nvSpPr>
          <p:spPr bwMode="auto">
            <a:xfrm>
              <a:off x="914" y="3046"/>
              <a:ext cx="507" cy="327"/>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3845" name="Text Box 37"/>
            <p:cNvSpPr txBox="1">
              <a:spLocks noChangeArrowheads="1"/>
            </p:cNvSpPr>
            <p:nvPr/>
          </p:nvSpPr>
          <p:spPr bwMode="auto">
            <a:xfrm>
              <a:off x="1020" y="3430"/>
              <a:ext cx="274" cy="291"/>
            </a:xfrm>
            <a:prstGeom prst="rect">
              <a:avLst/>
            </a:prstGeom>
            <a:noFill/>
            <a:ln w="9525">
              <a:noFill/>
              <a:miter lim="800000"/>
              <a:headEnd/>
              <a:tailEnd/>
            </a:ln>
            <a:effectLst/>
          </p:spPr>
          <p:txBody>
            <a:bodyPr>
              <a:spAutoFit/>
            </a:bodyPr>
            <a:lstStyle/>
            <a:p>
              <a:pPr eaLnBrk="0" hangingPunct="0">
                <a:spcBef>
                  <a:spcPct val="50000"/>
                </a:spcBef>
                <a:defRPr/>
              </a:pPr>
              <a:r>
                <a:rPr lang="en-US" altLang="zh-CN">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503852" name="Rectangle 44"/>
          <p:cNvSpPr>
            <a:spLocks noChangeArrowheads="1"/>
          </p:cNvSpPr>
          <p:nvPr/>
        </p:nvSpPr>
        <p:spPr bwMode="auto">
          <a:xfrm>
            <a:off x="3708400" y="1844675"/>
            <a:ext cx="3600450" cy="503238"/>
          </a:xfrm>
          <a:prstGeom prst="rect">
            <a:avLst/>
          </a:prstGeom>
          <a:noFill/>
          <a:ln w="9525">
            <a:noFill/>
            <a:miter lim="800000"/>
            <a:headEnd/>
            <a:tailEnd/>
          </a:ln>
          <a:effectLst/>
        </p:spPr>
        <p:txBody>
          <a:bodyPr/>
          <a:lstStyle/>
          <a:p>
            <a:pPr marL="342900" indent="-342900" algn="l">
              <a:spcBef>
                <a:spcPct val="20000"/>
              </a:spcBef>
              <a:buClr>
                <a:schemeClr val="hlink"/>
              </a:buClr>
              <a:buSzPct val="70000"/>
              <a:buFont typeface="Wingdings" pitchFamily="2" charset="2"/>
              <a:buNone/>
              <a:defRPr/>
            </a:pPr>
            <a:r>
              <a:rPr lang="zh-CN" altLang="en-US">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等效电阻：</a:t>
            </a:r>
          </a:p>
        </p:txBody>
      </p:sp>
      <p:sp>
        <p:nvSpPr>
          <p:cNvPr id="503854" name="Rectangle 46"/>
          <p:cNvSpPr>
            <a:spLocks noChangeArrowheads="1"/>
          </p:cNvSpPr>
          <p:nvPr/>
        </p:nvSpPr>
        <p:spPr bwMode="auto">
          <a:xfrm>
            <a:off x="3635375" y="3716338"/>
            <a:ext cx="3600450" cy="503237"/>
          </a:xfrm>
          <a:prstGeom prst="rect">
            <a:avLst/>
          </a:prstGeom>
          <a:noFill/>
          <a:ln w="9525">
            <a:noFill/>
            <a:miter lim="800000"/>
            <a:headEnd/>
            <a:tailEnd/>
          </a:ln>
          <a:effectLst/>
        </p:spPr>
        <p:txBody>
          <a:bodyPr/>
          <a:lstStyle/>
          <a:p>
            <a:pPr marL="342900" indent="-342900" algn="l">
              <a:spcBef>
                <a:spcPct val="20000"/>
              </a:spcBef>
              <a:buClr>
                <a:schemeClr val="hlink"/>
              </a:buClr>
              <a:buSzPct val="70000"/>
              <a:buFont typeface="Wingdings" pitchFamily="2" charset="2"/>
              <a:buNone/>
              <a:defRPr/>
            </a:pPr>
            <a:r>
              <a:rPr lang="zh-CN" altLang="en-US">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分压公式：</a:t>
            </a:r>
          </a:p>
        </p:txBody>
      </p:sp>
      <p:graphicFrame>
        <p:nvGraphicFramePr>
          <p:cNvPr id="503855" name="Object 47"/>
          <p:cNvGraphicFramePr>
            <a:graphicFrameLocks noGrp="1" noChangeAspect="1"/>
          </p:cNvGraphicFramePr>
          <p:nvPr>
            <p:ph sz="quarter" idx="3"/>
            <p:extLst>
              <p:ext uri="{D42A27DB-BD31-4B8C-83A1-F6EECF244321}">
                <p14:modId xmlns:p14="http://schemas.microsoft.com/office/powerpoint/2010/main" val="2797677822"/>
              </p:ext>
            </p:extLst>
          </p:nvPr>
        </p:nvGraphicFramePr>
        <p:xfrm>
          <a:off x="4500563" y="2781300"/>
          <a:ext cx="3384550" cy="585788"/>
        </p:xfrm>
        <a:graphic>
          <a:graphicData uri="http://schemas.openxmlformats.org/presentationml/2006/ole">
            <mc:AlternateContent xmlns:mc="http://schemas.openxmlformats.org/markup-compatibility/2006">
              <mc:Choice xmlns:v="urn:schemas-microsoft-com:vml" Requires="v">
                <p:oleObj spid="_x0000_s74772" name="公式" r:id="rId3" imgW="1305012" imgH="209520" progId="Equation.3">
                  <p:embed/>
                </p:oleObj>
              </mc:Choice>
              <mc:Fallback>
                <p:oleObj name="公式" r:id="rId3" imgW="1305012" imgH="209520" progId="Equation.3">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2781300"/>
                        <a:ext cx="338455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3861" name="Object 53"/>
          <p:cNvGraphicFramePr>
            <a:graphicFrameLocks noChangeAspect="1"/>
          </p:cNvGraphicFramePr>
          <p:nvPr>
            <p:extLst>
              <p:ext uri="{D42A27DB-BD31-4B8C-83A1-F6EECF244321}">
                <p14:modId xmlns:p14="http://schemas.microsoft.com/office/powerpoint/2010/main" val="2586418162"/>
              </p:ext>
            </p:extLst>
          </p:nvPr>
        </p:nvGraphicFramePr>
        <p:xfrm>
          <a:off x="4427538" y="4554538"/>
          <a:ext cx="4035425" cy="1106487"/>
        </p:xfrm>
        <a:graphic>
          <a:graphicData uri="http://schemas.openxmlformats.org/presentationml/2006/ole">
            <mc:AlternateContent xmlns:mc="http://schemas.openxmlformats.org/markup-compatibility/2006">
              <mc:Choice xmlns:v="urn:schemas-microsoft-com:vml" Requires="v">
                <p:oleObj spid="_x0000_s74773" name="公式" r:id="rId5" imgW="1552454" imgH="409590" progId="Equation.3">
                  <p:embed/>
                </p:oleObj>
              </mc:Choice>
              <mc:Fallback>
                <p:oleObj name="公式" r:id="rId5" imgW="1552454" imgH="4095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4554538"/>
                        <a:ext cx="4035425" cy="110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80B99985-1685-4831-85EC-51C986793D8E}" type="slidenum">
              <a:rPr lang="en-US" altLang="zh-CN" smtClean="0"/>
              <a:pPr>
                <a:defRPr/>
              </a:pPr>
              <a:t>4</a:t>
            </a:fld>
            <a:endParaRPr lang="en-US" altLang="zh-CN"/>
          </a:p>
        </p:txBody>
      </p:sp>
    </p:spTree>
    <p:extLst>
      <p:ext uri="{BB962C8B-B14F-4D97-AF65-F5344CB8AC3E}">
        <p14:creationId xmlns:p14="http://schemas.microsoft.com/office/powerpoint/2010/main" val="1172452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3812">
                                            <p:txEl>
                                              <p:pRg st="0" end="0"/>
                                            </p:txEl>
                                          </p:spTgt>
                                        </p:tgtEl>
                                        <p:attrNameLst>
                                          <p:attrName>style.visibility</p:attrName>
                                        </p:attrNameLst>
                                      </p:cBhvr>
                                      <p:to>
                                        <p:strVal val="visible"/>
                                      </p:to>
                                    </p:set>
                                    <p:animEffect transition="in" filter="wipe(left)">
                                      <p:cBhvr>
                                        <p:cTn id="7" dur="500"/>
                                        <p:tgtEl>
                                          <p:spTgt spid="5038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3852">
                                            <p:txEl>
                                              <p:pRg st="0" end="0"/>
                                            </p:txEl>
                                          </p:spTgt>
                                        </p:tgtEl>
                                        <p:attrNameLst>
                                          <p:attrName>style.visibility</p:attrName>
                                        </p:attrNameLst>
                                      </p:cBhvr>
                                      <p:to>
                                        <p:strVal val="visible"/>
                                      </p:to>
                                    </p:set>
                                    <p:animEffect transition="in" filter="wipe(left)">
                                      <p:cBhvr>
                                        <p:cTn id="17" dur="500"/>
                                        <p:tgtEl>
                                          <p:spTgt spid="50385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03855"/>
                                        </p:tgtEl>
                                        <p:attrNameLst>
                                          <p:attrName>style.visibility</p:attrName>
                                        </p:attrNameLst>
                                      </p:cBhvr>
                                      <p:to>
                                        <p:strVal val="visible"/>
                                      </p:to>
                                    </p:set>
                                    <p:animEffect transition="in" filter="wipe(left)">
                                      <p:cBhvr>
                                        <p:cTn id="22" dur="500"/>
                                        <p:tgtEl>
                                          <p:spTgt spid="5038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3854">
                                            <p:txEl>
                                              <p:pRg st="0" end="0"/>
                                            </p:txEl>
                                          </p:spTgt>
                                        </p:tgtEl>
                                        <p:attrNameLst>
                                          <p:attrName>style.visibility</p:attrName>
                                        </p:attrNameLst>
                                      </p:cBhvr>
                                      <p:to>
                                        <p:strVal val="visible"/>
                                      </p:to>
                                    </p:set>
                                    <p:animEffect transition="in" filter="wipe(left)">
                                      <p:cBhvr>
                                        <p:cTn id="27" dur="500"/>
                                        <p:tgtEl>
                                          <p:spTgt spid="503854">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03861"/>
                                        </p:tgtEl>
                                        <p:attrNameLst>
                                          <p:attrName>style.visibility</p:attrName>
                                        </p:attrNameLst>
                                      </p:cBhvr>
                                      <p:to>
                                        <p:strVal val="visible"/>
                                      </p:to>
                                    </p:set>
                                    <p:animEffect transition="in" filter="wipe(left)">
                                      <p:cBhvr>
                                        <p:cTn id="32" dur="500"/>
                                        <p:tgtEl>
                                          <p:spTgt spid="503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2" grpId="0" build="p"/>
      <p:bldP spid="503852" grpId="0" build="p"/>
      <p:bldP spid="503854"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Rectangle 2"/>
          <p:cNvSpPr>
            <a:spLocks noChangeArrowheads="1"/>
          </p:cNvSpPr>
          <p:nvPr/>
        </p:nvSpPr>
        <p:spPr bwMode="auto">
          <a:xfrm>
            <a:off x="3505200" y="2133600"/>
            <a:ext cx="5105400"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解：电位器滑动到</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下端时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，输出电压等于电阻</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两端的电压，见下图。由电阻串联时的分压公式得到</a:t>
            </a:r>
          </a:p>
        </p:txBody>
      </p:sp>
      <p:graphicFrame>
        <p:nvGraphicFramePr>
          <p:cNvPr id="139268" name="Object 4"/>
          <p:cNvGraphicFramePr>
            <a:graphicFrameLocks noChangeAspect="1"/>
          </p:cNvGraphicFramePr>
          <p:nvPr>
            <p:extLst>
              <p:ext uri="{D42A27DB-BD31-4B8C-83A1-F6EECF244321}">
                <p14:modId xmlns:p14="http://schemas.microsoft.com/office/powerpoint/2010/main" val="274280935"/>
              </p:ext>
            </p:extLst>
          </p:nvPr>
        </p:nvGraphicFramePr>
        <p:xfrm>
          <a:off x="4879975" y="3794125"/>
          <a:ext cx="2968625" cy="2149475"/>
        </p:xfrm>
        <a:graphic>
          <a:graphicData uri="http://schemas.openxmlformats.org/presentationml/2006/ole">
            <mc:AlternateContent xmlns:mc="http://schemas.openxmlformats.org/markup-compatibility/2006">
              <mc:Choice xmlns:v="urn:schemas-microsoft-com:vml" Requires="v">
                <p:oleObj spid="_x0000_s65610" name="Equation" r:id="rId3" imgW="1466822" imgH="1047870" progId="Equation.3">
                  <p:embed/>
                </p:oleObj>
              </mc:Choice>
              <mc:Fallback>
                <p:oleObj name="Equation" r:id="rId3" imgW="1466822" imgH="104787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9975" y="3794125"/>
                        <a:ext cx="2968625" cy="214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0" name="Text Box 44"/>
          <p:cNvSpPr txBox="1">
            <a:spLocks noChangeArrowheads="1"/>
          </p:cNvSpPr>
          <p:nvPr/>
        </p:nvSpPr>
        <p:spPr bwMode="auto">
          <a:xfrm>
            <a:off x="3059113" y="620713"/>
            <a:ext cx="5764212"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lang="en-US" altLang="zh-CN"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下图中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=500Ω</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=200Ω</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3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为</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500Ω</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的电位</a:t>
            </a:r>
            <a:r>
              <a:rPr lang="zh-CN" altLang="en-US"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。输入电压为</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=12V ,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试计算输出电压</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的变化范围。</a:t>
            </a:r>
          </a:p>
        </p:txBody>
      </p:sp>
      <p:grpSp>
        <p:nvGrpSpPr>
          <p:cNvPr id="65541" name="Group 95"/>
          <p:cNvGrpSpPr>
            <a:grpSpLocks/>
          </p:cNvGrpSpPr>
          <p:nvPr/>
        </p:nvGrpSpPr>
        <p:grpSpPr bwMode="auto">
          <a:xfrm>
            <a:off x="609600" y="609600"/>
            <a:ext cx="2514600" cy="2836863"/>
            <a:chOff x="288" y="1104"/>
            <a:chExt cx="1584" cy="1787"/>
          </a:xfrm>
        </p:grpSpPr>
        <p:grpSp>
          <p:nvGrpSpPr>
            <p:cNvPr id="65564" name="Group 66"/>
            <p:cNvGrpSpPr>
              <a:grpSpLocks/>
            </p:cNvGrpSpPr>
            <p:nvPr/>
          </p:nvGrpSpPr>
          <p:grpSpPr bwMode="auto">
            <a:xfrm>
              <a:off x="991" y="1173"/>
              <a:ext cx="93" cy="1650"/>
              <a:chOff x="1898" y="2932"/>
              <a:chExt cx="187" cy="4125"/>
            </a:xfrm>
          </p:grpSpPr>
          <p:grpSp>
            <p:nvGrpSpPr>
              <p:cNvPr id="65573" name="Group 67"/>
              <p:cNvGrpSpPr>
                <a:grpSpLocks/>
              </p:cNvGrpSpPr>
              <p:nvPr/>
            </p:nvGrpSpPr>
            <p:grpSpPr bwMode="auto">
              <a:xfrm>
                <a:off x="1898" y="5418"/>
                <a:ext cx="187" cy="1639"/>
                <a:chOff x="743" y="567"/>
                <a:chExt cx="187" cy="1639"/>
              </a:xfrm>
            </p:grpSpPr>
            <p:sp>
              <p:nvSpPr>
                <p:cNvPr id="65580" name="Line 6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81" name="Rectangle 6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5574" name="Group 70"/>
              <p:cNvGrpSpPr>
                <a:grpSpLocks/>
              </p:cNvGrpSpPr>
              <p:nvPr/>
            </p:nvGrpSpPr>
            <p:grpSpPr bwMode="auto">
              <a:xfrm>
                <a:off x="1898" y="2932"/>
                <a:ext cx="187" cy="1639"/>
                <a:chOff x="743" y="567"/>
                <a:chExt cx="187" cy="1639"/>
              </a:xfrm>
            </p:grpSpPr>
            <p:sp>
              <p:nvSpPr>
                <p:cNvPr id="65578" name="Line 7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79" name="Rectangle 7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5575" name="Group 73"/>
              <p:cNvGrpSpPr>
                <a:grpSpLocks/>
              </p:cNvGrpSpPr>
              <p:nvPr/>
            </p:nvGrpSpPr>
            <p:grpSpPr bwMode="auto">
              <a:xfrm>
                <a:off x="1898" y="4175"/>
                <a:ext cx="187" cy="1639"/>
                <a:chOff x="743" y="567"/>
                <a:chExt cx="187" cy="1639"/>
              </a:xfrm>
            </p:grpSpPr>
            <p:sp>
              <p:nvSpPr>
                <p:cNvPr id="65576" name="Line 7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77" name="Rectangle 7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65565" name="Line 78"/>
            <p:cNvSpPr>
              <a:spLocks noChangeShapeType="1"/>
            </p:cNvSpPr>
            <p:nvPr/>
          </p:nvSpPr>
          <p:spPr bwMode="auto">
            <a:xfrm rot="-5400000">
              <a:off x="1248" y="1824"/>
              <a:ext cx="6" cy="390"/>
            </a:xfrm>
            <a:prstGeom prst="line">
              <a:avLst/>
            </a:prstGeom>
            <a:noFill/>
            <a:ln w="38100">
              <a:solidFill>
                <a:srgbClr val="00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66" name="Line 79"/>
            <p:cNvSpPr>
              <a:spLocks noChangeShapeType="1"/>
            </p:cNvSpPr>
            <p:nvPr/>
          </p:nvSpPr>
          <p:spPr bwMode="auto">
            <a:xfrm>
              <a:off x="472" y="1182"/>
              <a:ext cx="56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67" name="Line 80"/>
            <p:cNvSpPr>
              <a:spLocks noChangeShapeType="1"/>
            </p:cNvSpPr>
            <p:nvPr/>
          </p:nvSpPr>
          <p:spPr bwMode="auto">
            <a:xfrm>
              <a:off x="480" y="2832"/>
              <a:ext cx="100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68" name="Text Box 82"/>
            <p:cNvSpPr txBox="1">
              <a:spLocks noChangeArrowheads="1"/>
            </p:cNvSpPr>
            <p:nvPr/>
          </p:nvSpPr>
          <p:spPr bwMode="auto">
            <a:xfrm>
              <a:off x="672" y="134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65569" name="Text Box 83"/>
            <p:cNvSpPr txBox="1">
              <a:spLocks noChangeArrowheads="1"/>
            </p:cNvSpPr>
            <p:nvPr/>
          </p:nvSpPr>
          <p:spPr bwMode="auto">
            <a:xfrm>
              <a:off x="672"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70" name="Text Box 84"/>
            <p:cNvSpPr txBox="1">
              <a:spLocks noChangeArrowheads="1"/>
            </p:cNvSpPr>
            <p:nvPr/>
          </p:nvSpPr>
          <p:spPr bwMode="auto">
            <a:xfrm>
              <a:off x="672" y="235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71" name="Text Box 85"/>
            <p:cNvSpPr txBox="1">
              <a:spLocks noChangeArrowheads="1"/>
            </p:cNvSpPr>
            <p:nvPr/>
          </p:nvSpPr>
          <p:spPr bwMode="auto">
            <a:xfrm>
              <a:off x="288" y="1104"/>
              <a:ext cx="432" cy="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200000"/>
                </a:lnSpc>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200000"/>
                </a:lnSpc>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a:p>
              <a:pPr eaLnBrk="1" hangingPunct="1">
                <a:lnSpc>
                  <a:spcPct val="200000"/>
                </a:lnSpc>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5572" name="Text Box 86"/>
            <p:cNvSpPr txBox="1">
              <a:spLocks noChangeArrowheads="1"/>
            </p:cNvSpPr>
            <p:nvPr/>
          </p:nvSpPr>
          <p:spPr bwMode="auto">
            <a:xfrm>
              <a:off x="1440" y="1902"/>
              <a:ext cx="432"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p>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grpSp>
      <p:grpSp>
        <p:nvGrpSpPr>
          <p:cNvPr id="65542" name="Group 94"/>
          <p:cNvGrpSpPr>
            <a:grpSpLocks/>
          </p:cNvGrpSpPr>
          <p:nvPr/>
        </p:nvGrpSpPr>
        <p:grpSpPr bwMode="auto">
          <a:xfrm>
            <a:off x="1143000" y="3810000"/>
            <a:ext cx="3243263" cy="2625725"/>
            <a:chOff x="2544" y="1232"/>
            <a:chExt cx="2043" cy="1654"/>
          </a:xfrm>
        </p:grpSpPr>
        <p:sp>
          <p:nvSpPr>
            <p:cNvPr id="65543" name="Line 6"/>
            <p:cNvSpPr>
              <a:spLocks noChangeShapeType="1"/>
            </p:cNvSpPr>
            <p:nvPr/>
          </p:nvSpPr>
          <p:spPr bwMode="auto">
            <a:xfrm>
              <a:off x="2832" y="28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44" name="Line 7"/>
            <p:cNvSpPr>
              <a:spLocks noChangeShapeType="1"/>
            </p:cNvSpPr>
            <p:nvPr/>
          </p:nvSpPr>
          <p:spPr bwMode="auto">
            <a:xfrm>
              <a:off x="3600" y="1575"/>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9272" name="Rectangle 8"/>
            <p:cNvSpPr>
              <a:spLocks noChangeArrowheads="1"/>
            </p:cNvSpPr>
            <p:nvPr/>
          </p:nvSpPr>
          <p:spPr bwMode="auto">
            <a:xfrm>
              <a:off x="3728" y="1776"/>
              <a:ext cx="5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defRPr/>
              </a:pPr>
              <a:r>
                <a:rPr kumimoji="1" lang="en-US" altLang="zh-CN"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139273" name="Rectangle 9"/>
            <p:cNvSpPr>
              <a:spLocks noChangeArrowheads="1"/>
            </p:cNvSpPr>
            <p:nvPr/>
          </p:nvSpPr>
          <p:spPr bwMode="auto">
            <a:xfrm rot="-10800000">
              <a:off x="3539" y="180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47" name="Line 11"/>
            <p:cNvSpPr>
              <a:spLocks noChangeShapeType="1"/>
            </p:cNvSpPr>
            <p:nvPr/>
          </p:nvSpPr>
          <p:spPr bwMode="auto">
            <a:xfrm rot="5400000" flipH="1" flipV="1">
              <a:off x="3102" y="135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48" name="Line 12"/>
            <p:cNvSpPr>
              <a:spLocks noChangeShapeType="1"/>
            </p:cNvSpPr>
            <p:nvPr/>
          </p:nvSpPr>
          <p:spPr bwMode="auto">
            <a:xfrm flipH="1" flipV="1">
              <a:off x="2832" y="15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9277" name="Rectangle 13"/>
            <p:cNvSpPr>
              <a:spLocks noChangeArrowheads="1"/>
            </p:cNvSpPr>
            <p:nvPr/>
          </p:nvSpPr>
          <p:spPr bwMode="auto">
            <a:xfrm>
              <a:off x="2673" y="2096"/>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139278" name="Rectangle 14"/>
            <p:cNvSpPr>
              <a:spLocks noChangeArrowheads="1"/>
            </p:cNvSpPr>
            <p:nvPr/>
          </p:nvSpPr>
          <p:spPr bwMode="auto">
            <a:xfrm>
              <a:off x="3648" y="2384"/>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39280" name="Rectangle 16"/>
            <p:cNvSpPr>
              <a:spLocks noChangeArrowheads="1"/>
            </p:cNvSpPr>
            <p:nvPr/>
          </p:nvSpPr>
          <p:spPr bwMode="auto">
            <a:xfrm>
              <a:off x="3030" y="12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39283" name="Text Box 19"/>
            <p:cNvSpPr txBox="1">
              <a:spLocks noChangeArrowheads="1"/>
            </p:cNvSpPr>
            <p:nvPr/>
          </p:nvSpPr>
          <p:spPr bwMode="auto">
            <a:xfrm>
              <a:off x="2544" y="15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9285" name="Text Box 21"/>
            <p:cNvSpPr txBox="1">
              <a:spLocks noChangeArrowheads="1"/>
            </p:cNvSpPr>
            <p:nvPr/>
          </p:nvSpPr>
          <p:spPr bwMode="auto">
            <a:xfrm>
              <a:off x="2688" y="25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9286" name="Text Box 22"/>
            <p:cNvSpPr txBox="1">
              <a:spLocks noChangeArrowheads="1"/>
            </p:cNvSpPr>
            <p:nvPr/>
          </p:nvSpPr>
          <p:spPr bwMode="auto">
            <a:xfrm>
              <a:off x="4238" y="2592"/>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5555" name="Line 23"/>
            <p:cNvSpPr>
              <a:spLocks noChangeShapeType="1"/>
            </p:cNvSpPr>
            <p:nvPr/>
          </p:nvSpPr>
          <p:spPr bwMode="auto">
            <a:xfrm>
              <a:off x="3600" y="2624"/>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56" name="Line 24"/>
            <p:cNvSpPr>
              <a:spLocks noChangeShapeType="1"/>
            </p:cNvSpPr>
            <p:nvPr/>
          </p:nvSpPr>
          <p:spPr bwMode="auto">
            <a:xfrm>
              <a:off x="3600" y="2048"/>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57" name="Oval 25"/>
            <p:cNvSpPr>
              <a:spLocks noChangeArrowheads="1"/>
            </p:cNvSpPr>
            <p:nvPr/>
          </p:nvSpPr>
          <p:spPr bwMode="auto">
            <a:xfrm>
              <a:off x="2784" y="15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58" name="Oval 26"/>
            <p:cNvSpPr>
              <a:spLocks noChangeArrowheads="1"/>
            </p:cNvSpPr>
            <p:nvPr/>
          </p:nvSpPr>
          <p:spPr bwMode="auto">
            <a:xfrm>
              <a:off x="2784" y="28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9291" name="Rectangle 27"/>
            <p:cNvSpPr>
              <a:spLocks noChangeArrowheads="1"/>
            </p:cNvSpPr>
            <p:nvPr/>
          </p:nvSpPr>
          <p:spPr bwMode="auto">
            <a:xfrm rot="-10800000">
              <a:off x="3539" y="2397"/>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60" name="Line 88"/>
            <p:cNvSpPr>
              <a:spLocks noChangeShapeType="1"/>
            </p:cNvSpPr>
            <p:nvPr/>
          </p:nvSpPr>
          <p:spPr bwMode="auto">
            <a:xfrm>
              <a:off x="3600" y="2208"/>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61" name="Line 90"/>
            <p:cNvSpPr>
              <a:spLocks noChangeShapeType="1"/>
            </p:cNvSpPr>
            <p:nvPr/>
          </p:nvSpPr>
          <p:spPr bwMode="auto">
            <a:xfrm>
              <a:off x="3600" y="2832"/>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9355" name="Rectangle 91"/>
            <p:cNvSpPr>
              <a:spLocks noChangeArrowheads="1"/>
            </p:cNvSpPr>
            <p:nvPr/>
          </p:nvSpPr>
          <p:spPr bwMode="auto">
            <a:xfrm>
              <a:off x="4176" y="2400"/>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39357" name="Text Box 93"/>
            <p:cNvSpPr txBox="1">
              <a:spLocks noChangeArrowheads="1"/>
            </p:cNvSpPr>
            <p:nvPr/>
          </p:nvSpPr>
          <p:spPr bwMode="auto">
            <a:xfrm>
              <a:off x="4080" y="2160"/>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3" name="灯片编号占位符 2"/>
          <p:cNvSpPr>
            <a:spLocks noGrp="1"/>
          </p:cNvSpPr>
          <p:nvPr>
            <p:ph type="sldNum" sz="quarter" idx="12"/>
          </p:nvPr>
        </p:nvSpPr>
        <p:spPr/>
        <p:txBody>
          <a:bodyPr/>
          <a:lstStyle/>
          <a:p>
            <a:pPr>
              <a:defRPr/>
            </a:pPr>
            <a:fld id="{7F6DAC6E-051E-43BF-A607-F6F4F9E2F096}" type="slidenum">
              <a:rPr lang="en-US" altLang="zh-CN" smtClean="0"/>
              <a:pPr>
                <a:defRPr/>
              </a:pPr>
              <a:t>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6">
                                            <p:txEl>
                                              <p:pRg st="0" end="0"/>
                                            </p:txEl>
                                          </p:spTgt>
                                        </p:tgtEl>
                                        <p:attrNameLst>
                                          <p:attrName>style.visibility</p:attrName>
                                        </p:attrNameLst>
                                      </p:cBhvr>
                                      <p:to>
                                        <p:strVal val="visible"/>
                                      </p:to>
                                    </p:set>
                                    <p:animEffect transition="in" filter="wipe(left)">
                                      <p:cBhvr>
                                        <p:cTn id="7" dur="500"/>
                                        <p:tgtEl>
                                          <p:spTgt spid="1392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9268"/>
                                        </p:tgtEl>
                                        <p:attrNameLst>
                                          <p:attrName>style.visibility</p:attrName>
                                        </p:attrNameLst>
                                      </p:cBhvr>
                                      <p:to>
                                        <p:strVal val="visible"/>
                                      </p:to>
                                    </p:set>
                                    <p:animEffect transition="in" filter="wipe(left)">
                                      <p:cBhvr>
                                        <p:cTn id="12" dur="500"/>
                                        <p:tgtEl>
                                          <p:spTgt spid="139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3276600" y="838200"/>
            <a:ext cx="5472113"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电位器滑动到</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上端时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，输出电压等于电阻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和电阻</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两端电压之和，见下图。由电阻串联时的分压公式得到</a:t>
            </a:r>
          </a:p>
        </p:txBody>
      </p:sp>
      <p:graphicFrame>
        <p:nvGraphicFramePr>
          <p:cNvPr id="141315" name="Object 3"/>
          <p:cNvGraphicFramePr>
            <a:graphicFrameLocks noChangeAspect="1"/>
          </p:cNvGraphicFramePr>
          <p:nvPr>
            <p:extLst>
              <p:ext uri="{D42A27DB-BD31-4B8C-83A1-F6EECF244321}">
                <p14:modId xmlns:p14="http://schemas.microsoft.com/office/powerpoint/2010/main" val="3771168688"/>
              </p:ext>
            </p:extLst>
          </p:nvPr>
        </p:nvGraphicFramePr>
        <p:xfrm>
          <a:off x="4613275" y="2667952"/>
          <a:ext cx="3495675" cy="2038985"/>
        </p:xfrm>
        <a:graphic>
          <a:graphicData uri="http://schemas.openxmlformats.org/presentationml/2006/ole">
            <mc:AlternateContent xmlns:mc="http://schemas.openxmlformats.org/markup-compatibility/2006">
              <mc:Choice xmlns:v="urn:schemas-microsoft-com:vml" Requires="v">
                <p:oleObj spid="_x0000_s66636" name="公式" r:id="rId3" imgW="1726920" imgH="1104840" progId="Equation.3">
                  <p:embed/>
                </p:oleObj>
              </mc:Choice>
              <mc:Fallback>
                <p:oleObj name="公式" r:id="rId3" imgW="1726920" imgH="1104840" progId="Equation.3">
                  <p:embed/>
                  <p:pic>
                    <p:nvPicPr>
                      <p:cNvPr id="0" name="Object 3"/>
                      <p:cNvPicPr>
                        <a:picLocks noChangeAspect="1" noChangeArrowheads="1"/>
                      </p:cNvPicPr>
                      <p:nvPr/>
                    </p:nvPicPr>
                    <p:blipFill>
                      <a:blip r:embed="rId4"/>
                      <a:srcRect/>
                      <a:stretch>
                        <a:fillRect/>
                      </a:stretch>
                    </p:blipFill>
                    <p:spPr bwMode="auto">
                      <a:xfrm>
                        <a:off x="4613275" y="2667952"/>
                        <a:ext cx="3495675" cy="2038985"/>
                      </a:xfrm>
                      <a:prstGeom prst="rect">
                        <a:avLst/>
                      </a:prstGeom>
                      <a:noFill/>
                      <a:ln>
                        <a:noFill/>
                      </a:ln>
                      <a:effectLst/>
                      <a:extLst/>
                    </p:spPr>
                  </p:pic>
                </p:oleObj>
              </mc:Fallback>
            </mc:AlternateContent>
          </a:graphicData>
        </a:graphic>
      </p:graphicFrame>
      <p:grpSp>
        <p:nvGrpSpPr>
          <p:cNvPr id="66564" name="Group 5"/>
          <p:cNvGrpSpPr>
            <a:grpSpLocks/>
          </p:cNvGrpSpPr>
          <p:nvPr/>
        </p:nvGrpSpPr>
        <p:grpSpPr bwMode="auto">
          <a:xfrm>
            <a:off x="609600" y="609600"/>
            <a:ext cx="2514600" cy="2836863"/>
            <a:chOff x="288" y="1104"/>
            <a:chExt cx="1584" cy="1787"/>
          </a:xfrm>
        </p:grpSpPr>
        <p:grpSp>
          <p:nvGrpSpPr>
            <p:cNvPr id="66590" name="Group 6"/>
            <p:cNvGrpSpPr>
              <a:grpSpLocks/>
            </p:cNvGrpSpPr>
            <p:nvPr/>
          </p:nvGrpSpPr>
          <p:grpSpPr bwMode="auto">
            <a:xfrm>
              <a:off x="991" y="1173"/>
              <a:ext cx="93" cy="1650"/>
              <a:chOff x="1898" y="2932"/>
              <a:chExt cx="187" cy="4125"/>
            </a:xfrm>
          </p:grpSpPr>
          <p:grpSp>
            <p:nvGrpSpPr>
              <p:cNvPr id="66599" name="Group 7"/>
              <p:cNvGrpSpPr>
                <a:grpSpLocks/>
              </p:cNvGrpSpPr>
              <p:nvPr/>
            </p:nvGrpSpPr>
            <p:grpSpPr bwMode="auto">
              <a:xfrm>
                <a:off x="1898" y="5418"/>
                <a:ext cx="187" cy="1639"/>
                <a:chOff x="743" y="567"/>
                <a:chExt cx="187" cy="1639"/>
              </a:xfrm>
            </p:grpSpPr>
            <p:sp>
              <p:nvSpPr>
                <p:cNvPr id="66606" name="Line 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607" name="Rectangle 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6600" name="Group 10"/>
              <p:cNvGrpSpPr>
                <a:grpSpLocks/>
              </p:cNvGrpSpPr>
              <p:nvPr/>
            </p:nvGrpSpPr>
            <p:grpSpPr bwMode="auto">
              <a:xfrm>
                <a:off x="1898" y="2932"/>
                <a:ext cx="187" cy="1639"/>
                <a:chOff x="743" y="567"/>
                <a:chExt cx="187" cy="1639"/>
              </a:xfrm>
            </p:grpSpPr>
            <p:sp>
              <p:nvSpPr>
                <p:cNvPr id="66604" name="Line 1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605" name="Rectangle 1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6601" name="Group 13"/>
              <p:cNvGrpSpPr>
                <a:grpSpLocks/>
              </p:cNvGrpSpPr>
              <p:nvPr/>
            </p:nvGrpSpPr>
            <p:grpSpPr bwMode="auto">
              <a:xfrm>
                <a:off x="1898" y="4175"/>
                <a:ext cx="187" cy="1639"/>
                <a:chOff x="743" y="567"/>
                <a:chExt cx="187" cy="1639"/>
              </a:xfrm>
            </p:grpSpPr>
            <p:sp>
              <p:nvSpPr>
                <p:cNvPr id="66602" name="Line 1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603" name="Rectangle 1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66591" name="Line 16"/>
            <p:cNvSpPr>
              <a:spLocks noChangeShapeType="1"/>
            </p:cNvSpPr>
            <p:nvPr/>
          </p:nvSpPr>
          <p:spPr bwMode="auto">
            <a:xfrm rot="-5400000">
              <a:off x="1248" y="1824"/>
              <a:ext cx="6" cy="390"/>
            </a:xfrm>
            <a:prstGeom prst="line">
              <a:avLst/>
            </a:prstGeom>
            <a:noFill/>
            <a:ln w="38100">
              <a:solidFill>
                <a:srgbClr val="0000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92" name="Line 17"/>
            <p:cNvSpPr>
              <a:spLocks noChangeShapeType="1"/>
            </p:cNvSpPr>
            <p:nvPr/>
          </p:nvSpPr>
          <p:spPr bwMode="auto">
            <a:xfrm>
              <a:off x="472" y="1182"/>
              <a:ext cx="56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93" name="Line 18"/>
            <p:cNvSpPr>
              <a:spLocks noChangeShapeType="1"/>
            </p:cNvSpPr>
            <p:nvPr/>
          </p:nvSpPr>
          <p:spPr bwMode="auto">
            <a:xfrm>
              <a:off x="480" y="2832"/>
              <a:ext cx="1008"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94" name="Text Box 19"/>
            <p:cNvSpPr txBox="1">
              <a:spLocks noChangeArrowheads="1"/>
            </p:cNvSpPr>
            <p:nvPr/>
          </p:nvSpPr>
          <p:spPr bwMode="auto">
            <a:xfrm>
              <a:off x="672" y="134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66595" name="Text Box 20"/>
            <p:cNvSpPr txBox="1">
              <a:spLocks noChangeArrowheads="1"/>
            </p:cNvSpPr>
            <p:nvPr/>
          </p:nvSpPr>
          <p:spPr bwMode="auto">
            <a:xfrm>
              <a:off x="672" y="187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96" name="Text Box 21"/>
            <p:cNvSpPr txBox="1">
              <a:spLocks noChangeArrowheads="1"/>
            </p:cNvSpPr>
            <p:nvPr/>
          </p:nvSpPr>
          <p:spPr bwMode="auto">
            <a:xfrm>
              <a:off x="672" y="235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97" name="Text Box 22"/>
            <p:cNvSpPr txBox="1">
              <a:spLocks noChangeArrowheads="1"/>
            </p:cNvSpPr>
            <p:nvPr/>
          </p:nvSpPr>
          <p:spPr bwMode="auto">
            <a:xfrm>
              <a:off x="288" y="1104"/>
              <a:ext cx="432" cy="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200000"/>
                </a:lnSpc>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200000"/>
                </a:lnSpc>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a:p>
              <a:pPr eaLnBrk="1" hangingPunct="1">
                <a:lnSpc>
                  <a:spcPct val="200000"/>
                </a:lnSpc>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6598" name="Text Box 23"/>
            <p:cNvSpPr txBox="1">
              <a:spLocks noChangeArrowheads="1"/>
            </p:cNvSpPr>
            <p:nvPr/>
          </p:nvSpPr>
          <p:spPr bwMode="auto">
            <a:xfrm>
              <a:off x="1440" y="1902"/>
              <a:ext cx="432"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p>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41358" name="Text Box 46"/>
          <p:cNvSpPr txBox="1">
            <a:spLocks noChangeArrowheads="1"/>
          </p:cNvSpPr>
          <p:nvPr/>
        </p:nvSpPr>
        <p:spPr bwMode="auto">
          <a:xfrm>
            <a:off x="4495800" y="4975225"/>
            <a:ext cx="396240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可见输出电压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2V</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7V</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之间变化。</a:t>
            </a:r>
          </a:p>
        </p:txBody>
      </p:sp>
      <p:grpSp>
        <p:nvGrpSpPr>
          <p:cNvPr id="66566" name="Group 50"/>
          <p:cNvGrpSpPr>
            <a:grpSpLocks/>
          </p:cNvGrpSpPr>
          <p:nvPr/>
        </p:nvGrpSpPr>
        <p:grpSpPr bwMode="auto">
          <a:xfrm>
            <a:off x="457200" y="3581400"/>
            <a:ext cx="3243263" cy="2625725"/>
            <a:chOff x="288" y="2256"/>
            <a:chExt cx="2043" cy="1654"/>
          </a:xfrm>
        </p:grpSpPr>
        <p:grpSp>
          <p:nvGrpSpPr>
            <p:cNvPr id="66567" name="Group 24"/>
            <p:cNvGrpSpPr>
              <a:grpSpLocks/>
            </p:cNvGrpSpPr>
            <p:nvPr/>
          </p:nvGrpSpPr>
          <p:grpSpPr bwMode="auto">
            <a:xfrm>
              <a:off x="288" y="2256"/>
              <a:ext cx="2043" cy="1654"/>
              <a:chOff x="2544" y="1232"/>
              <a:chExt cx="2043" cy="1654"/>
            </a:xfrm>
          </p:grpSpPr>
          <p:sp>
            <p:nvSpPr>
              <p:cNvPr id="66569" name="Line 25"/>
              <p:cNvSpPr>
                <a:spLocks noChangeShapeType="1"/>
              </p:cNvSpPr>
              <p:nvPr/>
            </p:nvSpPr>
            <p:spPr bwMode="auto">
              <a:xfrm>
                <a:off x="2832" y="28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70" name="Line 26"/>
              <p:cNvSpPr>
                <a:spLocks noChangeShapeType="1"/>
              </p:cNvSpPr>
              <p:nvPr/>
            </p:nvSpPr>
            <p:spPr bwMode="auto">
              <a:xfrm>
                <a:off x="3600" y="1575"/>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339" name="Rectangle 27"/>
              <p:cNvSpPr>
                <a:spLocks noChangeArrowheads="1"/>
              </p:cNvSpPr>
              <p:nvPr/>
            </p:nvSpPr>
            <p:spPr bwMode="auto">
              <a:xfrm>
                <a:off x="3904" y="1776"/>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141340" name="Rectangle 28"/>
              <p:cNvSpPr>
                <a:spLocks noChangeArrowheads="1"/>
              </p:cNvSpPr>
              <p:nvPr/>
            </p:nvSpPr>
            <p:spPr bwMode="auto">
              <a:xfrm rot="-10800000">
                <a:off x="3539" y="180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73" name="Line 29"/>
              <p:cNvSpPr>
                <a:spLocks noChangeShapeType="1"/>
              </p:cNvSpPr>
              <p:nvPr/>
            </p:nvSpPr>
            <p:spPr bwMode="auto">
              <a:xfrm rot="5400000" flipH="1" flipV="1">
                <a:off x="3102" y="135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74" name="Line 30"/>
              <p:cNvSpPr>
                <a:spLocks noChangeShapeType="1"/>
              </p:cNvSpPr>
              <p:nvPr/>
            </p:nvSpPr>
            <p:spPr bwMode="auto">
              <a:xfrm flipH="1" flipV="1">
                <a:off x="2832" y="15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343" name="Rectangle 31"/>
              <p:cNvSpPr>
                <a:spLocks noChangeArrowheads="1"/>
              </p:cNvSpPr>
              <p:nvPr/>
            </p:nvSpPr>
            <p:spPr bwMode="auto">
              <a:xfrm>
                <a:off x="2673" y="2096"/>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141344" name="Rectangle 32"/>
              <p:cNvSpPr>
                <a:spLocks noChangeArrowheads="1"/>
              </p:cNvSpPr>
              <p:nvPr/>
            </p:nvSpPr>
            <p:spPr bwMode="auto">
              <a:xfrm>
                <a:off x="3648" y="2384"/>
                <a:ext cx="34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endParaRPr kumimoji="1" lang="zh-CN"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345" name="Rectangle 33"/>
              <p:cNvSpPr>
                <a:spLocks noChangeArrowheads="1"/>
              </p:cNvSpPr>
              <p:nvPr/>
            </p:nvSpPr>
            <p:spPr bwMode="auto">
              <a:xfrm>
                <a:off x="3030" y="12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1346" name="Text Box 34"/>
              <p:cNvSpPr txBox="1">
                <a:spLocks noChangeArrowheads="1"/>
              </p:cNvSpPr>
              <p:nvPr/>
            </p:nvSpPr>
            <p:spPr bwMode="auto">
              <a:xfrm>
                <a:off x="2544" y="15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1347" name="Text Box 35"/>
              <p:cNvSpPr txBox="1">
                <a:spLocks noChangeArrowheads="1"/>
              </p:cNvSpPr>
              <p:nvPr/>
            </p:nvSpPr>
            <p:spPr bwMode="auto">
              <a:xfrm>
                <a:off x="2688" y="25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1348" name="Text Box 36"/>
              <p:cNvSpPr txBox="1">
                <a:spLocks noChangeArrowheads="1"/>
              </p:cNvSpPr>
              <p:nvPr/>
            </p:nvSpPr>
            <p:spPr bwMode="auto">
              <a:xfrm>
                <a:off x="4238" y="2592"/>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6581" name="Line 37"/>
              <p:cNvSpPr>
                <a:spLocks noChangeShapeType="1"/>
              </p:cNvSpPr>
              <p:nvPr/>
            </p:nvSpPr>
            <p:spPr bwMode="auto">
              <a:xfrm>
                <a:off x="3600" y="2624"/>
                <a:ext cx="0" cy="234"/>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82" name="Line 38"/>
              <p:cNvSpPr>
                <a:spLocks noChangeShapeType="1"/>
              </p:cNvSpPr>
              <p:nvPr/>
            </p:nvSpPr>
            <p:spPr bwMode="auto">
              <a:xfrm>
                <a:off x="3600" y="2048"/>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83" name="Oval 39"/>
              <p:cNvSpPr>
                <a:spLocks noChangeArrowheads="1"/>
              </p:cNvSpPr>
              <p:nvPr/>
            </p:nvSpPr>
            <p:spPr bwMode="auto">
              <a:xfrm>
                <a:off x="2784" y="15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84" name="Oval 40"/>
              <p:cNvSpPr>
                <a:spLocks noChangeArrowheads="1"/>
              </p:cNvSpPr>
              <p:nvPr/>
            </p:nvSpPr>
            <p:spPr bwMode="auto">
              <a:xfrm>
                <a:off x="2784" y="28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353" name="Rectangle 41"/>
              <p:cNvSpPr>
                <a:spLocks noChangeArrowheads="1"/>
              </p:cNvSpPr>
              <p:nvPr/>
            </p:nvSpPr>
            <p:spPr bwMode="auto">
              <a:xfrm rot="-10800000">
                <a:off x="3539" y="2397"/>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86" name="Line 42"/>
              <p:cNvSpPr>
                <a:spLocks noChangeShapeType="1"/>
              </p:cNvSpPr>
              <p:nvPr/>
            </p:nvSpPr>
            <p:spPr bwMode="auto">
              <a:xfrm>
                <a:off x="3600" y="2208"/>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87" name="Line 43"/>
              <p:cNvSpPr>
                <a:spLocks noChangeShapeType="1"/>
              </p:cNvSpPr>
              <p:nvPr/>
            </p:nvSpPr>
            <p:spPr bwMode="auto">
              <a:xfrm>
                <a:off x="3600" y="2832"/>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1356" name="Rectangle 44"/>
              <p:cNvSpPr>
                <a:spLocks noChangeArrowheads="1"/>
              </p:cNvSpPr>
              <p:nvPr/>
            </p:nvSpPr>
            <p:spPr bwMode="auto">
              <a:xfrm>
                <a:off x="4176" y="2400"/>
                <a:ext cx="32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41357" name="Text Box 45"/>
              <p:cNvSpPr txBox="1">
                <a:spLocks noChangeArrowheads="1"/>
              </p:cNvSpPr>
              <p:nvPr/>
            </p:nvSpPr>
            <p:spPr bwMode="auto">
              <a:xfrm>
                <a:off x="4080" y="2160"/>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41361" name="Text Box 49"/>
            <p:cNvSpPr txBox="1">
              <a:spLocks noChangeArrowheads="1"/>
            </p:cNvSpPr>
            <p:nvPr/>
          </p:nvSpPr>
          <p:spPr bwMode="auto">
            <a:xfrm>
              <a:off x="1344" y="3552"/>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p>
          </p:txBody>
        </p:sp>
      </p:grpSp>
      <p:sp>
        <p:nvSpPr>
          <p:cNvPr id="3" name="灯片编号占位符 2"/>
          <p:cNvSpPr>
            <a:spLocks noGrp="1"/>
          </p:cNvSpPr>
          <p:nvPr>
            <p:ph type="sldNum" sz="quarter" idx="12"/>
          </p:nvPr>
        </p:nvSpPr>
        <p:spPr/>
        <p:txBody>
          <a:bodyPr/>
          <a:lstStyle/>
          <a:p>
            <a:pPr>
              <a:defRPr/>
            </a:pPr>
            <a:fld id="{7F6DAC6E-051E-43BF-A607-F6F4F9E2F096}" type="slidenum">
              <a:rPr lang="en-US" altLang="zh-CN" smtClean="0"/>
              <a:pPr>
                <a:defRPr/>
              </a:pPr>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Effect transition="in" filter="wipe(left)">
                                      <p:cBhvr>
                                        <p:cTn id="7" dur="500"/>
                                        <p:tgtEl>
                                          <p:spTgt spid="1413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1315"/>
                                        </p:tgtEl>
                                        <p:attrNameLst>
                                          <p:attrName>style.visibility</p:attrName>
                                        </p:attrNameLst>
                                      </p:cBhvr>
                                      <p:to>
                                        <p:strVal val="visible"/>
                                      </p:to>
                                    </p:set>
                                    <p:animEffect transition="in" filter="wipe(left)">
                                      <p:cBhvr>
                                        <p:cTn id="12" dur="500"/>
                                        <p:tgtEl>
                                          <p:spTgt spid="1413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1358"/>
                                        </p:tgtEl>
                                        <p:attrNameLst>
                                          <p:attrName>style.visibility</p:attrName>
                                        </p:attrNameLst>
                                      </p:cBhvr>
                                      <p:to>
                                        <p:strVal val="visible"/>
                                      </p:to>
                                    </p:set>
                                    <p:animEffect transition="in" filter="blinds(horizontal)">
                                      <p:cBhvr>
                                        <p:cTn id="17" dur="500"/>
                                        <p:tgtEl>
                                          <p:spTgt spid="141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autoUpdateAnimBg="0"/>
      <p:bldP spid="14135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2D692D-9ACE-487E-8108-7FA7F39A00BF}"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7</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587" name="Rectangle 3"/>
          <p:cNvSpPr>
            <a:spLocks noGrp="1" noChangeArrowheads="1"/>
          </p:cNvSpPr>
          <p:nvPr>
            <p:ph type="subTitle" idx="1"/>
          </p:nvPr>
        </p:nvSpPr>
        <p:spPr>
          <a:xfrm>
            <a:off x="0" y="404813"/>
            <a:ext cx="6400800" cy="51911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algn="just" eaLnBrk="1" hangingPunct="1">
              <a:spcBef>
                <a:spcPct val="50000"/>
              </a:spcBef>
            </a:pPr>
            <a:r>
              <a:rPr lang="en-US" altLang="zh-CN"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电阻的并联</a:t>
            </a:r>
          </a:p>
        </p:txBody>
      </p:sp>
      <p:grpSp>
        <p:nvGrpSpPr>
          <p:cNvPr id="136197" name="Group 5"/>
          <p:cNvGrpSpPr>
            <a:grpSpLocks/>
          </p:cNvGrpSpPr>
          <p:nvPr/>
        </p:nvGrpSpPr>
        <p:grpSpPr bwMode="auto">
          <a:xfrm>
            <a:off x="381000" y="4276725"/>
            <a:ext cx="2209800" cy="2016125"/>
            <a:chOff x="240" y="2570"/>
            <a:chExt cx="1392" cy="1270"/>
          </a:xfrm>
        </p:grpSpPr>
        <p:sp>
          <p:nvSpPr>
            <p:cNvPr id="67615" name="Line 6"/>
            <p:cNvSpPr>
              <a:spLocks noChangeShapeType="1"/>
            </p:cNvSpPr>
            <p:nvPr/>
          </p:nvSpPr>
          <p:spPr bwMode="auto">
            <a:xfrm>
              <a:off x="528" y="3818"/>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199" name="Rectangle 7"/>
            <p:cNvSpPr>
              <a:spLocks noChangeArrowheads="1"/>
            </p:cNvSpPr>
            <p:nvPr/>
          </p:nvSpPr>
          <p:spPr bwMode="auto">
            <a:xfrm>
              <a:off x="1328" y="3274"/>
              <a:ext cx="3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00" name="Rectangle 8"/>
            <p:cNvSpPr>
              <a:spLocks noChangeArrowheads="1"/>
            </p:cNvSpPr>
            <p:nvPr/>
          </p:nvSpPr>
          <p:spPr bwMode="auto">
            <a:xfrm rot="-10800000">
              <a:off x="1235" y="3264"/>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8" name="Line 9"/>
            <p:cNvSpPr>
              <a:spLocks noChangeShapeType="1"/>
            </p:cNvSpPr>
            <p:nvPr/>
          </p:nvSpPr>
          <p:spPr bwMode="auto">
            <a:xfrm rot="5400000" flipH="1" flipV="1">
              <a:off x="798" y="267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9" name="Line 10"/>
            <p:cNvSpPr>
              <a:spLocks noChangeShapeType="1"/>
            </p:cNvSpPr>
            <p:nvPr/>
          </p:nvSpPr>
          <p:spPr bwMode="auto">
            <a:xfrm flipH="1" flipV="1">
              <a:off x="528" y="2906"/>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03" name="Rectangle 11"/>
            <p:cNvSpPr>
              <a:spLocks noChangeArrowheads="1"/>
            </p:cNvSpPr>
            <p:nvPr/>
          </p:nvSpPr>
          <p:spPr bwMode="auto">
            <a:xfrm>
              <a:off x="369" y="3264"/>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04" name="Rectangle 12"/>
            <p:cNvSpPr>
              <a:spLocks noChangeArrowheads="1"/>
            </p:cNvSpPr>
            <p:nvPr/>
          </p:nvSpPr>
          <p:spPr bwMode="auto">
            <a:xfrm>
              <a:off x="726" y="2570"/>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36205" name="Text Box 13"/>
            <p:cNvSpPr txBox="1">
              <a:spLocks noChangeArrowheads="1"/>
            </p:cNvSpPr>
            <p:nvPr/>
          </p:nvSpPr>
          <p:spPr bwMode="auto">
            <a:xfrm>
              <a:off x="240" y="2906"/>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6206" name="Text Box 14"/>
            <p:cNvSpPr txBox="1">
              <a:spLocks noChangeArrowheads="1"/>
            </p:cNvSpPr>
            <p:nvPr/>
          </p:nvSpPr>
          <p:spPr bwMode="auto">
            <a:xfrm>
              <a:off x="384" y="3530"/>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7624" name="Line 15"/>
            <p:cNvSpPr>
              <a:spLocks noChangeShapeType="1"/>
            </p:cNvSpPr>
            <p:nvPr/>
          </p:nvSpPr>
          <p:spPr bwMode="auto">
            <a:xfrm>
              <a:off x="1296" y="3477"/>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25" name="Oval 16"/>
            <p:cNvSpPr>
              <a:spLocks noChangeArrowheads="1"/>
            </p:cNvSpPr>
            <p:nvPr/>
          </p:nvSpPr>
          <p:spPr bwMode="auto">
            <a:xfrm>
              <a:off x="480" y="287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26" name="Oval 17"/>
            <p:cNvSpPr>
              <a:spLocks noChangeArrowheads="1"/>
            </p:cNvSpPr>
            <p:nvPr/>
          </p:nvSpPr>
          <p:spPr bwMode="auto">
            <a:xfrm>
              <a:off x="480" y="3792"/>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27" name="Line 18"/>
            <p:cNvSpPr>
              <a:spLocks noChangeShapeType="1"/>
            </p:cNvSpPr>
            <p:nvPr/>
          </p:nvSpPr>
          <p:spPr bwMode="auto">
            <a:xfrm>
              <a:off x="1296" y="2904"/>
              <a:ext cx="0" cy="36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36211" name="Group 19"/>
          <p:cNvGrpSpPr>
            <a:grpSpLocks/>
          </p:cNvGrpSpPr>
          <p:nvPr/>
        </p:nvGrpSpPr>
        <p:grpSpPr bwMode="auto">
          <a:xfrm>
            <a:off x="381000" y="1081088"/>
            <a:ext cx="2293938" cy="2625725"/>
            <a:chOff x="240" y="432"/>
            <a:chExt cx="1445" cy="1654"/>
          </a:xfrm>
        </p:grpSpPr>
        <p:sp>
          <p:nvSpPr>
            <p:cNvPr id="136212" name="Rectangle 20"/>
            <p:cNvSpPr>
              <a:spLocks noChangeArrowheads="1"/>
            </p:cNvSpPr>
            <p:nvPr/>
          </p:nvSpPr>
          <p:spPr bwMode="auto">
            <a:xfrm>
              <a:off x="53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13" name="Rectangle 21"/>
            <p:cNvSpPr>
              <a:spLocks noChangeArrowheads="1"/>
            </p:cNvSpPr>
            <p:nvPr/>
          </p:nvSpPr>
          <p:spPr bwMode="auto">
            <a:xfrm>
              <a:off x="960"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67596" name="Line 22"/>
            <p:cNvSpPr>
              <a:spLocks noChangeShapeType="1"/>
            </p:cNvSpPr>
            <p:nvPr/>
          </p:nvSpPr>
          <p:spPr bwMode="auto">
            <a:xfrm rot="10800000" flipH="1" flipV="1">
              <a:off x="816"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597" name="Line 23"/>
            <p:cNvSpPr>
              <a:spLocks noChangeShapeType="1"/>
            </p:cNvSpPr>
            <p:nvPr/>
          </p:nvSpPr>
          <p:spPr bwMode="auto">
            <a:xfrm rot="10800000" flipH="1" flipV="1">
              <a:off x="1248"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598" name="Line 24"/>
            <p:cNvSpPr>
              <a:spLocks noChangeShapeType="1"/>
            </p:cNvSpPr>
            <p:nvPr/>
          </p:nvSpPr>
          <p:spPr bwMode="auto">
            <a:xfrm>
              <a:off x="528" y="20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17" name="Rectangle 25"/>
            <p:cNvSpPr>
              <a:spLocks noChangeArrowheads="1"/>
            </p:cNvSpPr>
            <p:nvPr/>
          </p:nvSpPr>
          <p:spPr bwMode="auto">
            <a:xfrm>
              <a:off x="864" y="124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18" name="Rectangle 26"/>
            <p:cNvSpPr>
              <a:spLocks noChangeArrowheads="1"/>
            </p:cNvSpPr>
            <p:nvPr/>
          </p:nvSpPr>
          <p:spPr bwMode="auto">
            <a:xfrm rot="-10800000">
              <a:off x="816" y="124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01" name="Line 27"/>
            <p:cNvSpPr>
              <a:spLocks noChangeShapeType="1"/>
            </p:cNvSpPr>
            <p:nvPr/>
          </p:nvSpPr>
          <p:spPr bwMode="auto">
            <a:xfrm rot="5400000" flipH="1" flipV="1">
              <a:off x="685" y="51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02" name="Line 28"/>
            <p:cNvSpPr>
              <a:spLocks noChangeShapeType="1"/>
            </p:cNvSpPr>
            <p:nvPr/>
          </p:nvSpPr>
          <p:spPr bwMode="auto">
            <a:xfrm flipH="1" flipV="1">
              <a:off x="528" y="7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21" name="Rectangle 29"/>
            <p:cNvSpPr>
              <a:spLocks noChangeArrowheads="1"/>
            </p:cNvSpPr>
            <p:nvPr/>
          </p:nvSpPr>
          <p:spPr bwMode="auto">
            <a:xfrm>
              <a:off x="369" y="1296"/>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22" name="Rectangle 30"/>
            <p:cNvSpPr>
              <a:spLocks noChangeArrowheads="1"/>
            </p:cNvSpPr>
            <p:nvPr/>
          </p:nvSpPr>
          <p:spPr bwMode="auto">
            <a:xfrm>
              <a:off x="1344" y="1248"/>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36223" name="Rectangle 31"/>
            <p:cNvSpPr>
              <a:spLocks noChangeArrowheads="1"/>
            </p:cNvSpPr>
            <p:nvPr/>
          </p:nvSpPr>
          <p:spPr bwMode="auto">
            <a:xfrm>
              <a:off x="576" y="4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36224" name="Text Box 32"/>
            <p:cNvSpPr txBox="1">
              <a:spLocks noChangeArrowheads="1"/>
            </p:cNvSpPr>
            <p:nvPr/>
          </p:nvSpPr>
          <p:spPr bwMode="auto">
            <a:xfrm>
              <a:off x="240" y="7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6225" name="Text Box 33"/>
            <p:cNvSpPr txBox="1">
              <a:spLocks noChangeArrowheads="1"/>
            </p:cNvSpPr>
            <p:nvPr/>
          </p:nvSpPr>
          <p:spPr bwMode="auto">
            <a:xfrm>
              <a:off x="384" y="17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7608" name="Line 34"/>
            <p:cNvSpPr>
              <a:spLocks noChangeShapeType="1"/>
            </p:cNvSpPr>
            <p:nvPr/>
          </p:nvSpPr>
          <p:spPr bwMode="auto">
            <a:xfrm>
              <a:off x="1296"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09" name="Line 35"/>
            <p:cNvSpPr>
              <a:spLocks noChangeShapeType="1"/>
            </p:cNvSpPr>
            <p:nvPr/>
          </p:nvSpPr>
          <p:spPr bwMode="auto">
            <a:xfrm>
              <a:off x="1296"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0" name="Oval 36"/>
            <p:cNvSpPr>
              <a:spLocks noChangeArrowheads="1"/>
            </p:cNvSpPr>
            <p:nvPr/>
          </p:nvSpPr>
          <p:spPr bwMode="auto">
            <a:xfrm>
              <a:off x="480" y="7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1" name="Oval 37"/>
            <p:cNvSpPr>
              <a:spLocks noChangeArrowheads="1"/>
            </p:cNvSpPr>
            <p:nvPr/>
          </p:nvSpPr>
          <p:spPr bwMode="auto">
            <a:xfrm>
              <a:off x="480" y="20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6230" name="Rectangle 38"/>
            <p:cNvSpPr>
              <a:spLocks noChangeArrowheads="1"/>
            </p:cNvSpPr>
            <p:nvPr/>
          </p:nvSpPr>
          <p:spPr bwMode="auto">
            <a:xfrm rot="-10800000">
              <a:off x="1248" y="1261"/>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3" name="Line 39"/>
            <p:cNvSpPr>
              <a:spLocks noChangeShapeType="1"/>
            </p:cNvSpPr>
            <p:nvPr/>
          </p:nvSpPr>
          <p:spPr bwMode="auto">
            <a:xfrm>
              <a:off x="877"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7614" name="Line 40"/>
            <p:cNvSpPr>
              <a:spLocks noChangeShapeType="1"/>
            </p:cNvSpPr>
            <p:nvPr/>
          </p:nvSpPr>
          <p:spPr bwMode="auto">
            <a:xfrm>
              <a:off x="877"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36233" name="Rectangle 41"/>
          <p:cNvSpPr>
            <a:spLocks noChangeArrowheads="1"/>
          </p:cNvSpPr>
          <p:nvPr/>
        </p:nvSpPr>
        <p:spPr bwMode="auto">
          <a:xfrm>
            <a:off x="2843212" y="1052513"/>
            <a:ext cx="6010779"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05000"/>
              </a:lnSpc>
              <a:spcBef>
                <a:spcPct val="5000"/>
              </a:spcBef>
              <a:defRPr/>
            </a:pPr>
            <a:r>
              <a:rPr kumimoji="1" lang="en-US" altLang="zh-CN" b="1" dirty="0"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b="1" dirty="0" smtClean="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电阻并联时各个元件上的电压是同一个电压，而总的电流等于各个元件电流之和</a:t>
            </a:r>
            <a:r>
              <a:rPr kumimoji="1" lang="zh-CN" altLang="en-US" b="1" dirty="0"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6234" name="Rectangle 42"/>
          <p:cNvSpPr>
            <a:spLocks noChangeArrowheads="1"/>
          </p:cNvSpPr>
          <p:nvPr/>
        </p:nvSpPr>
        <p:spPr bwMode="auto">
          <a:xfrm>
            <a:off x="4526467" y="2209800"/>
            <a:ext cx="3595687"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en-US" altLang="zh-CN" sz="2800" b="1" i="1"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sz="2800" b="1"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800" b="1"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dirty="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800" b="1" baseline="-25000"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-------KCL</a:t>
            </a:r>
          </a:p>
        </p:txBody>
      </p:sp>
      <p:graphicFrame>
        <p:nvGraphicFramePr>
          <p:cNvPr id="136235" name="Object 43"/>
          <p:cNvGraphicFramePr>
            <a:graphicFrameLocks noChangeAspect="1"/>
          </p:cNvGraphicFramePr>
          <p:nvPr>
            <p:extLst>
              <p:ext uri="{D42A27DB-BD31-4B8C-83A1-F6EECF244321}">
                <p14:modId xmlns:p14="http://schemas.microsoft.com/office/powerpoint/2010/main" val="2050462946"/>
              </p:ext>
            </p:extLst>
          </p:nvPr>
        </p:nvGraphicFramePr>
        <p:xfrm>
          <a:off x="3675063" y="2909888"/>
          <a:ext cx="3716337" cy="3186112"/>
        </p:xfrm>
        <a:graphic>
          <a:graphicData uri="http://schemas.openxmlformats.org/presentationml/2006/ole">
            <mc:AlternateContent xmlns:mc="http://schemas.openxmlformats.org/markup-compatibility/2006">
              <mc:Choice xmlns:v="urn:schemas-microsoft-com:vml" Requires="v">
                <p:oleObj spid="_x0000_s67680" name="Equation" r:id="rId3" imgW="1778000" imgH="1524000" progId="Equation.3">
                  <p:embed/>
                </p:oleObj>
              </mc:Choice>
              <mc:Fallback>
                <p:oleObj name="Equation" r:id="rId3" imgW="1778000" imgH="1524000" progId="Equation.3">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5063" y="2909888"/>
                        <a:ext cx="3716337" cy="3186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3" name="AutoShape 44"/>
          <p:cNvSpPr>
            <a:spLocks noChangeArrowheads="1"/>
          </p:cNvSpPr>
          <p:nvPr/>
        </p:nvSpPr>
        <p:spPr bwMode="auto">
          <a:xfrm>
            <a:off x="1524000" y="3886200"/>
            <a:ext cx="609600" cy="5334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 name="AutoShape 45"/>
          <p:cNvSpPr>
            <a:spLocks noChangeArrowheads="1"/>
          </p:cNvSpPr>
          <p:nvPr/>
        </p:nvSpPr>
        <p:spPr bwMode="auto">
          <a:xfrm>
            <a:off x="5908674" y="4738688"/>
            <a:ext cx="3024188" cy="1396485"/>
          </a:xfrm>
          <a:prstGeom prst="wedgeRoundRectCallout">
            <a:avLst>
              <a:gd name="adj1" fmla="val -75783"/>
              <a:gd name="adj2" fmla="val 1118"/>
              <a:gd name="adj3" fmla="val 16667"/>
            </a:avLst>
          </a:prstGeom>
          <a:solidFill>
            <a:schemeClr val="bg1"/>
          </a:solidFill>
          <a:ln w="38100" algn="ctr">
            <a:solidFill>
              <a:schemeClr val="tx1"/>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en-US" altLang="zh-CN" sz="2400"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a:p>
            <a:pPr algn="l" eaLnBrk="1" hangingPunct="1"/>
            <a:endParaRPr lang="en-US" altLang="zh-CN" sz="2400"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46" name="Object 46"/>
          <p:cNvGraphicFramePr>
            <a:graphicFrameLocks noChangeAspect="1"/>
          </p:cNvGraphicFramePr>
          <p:nvPr>
            <p:extLst>
              <p:ext uri="{D42A27DB-BD31-4B8C-83A1-F6EECF244321}">
                <p14:modId xmlns:p14="http://schemas.microsoft.com/office/powerpoint/2010/main" val="4262469309"/>
              </p:ext>
            </p:extLst>
          </p:nvPr>
        </p:nvGraphicFramePr>
        <p:xfrm>
          <a:off x="7390317" y="5340607"/>
          <a:ext cx="1463675" cy="803275"/>
        </p:xfrm>
        <a:graphic>
          <a:graphicData uri="http://schemas.openxmlformats.org/presentationml/2006/ole">
            <mc:AlternateContent xmlns:mc="http://schemas.openxmlformats.org/markup-compatibility/2006">
              <mc:Choice xmlns:v="urn:schemas-microsoft-com:vml" Requires="v">
                <p:oleObj spid="_x0000_s67681" name="公式" r:id="rId5" imgW="771500" imgH="409590" progId="Equation.3">
                  <p:embed/>
                </p:oleObj>
              </mc:Choice>
              <mc:Fallback>
                <p:oleObj name="公式" r:id="rId5" imgW="771500" imgH="409590" progId="Equation.3">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90317" y="5340607"/>
                        <a:ext cx="1463675"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Text Box 38"/>
          <p:cNvSpPr txBox="1">
            <a:spLocks noChangeArrowheads="1"/>
          </p:cNvSpPr>
          <p:nvPr/>
        </p:nvSpPr>
        <p:spPr bwMode="auto">
          <a:xfrm>
            <a:off x="6018717" y="4797425"/>
            <a:ext cx="1371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考虑到</a:t>
            </a:r>
          </a:p>
        </p:txBody>
      </p:sp>
      <p:graphicFrame>
        <p:nvGraphicFramePr>
          <p:cNvPr id="48" name="Object 41"/>
          <p:cNvGraphicFramePr>
            <a:graphicFrameLocks noChangeAspect="1"/>
          </p:cNvGraphicFramePr>
          <p:nvPr>
            <p:extLst>
              <p:ext uri="{D42A27DB-BD31-4B8C-83A1-F6EECF244321}">
                <p14:modId xmlns:p14="http://schemas.microsoft.com/office/powerpoint/2010/main" val="1274813484"/>
              </p:ext>
            </p:extLst>
          </p:nvPr>
        </p:nvGraphicFramePr>
        <p:xfrm>
          <a:off x="7207835" y="4725332"/>
          <a:ext cx="987425" cy="703262"/>
        </p:xfrm>
        <a:graphic>
          <a:graphicData uri="http://schemas.openxmlformats.org/presentationml/2006/ole">
            <mc:AlternateContent xmlns:mc="http://schemas.openxmlformats.org/markup-compatibility/2006">
              <mc:Choice xmlns:v="urn:schemas-microsoft-com:vml" Requires="v">
                <p:oleObj spid="_x0000_s67682" name="Equation" r:id="rId7" imgW="431613" imgH="393529" progId="Equation.3">
                  <p:embed/>
                </p:oleObj>
              </mc:Choice>
              <mc:Fallback>
                <p:oleObj name="Equation" r:id="rId7" imgW="431613"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07835" y="4725332"/>
                        <a:ext cx="987425" cy="703262"/>
                      </a:xfrm>
                      <a:prstGeom prst="rect">
                        <a:avLst/>
                      </a:prstGeom>
                      <a:noFill/>
                      <a:ln>
                        <a:noFill/>
                      </a:ln>
                      <a:effectLst/>
                      <a:extLst/>
                    </p:spPr>
                  </p:pic>
                </p:oleObj>
              </mc:Fallback>
            </mc:AlternateContent>
          </a:graphicData>
        </a:graphic>
      </p:graphicFrame>
      <p:sp>
        <p:nvSpPr>
          <p:cNvPr id="49" name="Text Box 38"/>
          <p:cNvSpPr txBox="1">
            <a:spLocks noChangeArrowheads="1"/>
          </p:cNvSpPr>
          <p:nvPr/>
        </p:nvSpPr>
        <p:spPr bwMode="auto">
          <a:xfrm>
            <a:off x="5984874" y="5485755"/>
            <a:ext cx="15420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等效电阻</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6211"/>
                                        </p:tgtEl>
                                        <p:attrNameLst>
                                          <p:attrName>style.visibility</p:attrName>
                                        </p:attrNameLst>
                                      </p:cBhvr>
                                      <p:to>
                                        <p:strVal val="visible"/>
                                      </p:to>
                                    </p:set>
                                    <p:animEffect transition="in" filter="wipe(left)">
                                      <p:cBhvr>
                                        <p:cTn id="7" dur="500"/>
                                        <p:tgtEl>
                                          <p:spTgt spid="136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233">
                                            <p:txEl>
                                              <p:pRg st="0" end="0"/>
                                            </p:txEl>
                                          </p:spTgt>
                                        </p:tgtEl>
                                        <p:attrNameLst>
                                          <p:attrName>style.visibility</p:attrName>
                                        </p:attrNameLst>
                                      </p:cBhvr>
                                      <p:to>
                                        <p:strVal val="visible"/>
                                      </p:to>
                                    </p:set>
                                    <p:animEffect transition="in" filter="wipe(left)">
                                      <p:cBhvr>
                                        <p:cTn id="12" dur="500"/>
                                        <p:tgtEl>
                                          <p:spTgt spid="136233">
                                            <p:txEl>
                                              <p:pRg st="0" end="0"/>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36197"/>
                                        </p:tgtEl>
                                        <p:attrNameLst>
                                          <p:attrName>style.visibility</p:attrName>
                                        </p:attrNameLst>
                                      </p:cBhvr>
                                      <p:to>
                                        <p:strVal val="visible"/>
                                      </p:to>
                                    </p:set>
                                    <p:animEffect transition="in" filter="wipe(up)">
                                      <p:cBhvr>
                                        <p:cTn id="16" dur="500"/>
                                        <p:tgtEl>
                                          <p:spTgt spid="13619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6234">
                                            <p:txEl>
                                              <p:pRg st="0" end="0"/>
                                            </p:txEl>
                                          </p:spTgt>
                                        </p:tgtEl>
                                        <p:attrNameLst>
                                          <p:attrName>style.visibility</p:attrName>
                                        </p:attrNameLst>
                                      </p:cBhvr>
                                      <p:to>
                                        <p:strVal val="visible"/>
                                      </p:to>
                                    </p:set>
                                    <p:animEffect transition="in" filter="wipe(left)">
                                      <p:cBhvr>
                                        <p:cTn id="21" dur="500"/>
                                        <p:tgtEl>
                                          <p:spTgt spid="13623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36235"/>
                                        </p:tgtEl>
                                        <p:attrNameLst>
                                          <p:attrName>style.visibility</p:attrName>
                                        </p:attrNameLst>
                                      </p:cBhvr>
                                      <p:to>
                                        <p:strVal val="visible"/>
                                      </p:to>
                                    </p:set>
                                    <p:animEffect transition="in" filter="blinds(horizontal)">
                                      <p:cBhvr>
                                        <p:cTn id="26" dur="500"/>
                                        <p:tgtEl>
                                          <p:spTgt spid="136235"/>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1+#ppt_w/2"/>
                                          </p:val>
                                        </p:tav>
                                        <p:tav tm="100000">
                                          <p:val>
                                            <p:strVal val="#ppt_x"/>
                                          </p:val>
                                        </p:tav>
                                      </p:tavLst>
                                    </p:anim>
                                    <p:anim calcmode="lin" valueType="num">
                                      <p:cBhvr additive="base">
                                        <p:cTn id="3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500" fill="hold"/>
                                        <p:tgtEl>
                                          <p:spTgt spid="48"/>
                                        </p:tgtEl>
                                        <p:attrNameLst>
                                          <p:attrName>ppt_x</p:attrName>
                                        </p:attrNameLst>
                                      </p:cBhvr>
                                      <p:tavLst>
                                        <p:tav tm="0">
                                          <p:val>
                                            <p:strVal val="#ppt_x"/>
                                          </p:val>
                                        </p:tav>
                                        <p:tav tm="100000">
                                          <p:val>
                                            <p:strVal val="#ppt_x"/>
                                          </p:val>
                                        </p:tav>
                                      </p:tavLst>
                                    </p:anim>
                                    <p:anim calcmode="lin" valueType="num">
                                      <p:cBhvr additive="base">
                                        <p:cTn id="38" dur="500" fill="hold"/>
                                        <p:tgtEl>
                                          <p:spTgt spid="4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additive="base">
                                        <p:cTn id="41" dur="500" fill="hold"/>
                                        <p:tgtEl>
                                          <p:spTgt spid="47"/>
                                        </p:tgtEl>
                                        <p:attrNameLst>
                                          <p:attrName>ppt_x</p:attrName>
                                        </p:attrNameLst>
                                      </p:cBhvr>
                                      <p:tavLst>
                                        <p:tav tm="0">
                                          <p:val>
                                            <p:strVal val="#ppt_x"/>
                                          </p:val>
                                        </p:tav>
                                        <p:tav tm="100000">
                                          <p:val>
                                            <p:strVal val="#ppt_x"/>
                                          </p:val>
                                        </p:tav>
                                      </p:tavLst>
                                    </p:anim>
                                    <p:anim calcmode="lin" valueType="num">
                                      <p:cBhvr additive="base">
                                        <p:cTn id="42" dur="500" fill="hold"/>
                                        <p:tgtEl>
                                          <p:spTgt spid="4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anim calcmode="lin" valueType="num">
                                      <p:cBhvr additive="base">
                                        <p:cTn id="49" dur="500" fill="hold"/>
                                        <p:tgtEl>
                                          <p:spTgt spid="46"/>
                                        </p:tgtEl>
                                        <p:attrNameLst>
                                          <p:attrName>ppt_x</p:attrName>
                                        </p:attrNameLst>
                                      </p:cBhvr>
                                      <p:tavLst>
                                        <p:tav tm="0">
                                          <p:val>
                                            <p:strVal val="#ppt_x"/>
                                          </p:val>
                                        </p:tav>
                                        <p:tav tm="100000">
                                          <p:val>
                                            <p:strVal val="#ppt_x"/>
                                          </p:val>
                                        </p:tav>
                                      </p:tavLst>
                                    </p:anim>
                                    <p:anim calcmode="lin" valueType="num">
                                      <p:cBhvr additive="base">
                                        <p:cTn id="5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33" grpId="0" build="p" autoUpdateAnimBg="0"/>
      <p:bldP spid="136234" grpId="0" build="p" autoUpdateAnimBg="0"/>
      <p:bldP spid="45" grpId="0" animBg="1"/>
      <p:bldP spid="47"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9EEE415-998A-4FAD-AEF2-5285B0699F04}" type="slidenum">
              <a:rPr lang="en-US" altLang="zh-CN" sz="2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8</a:t>
            </a:fld>
            <a:endParaRPr lang="en-US" altLang="zh-CN" sz="2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44386" name="Group 2"/>
          <p:cNvGrpSpPr>
            <a:grpSpLocks/>
          </p:cNvGrpSpPr>
          <p:nvPr/>
        </p:nvGrpSpPr>
        <p:grpSpPr bwMode="auto">
          <a:xfrm>
            <a:off x="677863" y="3881438"/>
            <a:ext cx="2209800" cy="2016125"/>
            <a:chOff x="240" y="2570"/>
            <a:chExt cx="1392" cy="1270"/>
          </a:xfrm>
        </p:grpSpPr>
        <p:sp>
          <p:nvSpPr>
            <p:cNvPr id="68643" name="Line 3"/>
            <p:cNvSpPr>
              <a:spLocks noChangeShapeType="1"/>
            </p:cNvSpPr>
            <p:nvPr/>
          </p:nvSpPr>
          <p:spPr bwMode="auto">
            <a:xfrm>
              <a:off x="528" y="3818"/>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388" name="Rectangle 4"/>
            <p:cNvSpPr>
              <a:spLocks noChangeArrowheads="1"/>
            </p:cNvSpPr>
            <p:nvPr/>
          </p:nvSpPr>
          <p:spPr bwMode="auto">
            <a:xfrm>
              <a:off x="1328" y="3274"/>
              <a:ext cx="3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389" name="Rectangle 5"/>
            <p:cNvSpPr>
              <a:spLocks noChangeArrowheads="1"/>
            </p:cNvSpPr>
            <p:nvPr/>
          </p:nvSpPr>
          <p:spPr bwMode="auto">
            <a:xfrm rot="-10800000">
              <a:off x="1235" y="3264"/>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46" name="Line 6"/>
            <p:cNvSpPr>
              <a:spLocks noChangeShapeType="1"/>
            </p:cNvSpPr>
            <p:nvPr/>
          </p:nvSpPr>
          <p:spPr bwMode="auto">
            <a:xfrm rot="5400000" flipH="1" flipV="1">
              <a:off x="798" y="267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47" name="Line 7"/>
            <p:cNvSpPr>
              <a:spLocks noChangeShapeType="1"/>
            </p:cNvSpPr>
            <p:nvPr/>
          </p:nvSpPr>
          <p:spPr bwMode="auto">
            <a:xfrm flipH="1" flipV="1">
              <a:off x="528" y="2906"/>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392" name="Rectangle 8"/>
            <p:cNvSpPr>
              <a:spLocks noChangeArrowheads="1"/>
            </p:cNvSpPr>
            <p:nvPr/>
          </p:nvSpPr>
          <p:spPr bwMode="auto">
            <a:xfrm>
              <a:off x="369" y="3264"/>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393" name="Rectangle 9"/>
            <p:cNvSpPr>
              <a:spLocks noChangeArrowheads="1"/>
            </p:cNvSpPr>
            <p:nvPr/>
          </p:nvSpPr>
          <p:spPr bwMode="auto">
            <a:xfrm>
              <a:off x="726" y="2570"/>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4394" name="Text Box 10"/>
            <p:cNvSpPr txBox="1">
              <a:spLocks noChangeArrowheads="1"/>
            </p:cNvSpPr>
            <p:nvPr/>
          </p:nvSpPr>
          <p:spPr bwMode="auto">
            <a:xfrm>
              <a:off x="240" y="2906"/>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4395" name="Text Box 11"/>
            <p:cNvSpPr txBox="1">
              <a:spLocks noChangeArrowheads="1"/>
            </p:cNvSpPr>
            <p:nvPr/>
          </p:nvSpPr>
          <p:spPr bwMode="auto">
            <a:xfrm>
              <a:off x="384" y="3530"/>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8652" name="Line 12"/>
            <p:cNvSpPr>
              <a:spLocks noChangeShapeType="1"/>
            </p:cNvSpPr>
            <p:nvPr/>
          </p:nvSpPr>
          <p:spPr bwMode="auto">
            <a:xfrm>
              <a:off x="1296" y="3477"/>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53" name="Oval 13"/>
            <p:cNvSpPr>
              <a:spLocks noChangeArrowheads="1"/>
            </p:cNvSpPr>
            <p:nvPr/>
          </p:nvSpPr>
          <p:spPr bwMode="auto">
            <a:xfrm>
              <a:off x="480" y="287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54" name="Oval 14"/>
            <p:cNvSpPr>
              <a:spLocks noChangeArrowheads="1"/>
            </p:cNvSpPr>
            <p:nvPr/>
          </p:nvSpPr>
          <p:spPr bwMode="auto">
            <a:xfrm>
              <a:off x="480" y="3792"/>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55" name="Line 15"/>
            <p:cNvSpPr>
              <a:spLocks noChangeShapeType="1"/>
            </p:cNvSpPr>
            <p:nvPr/>
          </p:nvSpPr>
          <p:spPr bwMode="auto">
            <a:xfrm>
              <a:off x="1296" y="2904"/>
              <a:ext cx="0" cy="36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44400" name="Group 16"/>
          <p:cNvGrpSpPr>
            <a:grpSpLocks/>
          </p:cNvGrpSpPr>
          <p:nvPr/>
        </p:nvGrpSpPr>
        <p:grpSpPr bwMode="auto">
          <a:xfrm>
            <a:off x="677863" y="685800"/>
            <a:ext cx="2293937" cy="2625725"/>
            <a:chOff x="240" y="432"/>
            <a:chExt cx="1445" cy="1654"/>
          </a:xfrm>
        </p:grpSpPr>
        <p:sp>
          <p:nvSpPr>
            <p:cNvPr id="144401" name="Rectangle 17"/>
            <p:cNvSpPr>
              <a:spLocks noChangeArrowheads="1"/>
            </p:cNvSpPr>
            <p:nvPr/>
          </p:nvSpPr>
          <p:spPr bwMode="auto">
            <a:xfrm>
              <a:off x="53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02" name="Rectangle 18"/>
            <p:cNvSpPr>
              <a:spLocks noChangeArrowheads="1"/>
            </p:cNvSpPr>
            <p:nvPr/>
          </p:nvSpPr>
          <p:spPr bwMode="auto">
            <a:xfrm>
              <a:off x="960"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68624" name="Line 19"/>
            <p:cNvSpPr>
              <a:spLocks noChangeShapeType="1"/>
            </p:cNvSpPr>
            <p:nvPr/>
          </p:nvSpPr>
          <p:spPr bwMode="auto">
            <a:xfrm rot="10800000" flipH="1" flipV="1">
              <a:off x="816"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25" name="Line 20"/>
            <p:cNvSpPr>
              <a:spLocks noChangeShapeType="1"/>
            </p:cNvSpPr>
            <p:nvPr/>
          </p:nvSpPr>
          <p:spPr bwMode="auto">
            <a:xfrm rot="10800000" flipH="1" flipV="1">
              <a:off x="1248"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26" name="Line 21"/>
            <p:cNvSpPr>
              <a:spLocks noChangeShapeType="1"/>
            </p:cNvSpPr>
            <p:nvPr/>
          </p:nvSpPr>
          <p:spPr bwMode="auto">
            <a:xfrm>
              <a:off x="528" y="20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06" name="Rectangle 22"/>
            <p:cNvSpPr>
              <a:spLocks noChangeArrowheads="1"/>
            </p:cNvSpPr>
            <p:nvPr/>
          </p:nvSpPr>
          <p:spPr bwMode="auto">
            <a:xfrm>
              <a:off x="864" y="124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07" name="Rectangle 23"/>
            <p:cNvSpPr>
              <a:spLocks noChangeArrowheads="1"/>
            </p:cNvSpPr>
            <p:nvPr/>
          </p:nvSpPr>
          <p:spPr bwMode="auto">
            <a:xfrm rot="-10800000">
              <a:off x="816" y="124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29" name="Line 24"/>
            <p:cNvSpPr>
              <a:spLocks noChangeShapeType="1"/>
            </p:cNvSpPr>
            <p:nvPr/>
          </p:nvSpPr>
          <p:spPr bwMode="auto">
            <a:xfrm rot="5400000" flipH="1" flipV="1">
              <a:off x="685" y="51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30" name="Line 25"/>
            <p:cNvSpPr>
              <a:spLocks noChangeShapeType="1"/>
            </p:cNvSpPr>
            <p:nvPr/>
          </p:nvSpPr>
          <p:spPr bwMode="auto">
            <a:xfrm flipH="1" flipV="1">
              <a:off x="528" y="7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10" name="Rectangle 26"/>
            <p:cNvSpPr>
              <a:spLocks noChangeArrowheads="1"/>
            </p:cNvSpPr>
            <p:nvPr/>
          </p:nvSpPr>
          <p:spPr bwMode="auto">
            <a:xfrm>
              <a:off x="369" y="1296"/>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11" name="Rectangle 27"/>
            <p:cNvSpPr>
              <a:spLocks noChangeArrowheads="1"/>
            </p:cNvSpPr>
            <p:nvPr/>
          </p:nvSpPr>
          <p:spPr bwMode="auto">
            <a:xfrm>
              <a:off x="1344" y="1248"/>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44412" name="Rectangle 28"/>
            <p:cNvSpPr>
              <a:spLocks noChangeArrowheads="1"/>
            </p:cNvSpPr>
            <p:nvPr/>
          </p:nvSpPr>
          <p:spPr bwMode="auto">
            <a:xfrm>
              <a:off x="576" y="4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4413" name="Text Box 29"/>
            <p:cNvSpPr txBox="1">
              <a:spLocks noChangeArrowheads="1"/>
            </p:cNvSpPr>
            <p:nvPr/>
          </p:nvSpPr>
          <p:spPr bwMode="auto">
            <a:xfrm>
              <a:off x="240" y="7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4414" name="Text Box 30"/>
            <p:cNvSpPr txBox="1">
              <a:spLocks noChangeArrowheads="1"/>
            </p:cNvSpPr>
            <p:nvPr/>
          </p:nvSpPr>
          <p:spPr bwMode="auto">
            <a:xfrm>
              <a:off x="384" y="17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8636" name="Line 31"/>
            <p:cNvSpPr>
              <a:spLocks noChangeShapeType="1"/>
            </p:cNvSpPr>
            <p:nvPr/>
          </p:nvSpPr>
          <p:spPr bwMode="auto">
            <a:xfrm>
              <a:off x="1296"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37" name="Line 32"/>
            <p:cNvSpPr>
              <a:spLocks noChangeShapeType="1"/>
            </p:cNvSpPr>
            <p:nvPr/>
          </p:nvSpPr>
          <p:spPr bwMode="auto">
            <a:xfrm>
              <a:off x="1296"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38" name="Oval 33"/>
            <p:cNvSpPr>
              <a:spLocks noChangeArrowheads="1"/>
            </p:cNvSpPr>
            <p:nvPr/>
          </p:nvSpPr>
          <p:spPr bwMode="auto">
            <a:xfrm>
              <a:off x="480" y="7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39" name="Oval 34"/>
            <p:cNvSpPr>
              <a:spLocks noChangeArrowheads="1"/>
            </p:cNvSpPr>
            <p:nvPr/>
          </p:nvSpPr>
          <p:spPr bwMode="auto">
            <a:xfrm>
              <a:off x="480" y="20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4419" name="Rectangle 35"/>
            <p:cNvSpPr>
              <a:spLocks noChangeArrowheads="1"/>
            </p:cNvSpPr>
            <p:nvPr/>
          </p:nvSpPr>
          <p:spPr bwMode="auto">
            <a:xfrm rot="-10800000">
              <a:off x="1248" y="1261"/>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41" name="Line 36"/>
            <p:cNvSpPr>
              <a:spLocks noChangeShapeType="1"/>
            </p:cNvSpPr>
            <p:nvPr/>
          </p:nvSpPr>
          <p:spPr bwMode="auto">
            <a:xfrm>
              <a:off x="877"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8642" name="Line 37"/>
            <p:cNvSpPr>
              <a:spLocks noChangeShapeType="1"/>
            </p:cNvSpPr>
            <p:nvPr/>
          </p:nvSpPr>
          <p:spPr bwMode="auto">
            <a:xfrm>
              <a:off x="877"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68614" name="Object 39"/>
          <p:cNvGraphicFramePr>
            <a:graphicFrameLocks noChangeAspect="1"/>
          </p:cNvGraphicFramePr>
          <p:nvPr>
            <p:extLst>
              <p:ext uri="{D42A27DB-BD31-4B8C-83A1-F6EECF244321}">
                <p14:modId xmlns:p14="http://schemas.microsoft.com/office/powerpoint/2010/main" val="1054050399"/>
              </p:ext>
            </p:extLst>
          </p:nvPr>
        </p:nvGraphicFramePr>
        <p:xfrm>
          <a:off x="4877593" y="1600200"/>
          <a:ext cx="1827213" cy="985837"/>
        </p:xfrm>
        <a:graphic>
          <a:graphicData uri="http://schemas.openxmlformats.org/presentationml/2006/ole">
            <mc:AlternateContent xmlns:mc="http://schemas.openxmlformats.org/markup-compatibility/2006">
              <mc:Choice xmlns:v="urn:schemas-microsoft-com:vml" Requires="v">
                <p:oleObj spid="_x0000_s68783" name="Equation" r:id="rId3" imgW="742866" imgH="371520" progId="Equation.3">
                  <p:embed/>
                </p:oleObj>
              </mc:Choice>
              <mc:Fallback>
                <p:oleObj name="Equation" r:id="rId3" imgW="742866" imgH="37152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7593" y="1600200"/>
                        <a:ext cx="1827213" cy="985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15" name="Text Box 40"/>
          <p:cNvSpPr txBox="1">
            <a:spLocks noChangeArrowheads="1"/>
          </p:cNvSpPr>
          <p:nvPr/>
        </p:nvSpPr>
        <p:spPr bwMode="auto">
          <a:xfrm>
            <a:off x="3352800" y="856605"/>
            <a:ext cx="548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两</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个电阻元件并联时的等效电阻为</a:t>
            </a:r>
          </a:p>
        </p:txBody>
      </p:sp>
      <p:graphicFrame>
        <p:nvGraphicFramePr>
          <p:cNvPr id="144426" name="Object 42"/>
          <p:cNvGraphicFramePr>
            <a:graphicFrameLocks noChangeAspect="1"/>
          </p:cNvGraphicFramePr>
          <p:nvPr>
            <p:extLst>
              <p:ext uri="{D42A27DB-BD31-4B8C-83A1-F6EECF244321}">
                <p14:modId xmlns:p14="http://schemas.microsoft.com/office/powerpoint/2010/main" val="2636501118"/>
              </p:ext>
            </p:extLst>
          </p:nvPr>
        </p:nvGraphicFramePr>
        <p:xfrm>
          <a:off x="3400383" y="2848124"/>
          <a:ext cx="4876800" cy="1316037"/>
        </p:xfrm>
        <a:graphic>
          <a:graphicData uri="http://schemas.openxmlformats.org/presentationml/2006/ole">
            <mc:AlternateContent xmlns:mc="http://schemas.openxmlformats.org/markup-compatibility/2006">
              <mc:Choice xmlns:v="urn:schemas-microsoft-com:vml" Requires="v">
                <p:oleObj spid="_x0000_s68784" name="Equation" r:id="rId5" imgW="2343133" imgH="590490" progId="Equation.3">
                  <p:embed/>
                </p:oleObj>
              </mc:Choice>
              <mc:Fallback>
                <p:oleObj name="Equation" r:id="rId5" imgW="2343133" imgH="590490"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0383" y="2848124"/>
                        <a:ext cx="4876800" cy="1316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427" name="Rectangle 43"/>
          <p:cNvSpPr>
            <a:spLocks noChangeArrowheads="1"/>
          </p:cNvSpPr>
          <p:nvPr/>
        </p:nvSpPr>
        <p:spPr bwMode="auto">
          <a:xfrm>
            <a:off x="3168650" y="4460875"/>
            <a:ext cx="460375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
              </a:spcBef>
              <a:defRPr/>
            </a:pPr>
            <a:r>
              <a:rPr kumimoji="1" lang="zh-CN" altLang="en-US" b="1"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两电阻并联时的分流公式：</a:t>
            </a:r>
          </a:p>
        </p:txBody>
      </p:sp>
      <p:graphicFrame>
        <p:nvGraphicFramePr>
          <p:cNvPr id="144428" name="Object 44"/>
          <p:cNvGraphicFramePr>
            <a:graphicFrameLocks noChangeAspect="1"/>
          </p:cNvGraphicFramePr>
          <p:nvPr>
            <p:extLst>
              <p:ext uri="{D42A27DB-BD31-4B8C-83A1-F6EECF244321}">
                <p14:modId xmlns:p14="http://schemas.microsoft.com/office/powerpoint/2010/main" val="776531613"/>
              </p:ext>
            </p:extLst>
          </p:nvPr>
        </p:nvGraphicFramePr>
        <p:xfrm>
          <a:off x="3365500" y="5241925"/>
          <a:ext cx="2159000" cy="1006475"/>
        </p:xfrm>
        <a:graphic>
          <a:graphicData uri="http://schemas.openxmlformats.org/presentationml/2006/ole">
            <mc:AlternateContent xmlns:mc="http://schemas.openxmlformats.org/markup-compatibility/2006">
              <mc:Choice xmlns:v="urn:schemas-microsoft-com:vml" Requires="v">
                <p:oleObj spid="_x0000_s68785" name="Equation" r:id="rId7" imgW="866857" imgH="371520" progId="Equation.3">
                  <p:embed/>
                </p:oleObj>
              </mc:Choice>
              <mc:Fallback>
                <p:oleObj name="Equation" r:id="rId7" imgW="866857" imgH="371520" progId="Equation.3">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5500" y="5241925"/>
                        <a:ext cx="21590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4429" name="Object 45"/>
          <p:cNvGraphicFramePr>
            <a:graphicFrameLocks noChangeAspect="1"/>
          </p:cNvGraphicFramePr>
          <p:nvPr>
            <p:extLst>
              <p:ext uri="{D42A27DB-BD31-4B8C-83A1-F6EECF244321}">
                <p14:modId xmlns:p14="http://schemas.microsoft.com/office/powerpoint/2010/main" val="252745305"/>
              </p:ext>
            </p:extLst>
          </p:nvPr>
        </p:nvGraphicFramePr>
        <p:xfrm>
          <a:off x="6186488" y="5137150"/>
          <a:ext cx="2255837" cy="1035050"/>
        </p:xfrm>
        <a:graphic>
          <a:graphicData uri="http://schemas.openxmlformats.org/presentationml/2006/ole">
            <mc:AlternateContent xmlns:mc="http://schemas.openxmlformats.org/markup-compatibility/2006">
              <mc:Choice xmlns:v="urn:schemas-microsoft-com:vml" Requires="v">
                <p:oleObj spid="_x0000_s68786" name="Equation" r:id="rId9" imgW="885766" imgH="371520" progId="Equation.3">
                  <p:embed/>
                </p:oleObj>
              </mc:Choice>
              <mc:Fallback>
                <p:oleObj name="Equation" r:id="rId9" imgW="885766" imgH="371520" progId="Equation.3">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86488" y="5137150"/>
                        <a:ext cx="2255837"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21" name="AutoShape 46"/>
          <p:cNvSpPr>
            <a:spLocks noChangeArrowheads="1"/>
          </p:cNvSpPr>
          <p:nvPr/>
        </p:nvSpPr>
        <p:spPr bwMode="auto">
          <a:xfrm>
            <a:off x="1905000" y="3505200"/>
            <a:ext cx="533400" cy="53340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4400"/>
                                        </p:tgtEl>
                                        <p:attrNameLst>
                                          <p:attrName>style.visibility</p:attrName>
                                        </p:attrNameLst>
                                      </p:cBhvr>
                                      <p:to>
                                        <p:strVal val="visible"/>
                                      </p:to>
                                    </p:set>
                                    <p:animEffect transition="in" filter="wipe(left)">
                                      <p:cBhvr>
                                        <p:cTn id="7" dur="500"/>
                                        <p:tgtEl>
                                          <p:spTgt spid="1444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4426"/>
                                        </p:tgtEl>
                                        <p:attrNameLst>
                                          <p:attrName>style.visibility</p:attrName>
                                        </p:attrNameLst>
                                      </p:cBhvr>
                                      <p:to>
                                        <p:strVal val="visible"/>
                                      </p:to>
                                    </p:set>
                                    <p:animEffect transition="in" filter="wipe(left)">
                                      <p:cBhvr>
                                        <p:cTn id="12" dur="500"/>
                                        <p:tgtEl>
                                          <p:spTgt spid="144426"/>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44386"/>
                                        </p:tgtEl>
                                        <p:attrNameLst>
                                          <p:attrName>style.visibility</p:attrName>
                                        </p:attrNameLst>
                                      </p:cBhvr>
                                      <p:to>
                                        <p:strVal val="visible"/>
                                      </p:to>
                                    </p:set>
                                    <p:animEffect transition="in" filter="wipe(up)">
                                      <p:cBhvr>
                                        <p:cTn id="16" dur="500"/>
                                        <p:tgtEl>
                                          <p:spTgt spid="14438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44427"/>
                                        </p:tgtEl>
                                        <p:attrNameLst>
                                          <p:attrName>style.visibility</p:attrName>
                                        </p:attrNameLst>
                                      </p:cBhvr>
                                      <p:to>
                                        <p:strVal val="visible"/>
                                      </p:to>
                                    </p:set>
                                    <p:animEffect transition="in" filter="blinds(horizontal)">
                                      <p:cBhvr>
                                        <p:cTn id="21" dur="500"/>
                                        <p:tgtEl>
                                          <p:spTgt spid="144427"/>
                                        </p:tgtEl>
                                      </p:cBhvr>
                                    </p:animEffect>
                                  </p:childTnLst>
                                </p:cTn>
                              </p:par>
                              <p:par>
                                <p:cTn id="22" presetID="3" presetClass="entr" presetSubtype="10" fill="hold" nodeType="withEffect">
                                  <p:stCondLst>
                                    <p:cond delay="0"/>
                                  </p:stCondLst>
                                  <p:childTnLst>
                                    <p:set>
                                      <p:cBhvr>
                                        <p:cTn id="23" dur="1" fill="hold">
                                          <p:stCondLst>
                                            <p:cond delay="0"/>
                                          </p:stCondLst>
                                        </p:cTn>
                                        <p:tgtEl>
                                          <p:spTgt spid="144428"/>
                                        </p:tgtEl>
                                        <p:attrNameLst>
                                          <p:attrName>style.visibility</p:attrName>
                                        </p:attrNameLst>
                                      </p:cBhvr>
                                      <p:to>
                                        <p:strVal val="visible"/>
                                      </p:to>
                                    </p:set>
                                    <p:animEffect transition="in" filter="blinds(horizontal)">
                                      <p:cBhvr>
                                        <p:cTn id="24" dur="500"/>
                                        <p:tgtEl>
                                          <p:spTgt spid="144428"/>
                                        </p:tgtEl>
                                      </p:cBhvr>
                                    </p:animEffect>
                                  </p:childTnLst>
                                </p:cTn>
                              </p:par>
                              <p:par>
                                <p:cTn id="25" presetID="3" presetClass="entr" presetSubtype="10" fill="hold" nodeType="withEffect">
                                  <p:stCondLst>
                                    <p:cond delay="0"/>
                                  </p:stCondLst>
                                  <p:childTnLst>
                                    <p:set>
                                      <p:cBhvr>
                                        <p:cTn id="26" dur="1" fill="hold">
                                          <p:stCondLst>
                                            <p:cond delay="0"/>
                                          </p:stCondLst>
                                        </p:cTn>
                                        <p:tgtEl>
                                          <p:spTgt spid="144429"/>
                                        </p:tgtEl>
                                        <p:attrNameLst>
                                          <p:attrName>style.visibility</p:attrName>
                                        </p:attrNameLst>
                                      </p:cBhvr>
                                      <p:to>
                                        <p:strVal val="visible"/>
                                      </p:to>
                                    </p:set>
                                    <p:animEffect transition="in" filter="blinds(horizontal)">
                                      <p:cBhvr>
                                        <p:cTn id="27" dur="500"/>
                                        <p:tgtEl>
                                          <p:spTgt spid="144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0939046-972B-49D0-95FE-EBD2B7190A61}"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9</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43363" name="Group 3"/>
          <p:cNvGrpSpPr>
            <a:grpSpLocks/>
          </p:cNvGrpSpPr>
          <p:nvPr/>
        </p:nvGrpSpPr>
        <p:grpSpPr bwMode="auto">
          <a:xfrm>
            <a:off x="6553200" y="3962400"/>
            <a:ext cx="2209800" cy="2016125"/>
            <a:chOff x="240" y="2570"/>
            <a:chExt cx="1392" cy="1270"/>
          </a:xfrm>
        </p:grpSpPr>
        <p:sp>
          <p:nvSpPr>
            <p:cNvPr id="69665" name="Line 4"/>
            <p:cNvSpPr>
              <a:spLocks noChangeShapeType="1"/>
            </p:cNvSpPr>
            <p:nvPr/>
          </p:nvSpPr>
          <p:spPr bwMode="auto">
            <a:xfrm>
              <a:off x="528" y="3818"/>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65" name="Rectangle 5"/>
            <p:cNvSpPr>
              <a:spLocks noChangeArrowheads="1"/>
            </p:cNvSpPr>
            <p:nvPr/>
          </p:nvSpPr>
          <p:spPr bwMode="auto">
            <a:xfrm>
              <a:off x="1328" y="3274"/>
              <a:ext cx="3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a:t>
              </a:r>
            </a:p>
          </p:txBody>
        </p:sp>
        <p:sp>
          <p:nvSpPr>
            <p:cNvPr id="143366" name="Rectangle 6"/>
            <p:cNvSpPr>
              <a:spLocks noChangeArrowheads="1"/>
            </p:cNvSpPr>
            <p:nvPr/>
          </p:nvSpPr>
          <p:spPr bwMode="auto">
            <a:xfrm rot="-10800000">
              <a:off x="1235" y="3264"/>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8" name="Line 7"/>
            <p:cNvSpPr>
              <a:spLocks noChangeShapeType="1"/>
            </p:cNvSpPr>
            <p:nvPr/>
          </p:nvSpPr>
          <p:spPr bwMode="auto">
            <a:xfrm rot="5400000" flipH="1" flipV="1">
              <a:off x="798" y="267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9" name="Line 8"/>
            <p:cNvSpPr>
              <a:spLocks noChangeShapeType="1"/>
            </p:cNvSpPr>
            <p:nvPr/>
          </p:nvSpPr>
          <p:spPr bwMode="auto">
            <a:xfrm flipH="1" flipV="1">
              <a:off x="528" y="2906"/>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69" name="Rectangle 9"/>
            <p:cNvSpPr>
              <a:spLocks noChangeArrowheads="1"/>
            </p:cNvSpPr>
            <p:nvPr/>
          </p:nvSpPr>
          <p:spPr bwMode="auto">
            <a:xfrm>
              <a:off x="369" y="3264"/>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70" name="Rectangle 10"/>
            <p:cNvSpPr>
              <a:spLocks noChangeArrowheads="1"/>
            </p:cNvSpPr>
            <p:nvPr/>
          </p:nvSpPr>
          <p:spPr bwMode="auto">
            <a:xfrm>
              <a:off x="726" y="2570"/>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3371" name="Text Box 11"/>
            <p:cNvSpPr txBox="1">
              <a:spLocks noChangeArrowheads="1"/>
            </p:cNvSpPr>
            <p:nvPr/>
          </p:nvSpPr>
          <p:spPr bwMode="auto">
            <a:xfrm>
              <a:off x="240" y="2906"/>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3372" name="Text Box 12"/>
            <p:cNvSpPr txBox="1">
              <a:spLocks noChangeArrowheads="1"/>
            </p:cNvSpPr>
            <p:nvPr/>
          </p:nvSpPr>
          <p:spPr bwMode="auto">
            <a:xfrm>
              <a:off x="384" y="3530"/>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9674" name="Line 13"/>
            <p:cNvSpPr>
              <a:spLocks noChangeShapeType="1"/>
            </p:cNvSpPr>
            <p:nvPr/>
          </p:nvSpPr>
          <p:spPr bwMode="auto">
            <a:xfrm>
              <a:off x="1296" y="3477"/>
              <a:ext cx="0" cy="336"/>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75" name="Oval 14"/>
            <p:cNvSpPr>
              <a:spLocks noChangeArrowheads="1"/>
            </p:cNvSpPr>
            <p:nvPr/>
          </p:nvSpPr>
          <p:spPr bwMode="auto">
            <a:xfrm>
              <a:off x="480" y="2874"/>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76" name="Oval 15"/>
            <p:cNvSpPr>
              <a:spLocks noChangeArrowheads="1"/>
            </p:cNvSpPr>
            <p:nvPr/>
          </p:nvSpPr>
          <p:spPr bwMode="auto">
            <a:xfrm>
              <a:off x="480" y="3792"/>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77" name="Line 16"/>
            <p:cNvSpPr>
              <a:spLocks noChangeShapeType="1"/>
            </p:cNvSpPr>
            <p:nvPr/>
          </p:nvSpPr>
          <p:spPr bwMode="auto">
            <a:xfrm>
              <a:off x="1296" y="2904"/>
              <a:ext cx="0" cy="36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43377" name="Group 17"/>
          <p:cNvGrpSpPr>
            <a:grpSpLocks/>
          </p:cNvGrpSpPr>
          <p:nvPr/>
        </p:nvGrpSpPr>
        <p:grpSpPr bwMode="auto">
          <a:xfrm>
            <a:off x="6469063" y="498475"/>
            <a:ext cx="2293937" cy="2625725"/>
            <a:chOff x="240" y="432"/>
            <a:chExt cx="1445" cy="1654"/>
          </a:xfrm>
        </p:grpSpPr>
        <p:sp>
          <p:nvSpPr>
            <p:cNvPr id="143378" name="Rectangle 18"/>
            <p:cNvSpPr>
              <a:spLocks noChangeArrowheads="1"/>
            </p:cNvSpPr>
            <p:nvPr/>
          </p:nvSpPr>
          <p:spPr bwMode="auto">
            <a:xfrm>
              <a:off x="53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79" name="Rectangle 19"/>
            <p:cNvSpPr>
              <a:spLocks noChangeArrowheads="1"/>
            </p:cNvSpPr>
            <p:nvPr/>
          </p:nvSpPr>
          <p:spPr bwMode="auto">
            <a:xfrm>
              <a:off x="960"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69646" name="Line 20"/>
            <p:cNvSpPr>
              <a:spLocks noChangeShapeType="1"/>
            </p:cNvSpPr>
            <p:nvPr/>
          </p:nvSpPr>
          <p:spPr bwMode="auto">
            <a:xfrm rot="10800000" flipH="1" flipV="1">
              <a:off x="816"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47" name="Line 21"/>
            <p:cNvSpPr>
              <a:spLocks noChangeShapeType="1"/>
            </p:cNvSpPr>
            <p:nvPr/>
          </p:nvSpPr>
          <p:spPr bwMode="auto">
            <a:xfrm rot="10800000" flipH="1" flipV="1">
              <a:off x="1248"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48" name="Line 22"/>
            <p:cNvSpPr>
              <a:spLocks noChangeShapeType="1"/>
            </p:cNvSpPr>
            <p:nvPr/>
          </p:nvSpPr>
          <p:spPr bwMode="auto">
            <a:xfrm>
              <a:off x="528" y="20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83" name="Rectangle 23"/>
            <p:cNvSpPr>
              <a:spLocks noChangeArrowheads="1"/>
            </p:cNvSpPr>
            <p:nvPr/>
          </p:nvSpPr>
          <p:spPr bwMode="auto">
            <a:xfrm>
              <a:off x="864" y="124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84" name="Rectangle 24"/>
            <p:cNvSpPr>
              <a:spLocks noChangeArrowheads="1"/>
            </p:cNvSpPr>
            <p:nvPr/>
          </p:nvSpPr>
          <p:spPr bwMode="auto">
            <a:xfrm rot="-10800000">
              <a:off x="816" y="124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51" name="Line 25"/>
            <p:cNvSpPr>
              <a:spLocks noChangeShapeType="1"/>
            </p:cNvSpPr>
            <p:nvPr/>
          </p:nvSpPr>
          <p:spPr bwMode="auto">
            <a:xfrm rot="5400000" flipH="1" flipV="1">
              <a:off x="685" y="51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52" name="Line 26"/>
            <p:cNvSpPr>
              <a:spLocks noChangeShapeType="1"/>
            </p:cNvSpPr>
            <p:nvPr/>
          </p:nvSpPr>
          <p:spPr bwMode="auto">
            <a:xfrm flipH="1" flipV="1">
              <a:off x="528" y="7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87" name="Rectangle 27"/>
            <p:cNvSpPr>
              <a:spLocks noChangeArrowheads="1"/>
            </p:cNvSpPr>
            <p:nvPr/>
          </p:nvSpPr>
          <p:spPr bwMode="auto">
            <a:xfrm>
              <a:off x="369" y="1296"/>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88" name="Rectangle 28"/>
            <p:cNvSpPr>
              <a:spLocks noChangeArrowheads="1"/>
            </p:cNvSpPr>
            <p:nvPr/>
          </p:nvSpPr>
          <p:spPr bwMode="auto">
            <a:xfrm>
              <a:off x="1344" y="1248"/>
              <a:ext cx="341"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43389" name="Rectangle 29"/>
            <p:cNvSpPr>
              <a:spLocks noChangeArrowheads="1"/>
            </p:cNvSpPr>
            <p:nvPr/>
          </p:nvSpPr>
          <p:spPr bwMode="auto">
            <a:xfrm>
              <a:off x="576" y="4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3390" name="Text Box 30"/>
            <p:cNvSpPr txBox="1">
              <a:spLocks noChangeArrowheads="1"/>
            </p:cNvSpPr>
            <p:nvPr/>
          </p:nvSpPr>
          <p:spPr bwMode="auto">
            <a:xfrm>
              <a:off x="240" y="7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3391" name="Text Box 31"/>
            <p:cNvSpPr txBox="1">
              <a:spLocks noChangeArrowheads="1"/>
            </p:cNvSpPr>
            <p:nvPr/>
          </p:nvSpPr>
          <p:spPr bwMode="auto">
            <a:xfrm>
              <a:off x="384" y="17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9658" name="Line 32"/>
            <p:cNvSpPr>
              <a:spLocks noChangeShapeType="1"/>
            </p:cNvSpPr>
            <p:nvPr/>
          </p:nvSpPr>
          <p:spPr bwMode="auto">
            <a:xfrm>
              <a:off x="1296"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59" name="Line 33"/>
            <p:cNvSpPr>
              <a:spLocks noChangeShapeType="1"/>
            </p:cNvSpPr>
            <p:nvPr/>
          </p:nvSpPr>
          <p:spPr bwMode="auto">
            <a:xfrm>
              <a:off x="1296"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0" name="Oval 34"/>
            <p:cNvSpPr>
              <a:spLocks noChangeArrowheads="1"/>
            </p:cNvSpPr>
            <p:nvPr/>
          </p:nvSpPr>
          <p:spPr bwMode="auto">
            <a:xfrm>
              <a:off x="480" y="7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1" name="Oval 35"/>
            <p:cNvSpPr>
              <a:spLocks noChangeArrowheads="1"/>
            </p:cNvSpPr>
            <p:nvPr/>
          </p:nvSpPr>
          <p:spPr bwMode="auto">
            <a:xfrm>
              <a:off x="480" y="20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396" name="Rectangle 36"/>
            <p:cNvSpPr>
              <a:spLocks noChangeArrowheads="1"/>
            </p:cNvSpPr>
            <p:nvPr/>
          </p:nvSpPr>
          <p:spPr bwMode="auto">
            <a:xfrm rot="-10800000">
              <a:off x="1248" y="1261"/>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3" name="Line 37"/>
            <p:cNvSpPr>
              <a:spLocks noChangeShapeType="1"/>
            </p:cNvSpPr>
            <p:nvPr/>
          </p:nvSpPr>
          <p:spPr bwMode="auto">
            <a:xfrm>
              <a:off x="877"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64" name="Line 38"/>
            <p:cNvSpPr>
              <a:spLocks noChangeShapeType="1"/>
            </p:cNvSpPr>
            <p:nvPr/>
          </p:nvSpPr>
          <p:spPr bwMode="auto">
            <a:xfrm>
              <a:off x="877"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9637" name="AutoShape 45"/>
          <p:cNvSpPr>
            <a:spLocks noChangeArrowheads="1"/>
          </p:cNvSpPr>
          <p:nvPr/>
        </p:nvSpPr>
        <p:spPr bwMode="auto">
          <a:xfrm>
            <a:off x="7620000" y="3352800"/>
            <a:ext cx="533400" cy="609600"/>
          </a:xfrm>
          <a:prstGeom prst="downArrow">
            <a:avLst>
              <a:gd name="adj1" fmla="val 50000"/>
              <a:gd name="adj2" fmla="val 28571"/>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9638" name="Text Box 48"/>
          <p:cNvSpPr txBox="1">
            <a:spLocks noChangeArrowheads="1"/>
          </p:cNvSpPr>
          <p:nvPr/>
        </p:nvSpPr>
        <p:spPr bwMode="auto">
          <a:xfrm>
            <a:off x="220664" y="730174"/>
            <a:ext cx="5257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电阻并联时用电导计算比较方便。</a:t>
            </a:r>
          </a:p>
        </p:txBody>
      </p:sp>
      <p:graphicFrame>
        <p:nvGraphicFramePr>
          <p:cNvPr id="69639" name="Object 49"/>
          <p:cNvGraphicFramePr>
            <a:graphicFrameLocks noChangeAspect="1"/>
          </p:cNvGraphicFramePr>
          <p:nvPr>
            <p:extLst>
              <p:ext uri="{D42A27DB-BD31-4B8C-83A1-F6EECF244321}">
                <p14:modId xmlns:p14="http://schemas.microsoft.com/office/powerpoint/2010/main" val="378226756"/>
              </p:ext>
            </p:extLst>
          </p:nvPr>
        </p:nvGraphicFramePr>
        <p:xfrm>
          <a:off x="2557463" y="1998663"/>
          <a:ext cx="1739900" cy="493712"/>
        </p:xfrm>
        <a:graphic>
          <a:graphicData uri="http://schemas.openxmlformats.org/presentationml/2006/ole">
            <mc:AlternateContent xmlns:mc="http://schemas.openxmlformats.org/markup-compatibility/2006">
              <mc:Choice xmlns:v="urn:schemas-microsoft-com:vml" Requires="v">
                <p:oleObj spid="_x0000_s69759" name="Equation" r:id="rId3" imgW="704777" imgH="162000" progId="Equation.3">
                  <p:embed/>
                </p:oleObj>
              </mc:Choice>
              <mc:Fallback>
                <p:oleObj name="Equation" r:id="rId3" imgW="704777" imgH="16200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7463" y="1998663"/>
                        <a:ext cx="1739900"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3" name="Object 53"/>
          <p:cNvGraphicFramePr>
            <a:graphicFrameLocks noChangeAspect="1"/>
          </p:cNvGraphicFramePr>
          <p:nvPr>
            <p:extLst>
              <p:ext uri="{D42A27DB-BD31-4B8C-83A1-F6EECF244321}">
                <p14:modId xmlns:p14="http://schemas.microsoft.com/office/powerpoint/2010/main" val="38089419"/>
              </p:ext>
            </p:extLst>
          </p:nvPr>
        </p:nvGraphicFramePr>
        <p:xfrm>
          <a:off x="2717800" y="3733800"/>
          <a:ext cx="2159000" cy="1006475"/>
        </p:xfrm>
        <a:graphic>
          <a:graphicData uri="http://schemas.openxmlformats.org/presentationml/2006/ole">
            <mc:AlternateContent xmlns:mc="http://schemas.openxmlformats.org/markup-compatibility/2006">
              <mc:Choice xmlns:v="urn:schemas-microsoft-com:vml" Requires="v">
                <p:oleObj spid="_x0000_s69760" name="Equation" r:id="rId5" imgW="866857" imgH="371520" progId="Equation.3">
                  <p:embed/>
                </p:oleObj>
              </mc:Choice>
              <mc:Fallback>
                <p:oleObj name="Equation" r:id="rId5" imgW="866857" imgH="371520" progId="Equation.3">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7800" y="3733800"/>
                        <a:ext cx="2159000" cy="100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4" name="Object 54"/>
          <p:cNvGraphicFramePr>
            <a:graphicFrameLocks noChangeAspect="1"/>
          </p:cNvGraphicFramePr>
          <p:nvPr>
            <p:extLst>
              <p:ext uri="{D42A27DB-BD31-4B8C-83A1-F6EECF244321}">
                <p14:modId xmlns:p14="http://schemas.microsoft.com/office/powerpoint/2010/main" val="2554097715"/>
              </p:ext>
            </p:extLst>
          </p:nvPr>
        </p:nvGraphicFramePr>
        <p:xfrm>
          <a:off x="2667000" y="4908550"/>
          <a:ext cx="2255838" cy="1035050"/>
        </p:xfrm>
        <a:graphic>
          <a:graphicData uri="http://schemas.openxmlformats.org/presentationml/2006/ole">
            <mc:AlternateContent xmlns:mc="http://schemas.openxmlformats.org/markup-compatibility/2006">
              <mc:Choice xmlns:v="urn:schemas-microsoft-com:vml" Requires="v">
                <p:oleObj spid="_x0000_s69761" name="Equation" r:id="rId7" imgW="885766" imgH="371520" progId="Equation.3">
                  <p:embed/>
                </p:oleObj>
              </mc:Choice>
              <mc:Fallback>
                <p:oleObj name="Equation" r:id="rId7" imgW="885766" imgH="371520" progId="Equation.3">
                  <p:embed/>
                  <p:pic>
                    <p:nvPicPr>
                      <p:cNvPr id="0" name="Object 5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7000" y="4908550"/>
                        <a:ext cx="22558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2" name="Text Box 55"/>
          <p:cNvSpPr txBox="1">
            <a:spLocks noChangeArrowheads="1"/>
          </p:cNvSpPr>
          <p:nvPr/>
        </p:nvSpPr>
        <p:spPr bwMode="auto">
          <a:xfrm>
            <a:off x="0" y="1341438"/>
            <a:ext cx="66595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用电导表示两个电阻并联时的等效电导</a:t>
            </a:r>
          </a:p>
        </p:txBody>
      </p:sp>
      <p:sp>
        <p:nvSpPr>
          <p:cNvPr id="69643" name="Text Box 56"/>
          <p:cNvSpPr txBox="1">
            <a:spLocks noChangeArrowheads="1"/>
          </p:cNvSpPr>
          <p:nvPr/>
        </p:nvSpPr>
        <p:spPr bwMode="auto">
          <a:xfrm>
            <a:off x="250825" y="2835275"/>
            <a:ext cx="6337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用电导表示两个电阻并联时的分流公式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3377"/>
                                        </p:tgtEl>
                                        <p:attrNameLst>
                                          <p:attrName>style.visibility</p:attrName>
                                        </p:attrNameLst>
                                      </p:cBhvr>
                                      <p:to>
                                        <p:strVal val="visible"/>
                                      </p:to>
                                    </p:set>
                                    <p:animEffect transition="in" filter="wipe(left)">
                                      <p:cBhvr>
                                        <p:cTn id="7" dur="500"/>
                                        <p:tgtEl>
                                          <p:spTgt spid="143377"/>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43363"/>
                                        </p:tgtEl>
                                        <p:attrNameLst>
                                          <p:attrName>style.visibility</p:attrName>
                                        </p:attrNameLst>
                                      </p:cBhvr>
                                      <p:to>
                                        <p:strVal val="visible"/>
                                      </p:to>
                                    </p:set>
                                    <p:animEffect transition="in" filter="wipe(up)">
                                      <p:cBhvr>
                                        <p:cTn id="11" dur="500"/>
                                        <p:tgtEl>
                                          <p:spTgt spid="14336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43413"/>
                                        </p:tgtEl>
                                        <p:attrNameLst>
                                          <p:attrName>style.visibility</p:attrName>
                                        </p:attrNameLst>
                                      </p:cBhvr>
                                      <p:to>
                                        <p:strVal val="visible"/>
                                      </p:to>
                                    </p:set>
                                    <p:animEffect transition="in" filter="wipe(left)">
                                      <p:cBhvr>
                                        <p:cTn id="16" dur="500"/>
                                        <p:tgtEl>
                                          <p:spTgt spid="1434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43414"/>
                                        </p:tgtEl>
                                        <p:attrNameLst>
                                          <p:attrName>style.visibility</p:attrName>
                                        </p:attrNameLst>
                                      </p:cBhvr>
                                      <p:to>
                                        <p:strVal val="visible"/>
                                      </p:to>
                                    </p:set>
                                    <p:animEffect transition="in" filter="wipe(left)">
                                      <p:cBhvr>
                                        <p:cTn id="21" dur="500"/>
                                        <p:tgtEl>
                                          <p:spTgt spid="143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6"/>
          <p:cNvGrpSpPr>
            <a:grpSpLocks/>
          </p:cNvGrpSpPr>
          <p:nvPr/>
        </p:nvGrpSpPr>
        <p:grpSpPr bwMode="auto">
          <a:xfrm>
            <a:off x="511175" y="2392363"/>
            <a:ext cx="8064500" cy="3268662"/>
            <a:chOff x="322" y="1507"/>
            <a:chExt cx="5080" cy="2059"/>
          </a:xfrm>
        </p:grpSpPr>
        <p:grpSp>
          <p:nvGrpSpPr>
            <p:cNvPr id="12292" name="Group 23"/>
            <p:cNvGrpSpPr>
              <a:grpSpLocks/>
            </p:cNvGrpSpPr>
            <p:nvPr/>
          </p:nvGrpSpPr>
          <p:grpSpPr bwMode="auto">
            <a:xfrm>
              <a:off x="322" y="1525"/>
              <a:ext cx="1554" cy="2041"/>
              <a:chOff x="322" y="1525"/>
              <a:chExt cx="1554" cy="2041"/>
            </a:xfrm>
          </p:grpSpPr>
          <p:graphicFrame>
            <p:nvGraphicFramePr>
              <p:cNvPr id="12303" name="Object 5"/>
              <p:cNvGraphicFramePr>
                <a:graphicFrameLocks noChangeAspect="1"/>
              </p:cNvGraphicFramePr>
              <p:nvPr/>
            </p:nvGraphicFramePr>
            <p:xfrm>
              <a:off x="385" y="1962"/>
              <a:ext cx="1472" cy="652"/>
            </p:xfrm>
            <a:graphic>
              <a:graphicData uri="http://schemas.openxmlformats.org/presentationml/2006/ole">
                <mc:AlternateContent xmlns:mc="http://schemas.openxmlformats.org/markup-compatibility/2006">
                  <mc:Choice xmlns:v="urn:schemas-microsoft-com:vml" Requires="v">
                    <p:oleObj spid="_x0000_s75832" name="公式" r:id="rId3" imgW="981123" imgH="428760" progId="Equation.3">
                      <p:embed/>
                    </p:oleObj>
                  </mc:Choice>
                  <mc:Fallback>
                    <p:oleObj name="公式" r:id="rId3" imgW="981123" imgH="4287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 y="1962"/>
                            <a:ext cx="1472" cy="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4" name="Object 6"/>
              <p:cNvGraphicFramePr>
                <a:graphicFrameLocks noChangeAspect="1"/>
              </p:cNvGraphicFramePr>
              <p:nvPr/>
            </p:nvGraphicFramePr>
            <p:xfrm>
              <a:off x="340" y="2895"/>
              <a:ext cx="1536" cy="671"/>
            </p:xfrm>
            <a:graphic>
              <a:graphicData uri="http://schemas.openxmlformats.org/presentationml/2006/ole">
                <mc:AlternateContent xmlns:mc="http://schemas.openxmlformats.org/markup-compatibility/2006">
                  <mc:Choice xmlns:v="urn:schemas-microsoft-com:vml" Requires="v">
                    <p:oleObj spid="_x0000_s75833" name="公式" r:id="rId5" imgW="1000032" imgH="428760" progId="Equation.3">
                      <p:embed/>
                    </p:oleObj>
                  </mc:Choice>
                  <mc:Fallback>
                    <p:oleObj name="公式" r:id="rId5" imgW="1000032" imgH="4287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 y="2895"/>
                            <a:ext cx="1536" cy="6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5" name="Text Box 13"/>
              <p:cNvSpPr txBox="1">
                <a:spLocks noChangeArrowheads="1"/>
              </p:cNvSpPr>
              <p:nvPr/>
            </p:nvSpPr>
            <p:spPr bwMode="auto">
              <a:xfrm>
                <a:off x="340" y="1570"/>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分压公式</a:t>
                </a:r>
              </a:p>
            </p:txBody>
          </p:sp>
          <p:sp>
            <p:nvSpPr>
              <p:cNvPr id="12306" name="Rectangle 16"/>
              <p:cNvSpPr>
                <a:spLocks noChangeArrowheads="1"/>
              </p:cNvSpPr>
              <p:nvPr/>
            </p:nvSpPr>
            <p:spPr bwMode="auto">
              <a:xfrm>
                <a:off x="322" y="1525"/>
                <a:ext cx="1542" cy="2041"/>
              </a:xfrm>
              <a:prstGeom prst="rect">
                <a:avLst/>
              </a:prstGeom>
              <a:noFill/>
              <a:ln w="57150" cmpd="thinThick" algn="ctr">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2293" name="Group 24"/>
            <p:cNvGrpSpPr>
              <a:grpSpLocks/>
            </p:cNvGrpSpPr>
            <p:nvPr/>
          </p:nvGrpSpPr>
          <p:grpSpPr bwMode="auto">
            <a:xfrm>
              <a:off x="2091" y="1525"/>
              <a:ext cx="1542" cy="2041"/>
              <a:chOff x="2091" y="1525"/>
              <a:chExt cx="1542" cy="2041"/>
            </a:xfrm>
          </p:grpSpPr>
          <p:graphicFrame>
            <p:nvGraphicFramePr>
              <p:cNvPr id="12299" name="Object 7"/>
              <p:cNvGraphicFramePr>
                <a:graphicFrameLocks noChangeAspect="1"/>
              </p:cNvGraphicFramePr>
              <p:nvPr/>
            </p:nvGraphicFramePr>
            <p:xfrm>
              <a:off x="2154" y="1979"/>
              <a:ext cx="1360" cy="634"/>
            </p:xfrm>
            <a:graphic>
              <a:graphicData uri="http://schemas.openxmlformats.org/presentationml/2006/ole">
                <mc:AlternateContent xmlns:mc="http://schemas.openxmlformats.org/markup-compatibility/2006">
                  <mc:Choice xmlns:v="urn:schemas-microsoft-com:vml" Requires="v">
                    <p:oleObj spid="_x0000_s75834" name="Equation" r:id="rId7" imgW="904945" imgH="409590" progId="Equation.3">
                      <p:embed/>
                    </p:oleObj>
                  </mc:Choice>
                  <mc:Fallback>
                    <p:oleObj name="Equation" r:id="rId7" imgW="904945" imgH="40959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4" y="1979"/>
                            <a:ext cx="1360"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0" name="Object 8"/>
              <p:cNvGraphicFramePr>
                <a:graphicFrameLocks noChangeAspect="1"/>
              </p:cNvGraphicFramePr>
              <p:nvPr/>
            </p:nvGraphicFramePr>
            <p:xfrm>
              <a:off x="2139" y="2914"/>
              <a:ext cx="1421" cy="652"/>
            </p:xfrm>
            <a:graphic>
              <a:graphicData uri="http://schemas.openxmlformats.org/presentationml/2006/ole">
                <mc:AlternateContent xmlns:mc="http://schemas.openxmlformats.org/markup-compatibility/2006">
                  <mc:Choice xmlns:v="urn:schemas-microsoft-com:vml" Requires="v">
                    <p:oleObj spid="_x0000_s75835" name="Equation" r:id="rId9" imgW="923855" imgH="409590" progId="Equation.3">
                      <p:embed/>
                    </p:oleObj>
                  </mc:Choice>
                  <mc:Fallback>
                    <p:oleObj name="Equation" r:id="rId9" imgW="923855" imgH="40959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39" y="2914"/>
                            <a:ext cx="1421" cy="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1" name="Text Box 19"/>
              <p:cNvSpPr txBox="1">
                <a:spLocks noChangeArrowheads="1"/>
              </p:cNvSpPr>
              <p:nvPr/>
            </p:nvSpPr>
            <p:spPr bwMode="auto">
              <a:xfrm>
                <a:off x="2109" y="1570"/>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分流公式</a:t>
                </a:r>
              </a:p>
            </p:txBody>
          </p:sp>
          <p:sp>
            <p:nvSpPr>
              <p:cNvPr id="12302" name="Rectangle 20"/>
              <p:cNvSpPr>
                <a:spLocks noChangeArrowheads="1"/>
              </p:cNvSpPr>
              <p:nvPr/>
            </p:nvSpPr>
            <p:spPr bwMode="auto">
              <a:xfrm>
                <a:off x="2091" y="1525"/>
                <a:ext cx="1542" cy="2041"/>
              </a:xfrm>
              <a:prstGeom prst="rect">
                <a:avLst/>
              </a:prstGeom>
              <a:noFill/>
              <a:ln w="57150" cmpd="thinThick" algn="ctr">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2294" name="Group 25"/>
            <p:cNvGrpSpPr>
              <a:grpSpLocks/>
            </p:cNvGrpSpPr>
            <p:nvPr/>
          </p:nvGrpSpPr>
          <p:grpSpPr bwMode="auto">
            <a:xfrm>
              <a:off x="3860" y="1507"/>
              <a:ext cx="1542" cy="2059"/>
              <a:chOff x="3860" y="1507"/>
              <a:chExt cx="1542" cy="2059"/>
            </a:xfrm>
          </p:grpSpPr>
          <p:graphicFrame>
            <p:nvGraphicFramePr>
              <p:cNvPr id="12295" name="Object 9"/>
              <p:cNvGraphicFramePr>
                <a:graphicFrameLocks noChangeAspect="1"/>
              </p:cNvGraphicFramePr>
              <p:nvPr/>
            </p:nvGraphicFramePr>
            <p:xfrm>
              <a:off x="3923" y="1980"/>
              <a:ext cx="1360" cy="634"/>
            </p:xfrm>
            <a:graphic>
              <a:graphicData uri="http://schemas.openxmlformats.org/presentationml/2006/ole">
                <mc:AlternateContent xmlns:mc="http://schemas.openxmlformats.org/markup-compatibility/2006">
                  <mc:Choice xmlns:v="urn:schemas-microsoft-com:vml" Requires="v">
                    <p:oleObj spid="_x0000_s75836" name="Equation" r:id="rId11" imgW="904945" imgH="409590" progId="Equation.3">
                      <p:embed/>
                    </p:oleObj>
                  </mc:Choice>
                  <mc:Fallback>
                    <p:oleObj name="Equation" r:id="rId11" imgW="904945" imgH="4095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3" y="1980"/>
                            <a:ext cx="1360"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10"/>
              <p:cNvGraphicFramePr>
                <a:graphicFrameLocks noChangeAspect="1"/>
              </p:cNvGraphicFramePr>
              <p:nvPr/>
            </p:nvGraphicFramePr>
            <p:xfrm>
              <a:off x="3908" y="2914"/>
              <a:ext cx="1421" cy="652"/>
            </p:xfrm>
            <a:graphic>
              <a:graphicData uri="http://schemas.openxmlformats.org/presentationml/2006/ole">
                <mc:AlternateContent xmlns:mc="http://schemas.openxmlformats.org/markup-compatibility/2006">
                  <mc:Choice xmlns:v="urn:schemas-microsoft-com:vml" Requires="v">
                    <p:oleObj spid="_x0000_s75837" name="Equation" r:id="rId13" imgW="923855" imgH="409590" progId="Equation.3">
                      <p:embed/>
                    </p:oleObj>
                  </mc:Choice>
                  <mc:Fallback>
                    <p:oleObj name="Equation" r:id="rId13" imgW="923855" imgH="40959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08" y="2914"/>
                            <a:ext cx="1421" cy="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7" name="Text Box 21"/>
              <p:cNvSpPr txBox="1">
                <a:spLocks noChangeArrowheads="1"/>
              </p:cNvSpPr>
              <p:nvPr/>
            </p:nvSpPr>
            <p:spPr bwMode="auto">
              <a:xfrm>
                <a:off x="3878" y="1552"/>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分流公式</a:t>
                </a:r>
              </a:p>
            </p:txBody>
          </p:sp>
          <p:sp>
            <p:nvSpPr>
              <p:cNvPr id="12298" name="Rectangle 22"/>
              <p:cNvSpPr>
                <a:spLocks noChangeArrowheads="1"/>
              </p:cNvSpPr>
              <p:nvPr/>
            </p:nvSpPr>
            <p:spPr bwMode="auto">
              <a:xfrm>
                <a:off x="3860" y="1507"/>
                <a:ext cx="1542" cy="2041"/>
              </a:xfrm>
              <a:prstGeom prst="rect">
                <a:avLst/>
              </a:prstGeom>
              <a:noFill/>
              <a:ln w="57150" cmpd="thinThick" algn="ctr">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19" name="Text Box 2"/>
          <p:cNvSpPr txBox="1">
            <a:spLocks noChangeArrowheads="1"/>
          </p:cNvSpPr>
          <p:nvPr/>
        </p:nvSpPr>
        <p:spPr bwMode="auto">
          <a:xfrm>
            <a:off x="751682" y="681889"/>
            <a:ext cx="7543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两个电阻串联时的分压公式，两个电阻并联时用电阻表示的分流</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公式、以及</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用电导表示的分流公式，</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这三者很相似，注意他们之间的异同。</a:t>
            </a:r>
          </a:p>
        </p:txBody>
      </p:sp>
      <p:sp>
        <p:nvSpPr>
          <p:cNvPr id="3" name="灯片编号占位符 2"/>
          <p:cNvSpPr>
            <a:spLocks noGrp="1"/>
          </p:cNvSpPr>
          <p:nvPr>
            <p:ph type="sldNum" sz="quarter" idx="12"/>
          </p:nvPr>
        </p:nvSpPr>
        <p:spPr/>
        <p:txBody>
          <a:bodyPr/>
          <a:lstStyle/>
          <a:p>
            <a:pPr>
              <a:defRPr/>
            </a:pPr>
            <a:fld id="{7F6DAC6E-051E-43BF-A607-F6F4F9E2F096}" type="slidenum">
              <a:rPr lang="en-US" altLang="zh-CN" smtClean="0"/>
              <a:pPr>
                <a:defRPr/>
              </a:pPr>
              <a:t>10</a:t>
            </a:fld>
            <a:endParaRPr lang="en-US" altLang="zh-CN"/>
          </a:p>
        </p:txBody>
      </p:sp>
    </p:spTree>
    <p:extLst>
      <p:ext uri="{BB962C8B-B14F-4D97-AF65-F5344CB8AC3E}">
        <p14:creationId xmlns:p14="http://schemas.microsoft.com/office/powerpoint/2010/main" val="13113577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54F4BCA-9BCA-4578-9C0C-E7408786DBE0}"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11</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0660" name="Group 39"/>
          <p:cNvGrpSpPr>
            <a:grpSpLocks/>
          </p:cNvGrpSpPr>
          <p:nvPr/>
        </p:nvGrpSpPr>
        <p:grpSpPr bwMode="auto">
          <a:xfrm>
            <a:off x="788988" y="2238360"/>
            <a:ext cx="2895600" cy="2625725"/>
            <a:chOff x="768" y="1466"/>
            <a:chExt cx="1824" cy="1654"/>
          </a:xfrm>
        </p:grpSpPr>
        <p:grpSp>
          <p:nvGrpSpPr>
            <p:cNvPr id="70667" name="Group 4"/>
            <p:cNvGrpSpPr>
              <a:grpSpLocks/>
            </p:cNvGrpSpPr>
            <p:nvPr/>
          </p:nvGrpSpPr>
          <p:grpSpPr bwMode="auto">
            <a:xfrm>
              <a:off x="1147" y="1466"/>
              <a:ext cx="1445" cy="1654"/>
              <a:chOff x="240" y="432"/>
              <a:chExt cx="1445" cy="1654"/>
            </a:xfrm>
          </p:grpSpPr>
          <p:sp>
            <p:nvSpPr>
              <p:cNvPr id="145413" name="Rectangle 5"/>
              <p:cNvSpPr>
                <a:spLocks noChangeArrowheads="1"/>
              </p:cNvSpPr>
              <p:nvPr/>
            </p:nvSpPr>
            <p:spPr bwMode="auto">
              <a:xfrm>
                <a:off x="53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14" name="Rectangle 6"/>
              <p:cNvSpPr>
                <a:spLocks noChangeArrowheads="1"/>
              </p:cNvSpPr>
              <p:nvPr/>
            </p:nvSpPr>
            <p:spPr bwMode="auto">
              <a:xfrm>
                <a:off x="960"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70680" name="Line 7"/>
              <p:cNvSpPr>
                <a:spLocks noChangeShapeType="1"/>
              </p:cNvSpPr>
              <p:nvPr/>
            </p:nvSpPr>
            <p:spPr bwMode="auto">
              <a:xfrm rot="10800000" flipH="1" flipV="1">
                <a:off x="816"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81" name="Line 8"/>
              <p:cNvSpPr>
                <a:spLocks noChangeShapeType="1"/>
              </p:cNvSpPr>
              <p:nvPr/>
            </p:nvSpPr>
            <p:spPr bwMode="auto">
              <a:xfrm rot="10800000" flipH="1" flipV="1">
                <a:off x="1248"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82" name="Line 9"/>
              <p:cNvSpPr>
                <a:spLocks noChangeShapeType="1"/>
              </p:cNvSpPr>
              <p:nvPr/>
            </p:nvSpPr>
            <p:spPr bwMode="auto">
              <a:xfrm>
                <a:off x="528" y="20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18" name="Rectangle 10"/>
              <p:cNvSpPr>
                <a:spLocks noChangeArrowheads="1"/>
              </p:cNvSpPr>
              <p:nvPr/>
            </p:nvSpPr>
            <p:spPr bwMode="auto">
              <a:xfrm>
                <a:off x="864" y="124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19" name="Rectangle 11"/>
              <p:cNvSpPr>
                <a:spLocks noChangeArrowheads="1"/>
              </p:cNvSpPr>
              <p:nvPr/>
            </p:nvSpPr>
            <p:spPr bwMode="auto">
              <a:xfrm rot="-10800000">
                <a:off x="816" y="124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85" name="Line 12"/>
              <p:cNvSpPr>
                <a:spLocks noChangeShapeType="1"/>
              </p:cNvSpPr>
              <p:nvPr/>
            </p:nvSpPr>
            <p:spPr bwMode="auto">
              <a:xfrm rot="5400000" flipH="1" flipV="1">
                <a:off x="685" y="51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86" name="Line 13"/>
              <p:cNvSpPr>
                <a:spLocks noChangeShapeType="1"/>
              </p:cNvSpPr>
              <p:nvPr/>
            </p:nvSpPr>
            <p:spPr bwMode="auto">
              <a:xfrm flipH="1" flipV="1">
                <a:off x="528" y="7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22" name="Rectangle 14"/>
              <p:cNvSpPr>
                <a:spLocks noChangeArrowheads="1"/>
              </p:cNvSpPr>
              <p:nvPr/>
            </p:nvSpPr>
            <p:spPr bwMode="auto">
              <a:xfrm>
                <a:off x="369" y="1296"/>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23" name="Rectangle 15"/>
              <p:cNvSpPr>
                <a:spLocks noChangeArrowheads="1"/>
              </p:cNvSpPr>
              <p:nvPr/>
            </p:nvSpPr>
            <p:spPr bwMode="auto">
              <a:xfrm>
                <a:off x="1344" y="1248"/>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45424" name="Rectangle 16"/>
              <p:cNvSpPr>
                <a:spLocks noChangeArrowheads="1"/>
              </p:cNvSpPr>
              <p:nvPr/>
            </p:nvSpPr>
            <p:spPr bwMode="auto">
              <a:xfrm>
                <a:off x="576" y="4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5425" name="Text Box 17"/>
              <p:cNvSpPr txBox="1">
                <a:spLocks noChangeArrowheads="1"/>
              </p:cNvSpPr>
              <p:nvPr/>
            </p:nvSpPr>
            <p:spPr bwMode="auto">
              <a:xfrm>
                <a:off x="240" y="7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5426" name="Text Box 18"/>
              <p:cNvSpPr txBox="1">
                <a:spLocks noChangeArrowheads="1"/>
              </p:cNvSpPr>
              <p:nvPr/>
            </p:nvSpPr>
            <p:spPr bwMode="auto">
              <a:xfrm>
                <a:off x="384" y="17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70692" name="Line 19"/>
              <p:cNvSpPr>
                <a:spLocks noChangeShapeType="1"/>
              </p:cNvSpPr>
              <p:nvPr/>
            </p:nvSpPr>
            <p:spPr bwMode="auto">
              <a:xfrm>
                <a:off x="1296"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93" name="Line 20"/>
              <p:cNvSpPr>
                <a:spLocks noChangeShapeType="1"/>
              </p:cNvSpPr>
              <p:nvPr/>
            </p:nvSpPr>
            <p:spPr bwMode="auto">
              <a:xfrm>
                <a:off x="1296"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94" name="Oval 21"/>
              <p:cNvSpPr>
                <a:spLocks noChangeArrowheads="1"/>
              </p:cNvSpPr>
              <p:nvPr/>
            </p:nvSpPr>
            <p:spPr bwMode="auto">
              <a:xfrm>
                <a:off x="480" y="7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95" name="Oval 22"/>
              <p:cNvSpPr>
                <a:spLocks noChangeArrowheads="1"/>
              </p:cNvSpPr>
              <p:nvPr/>
            </p:nvSpPr>
            <p:spPr bwMode="auto">
              <a:xfrm>
                <a:off x="480" y="20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5431" name="Rectangle 23"/>
              <p:cNvSpPr>
                <a:spLocks noChangeArrowheads="1"/>
              </p:cNvSpPr>
              <p:nvPr/>
            </p:nvSpPr>
            <p:spPr bwMode="auto">
              <a:xfrm rot="-10800000">
                <a:off x="1248" y="1261"/>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97" name="Line 24"/>
              <p:cNvSpPr>
                <a:spLocks noChangeShapeType="1"/>
              </p:cNvSpPr>
              <p:nvPr/>
            </p:nvSpPr>
            <p:spPr bwMode="auto">
              <a:xfrm>
                <a:off x="877"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98" name="Line 25"/>
              <p:cNvSpPr>
                <a:spLocks noChangeShapeType="1"/>
              </p:cNvSpPr>
              <p:nvPr/>
            </p:nvSpPr>
            <p:spPr bwMode="auto">
              <a:xfrm>
                <a:off x="877"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0668" name="Group 38"/>
            <p:cNvGrpSpPr>
              <a:grpSpLocks/>
            </p:cNvGrpSpPr>
            <p:nvPr/>
          </p:nvGrpSpPr>
          <p:grpSpPr bwMode="auto">
            <a:xfrm>
              <a:off x="768" y="1824"/>
              <a:ext cx="624" cy="1296"/>
              <a:chOff x="720" y="1824"/>
              <a:chExt cx="624" cy="1296"/>
            </a:xfrm>
          </p:grpSpPr>
          <p:grpSp>
            <p:nvGrpSpPr>
              <p:cNvPr id="70669" name="Group 32"/>
              <p:cNvGrpSpPr>
                <a:grpSpLocks/>
              </p:cNvGrpSpPr>
              <p:nvPr/>
            </p:nvGrpSpPr>
            <p:grpSpPr bwMode="auto">
              <a:xfrm>
                <a:off x="720" y="1824"/>
                <a:ext cx="576" cy="1296"/>
                <a:chOff x="240" y="1776"/>
                <a:chExt cx="576" cy="1296"/>
              </a:xfrm>
            </p:grpSpPr>
            <p:grpSp>
              <p:nvGrpSpPr>
                <p:cNvPr id="70672" name="Group 30"/>
                <p:cNvGrpSpPr>
                  <a:grpSpLocks/>
                </p:cNvGrpSpPr>
                <p:nvPr/>
              </p:nvGrpSpPr>
              <p:grpSpPr bwMode="auto">
                <a:xfrm>
                  <a:off x="240" y="1776"/>
                  <a:ext cx="336" cy="1296"/>
                  <a:chOff x="240" y="1776"/>
                  <a:chExt cx="336" cy="1296"/>
                </a:xfrm>
              </p:grpSpPr>
              <p:sp>
                <p:nvSpPr>
                  <p:cNvPr id="70674" name="Line 26"/>
                  <p:cNvSpPr>
                    <a:spLocks noChangeShapeType="1"/>
                  </p:cNvSpPr>
                  <p:nvPr/>
                </p:nvSpPr>
                <p:spPr bwMode="auto">
                  <a:xfrm>
                    <a:off x="384" y="177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75" name="Oval 27"/>
                  <p:cNvSpPr>
                    <a:spLocks noChangeArrowheads="1"/>
                  </p:cNvSpPr>
                  <p:nvPr/>
                </p:nvSpPr>
                <p:spPr bwMode="auto">
                  <a:xfrm>
                    <a:off x="240" y="2160"/>
                    <a:ext cx="288" cy="28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76" name="Line 28"/>
                  <p:cNvSpPr>
                    <a:spLocks noChangeShapeType="1"/>
                  </p:cNvSpPr>
                  <p:nvPr/>
                </p:nvSpPr>
                <p:spPr bwMode="auto">
                  <a:xfrm>
                    <a:off x="240" y="230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77" name="Line 29"/>
                  <p:cNvSpPr>
                    <a:spLocks noChangeShapeType="1"/>
                  </p:cNvSpPr>
                  <p:nvPr/>
                </p:nvSpPr>
                <p:spPr bwMode="auto">
                  <a:xfrm>
                    <a:off x="576" y="2112"/>
                    <a:ext cx="0" cy="336"/>
                  </a:xfrm>
                  <a:prstGeom prst="line">
                    <a:avLst/>
                  </a:prstGeom>
                  <a:noFill/>
                  <a:ln w="38100">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0673" name="Text Box 31"/>
                <p:cNvSpPr txBox="1">
                  <a:spLocks noChangeArrowheads="1"/>
                </p:cNvSpPr>
                <p:nvPr/>
              </p:nvSpPr>
              <p:spPr bwMode="auto">
                <a:xfrm>
                  <a:off x="432" y="249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sp>
            <p:nvSpPr>
              <p:cNvPr id="70670" name="Line 33"/>
              <p:cNvSpPr>
                <a:spLocks noChangeShapeType="1"/>
              </p:cNvSpPr>
              <p:nvPr/>
            </p:nvSpPr>
            <p:spPr bwMode="auto">
              <a:xfrm>
                <a:off x="864" y="1824"/>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0671" name="Line 36"/>
              <p:cNvSpPr>
                <a:spLocks noChangeShapeType="1"/>
              </p:cNvSpPr>
              <p:nvPr/>
            </p:nvSpPr>
            <p:spPr bwMode="auto">
              <a:xfrm>
                <a:off x="864" y="3120"/>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70661" name="Text Box 40"/>
          <p:cNvSpPr txBox="1">
            <a:spLocks noChangeArrowheads="1"/>
          </p:cNvSpPr>
          <p:nvPr/>
        </p:nvSpPr>
        <p:spPr bwMode="auto">
          <a:xfrm>
            <a:off x="631825" y="620688"/>
            <a:ext cx="754380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下图中电阻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=30Ω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与电阻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=15Ω</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并联后，接电流源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=18A</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试计算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和电压</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70662" name="Text Box 41"/>
          <p:cNvSpPr txBox="1">
            <a:spLocks noChangeArrowheads="1"/>
          </p:cNvSpPr>
          <p:nvPr/>
        </p:nvSpPr>
        <p:spPr bwMode="auto">
          <a:xfrm>
            <a:off x="4117832" y="1724424"/>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解法一：并联等效电阻为</a:t>
            </a:r>
          </a:p>
        </p:txBody>
      </p:sp>
      <p:graphicFrame>
        <p:nvGraphicFramePr>
          <p:cNvPr id="70663" name="Object 44"/>
          <p:cNvGraphicFramePr>
            <a:graphicFrameLocks noChangeAspect="1"/>
          </p:cNvGraphicFramePr>
          <p:nvPr>
            <p:extLst>
              <p:ext uri="{D42A27DB-BD31-4B8C-83A1-F6EECF244321}">
                <p14:modId xmlns:p14="http://schemas.microsoft.com/office/powerpoint/2010/main" val="906613143"/>
              </p:ext>
            </p:extLst>
          </p:nvPr>
        </p:nvGraphicFramePr>
        <p:xfrm>
          <a:off x="4353485" y="2359052"/>
          <a:ext cx="4054475" cy="908050"/>
        </p:xfrm>
        <a:graphic>
          <a:graphicData uri="http://schemas.openxmlformats.org/presentationml/2006/ole">
            <mc:AlternateContent xmlns:mc="http://schemas.openxmlformats.org/markup-compatibility/2006">
              <mc:Choice xmlns:v="urn:schemas-microsoft-com:vml" Requires="v">
                <p:oleObj spid="_x0000_s70807" name="Equation" r:id="rId3" imgW="2006600" imgH="431800" progId="Equation.3">
                  <p:embed/>
                </p:oleObj>
              </mc:Choice>
              <mc:Fallback>
                <p:oleObj name="Equation" r:id="rId3" imgW="2006600" imgH="431800"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3485" y="2359052"/>
                        <a:ext cx="405447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4" name="Object 45"/>
          <p:cNvGraphicFramePr>
            <a:graphicFrameLocks noChangeAspect="1"/>
          </p:cNvGraphicFramePr>
          <p:nvPr>
            <p:extLst>
              <p:ext uri="{D42A27DB-BD31-4B8C-83A1-F6EECF244321}">
                <p14:modId xmlns:p14="http://schemas.microsoft.com/office/powerpoint/2010/main" val="2808820079"/>
              </p:ext>
            </p:extLst>
          </p:nvPr>
        </p:nvGraphicFramePr>
        <p:xfrm>
          <a:off x="3864882" y="3261891"/>
          <a:ext cx="4552950" cy="914400"/>
        </p:xfrm>
        <a:graphic>
          <a:graphicData uri="http://schemas.openxmlformats.org/presentationml/2006/ole">
            <mc:AlternateContent xmlns:mc="http://schemas.openxmlformats.org/markup-compatibility/2006">
              <mc:Choice xmlns:v="urn:schemas-microsoft-com:vml" Requires="v">
                <p:oleObj spid="_x0000_s70808" name="Equation" r:id="rId5" imgW="2120900" imgH="457200" progId="Equation.3">
                  <p:embed/>
                </p:oleObj>
              </mc:Choice>
              <mc:Fallback>
                <p:oleObj name="Equation" r:id="rId5" imgW="2120900" imgH="457200" progId="Equation.3">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4882" y="3261891"/>
                        <a:ext cx="45529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5" name="Object 46"/>
          <p:cNvGraphicFramePr>
            <a:graphicFrameLocks noChangeAspect="1"/>
          </p:cNvGraphicFramePr>
          <p:nvPr>
            <p:extLst>
              <p:ext uri="{D42A27DB-BD31-4B8C-83A1-F6EECF244321}">
                <p14:modId xmlns:p14="http://schemas.microsoft.com/office/powerpoint/2010/main" val="2985333540"/>
              </p:ext>
            </p:extLst>
          </p:nvPr>
        </p:nvGraphicFramePr>
        <p:xfrm>
          <a:off x="4778375" y="4654264"/>
          <a:ext cx="3606800" cy="839787"/>
        </p:xfrm>
        <a:graphic>
          <a:graphicData uri="http://schemas.openxmlformats.org/presentationml/2006/ole">
            <mc:AlternateContent xmlns:mc="http://schemas.openxmlformats.org/markup-compatibility/2006">
              <mc:Choice xmlns:v="urn:schemas-microsoft-com:vml" Requires="v">
                <p:oleObj spid="_x0000_s70809" name="Equation" r:id="rId7" imgW="1422400" imgH="431800" progId="Equation.3">
                  <p:embed/>
                </p:oleObj>
              </mc:Choice>
              <mc:Fallback>
                <p:oleObj name="Equation" r:id="rId7" imgW="1422400" imgH="431800" progId="Equation.3">
                  <p:embed/>
                  <p:pic>
                    <p:nvPicPr>
                      <p:cNvPr id="0" name="Object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78375" y="4654264"/>
                        <a:ext cx="3606800" cy="839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6" name="Object 47"/>
          <p:cNvGraphicFramePr>
            <a:graphicFrameLocks noChangeAspect="1"/>
          </p:cNvGraphicFramePr>
          <p:nvPr>
            <p:extLst>
              <p:ext uri="{D42A27DB-BD31-4B8C-83A1-F6EECF244321}">
                <p14:modId xmlns:p14="http://schemas.microsoft.com/office/powerpoint/2010/main" val="2348978298"/>
              </p:ext>
            </p:extLst>
          </p:nvPr>
        </p:nvGraphicFramePr>
        <p:xfrm>
          <a:off x="4572000" y="5535598"/>
          <a:ext cx="4019550" cy="466725"/>
        </p:xfrm>
        <a:graphic>
          <a:graphicData uri="http://schemas.openxmlformats.org/presentationml/2006/ole">
            <mc:AlternateContent xmlns:mc="http://schemas.openxmlformats.org/markup-compatibility/2006">
              <mc:Choice xmlns:v="urn:schemas-microsoft-com:vml" Requires="v">
                <p:oleObj spid="_x0000_s70810" name="Equation" r:id="rId9" imgW="1828800" imgH="228600" progId="Equation.3">
                  <p:embed/>
                </p:oleObj>
              </mc:Choice>
              <mc:Fallback>
                <p:oleObj name="Equation" r:id="rId9" imgW="1828800" imgH="228600" progId="Equation.3">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5535598"/>
                        <a:ext cx="4019550" cy="466725"/>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64"/>
                                        </p:tgtEl>
                                        <p:attrNameLst>
                                          <p:attrName>style.visibility</p:attrName>
                                        </p:attrNameLst>
                                      </p:cBhvr>
                                      <p:to>
                                        <p:strVal val="visible"/>
                                      </p:to>
                                    </p:set>
                                    <p:anim calcmode="lin" valueType="num">
                                      <p:cBhvr additive="base">
                                        <p:cTn id="7" dur="500" fill="hold"/>
                                        <p:tgtEl>
                                          <p:spTgt spid="70664"/>
                                        </p:tgtEl>
                                        <p:attrNameLst>
                                          <p:attrName>ppt_x</p:attrName>
                                        </p:attrNameLst>
                                      </p:cBhvr>
                                      <p:tavLst>
                                        <p:tav tm="0">
                                          <p:val>
                                            <p:strVal val="#ppt_x"/>
                                          </p:val>
                                        </p:tav>
                                        <p:tav tm="100000">
                                          <p:val>
                                            <p:strVal val="#ppt_x"/>
                                          </p:val>
                                        </p:tav>
                                      </p:tavLst>
                                    </p:anim>
                                    <p:anim calcmode="lin" valueType="num">
                                      <p:cBhvr additive="base">
                                        <p:cTn id="8" dur="500" fill="hold"/>
                                        <p:tgtEl>
                                          <p:spTgt spid="706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65"/>
                                        </p:tgtEl>
                                        <p:attrNameLst>
                                          <p:attrName>style.visibility</p:attrName>
                                        </p:attrNameLst>
                                      </p:cBhvr>
                                      <p:to>
                                        <p:strVal val="visible"/>
                                      </p:to>
                                    </p:set>
                                    <p:anim calcmode="lin" valueType="num">
                                      <p:cBhvr additive="base">
                                        <p:cTn id="13" dur="500" fill="hold"/>
                                        <p:tgtEl>
                                          <p:spTgt spid="70665"/>
                                        </p:tgtEl>
                                        <p:attrNameLst>
                                          <p:attrName>ppt_x</p:attrName>
                                        </p:attrNameLst>
                                      </p:cBhvr>
                                      <p:tavLst>
                                        <p:tav tm="0">
                                          <p:val>
                                            <p:strVal val="#ppt_x"/>
                                          </p:val>
                                        </p:tav>
                                        <p:tav tm="100000">
                                          <p:val>
                                            <p:strVal val="#ppt_x"/>
                                          </p:val>
                                        </p:tav>
                                      </p:tavLst>
                                    </p:anim>
                                    <p:anim calcmode="lin" valueType="num">
                                      <p:cBhvr additive="base">
                                        <p:cTn id="14" dur="500" fill="hold"/>
                                        <p:tgtEl>
                                          <p:spTgt spid="706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0666"/>
                                        </p:tgtEl>
                                        <p:attrNameLst>
                                          <p:attrName>style.visibility</p:attrName>
                                        </p:attrNameLst>
                                      </p:cBhvr>
                                      <p:to>
                                        <p:strVal val="visible"/>
                                      </p:to>
                                    </p:set>
                                    <p:anim calcmode="lin" valueType="num">
                                      <p:cBhvr additive="base">
                                        <p:cTn id="19" dur="500" fill="hold"/>
                                        <p:tgtEl>
                                          <p:spTgt spid="70666"/>
                                        </p:tgtEl>
                                        <p:attrNameLst>
                                          <p:attrName>ppt_x</p:attrName>
                                        </p:attrNameLst>
                                      </p:cBhvr>
                                      <p:tavLst>
                                        <p:tav tm="0">
                                          <p:val>
                                            <p:strVal val="#ppt_x"/>
                                          </p:val>
                                        </p:tav>
                                        <p:tav tm="100000">
                                          <p:val>
                                            <p:strVal val="#ppt_x"/>
                                          </p:val>
                                        </p:tav>
                                      </p:tavLst>
                                    </p:anim>
                                    <p:anim calcmode="lin" valueType="num">
                                      <p:cBhvr additive="base">
                                        <p:cTn id="20" dur="500" fill="hold"/>
                                        <p:tgtEl>
                                          <p:spTgt spid="706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2DCCF7E-E00A-4E13-8A11-42A8C8507615}"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12</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683" name="Text Box 3"/>
          <p:cNvSpPr txBox="1">
            <a:spLocks noChangeArrowheads="1"/>
          </p:cNvSpPr>
          <p:nvPr/>
        </p:nvSpPr>
        <p:spPr bwMode="auto">
          <a:xfrm>
            <a:off x="179388" y="836613"/>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解法二：利用并联电阻的分流公式</a:t>
            </a:r>
          </a:p>
        </p:txBody>
      </p:sp>
      <p:grpSp>
        <p:nvGrpSpPr>
          <p:cNvPr id="71684" name="Group 4"/>
          <p:cNvGrpSpPr>
            <a:grpSpLocks/>
          </p:cNvGrpSpPr>
          <p:nvPr/>
        </p:nvGrpSpPr>
        <p:grpSpPr bwMode="auto">
          <a:xfrm>
            <a:off x="762000" y="2971800"/>
            <a:ext cx="2895600" cy="2625725"/>
            <a:chOff x="768" y="1466"/>
            <a:chExt cx="1824" cy="1654"/>
          </a:xfrm>
        </p:grpSpPr>
        <p:grpSp>
          <p:nvGrpSpPr>
            <p:cNvPr id="71689" name="Group 5"/>
            <p:cNvGrpSpPr>
              <a:grpSpLocks/>
            </p:cNvGrpSpPr>
            <p:nvPr/>
          </p:nvGrpSpPr>
          <p:grpSpPr bwMode="auto">
            <a:xfrm>
              <a:off x="1147" y="1466"/>
              <a:ext cx="1445" cy="1654"/>
              <a:chOff x="240" y="432"/>
              <a:chExt cx="1445" cy="1654"/>
            </a:xfrm>
          </p:grpSpPr>
          <p:sp>
            <p:nvSpPr>
              <p:cNvPr id="146438" name="Rectangle 6"/>
              <p:cNvSpPr>
                <a:spLocks noChangeArrowheads="1"/>
              </p:cNvSpPr>
              <p:nvPr/>
            </p:nvSpPr>
            <p:spPr bwMode="auto">
              <a:xfrm>
                <a:off x="53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39" name="Rectangle 7"/>
              <p:cNvSpPr>
                <a:spLocks noChangeArrowheads="1"/>
              </p:cNvSpPr>
              <p:nvPr/>
            </p:nvSpPr>
            <p:spPr bwMode="auto">
              <a:xfrm>
                <a:off x="960"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71702" name="Line 8"/>
              <p:cNvSpPr>
                <a:spLocks noChangeShapeType="1"/>
              </p:cNvSpPr>
              <p:nvPr/>
            </p:nvSpPr>
            <p:spPr bwMode="auto">
              <a:xfrm rot="10800000" flipH="1" flipV="1">
                <a:off x="816"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03" name="Line 9"/>
              <p:cNvSpPr>
                <a:spLocks noChangeShapeType="1"/>
              </p:cNvSpPr>
              <p:nvPr/>
            </p:nvSpPr>
            <p:spPr bwMode="auto">
              <a:xfrm rot="10800000" flipH="1" flipV="1">
                <a:off x="1248" y="864"/>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04" name="Line 10"/>
              <p:cNvSpPr>
                <a:spLocks noChangeShapeType="1"/>
              </p:cNvSpPr>
              <p:nvPr/>
            </p:nvSpPr>
            <p:spPr bwMode="auto">
              <a:xfrm>
                <a:off x="528" y="2064"/>
                <a:ext cx="784" cy="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43" name="Rectangle 11"/>
              <p:cNvSpPr>
                <a:spLocks noChangeArrowheads="1"/>
              </p:cNvSpPr>
              <p:nvPr/>
            </p:nvSpPr>
            <p:spPr bwMode="auto">
              <a:xfrm>
                <a:off x="864" y="124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44" name="Rectangle 12"/>
              <p:cNvSpPr>
                <a:spLocks noChangeArrowheads="1"/>
              </p:cNvSpPr>
              <p:nvPr/>
            </p:nvSpPr>
            <p:spPr bwMode="auto">
              <a:xfrm rot="-10800000">
                <a:off x="816" y="1248"/>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07" name="Line 13"/>
              <p:cNvSpPr>
                <a:spLocks noChangeShapeType="1"/>
              </p:cNvSpPr>
              <p:nvPr/>
            </p:nvSpPr>
            <p:spPr bwMode="auto">
              <a:xfrm rot="5400000" flipH="1" flipV="1">
                <a:off x="685" y="515"/>
                <a:ext cx="0" cy="314"/>
              </a:xfrm>
              <a:prstGeom prst="line">
                <a:avLst/>
              </a:prstGeom>
              <a:noFill/>
              <a:ln w="38100">
                <a:solidFill>
                  <a:srgbClr val="FF0000"/>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08" name="Line 14"/>
              <p:cNvSpPr>
                <a:spLocks noChangeShapeType="1"/>
              </p:cNvSpPr>
              <p:nvPr/>
            </p:nvSpPr>
            <p:spPr bwMode="auto">
              <a:xfrm flipH="1" flipV="1">
                <a:off x="528" y="768"/>
                <a:ext cx="768" cy="0"/>
              </a:xfrm>
              <a:prstGeom prst="line">
                <a:avLst/>
              </a:prstGeom>
              <a:noFill/>
              <a:ln w="39751">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47" name="Rectangle 15"/>
              <p:cNvSpPr>
                <a:spLocks noChangeArrowheads="1"/>
              </p:cNvSpPr>
              <p:nvPr/>
            </p:nvSpPr>
            <p:spPr bwMode="auto">
              <a:xfrm>
                <a:off x="369" y="1296"/>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48" name="Rectangle 16"/>
              <p:cNvSpPr>
                <a:spLocks noChangeArrowheads="1"/>
              </p:cNvSpPr>
              <p:nvPr/>
            </p:nvSpPr>
            <p:spPr bwMode="auto">
              <a:xfrm>
                <a:off x="1344" y="1248"/>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146449" name="Rectangle 17"/>
              <p:cNvSpPr>
                <a:spLocks noChangeArrowheads="1"/>
              </p:cNvSpPr>
              <p:nvPr/>
            </p:nvSpPr>
            <p:spPr bwMode="auto">
              <a:xfrm>
                <a:off x="576" y="432"/>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46450" name="Text Box 18"/>
              <p:cNvSpPr txBox="1">
                <a:spLocks noChangeArrowheads="1"/>
              </p:cNvSpPr>
              <p:nvPr/>
            </p:nvSpPr>
            <p:spPr bwMode="auto">
              <a:xfrm>
                <a:off x="240" y="768"/>
                <a:ext cx="50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46451" name="Text Box 19"/>
              <p:cNvSpPr txBox="1">
                <a:spLocks noChangeArrowheads="1"/>
              </p:cNvSpPr>
              <p:nvPr/>
            </p:nvSpPr>
            <p:spPr bwMode="auto">
              <a:xfrm>
                <a:off x="384" y="1776"/>
                <a:ext cx="27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71714" name="Line 20"/>
              <p:cNvSpPr>
                <a:spLocks noChangeShapeType="1"/>
              </p:cNvSpPr>
              <p:nvPr/>
            </p:nvSpPr>
            <p:spPr bwMode="auto">
              <a:xfrm>
                <a:off x="1296"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15" name="Line 21"/>
              <p:cNvSpPr>
                <a:spLocks noChangeShapeType="1"/>
              </p:cNvSpPr>
              <p:nvPr/>
            </p:nvSpPr>
            <p:spPr bwMode="auto">
              <a:xfrm>
                <a:off x="1296"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16" name="Oval 22"/>
              <p:cNvSpPr>
                <a:spLocks noChangeArrowheads="1"/>
              </p:cNvSpPr>
              <p:nvPr/>
            </p:nvSpPr>
            <p:spPr bwMode="auto">
              <a:xfrm>
                <a:off x="480" y="760"/>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17" name="Oval 23"/>
              <p:cNvSpPr>
                <a:spLocks noChangeArrowheads="1"/>
              </p:cNvSpPr>
              <p:nvPr/>
            </p:nvSpPr>
            <p:spPr bwMode="auto">
              <a:xfrm>
                <a:off x="480" y="2038"/>
                <a:ext cx="48" cy="48"/>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6456" name="Rectangle 24"/>
              <p:cNvSpPr>
                <a:spLocks noChangeArrowheads="1"/>
              </p:cNvSpPr>
              <p:nvPr/>
            </p:nvSpPr>
            <p:spPr bwMode="auto">
              <a:xfrm rot="-10800000">
                <a:off x="1248" y="1261"/>
                <a:ext cx="109" cy="227"/>
              </a:xfrm>
              <a:prstGeom prst="rect">
                <a:avLst/>
              </a:prstGeom>
              <a:noFill/>
              <a:ln w="39751">
                <a:solidFill>
                  <a:schemeClr val="tx2"/>
                </a:solidFill>
                <a:miter lim="800000"/>
                <a:headEnd/>
                <a:tailEnd/>
              </a:ln>
              <a:extLst>
                <a:ext uri="{909E8E84-426E-40DD-AFC4-6F175D3DCCD1}">
                  <a14:hiddenFill xmlns:a14="http://schemas.microsoft.com/office/drawing/2010/main">
                    <a:solidFill>
                      <a:srgbClr val="33CCFF"/>
                    </a:solidFill>
                  </a14:hiddenFill>
                </a:ext>
              </a:extLst>
            </p:spPr>
            <p:txBody>
              <a:bodyPr rot="10800000"/>
              <a:lstStyle/>
              <a:p>
                <a:pPr algn="ctr">
                  <a:defRPr/>
                </a:pPr>
                <a:endParaRPr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19" name="Line 25"/>
              <p:cNvSpPr>
                <a:spLocks noChangeShapeType="1"/>
              </p:cNvSpPr>
              <p:nvPr/>
            </p:nvSpPr>
            <p:spPr bwMode="auto">
              <a:xfrm>
                <a:off x="877" y="1488"/>
                <a:ext cx="0" cy="567"/>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720" name="Line 26"/>
              <p:cNvSpPr>
                <a:spLocks noChangeShapeType="1"/>
              </p:cNvSpPr>
              <p:nvPr/>
            </p:nvSpPr>
            <p:spPr bwMode="auto">
              <a:xfrm>
                <a:off x="877" y="768"/>
                <a:ext cx="0" cy="480"/>
              </a:xfrm>
              <a:prstGeom prst="line">
                <a:avLst/>
              </a:prstGeom>
              <a:noFill/>
              <a:ln w="39751">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1690" name="Group 27"/>
            <p:cNvGrpSpPr>
              <a:grpSpLocks/>
            </p:cNvGrpSpPr>
            <p:nvPr/>
          </p:nvGrpSpPr>
          <p:grpSpPr bwMode="auto">
            <a:xfrm>
              <a:off x="768" y="1824"/>
              <a:ext cx="624" cy="1296"/>
              <a:chOff x="720" y="1824"/>
              <a:chExt cx="624" cy="1296"/>
            </a:xfrm>
          </p:grpSpPr>
          <p:grpSp>
            <p:nvGrpSpPr>
              <p:cNvPr id="71691" name="Group 28"/>
              <p:cNvGrpSpPr>
                <a:grpSpLocks/>
              </p:cNvGrpSpPr>
              <p:nvPr/>
            </p:nvGrpSpPr>
            <p:grpSpPr bwMode="auto">
              <a:xfrm>
                <a:off x="720" y="1824"/>
                <a:ext cx="576" cy="1296"/>
                <a:chOff x="240" y="1776"/>
                <a:chExt cx="576" cy="1296"/>
              </a:xfrm>
            </p:grpSpPr>
            <p:grpSp>
              <p:nvGrpSpPr>
                <p:cNvPr id="71694" name="Group 29"/>
                <p:cNvGrpSpPr>
                  <a:grpSpLocks/>
                </p:cNvGrpSpPr>
                <p:nvPr/>
              </p:nvGrpSpPr>
              <p:grpSpPr bwMode="auto">
                <a:xfrm>
                  <a:off x="240" y="1776"/>
                  <a:ext cx="336" cy="1296"/>
                  <a:chOff x="240" y="1776"/>
                  <a:chExt cx="336" cy="1296"/>
                </a:xfrm>
              </p:grpSpPr>
              <p:sp>
                <p:nvSpPr>
                  <p:cNvPr id="71696" name="Line 30"/>
                  <p:cNvSpPr>
                    <a:spLocks noChangeShapeType="1"/>
                  </p:cNvSpPr>
                  <p:nvPr/>
                </p:nvSpPr>
                <p:spPr bwMode="auto">
                  <a:xfrm>
                    <a:off x="384" y="177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697" name="Oval 31"/>
                  <p:cNvSpPr>
                    <a:spLocks noChangeArrowheads="1"/>
                  </p:cNvSpPr>
                  <p:nvPr/>
                </p:nvSpPr>
                <p:spPr bwMode="auto">
                  <a:xfrm>
                    <a:off x="240" y="2160"/>
                    <a:ext cx="288" cy="288"/>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698" name="Line 32"/>
                  <p:cNvSpPr>
                    <a:spLocks noChangeShapeType="1"/>
                  </p:cNvSpPr>
                  <p:nvPr/>
                </p:nvSpPr>
                <p:spPr bwMode="auto">
                  <a:xfrm>
                    <a:off x="240" y="230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699" name="Line 33"/>
                  <p:cNvSpPr>
                    <a:spLocks noChangeShapeType="1"/>
                  </p:cNvSpPr>
                  <p:nvPr/>
                </p:nvSpPr>
                <p:spPr bwMode="auto">
                  <a:xfrm>
                    <a:off x="576" y="2112"/>
                    <a:ext cx="0" cy="336"/>
                  </a:xfrm>
                  <a:prstGeom prst="line">
                    <a:avLst/>
                  </a:prstGeom>
                  <a:noFill/>
                  <a:ln w="38100">
                    <a:solidFill>
                      <a:schemeClr val="tx1"/>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1695" name="Text Box 34"/>
                <p:cNvSpPr txBox="1">
                  <a:spLocks noChangeArrowheads="1"/>
                </p:cNvSpPr>
                <p:nvPr/>
              </p:nvSpPr>
              <p:spPr bwMode="auto">
                <a:xfrm>
                  <a:off x="432" y="249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sp>
            <p:nvSpPr>
              <p:cNvPr id="71692" name="Line 35"/>
              <p:cNvSpPr>
                <a:spLocks noChangeShapeType="1"/>
              </p:cNvSpPr>
              <p:nvPr/>
            </p:nvSpPr>
            <p:spPr bwMode="auto">
              <a:xfrm>
                <a:off x="864" y="1824"/>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1693" name="Line 36"/>
              <p:cNvSpPr>
                <a:spLocks noChangeShapeType="1"/>
              </p:cNvSpPr>
              <p:nvPr/>
            </p:nvSpPr>
            <p:spPr bwMode="auto">
              <a:xfrm>
                <a:off x="864" y="3120"/>
                <a:ext cx="48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aphicFrame>
        <p:nvGraphicFramePr>
          <p:cNvPr id="71685" name="Object 39"/>
          <p:cNvGraphicFramePr>
            <a:graphicFrameLocks noChangeAspect="1"/>
          </p:cNvGraphicFramePr>
          <p:nvPr>
            <p:extLst>
              <p:ext uri="{D42A27DB-BD31-4B8C-83A1-F6EECF244321}">
                <p14:modId xmlns:p14="http://schemas.microsoft.com/office/powerpoint/2010/main" val="1056225092"/>
              </p:ext>
            </p:extLst>
          </p:nvPr>
        </p:nvGraphicFramePr>
        <p:xfrm>
          <a:off x="3635375" y="1628775"/>
          <a:ext cx="4938713" cy="990600"/>
        </p:xfrm>
        <a:graphic>
          <a:graphicData uri="http://schemas.openxmlformats.org/presentationml/2006/ole">
            <mc:AlternateContent xmlns:mc="http://schemas.openxmlformats.org/markup-compatibility/2006">
              <mc:Choice xmlns:v="urn:schemas-microsoft-com:vml" Requires="v">
                <p:oleObj spid="_x0000_s71821" name="Equation" r:id="rId3" imgW="2324100" imgH="431800" progId="Equation.3">
                  <p:embed/>
                </p:oleObj>
              </mc:Choice>
              <mc:Fallback>
                <p:oleObj name="Equation" r:id="rId3" imgW="2324100" imgH="43180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1628775"/>
                        <a:ext cx="4938713"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6" name="Object 40"/>
          <p:cNvGraphicFramePr>
            <a:graphicFrameLocks noChangeAspect="1"/>
          </p:cNvGraphicFramePr>
          <p:nvPr>
            <p:extLst>
              <p:ext uri="{D42A27DB-BD31-4B8C-83A1-F6EECF244321}">
                <p14:modId xmlns:p14="http://schemas.microsoft.com/office/powerpoint/2010/main" val="1563263293"/>
              </p:ext>
            </p:extLst>
          </p:nvPr>
        </p:nvGraphicFramePr>
        <p:xfrm>
          <a:off x="3635375" y="2636838"/>
          <a:ext cx="5100638" cy="990600"/>
        </p:xfrm>
        <a:graphic>
          <a:graphicData uri="http://schemas.openxmlformats.org/presentationml/2006/ole">
            <mc:AlternateContent xmlns:mc="http://schemas.openxmlformats.org/markup-compatibility/2006">
              <mc:Choice xmlns:v="urn:schemas-microsoft-com:vml" Requires="v">
                <p:oleObj spid="_x0000_s71822" name="Equation" r:id="rId5" imgW="2400300" imgH="431800" progId="Equation.3">
                  <p:embed/>
                </p:oleObj>
              </mc:Choice>
              <mc:Fallback>
                <p:oleObj name="Equation" r:id="rId5" imgW="2400300" imgH="4318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2636838"/>
                        <a:ext cx="5100638"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87" name="Object 41"/>
          <p:cNvGraphicFramePr>
            <a:graphicFrameLocks noChangeAspect="1"/>
          </p:cNvGraphicFramePr>
          <p:nvPr>
            <p:extLst>
              <p:ext uri="{D42A27DB-BD31-4B8C-83A1-F6EECF244321}">
                <p14:modId xmlns:p14="http://schemas.microsoft.com/office/powerpoint/2010/main" val="1215397946"/>
              </p:ext>
            </p:extLst>
          </p:nvPr>
        </p:nvGraphicFramePr>
        <p:xfrm>
          <a:off x="4371975" y="4267200"/>
          <a:ext cx="3959225" cy="609600"/>
        </p:xfrm>
        <a:graphic>
          <a:graphicData uri="http://schemas.openxmlformats.org/presentationml/2006/ole">
            <mc:AlternateContent xmlns:mc="http://schemas.openxmlformats.org/markup-compatibility/2006">
              <mc:Choice xmlns:v="urn:schemas-microsoft-com:vml" Requires="v">
                <p:oleObj spid="_x0000_s71823" name="Equation" r:id="rId7" imgW="1701800" imgH="228600" progId="Equation.DSMT4">
                  <p:embed/>
                </p:oleObj>
              </mc:Choice>
              <mc:Fallback>
                <p:oleObj name="Equation" r:id="rId7" imgW="1701800" imgH="228600" progId="Equation.DSMT4">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71975" y="4267200"/>
                        <a:ext cx="39592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8" name="Text Box 42"/>
          <p:cNvSpPr txBox="1">
            <a:spLocks noChangeArrowheads="1"/>
          </p:cNvSpPr>
          <p:nvPr/>
        </p:nvSpPr>
        <p:spPr bwMode="auto">
          <a:xfrm>
            <a:off x="3851275" y="378936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则</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 name="Text Box 42"/>
          <p:cNvSpPr txBox="1">
            <a:spLocks noChangeArrowheads="1"/>
          </p:cNvSpPr>
          <p:nvPr/>
        </p:nvSpPr>
        <p:spPr bwMode="auto">
          <a:xfrm>
            <a:off x="3914775" y="491172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或</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43" name="Object 41"/>
          <p:cNvGraphicFramePr>
            <a:graphicFrameLocks noChangeAspect="1"/>
          </p:cNvGraphicFramePr>
          <p:nvPr>
            <p:extLst>
              <p:ext uri="{D42A27DB-BD31-4B8C-83A1-F6EECF244321}">
                <p14:modId xmlns:p14="http://schemas.microsoft.com/office/powerpoint/2010/main" val="2337010898"/>
              </p:ext>
            </p:extLst>
          </p:nvPr>
        </p:nvGraphicFramePr>
        <p:xfrm>
          <a:off x="4371975" y="5334000"/>
          <a:ext cx="4137025" cy="609600"/>
        </p:xfrm>
        <a:graphic>
          <a:graphicData uri="http://schemas.openxmlformats.org/presentationml/2006/ole">
            <mc:AlternateContent xmlns:mc="http://schemas.openxmlformats.org/markup-compatibility/2006">
              <mc:Choice xmlns:v="urn:schemas-microsoft-com:vml" Requires="v">
                <p:oleObj spid="_x0000_s71824" name="Equation" r:id="rId9" imgW="1777680" imgH="228600" progId="Equation.DSMT4">
                  <p:embed/>
                </p:oleObj>
              </mc:Choice>
              <mc:Fallback>
                <p:oleObj name="Equation" r:id="rId9" imgW="1777680" imgH="228600" progId="Equation.DSMT4">
                  <p:embed/>
                  <p:pic>
                    <p:nvPicPr>
                      <p:cNvPr id="0" name=""/>
                      <p:cNvPicPr>
                        <a:picLocks noChangeAspect="1" noChangeArrowheads="1"/>
                      </p:cNvPicPr>
                      <p:nvPr/>
                    </p:nvPicPr>
                    <p:blipFill>
                      <a:blip r:embed="rId10"/>
                      <a:srcRect/>
                      <a:stretch>
                        <a:fillRect/>
                      </a:stretch>
                    </p:blipFill>
                    <p:spPr bwMode="auto">
                      <a:xfrm>
                        <a:off x="4371975" y="5334000"/>
                        <a:ext cx="413702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5"/>
                                        </p:tgtEl>
                                        <p:attrNameLst>
                                          <p:attrName>style.visibility</p:attrName>
                                        </p:attrNameLst>
                                      </p:cBhvr>
                                      <p:to>
                                        <p:strVal val="visible"/>
                                      </p:to>
                                    </p:set>
                                    <p:anim calcmode="lin" valueType="num">
                                      <p:cBhvr additive="base">
                                        <p:cTn id="7" dur="500" fill="hold"/>
                                        <p:tgtEl>
                                          <p:spTgt spid="71685"/>
                                        </p:tgtEl>
                                        <p:attrNameLst>
                                          <p:attrName>ppt_x</p:attrName>
                                        </p:attrNameLst>
                                      </p:cBhvr>
                                      <p:tavLst>
                                        <p:tav tm="0">
                                          <p:val>
                                            <p:strVal val="#ppt_x"/>
                                          </p:val>
                                        </p:tav>
                                        <p:tav tm="100000">
                                          <p:val>
                                            <p:strVal val="#ppt_x"/>
                                          </p:val>
                                        </p:tav>
                                      </p:tavLst>
                                    </p:anim>
                                    <p:anim calcmode="lin" valueType="num">
                                      <p:cBhvr additive="base">
                                        <p:cTn id="8" dur="500" fill="hold"/>
                                        <p:tgtEl>
                                          <p:spTgt spid="7168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686"/>
                                        </p:tgtEl>
                                        <p:attrNameLst>
                                          <p:attrName>style.visibility</p:attrName>
                                        </p:attrNameLst>
                                      </p:cBhvr>
                                      <p:to>
                                        <p:strVal val="visible"/>
                                      </p:to>
                                    </p:set>
                                    <p:anim calcmode="lin" valueType="num">
                                      <p:cBhvr additive="base">
                                        <p:cTn id="11" dur="500" fill="hold"/>
                                        <p:tgtEl>
                                          <p:spTgt spid="71686"/>
                                        </p:tgtEl>
                                        <p:attrNameLst>
                                          <p:attrName>ppt_x</p:attrName>
                                        </p:attrNameLst>
                                      </p:cBhvr>
                                      <p:tavLst>
                                        <p:tav tm="0">
                                          <p:val>
                                            <p:strVal val="#ppt_x"/>
                                          </p:val>
                                        </p:tav>
                                        <p:tav tm="100000">
                                          <p:val>
                                            <p:strVal val="#ppt_x"/>
                                          </p:val>
                                        </p:tav>
                                      </p:tavLst>
                                    </p:anim>
                                    <p:anim calcmode="lin" valueType="num">
                                      <p:cBhvr additive="base">
                                        <p:cTn id="12" dur="500" fill="hold"/>
                                        <p:tgtEl>
                                          <p:spTgt spid="7168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1687"/>
                                        </p:tgtEl>
                                        <p:attrNameLst>
                                          <p:attrName>style.visibility</p:attrName>
                                        </p:attrNameLst>
                                      </p:cBhvr>
                                      <p:to>
                                        <p:strVal val="visible"/>
                                      </p:to>
                                    </p:set>
                                    <p:anim calcmode="lin" valueType="num">
                                      <p:cBhvr additive="base">
                                        <p:cTn id="17" dur="500" fill="hold"/>
                                        <p:tgtEl>
                                          <p:spTgt spid="71687"/>
                                        </p:tgtEl>
                                        <p:attrNameLst>
                                          <p:attrName>ppt_x</p:attrName>
                                        </p:attrNameLst>
                                      </p:cBhvr>
                                      <p:tavLst>
                                        <p:tav tm="0">
                                          <p:val>
                                            <p:strVal val="#ppt_x"/>
                                          </p:val>
                                        </p:tav>
                                        <p:tav tm="100000">
                                          <p:val>
                                            <p:strVal val="#ppt_x"/>
                                          </p:val>
                                        </p:tav>
                                      </p:tavLst>
                                    </p:anim>
                                    <p:anim calcmode="lin" valueType="num">
                                      <p:cBhvr additive="base">
                                        <p:cTn id="18" dur="500" fill="hold"/>
                                        <p:tgtEl>
                                          <p:spTgt spid="7168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1688"/>
                                        </p:tgtEl>
                                        <p:attrNameLst>
                                          <p:attrName>style.visibility</p:attrName>
                                        </p:attrNameLst>
                                      </p:cBhvr>
                                      <p:to>
                                        <p:strVal val="visible"/>
                                      </p:to>
                                    </p:set>
                                    <p:anim calcmode="lin" valueType="num">
                                      <p:cBhvr additive="base">
                                        <p:cTn id="21" dur="500" fill="hold"/>
                                        <p:tgtEl>
                                          <p:spTgt spid="71688"/>
                                        </p:tgtEl>
                                        <p:attrNameLst>
                                          <p:attrName>ppt_x</p:attrName>
                                        </p:attrNameLst>
                                      </p:cBhvr>
                                      <p:tavLst>
                                        <p:tav tm="0">
                                          <p:val>
                                            <p:strVal val="#ppt_x"/>
                                          </p:val>
                                        </p:tav>
                                        <p:tav tm="100000">
                                          <p:val>
                                            <p:strVal val="#ppt_x"/>
                                          </p:val>
                                        </p:tav>
                                      </p:tavLst>
                                    </p:anim>
                                    <p:anim calcmode="lin" valueType="num">
                                      <p:cBhvr additive="base">
                                        <p:cTn id="22" dur="500" fill="hold"/>
                                        <p:tgtEl>
                                          <p:spTgt spid="7168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1000"/>
                                        <p:tgtEl>
                                          <p:spTgt spid="42"/>
                                        </p:tgtEl>
                                      </p:cBhvr>
                                    </p:animEffect>
                                    <p:anim calcmode="lin" valueType="num">
                                      <p:cBhvr>
                                        <p:cTn id="28" dur="1000" fill="hold"/>
                                        <p:tgtEl>
                                          <p:spTgt spid="42"/>
                                        </p:tgtEl>
                                        <p:attrNameLst>
                                          <p:attrName>ppt_x</p:attrName>
                                        </p:attrNameLst>
                                      </p:cBhvr>
                                      <p:tavLst>
                                        <p:tav tm="0">
                                          <p:val>
                                            <p:strVal val="#ppt_x"/>
                                          </p:val>
                                        </p:tav>
                                        <p:tav tm="100000">
                                          <p:val>
                                            <p:strVal val="#ppt_x"/>
                                          </p:val>
                                        </p:tav>
                                      </p:tavLst>
                                    </p:anim>
                                    <p:anim calcmode="lin" valueType="num">
                                      <p:cBhvr>
                                        <p:cTn id="29" dur="1000" fill="hold"/>
                                        <p:tgtEl>
                                          <p:spTgt spid="4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p:bldP spid="4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B70E658-CADF-4CDD-A107-77DE1FF08B7C}"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13</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07" name="Rectangle 3"/>
          <p:cNvSpPr>
            <a:spLocks noGrp="1" noChangeArrowheads="1"/>
          </p:cNvSpPr>
          <p:nvPr>
            <p:ph type="subTitle" idx="1"/>
          </p:nvPr>
        </p:nvSpPr>
        <p:spPr>
          <a:xfrm>
            <a:off x="0" y="476250"/>
            <a:ext cx="6400800" cy="519113"/>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algn="just" eaLnBrk="1" hangingPunct="1">
              <a:spcBef>
                <a:spcPct val="50000"/>
              </a:spcBef>
            </a:pPr>
            <a:r>
              <a:rPr lang="en-US" altLang="zh-CN" sz="28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  </a:t>
            </a:r>
            <a:r>
              <a:rPr lang="zh-CN" altLang="en-US" sz="28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简单电阻电路的计算</a:t>
            </a:r>
          </a:p>
        </p:txBody>
      </p:sp>
      <p:grpSp>
        <p:nvGrpSpPr>
          <p:cNvPr id="72708" name="Group 165"/>
          <p:cNvGrpSpPr>
            <a:grpSpLocks/>
          </p:cNvGrpSpPr>
          <p:nvPr/>
        </p:nvGrpSpPr>
        <p:grpSpPr bwMode="auto">
          <a:xfrm>
            <a:off x="5867400" y="1219200"/>
            <a:ext cx="2895600" cy="2122488"/>
            <a:chOff x="3696" y="768"/>
            <a:chExt cx="1824" cy="1337"/>
          </a:xfrm>
        </p:grpSpPr>
        <p:grpSp>
          <p:nvGrpSpPr>
            <p:cNvPr id="72737" name="Group 96"/>
            <p:cNvGrpSpPr>
              <a:grpSpLocks/>
            </p:cNvGrpSpPr>
            <p:nvPr/>
          </p:nvGrpSpPr>
          <p:grpSpPr bwMode="auto">
            <a:xfrm>
              <a:off x="3696" y="768"/>
              <a:ext cx="1440" cy="1337"/>
              <a:chOff x="1446" y="4769"/>
              <a:chExt cx="3598" cy="3344"/>
            </a:xfrm>
          </p:grpSpPr>
          <p:grpSp>
            <p:nvGrpSpPr>
              <p:cNvPr id="72755" name="Group 97"/>
              <p:cNvGrpSpPr>
                <a:grpSpLocks/>
              </p:cNvGrpSpPr>
              <p:nvPr/>
            </p:nvGrpSpPr>
            <p:grpSpPr bwMode="auto">
              <a:xfrm>
                <a:off x="4846" y="6430"/>
                <a:ext cx="187" cy="1639"/>
                <a:chOff x="743" y="567"/>
                <a:chExt cx="187" cy="1639"/>
              </a:xfrm>
            </p:grpSpPr>
            <p:sp>
              <p:nvSpPr>
                <p:cNvPr id="72777" name="Line 9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78" name="Rectangle 9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56" name="Group 100"/>
              <p:cNvGrpSpPr>
                <a:grpSpLocks/>
              </p:cNvGrpSpPr>
              <p:nvPr/>
            </p:nvGrpSpPr>
            <p:grpSpPr bwMode="auto">
              <a:xfrm>
                <a:off x="3273" y="6474"/>
                <a:ext cx="187" cy="1639"/>
                <a:chOff x="743" y="567"/>
                <a:chExt cx="187" cy="1639"/>
              </a:xfrm>
            </p:grpSpPr>
            <p:sp>
              <p:nvSpPr>
                <p:cNvPr id="72775" name="Line 10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76" name="Rectangle 10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57" name="Group 103"/>
              <p:cNvGrpSpPr>
                <a:grpSpLocks/>
              </p:cNvGrpSpPr>
              <p:nvPr/>
            </p:nvGrpSpPr>
            <p:grpSpPr bwMode="auto">
              <a:xfrm>
                <a:off x="4857" y="4813"/>
                <a:ext cx="187" cy="1639"/>
                <a:chOff x="743" y="567"/>
                <a:chExt cx="187" cy="1639"/>
              </a:xfrm>
            </p:grpSpPr>
            <p:sp>
              <p:nvSpPr>
                <p:cNvPr id="72773" name="Line 10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74" name="Rectangle 10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58" name="Group 106"/>
              <p:cNvGrpSpPr>
                <a:grpSpLocks/>
              </p:cNvGrpSpPr>
              <p:nvPr/>
            </p:nvGrpSpPr>
            <p:grpSpPr bwMode="auto">
              <a:xfrm>
                <a:off x="3273" y="4824"/>
                <a:ext cx="187" cy="1639"/>
                <a:chOff x="743" y="567"/>
                <a:chExt cx="187" cy="1639"/>
              </a:xfrm>
            </p:grpSpPr>
            <p:sp>
              <p:nvSpPr>
                <p:cNvPr id="72771" name="Line 10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72" name="Rectangle 10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2759" name="Line 109"/>
              <p:cNvSpPr>
                <a:spLocks noChangeShapeType="1"/>
              </p:cNvSpPr>
              <p:nvPr/>
            </p:nvSpPr>
            <p:spPr bwMode="auto">
              <a:xfrm>
                <a:off x="1678" y="4802"/>
                <a:ext cx="3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60" name="Line 110"/>
              <p:cNvSpPr>
                <a:spLocks noChangeShapeType="1"/>
              </p:cNvSpPr>
              <p:nvPr/>
            </p:nvSpPr>
            <p:spPr bwMode="auto">
              <a:xfrm>
                <a:off x="1711" y="8091"/>
                <a:ext cx="326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61" name="Line 111"/>
              <p:cNvSpPr>
                <a:spLocks noChangeShapeType="1"/>
              </p:cNvSpPr>
              <p:nvPr/>
            </p:nvSpPr>
            <p:spPr bwMode="auto">
              <a:xfrm>
                <a:off x="3361" y="6485"/>
                <a:ext cx="15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2762" name="Group 112"/>
              <p:cNvGrpSpPr>
                <a:grpSpLocks/>
              </p:cNvGrpSpPr>
              <p:nvPr/>
            </p:nvGrpSpPr>
            <p:grpSpPr bwMode="auto">
              <a:xfrm>
                <a:off x="1446" y="5704"/>
                <a:ext cx="694" cy="1650"/>
                <a:chOff x="4417" y="567"/>
                <a:chExt cx="693" cy="1650"/>
              </a:xfrm>
            </p:grpSpPr>
            <p:grpSp>
              <p:nvGrpSpPr>
                <p:cNvPr id="72764" name="Group 113"/>
                <p:cNvGrpSpPr>
                  <a:grpSpLocks/>
                </p:cNvGrpSpPr>
                <p:nvPr/>
              </p:nvGrpSpPr>
              <p:grpSpPr bwMode="auto">
                <a:xfrm>
                  <a:off x="4417" y="567"/>
                  <a:ext cx="550" cy="1650"/>
                  <a:chOff x="4417" y="567"/>
                  <a:chExt cx="550" cy="1650"/>
                </a:xfrm>
              </p:grpSpPr>
              <p:sp>
                <p:nvSpPr>
                  <p:cNvPr id="72769" name="Oval 114"/>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70" name="Line 115"/>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65" name="Group 116"/>
                <p:cNvGrpSpPr>
                  <a:grpSpLocks/>
                </p:cNvGrpSpPr>
                <p:nvPr/>
              </p:nvGrpSpPr>
              <p:grpSpPr bwMode="auto">
                <a:xfrm>
                  <a:off x="4956" y="853"/>
                  <a:ext cx="154" cy="979"/>
                  <a:chOff x="4956" y="853"/>
                  <a:chExt cx="154" cy="979"/>
                </a:xfrm>
              </p:grpSpPr>
              <p:sp>
                <p:nvSpPr>
                  <p:cNvPr id="72766" name="Line 117"/>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67" name="Line 118"/>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68" name="Line 119"/>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72763" name="Line 120"/>
              <p:cNvSpPr>
                <a:spLocks noChangeShapeType="1"/>
              </p:cNvSpPr>
              <p:nvPr/>
            </p:nvSpPr>
            <p:spPr bwMode="auto">
              <a:xfrm>
                <a:off x="1711" y="4769"/>
                <a:ext cx="0" cy="333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2738" name="Text Box 121"/>
            <p:cNvSpPr txBox="1">
              <a:spLocks noChangeArrowheads="1"/>
            </p:cNvSpPr>
            <p:nvPr/>
          </p:nvSpPr>
          <p:spPr bwMode="auto">
            <a:xfrm>
              <a:off x="3888" y="1351"/>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18V</a:t>
              </a:r>
            </a:p>
          </p:txBody>
        </p:sp>
        <p:sp>
          <p:nvSpPr>
            <p:cNvPr id="72739" name="Text Box 122"/>
            <p:cNvSpPr txBox="1">
              <a:spLocks noChangeArrowheads="1"/>
            </p:cNvSpPr>
            <p:nvPr/>
          </p:nvSpPr>
          <p:spPr bwMode="auto">
            <a:xfrm>
              <a:off x="4704" y="101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8Ω</a:t>
              </a:r>
            </a:p>
          </p:txBody>
        </p:sp>
        <p:sp>
          <p:nvSpPr>
            <p:cNvPr id="72740" name="Text Box 123"/>
            <p:cNvSpPr txBox="1">
              <a:spLocks noChangeArrowheads="1"/>
            </p:cNvSpPr>
            <p:nvPr/>
          </p:nvSpPr>
          <p:spPr bwMode="auto">
            <a:xfrm>
              <a:off x="4080" y="101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8Ω</a:t>
              </a:r>
            </a:p>
          </p:txBody>
        </p:sp>
        <p:sp>
          <p:nvSpPr>
            <p:cNvPr id="72741" name="Text Box 124"/>
            <p:cNvSpPr txBox="1">
              <a:spLocks noChangeArrowheads="1"/>
            </p:cNvSpPr>
            <p:nvPr/>
          </p:nvSpPr>
          <p:spPr bwMode="auto">
            <a:xfrm>
              <a:off x="4704" y="1639"/>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6Ω</a:t>
              </a:r>
            </a:p>
          </p:txBody>
        </p:sp>
        <p:sp>
          <p:nvSpPr>
            <p:cNvPr id="72742" name="Text Box 125"/>
            <p:cNvSpPr txBox="1">
              <a:spLocks noChangeArrowheads="1"/>
            </p:cNvSpPr>
            <p:nvPr/>
          </p:nvSpPr>
          <p:spPr bwMode="auto">
            <a:xfrm>
              <a:off x="4080" y="1687"/>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3Ω</a:t>
              </a:r>
            </a:p>
          </p:txBody>
        </p:sp>
        <p:sp>
          <p:nvSpPr>
            <p:cNvPr id="72743" name="Line 126"/>
            <p:cNvSpPr>
              <a:spLocks noChangeShapeType="1"/>
            </p:cNvSpPr>
            <p:nvPr/>
          </p:nvSpPr>
          <p:spPr bwMode="auto">
            <a:xfrm rot="16200000" flipH="1">
              <a:off x="4776" y="1375"/>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4" name="Line 127"/>
            <p:cNvSpPr>
              <a:spLocks noChangeShapeType="1"/>
            </p:cNvSpPr>
            <p:nvPr/>
          </p:nvSpPr>
          <p:spPr bwMode="auto">
            <a:xfrm rot="16200000" flipH="1">
              <a:off x="4056" y="70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5" name="Line 128"/>
            <p:cNvSpPr>
              <a:spLocks noChangeShapeType="1"/>
            </p:cNvSpPr>
            <p:nvPr/>
          </p:nvSpPr>
          <p:spPr bwMode="auto">
            <a:xfrm>
              <a:off x="5088" y="1495"/>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6" name="Line 129"/>
            <p:cNvSpPr>
              <a:spLocks noChangeShapeType="1"/>
            </p:cNvSpPr>
            <p:nvPr/>
          </p:nvSpPr>
          <p:spPr bwMode="auto">
            <a:xfrm>
              <a:off x="4464" y="1927"/>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7" name="Line 130"/>
            <p:cNvSpPr>
              <a:spLocks noChangeShapeType="1"/>
            </p:cNvSpPr>
            <p:nvPr/>
          </p:nvSpPr>
          <p:spPr bwMode="auto">
            <a:xfrm>
              <a:off x="5088" y="82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8" name="Line 131"/>
            <p:cNvSpPr>
              <a:spLocks noChangeShapeType="1"/>
            </p:cNvSpPr>
            <p:nvPr/>
          </p:nvSpPr>
          <p:spPr bwMode="auto">
            <a:xfrm>
              <a:off x="4464" y="82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49" name="Text Box 132"/>
            <p:cNvSpPr txBox="1">
              <a:spLocks noChangeArrowheads="1"/>
            </p:cNvSpPr>
            <p:nvPr/>
          </p:nvSpPr>
          <p:spPr bwMode="auto">
            <a:xfrm>
              <a:off x="4560" y="1447"/>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72750" name="Text Box 133"/>
            <p:cNvSpPr txBox="1">
              <a:spLocks noChangeArrowheads="1"/>
            </p:cNvSpPr>
            <p:nvPr/>
          </p:nvSpPr>
          <p:spPr bwMode="auto">
            <a:xfrm>
              <a:off x="5136" y="1447"/>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72751" name="Text Box 134"/>
            <p:cNvSpPr txBox="1">
              <a:spLocks noChangeArrowheads="1"/>
            </p:cNvSpPr>
            <p:nvPr/>
          </p:nvSpPr>
          <p:spPr bwMode="auto">
            <a:xfrm>
              <a:off x="4512" y="1783"/>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72752" name="Text Box 135"/>
            <p:cNvSpPr txBox="1">
              <a:spLocks noChangeArrowheads="1"/>
            </p:cNvSpPr>
            <p:nvPr/>
          </p:nvSpPr>
          <p:spPr bwMode="auto">
            <a:xfrm>
              <a:off x="5136"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72753" name="Text Box 136"/>
            <p:cNvSpPr txBox="1">
              <a:spLocks noChangeArrowheads="1"/>
            </p:cNvSpPr>
            <p:nvPr/>
          </p:nvSpPr>
          <p:spPr bwMode="auto">
            <a:xfrm>
              <a:off x="4512"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72754" name="Text Box 137"/>
            <p:cNvSpPr txBox="1">
              <a:spLocks noChangeArrowheads="1"/>
            </p:cNvSpPr>
            <p:nvPr/>
          </p:nvSpPr>
          <p:spPr bwMode="auto">
            <a:xfrm>
              <a:off x="3888"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2709" name="Text Box 139"/>
          <p:cNvSpPr txBox="1">
            <a:spLocks noChangeArrowheads="1"/>
          </p:cNvSpPr>
          <p:nvPr/>
        </p:nvSpPr>
        <p:spPr bwMode="auto">
          <a:xfrm>
            <a:off x="533400" y="12192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计算</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图中各支路电流。</a:t>
            </a:r>
          </a:p>
        </p:txBody>
      </p:sp>
      <p:sp>
        <p:nvSpPr>
          <p:cNvPr id="72710" name="Text Box 140"/>
          <p:cNvSpPr txBox="1">
            <a:spLocks noChangeArrowheads="1"/>
          </p:cNvSpPr>
          <p:nvPr/>
        </p:nvSpPr>
        <p:spPr bwMode="auto">
          <a:xfrm>
            <a:off x="609600" y="1752600"/>
            <a:ext cx="48990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解：将原图等效变换为下图，两个等效电阻分别为</a:t>
            </a:r>
          </a:p>
        </p:txBody>
      </p:sp>
      <p:grpSp>
        <p:nvGrpSpPr>
          <p:cNvPr id="72711" name="Group 141"/>
          <p:cNvGrpSpPr>
            <a:grpSpLocks/>
          </p:cNvGrpSpPr>
          <p:nvPr/>
        </p:nvGrpSpPr>
        <p:grpSpPr bwMode="auto">
          <a:xfrm>
            <a:off x="6096000" y="3886200"/>
            <a:ext cx="1697038" cy="2122488"/>
            <a:chOff x="1260" y="3449"/>
            <a:chExt cx="2673" cy="3344"/>
          </a:xfrm>
        </p:grpSpPr>
        <p:grpSp>
          <p:nvGrpSpPr>
            <p:cNvPr id="72720" name="Group 142"/>
            <p:cNvGrpSpPr>
              <a:grpSpLocks/>
            </p:cNvGrpSpPr>
            <p:nvPr/>
          </p:nvGrpSpPr>
          <p:grpSpPr bwMode="auto">
            <a:xfrm>
              <a:off x="3735" y="5154"/>
              <a:ext cx="187" cy="1639"/>
              <a:chOff x="743" y="567"/>
              <a:chExt cx="187" cy="1639"/>
            </a:xfrm>
          </p:grpSpPr>
          <p:sp>
            <p:nvSpPr>
              <p:cNvPr id="72735" name="Line 14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36" name="Rectangle 14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21" name="Group 145"/>
            <p:cNvGrpSpPr>
              <a:grpSpLocks/>
            </p:cNvGrpSpPr>
            <p:nvPr/>
          </p:nvGrpSpPr>
          <p:grpSpPr bwMode="auto">
            <a:xfrm>
              <a:off x="3746" y="3504"/>
              <a:ext cx="187" cy="1639"/>
              <a:chOff x="743" y="567"/>
              <a:chExt cx="187" cy="1639"/>
            </a:xfrm>
          </p:grpSpPr>
          <p:sp>
            <p:nvSpPr>
              <p:cNvPr id="72733" name="Line 14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34" name="Rectangle 14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2722" name="Line 148"/>
            <p:cNvSpPr>
              <a:spLocks noChangeShapeType="1"/>
            </p:cNvSpPr>
            <p:nvPr/>
          </p:nvSpPr>
          <p:spPr bwMode="auto">
            <a:xfrm>
              <a:off x="1492" y="3482"/>
              <a:ext cx="234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23" name="Line 149"/>
            <p:cNvSpPr>
              <a:spLocks noChangeShapeType="1"/>
            </p:cNvSpPr>
            <p:nvPr/>
          </p:nvSpPr>
          <p:spPr bwMode="auto">
            <a:xfrm flipV="1">
              <a:off x="1568" y="6771"/>
              <a:ext cx="2277" cy="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2724" name="Group 150"/>
            <p:cNvGrpSpPr>
              <a:grpSpLocks/>
            </p:cNvGrpSpPr>
            <p:nvPr/>
          </p:nvGrpSpPr>
          <p:grpSpPr bwMode="auto">
            <a:xfrm>
              <a:off x="1260" y="4384"/>
              <a:ext cx="694" cy="1650"/>
              <a:chOff x="4417" y="567"/>
              <a:chExt cx="693" cy="1650"/>
            </a:xfrm>
          </p:grpSpPr>
          <p:grpSp>
            <p:nvGrpSpPr>
              <p:cNvPr id="72726" name="Group 151"/>
              <p:cNvGrpSpPr>
                <a:grpSpLocks/>
              </p:cNvGrpSpPr>
              <p:nvPr/>
            </p:nvGrpSpPr>
            <p:grpSpPr bwMode="auto">
              <a:xfrm>
                <a:off x="4417" y="567"/>
                <a:ext cx="550" cy="1650"/>
                <a:chOff x="4417" y="567"/>
                <a:chExt cx="550" cy="1650"/>
              </a:xfrm>
            </p:grpSpPr>
            <p:sp>
              <p:nvSpPr>
                <p:cNvPr id="72731" name="Oval 152"/>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32" name="Line 153"/>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2727" name="Group 154"/>
              <p:cNvGrpSpPr>
                <a:grpSpLocks/>
              </p:cNvGrpSpPr>
              <p:nvPr/>
            </p:nvGrpSpPr>
            <p:grpSpPr bwMode="auto">
              <a:xfrm>
                <a:off x="4956" y="853"/>
                <a:ext cx="154" cy="979"/>
                <a:chOff x="4956" y="853"/>
                <a:chExt cx="154" cy="979"/>
              </a:xfrm>
            </p:grpSpPr>
            <p:sp>
              <p:nvSpPr>
                <p:cNvPr id="72728" name="Line 155"/>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29" name="Line 156"/>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30" name="Line 157"/>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72725" name="Line 158"/>
            <p:cNvSpPr>
              <a:spLocks noChangeShapeType="1"/>
            </p:cNvSpPr>
            <p:nvPr/>
          </p:nvSpPr>
          <p:spPr bwMode="auto">
            <a:xfrm>
              <a:off x="1525" y="3449"/>
              <a:ext cx="0" cy="333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2712" name="Line 160"/>
          <p:cNvSpPr>
            <a:spLocks noChangeShapeType="1"/>
          </p:cNvSpPr>
          <p:nvPr/>
        </p:nvSpPr>
        <p:spPr bwMode="auto">
          <a:xfrm>
            <a:off x="6858000" y="3886200"/>
            <a:ext cx="228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13" name="Text Box 161"/>
          <p:cNvSpPr txBox="1">
            <a:spLocks noChangeArrowheads="1"/>
          </p:cNvSpPr>
          <p:nvPr/>
        </p:nvSpPr>
        <p:spPr bwMode="auto">
          <a:xfrm>
            <a:off x="6400800" y="4724400"/>
            <a:ext cx="76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18V</a:t>
            </a:r>
          </a:p>
        </p:txBody>
      </p:sp>
      <p:sp>
        <p:nvSpPr>
          <p:cNvPr id="72714" name="Text Box 162"/>
          <p:cNvSpPr txBox="1">
            <a:spLocks noChangeArrowheads="1"/>
          </p:cNvSpPr>
          <p:nvPr/>
        </p:nvSpPr>
        <p:spPr bwMode="auto">
          <a:xfrm>
            <a:off x="6629400" y="3886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2715" name="Text Box 163"/>
          <p:cNvSpPr txBox="1">
            <a:spLocks noChangeArrowheads="1"/>
          </p:cNvSpPr>
          <p:nvPr/>
        </p:nvSpPr>
        <p:spPr bwMode="auto">
          <a:xfrm>
            <a:off x="7086600" y="41910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4Ω</a:t>
            </a:r>
          </a:p>
        </p:txBody>
      </p:sp>
      <p:sp>
        <p:nvSpPr>
          <p:cNvPr id="72716" name="Text Box 164"/>
          <p:cNvSpPr txBox="1">
            <a:spLocks noChangeArrowheads="1"/>
          </p:cNvSpPr>
          <p:nvPr/>
        </p:nvSpPr>
        <p:spPr bwMode="auto">
          <a:xfrm>
            <a:off x="7086600" y="5257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2Ω</a:t>
            </a:r>
          </a:p>
        </p:txBody>
      </p:sp>
      <p:graphicFrame>
        <p:nvGraphicFramePr>
          <p:cNvPr id="72717" name="Object 166"/>
          <p:cNvGraphicFramePr>
            <a:graphicFrameLocks noChangeAspect="1"/>
          </p:cNvGraphicFramePr>
          <p:nvPr>
            <p:extLst>
              <p:ext uri="{D42A27DB-BD31-4B8C-83A1-F6EECF244321}">
                <p14:modId xmlns:p14="http://schemas.microsoft.com/office/powerpoint/2010/main" val="4192529557"/>
              </p:ext>
            </p:extLst>
          </p:nvPr>
        </p:nvGraphicFramePr>
        <p:xfrm>
          <a:off x="1714500" y="2667000"/>
          <a:ext cx="1866900" cy="1809750"/>
        </p:xfrm>
        <a:graphic>
          <a:graphicData uri="http://schemas.openxmlformats.org/presentationml/2006/ole">
            <mc:AlternateContent xmlns:mc="http://schemas.openxmlformats.org/markup-compatibility/2006">
              <mc:Choice xmlns:v="urn:schemas-microsoft-com:vml" Requires="v">
                <p:oleObj spid="_x0000_s72831" name="Equation" r:id="rId3" imgW="837836" imgH="812447" progId="Equation.3">
                  <p:embed/>
                </p:oleObj>
              </mc:Choice>
              <mc:Fallback>
                <p:oleObj name="Equation" r:id="rId3" imgW="837836" imgH="812447" progId="Equation.3">
                  <p:embed/>
                  <p:pic>
                    <p:nvPicPr>
                      <p:cNvPr id="0" name="Object 1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2667000"/>
                        <a:ext cx="1866900" cy="180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8" name="Text Box 167"/>
          <p:cNvSpPr txBox="1">
            <a:spLocks noChangeArrowheads="1"/>
          </p:cNvSpPr>
          <p:nvPr/>
        </p:nvSpPr>
        <p:spPr bwMode="auto">
          <a:xfrm>
            <a:off x="609600" y="4572000"/>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由下图可以求得电流</a:t>
            </a:r>
          </a:p>
        </p:txBody>
      </p:sp>
      <p:graphicFrame>
        <p:nvGraphicFramePr>
          <p:cNvPr id="72719" name="Object 168"/>
          <p:cNvGraphicFramePr>
            <a:graphicFrameLocks noChangeAspect="1"/>
          </p:cNvGraphicFramePr>
          <p:nvPr>
            <p:extLst>
              <p:ext uri="{D42A27DB-BD31-4B8C-83A1-F6EECF244321}">
                <p14:modId xmlns:p14="http://schemas.microsoft.com/office/powerpoint/2010/main" val="4205710089"/>
              </p:ext>
            </p:extLst>
          </p:nvPr>
        </p:nvGraphicFramePr>
        <p:xfrm>
          <a:off x="1752600" y="5100638"/>
          <a:ext cx="2286000" cy="842962"/>
        </p:xfrm>
        <a:graphic>
          <a:graphicData uri="http://schemas.openxmlformats.org/presentationml/2006/ole">
            <mc:AlternateContent xmlns:mc="http://schemas.openxmlformats.org/markup-compatibility/2006">
              <mc:Choice xmlns:v="urn:schemas-microsoft-com:vml" Requires="v">
                <p:oleObj spid="_x0000_s72832" name="Equation" r:id="rId5" imgW="1066337" imgH="393529" progId="Equation.3">
                  <p:embed/>
                </p:oleObj>
              </mc:Choice>
              <mc:Fallback>
                <p:oleObj name="Equation" r:id="rId5" imgW="1066337" imgH="393529" progId="Equation.3">
                  <p:embed/>
                  <p:pic>
                    <p:nvPicPr>
                      <p:cNvPr id="0" name="Object 16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5100638"/>
                        <a:ext cx="2286000"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19"/>
                                        </p:tgtEl>
                                        <p:attrNameLst>
                                          <p:attrName>style.visibility</p:attrName>
                                        </p:attrNameLst>
                                      </p:cBhvr>
                                      <p:to>
                                        <p:strVal val="visible"/>
                                      </p:to>
                                    </p:set>
                                    <p:anim calcmode="lin" valueType="num">
                                      <p:cBhvr additive="base">
                                        <p:cTn id="7" dur="500" fill="hold"/>
                                        <p:tgtEl>
                                          <p:spTgt spid="72719"/>
                                        </p:tgtEl>
                                        <p:attrNameLst>
                                          <p:attrName>ppt_x</p:attrName>
                                        </p:attrNameLst>
                                      </p:cBhvr>
                                      <p:tavLst>
                                        <p:tav tm="0">
                                          <p:val>
                                            <p:strVal val="#ppt_x"/>
                                          </p:val>
                                        </p:tav>
                                        <p:tav tm="100000">
                                          <p:val>
                                            <p:strVal val="#ppt_x"/>
                                          </p:val>
                                        </p:tav>
                                      </p:tavLst>
                                    </p:anim>
                                    <p:anim calcmode="lin" valueType="num">
                                      <p:cBhvr additive="base">
                                        <p:cTn id="8" dur="500" fill="hold"/>
                                        <p:tgtEl>
                                          <p:spTgt spid="727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306412-CBCB-47A4-B591-9835DC0105F0}"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14</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3731" name="Group 3"/>
          <p:cNvGrpSpPr>
            <a:grpSpLocks/>
          </p:cNvGrpSpPr>
          <p:nvPr/>
        </p:nvGrpSpPr>
        <p:grpSpPr bwMode="auto">
          <a:xfrm>
            <a:off x="5867400" y="1219200"/>
            <a:ext cx="2895600" cy="2122488"/>
            <a:chOff x="3696" y="768"/>
            <a:chExt cx="1824" cy="1337"/>
          </a:xfrm>
        </p:grpSpPr>
        <p:grpSp>
          <p:nvGrpSpPr>
            <p:cNvPr id="73762" name="Group 4"/>
            <p:cNvGrpSpPr>
              <a:grpSpLocks/>
            </p:cNvGrpSpPr>
            <p:nvPr/>
          </p:nvGrpSpPr>
          <p:grpSpPr bwMode="auto">
            <a:xfrm>
              <a:off x="3696" y="768"/>
              <a:ext cx="1440" cy="1337"/>
              <a:chOff x="1446" y="4769"/>
              <a:chExt cx="3598" cy="3344"/>
            </a:xfrm>
          </p:grpSpPr>
          <p:grpSp>
            <p:nvGrpSpPr>
              <p:cNvPr id="73780" name="Group 5"/>
              <p:cNvGrpSpPr>
                <a:grpSpLocks/>
              </p:cNvGrpSpPr>
              <p:nvPr/>
            </p:nvGrpSpPr>
            <p:grpSpPr bwMode="auto">
              <a:xfrm>
                <a:off x="4846" y="6430"/>
                <a:ext cx="187" cy="1639"/>
                <a:chOff x="743" y="567"/>
                <a:chExt cx="187" cy="1639"/>
              </a:xfrm>
            </p:grpSpPr>
            <p:sp>
              <p:nvSpPr>
                <p:cNvPr id="73802" name="Line 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803" name="Rectangle 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81" name="Group 8"/>
              <p:cNvGrpSpPr>
                <a:grpSpLocks/>
              </p:cNvGrpSpPr>
              <p:nvPr/>
            </p:nvGrpSpPr>
            <p:grpSpPr bwMode="auto">
              <a:xfrm>
                <a:off x="3273" y="6474"/>
                <a:ext cx="187" cy="1639"/>
                <a:chOff x="743" y="567"/>
                <a:chExt cx="187" cy="1639"/>
              </a:xfrm>
            </p:grpSpPr>
            <p:sp>
              <p:nvSpPr>
                <p:cNvPr id="73800" name="Line 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801" name="Rectangle 1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82" name="Group 11"/>
              <p:cNvGrpSpPr>
                <a:grpSpLocks/>
              </p:cNvGrpSpPr>
              <p:nvPr/>
            </p:nvGrpSpPr>
            <p:grpSpPr bwMode="auto">
              <a:xfrm>
                <a:off x="4857" y="4813"/>
                <a:ext cx="187" cy="1639"/>
                <a:chOff x="743" y="567"/>
                <a:chExt cx="187" cy="1639"/>
              </a:xfrm>
            </p:grpSpPr>
            <p:sp>
              <p:nvSpPr>
                <p:cNvPr id="73798" name="Line 1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99" name="Rectangle 1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83" name="Group 14"/>
              <p:cNvGrpSpPr>
                <a:grpSpLocks/>
              </p:cNvGrpSpPr>
              <p:nvPr/>
            </p:nvGrpSpPr>
            <p:grpSpPr bwMode="auto">
              <a:xfrm>
                <a:off x="3273" y="4824"/>
                <a:ext cx="187" cy="1639"/>
                <a:chOff x="743" y="567"/>
                <a:chExt cx="187" cy="1639"/>
              </a:xfrm>
            </p:grpSpPr>
            <p:sp>
              <p:nvSpPr>
                <p:cNvPr id="73796" name="Line 1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97" name="Rectangle 1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3784" name="Line 17"/>
              <p:cNvSpPr>
                <a:spLocks noChangeShapeType="1"/>
              </p:cNvSpPr>
              <p:nvPr/>
            </p:nvSpPr>
            <p:spPr bwMode="auto">
              <a:xfrm>
                <a:off x="1678" y="4802"/>
                <a:ext cx="33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85" name="Line 18"/>
              <p:cNvSpPr>
                <a:spLocks noChangeShapeType="1"/>
              </p:cNvSpPr>
              <p:nvPr/>
            </p:nvSpPr>
            <p:spPr bwMode="auto">
              <a:xfrm>
                <a:off x="1711" y="8091"/>
                <a:ext cx="326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86" name="Line 19"/>
              <p:cNvSpPr>
                <a:spLocks noChangeShapeType="1"/>
              </p:cNvSpPr>
              <p:nvPr/>
            </p:nvSpPr>
            <p:spPr bwMode="auto">
              <a:xfrm>
                <a:off x="3361" y="6485"/>
                <a:ext cx="15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3787" name="Group 20"/>
              <p:cNvGrpSpPr>
                <a:grpSpLocks/>
              </p:cNvGrpSpPr>
              <p:nvPr/>
            </p:nvGrpSpPr>
            <p:grpSpPr bwMode="auto">
              <a:xfrm>
                <a:off x="1446" y="5704"/>
                <a:ext cx="694" cy="1650"/>
                <a:chOff x="4417" y="567"/>
                <a:chExt cx="693" cy="1650"/>
              </a:xfrm>
            </p:grpSpPr>
            <p:grpSp>
              <p:nvGrpSpPr>
                <p:cNvPr id="73789" name="Group 21"/>
                <p:cNvGrpSpPr>
                  <a:grpSpLocks/>
                </p:cNvGrpSpPr>
                <p:nvPr/>
              </p:nvGrpSpPr>
              <p:grpSpPr bwMode="auto">
                <a:xfrm>
                  <a:off x="4417" y="567"/>
                  <a:ext cx="550" cy="1650"/>
                  <a:chOff x="4417" y="567"/>
                  <a:chExt cx="550" cy="1650"/>
                </a:xfrm>
              </p:grpSpPr>
              <p:sp>
                <p:nvSpPr>
                  <p:cNvPr id="73794" name="Oval 22"/>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95" name="Line 23"/>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90" name="Group 24"/>
                <p:cNvGrpSpPr>
                  <a:grpSpLocks/>
                </p:cNvGrpSpPr>
                <p:nvPr/>
              </p:nvGrpSpPr>
              <p:grpSpPr bwMode="auto">
                <a:xfrm>
                  <a:off x="4956" y="853"/>
                  <a:ext cx="154" cy="979"/>
                  <a:chOff x="4956" y="853"/>
                  <a:chExt cx="154" cy="979"/>
                </a:xfrm>
              </p:grpSpPr>
              <p:sp>
                <p:nvSpPr>
                  <p:cNvPr id="73791" name="Line 25"/>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92" name="Line 26"/>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93" name="Line 27"/>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73788" name="Line 28"/>
              <p:cNvSpPr>
                <a:spLocks noChangeShapeType="1"/>
              </p:cNvSpPr>
              <p:nvPr/>
            </p:nvSpPr>
            <p:spPr bwMode="auto">
              <a:xfrm>
                <a:off x="1711" y="4769"/>
                <a:ext cx="0" cy="333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3763" name="Text Box 29"/>
            <p:cNvSpPr txBox="1">
              <a:spLocks noChangeArrowheads="1"/>
            </p:cNvSpPr>
            <p:nvPr/>
          </p:nvSpPr>
          <p:spPr bwMode="auto">
            <a:xfrm>
              <a:off x="3888" y="1351"/>
              <a:ext cx="48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18V</a:t>
              </a:r>
            </a:p>
          </p:txBody>
        </p:sp>
        <p:sp>
          <p:nvSpPr>
            <p:cNvPr id="73764" name="Text Box 30"/>
            <p:cNvSpPr txBox="1">
              <a:spLocks noChangeArrowheads="1"/>
            </p:cNvSpPr>
            <p:nvPr/>
          </p:nvSpPr>
          <p:spPr bwMode="auto">
            <a:xfrm>
              <a:off x="4704" y="101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8Ω</a:t>
              </a:r>
            </a:p>
          </p:txBody>
        </p:sp>
        <p:sp>
          <p:nvSpPr>
            <p:cNvPr id="73765" name="Text Box 31"/>
            <p:cNvSpPr txBox="1">
              <a:spLocks noChangeArrowheads="1"/>
            </p:cNvSpPr>
            <p:nvPr/>
          </p:nvSpPr>
          <p:spPr bwMode="auto">
            <a:xfrm>
              <a:off x="4080" y="101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8Ω</a:t>
              </a:r>
            </a:p>
          </p:txBody>
        </p:sp>
        <p:sp>
          <p:nvSpPr>
            <p:cNvPr id="73766" name="Text Box 32"/>
            <p:cNvSpPr txBox="1">
              <a:spLocks noChangeArrowheads="1"/>
            </p:cNvSpPr>
            <p:nvPr/>
          </p:nvSpPr>
          <p:spPr bwMode="auto">
            <a:xfrm>
              <a:off x="4704" y="1639"/>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6Ω</a:t>
              </a:r>
            </a:p>
          </p:txBody>
        </p:sp>
        <p:sp>
          <p:nvSpPr>
            <p:cNvPr id="73767" name="Text Box 33"/>
            <p:cNvSpPr txBox="1">
              <a:spLocks noChangeArrowheads="1"/>
            </p:cNvSpPr>
            <p:nvPr/>
          </p:nvSpPr>
          <p:spPr bwMode="auto">
            <a:xfrm>
              <a:off x="4080" y="1687"/>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3Ω</a:t>
              </a:r>
            </a:p>
          </p:txBody>
        </p:sp>
        <p:sp>
          <p:nvSpPr>
            <p:cNvPr id="73768" name="Line 34"/>
            <p:cNvSpPr>
              <a:spLocks noChangeShapeType="1"/>
            </p:cNvSpPr>
            <p:nvPr/>
          </p:nvSpPr>
          <p:spPr bwMode="auto">
            <a:xfrm rot="16200000" flipH="1">
              <a:off x="4776" y="1375"/>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69" name="Line 35"/>
            <p:cNvSpPr>
              <a:spLocks noChangeShapeType="1"/>
            </p:cNvSpPr>
            <p:nvPr/>
          </p:nvSpPr>
          <p:spPr bwMode="auto">
            <a:xfrm rot="16200000" flipH="1">
              <a:off x="4056" y="70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70" name="Line 36"/>
            <p:cNvSpPr>
              <a:spLocks noChangeShapeType="1"/>
            </p:cNvSpPr>
            <p:nvPr/>
          </p:nvSpPr>
          <p:spPr bwMode="auto">
            <a:xfrm>
              <a:off x="5088" y="1495"/>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71" name="Line 37"/>
            <p:cNvSpPr>
              <a:spLocks noChangeShapeType="1"/>
            </p:cNvSpPr>
            <p:nvPr/>
          </p:nvSpPr>
          <p:spPr bwMode="auto">
            <a:xfrm>
              <a:off x="4464" y="1927"/>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72" name="Line 38"/>
            <p:cNvSpPr>
              <a:spLocks noChangeShapeType="1"/>
            </p:cNvSpPr>
            <p:nvPr/>
          </p:nvSpPr>
          <p:spPr bwMode="auto">
            <a:xfrm>
              <a:off x="5088" y="82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73" name="Line 39"/>
            <p:cNvSpPr>
              <a:spLocks noChangeShapeType="1"/>
            </p:cNvSpPr>
            <p:nvPr/>
          </p:nvSpPr>
          <p:spPr bwMode="auto">
            <a:xfrm>
              <a:off x="4464" y="823"/>
              <a:ext cx="0" cy="144"/>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74" name="Text Box 40"/>
            <p:cNvSpPr txBox="1">
              <a:spLocks noChangeArrowheads="1"/>
            </p:cNvSpPr>
            <p:nvPr/>
          </p:nvSpPr>
          <p:spPr bwMode="auto">
            <a:xfrm>
              <a:off x="4560" y="1447"/>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73775" name="Text Box 41"/>
            <p:cNvSpPr txBox="1">
              <a:spLocks noChangeArrowheads="1"/>
            </p:cNvSpPr>
            <p:nvPr/>
          </p:nvSpPr>
          <p:spPr bwMode="auto">
            <a:xfrm>
              <a:off x="5136" y="1447"/>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73776" name="Text Box 42"/>
            <p:cNvSpPr txBox="1">
              <a:spLocks noChangeArrowheads="1"/>
            </p:cNvSpPr>
            <p:nvPr/>
          </p:nvSpPr>
          <p:spPr bwMode="auto">
            <a:xfrm>
              <a:off x="4512" y="1783"/>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73777" name="Text Box 43"/>
            <p:cNvSpPr txBox="1">
              <a:spLocks noChangeArrowheads="1"/>
            </p:cNvSpPr>
            <p:nvPr/>
          </p:nvSpPr>
          <p:spPr bwMode="auto">
            <a:xfrm>
              <a:off x="5136"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73778" name="Text Box 44"/>
            <p:cNvSpPr txBox="1">
              <a:spLocks noChangeArrowheads="1"/>
            </p:cNvSpPr>
            <p:nvPr/>
          </p:nvSpPr>
          <p:spPr bwMode="auto">
            <a:xfrm>
              <a:off x="4512"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73779" name="Text Box 45"/>
            <p:cNvSpPr txBox="1">
              <a:spLocks noChangeArrowheads="1"/>
            </p:cNvSpPr>
            <p:nvPr/>
          </p:nvSpPr>
          <p:spPr bwMode="auto">
            <a:xfrm>
              <a:off x="3888" y="775"/>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32" name="Group 48"/>
          <p:cNvGrpSpPr>
            <a:grpSpLocks/>
          </p:cNvGrpSpPr>
          <p:nvPr/>
        </p:nvGrpSpPr>
        <p:grpSpPr bwMode="auto">
          <a:xfrm>
            <a:off x="6096000" y="3886200"/>
            <a:ext cx="1697038" cy="2122488"/>
            <a:chOff x="1260" y="3449"/>
            <a:chExt cx="2673" cy="3344"/>
          </a:xfrm>
        </p:grpSpPr>
        <p:grpSp>
          <p:nvGrpSpPr>
            <p:cNvPr id="73745" name="Group 49"/>
            <p:cNvGrpSpPr>
              <a:grpSpLocks/>
            </p:cNvGrpSpPr>
            <p:nvPr/>
          </p:nvGrpSpPr>
          <p:grpSpPr bwMode="auto">
            <a:xfrm>
              <a:off x="3735" y="5154"/>
              <a:ext cx="187" cy="1639"/>
              <a:chOff x="743" y="567"/>
              <a:chExt cx="187" cy="1639"/>
            </a:xfrm>
          </p:grpSpPr>
          <p:sp>
            <p:nvSpPr>
              <p:cNvPr id="73760" name="Line 5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61" name="Rectangle 5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46" name="Group 52"/>
            <p:cNvGrpSpPr>
              <a:grpSpLocks/>
            </p:cNvGrpSpPr>
            <p:nvPr/>
          </p:nvGrpSpPr>
          <p:grpSpPr bwMode="auto">
            <a:xfrm>
              <a:off x="3746" y="3504"/>
              <a:ext cx="187" cy="1639"/>
              <a:chOff x="743" y="567"/>
              <a:chExt cx="187" cy="1639"/>
            </a:xfrm>
          </p:grpSpPr>
          <p:sp>
            <p:nvSpPr>
              <p:cNvPr id="73758" name="Line 5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59" name="Rectangle 5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3747" name="Line 55"/>
            <p:cNvSpPr>
              <a:spLocks noChangeShapeType="1"/>
            </p:cNvSpPr>
            <p:nvPr/>
          </p:nvSpPr>
          <p:spPr bwMode="auto">
            <a:xfrm>
              <a:off x="1492" y="3482"/>
              <a:ext cx="234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48" name="Line 56"/>
            <p:cNvSpPr>
              <a:spLocks noChangeShapeType="1"/>
            </p:cNvSpPr>
            <p:nvPr/>
          </p:nvSpPr>
          <p:spPr bwMode="auto">
            <a:xfrm flipV="1">
              <a:off x="1568" y="6771"/>
              <a:ext cx="2277" cy="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73749" name="Group 57"/>
            <p:cNvGrpSpPr>
              <a:grpSpLocks/>
            </p:cNvGrpSpPr>
            <p:nvPr/>
          </p:nvGrpSpPr>
          <p:grpSpPr bwMode="auto">
            <a:xfrm>
              <a:off x="1260" y="4384"/>
              <a:ext cx="694" cy="1650"/>
              <a:chOff x="4417" y="567"/>
              <a:chExt cx="693" cy="1650"/>
            </a:xfrm>
          </p:grpSpPr>
          <p:grpSp>
            <p:nvGrpSpPr>
              <p:cNvPr id="73751" name="Group 58"/>
              <p:cNvGrpSpPr>
                <a:grpSpLocks/>
              </p:cNvGrpSpPr>
              <p:nvPr/>
            </p:nvGrpSpPr>
            <p:grpSpPr bwMode="auto">
              <a:xfrm>
                <a:off x="4417" y="567"/>
                <a:ext cx="550" cy="1650"/>
                <a:chOff x="4417" y="567"/>
                <a:chExt cx="550" cy="1650"/>
              </a:xfrm>
            </p:grpSpPr>
            <p:sp>
              <p:nvSpPr>
                <p:cNvPr id="73756" name="Oval 5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57" name="Line 60"/>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73752" name="Group 61"/>
              <p:cNvGrpSpPr>
                <a:grpSpLocks/>
              </p:cNvGrpSpPr>
              <p:nvPr/>
            </p:nvGrpSpPr>
            <p:grpSpPr bwMode="auto">
              <a:xfrm>
                <a:off x="4956" y="853"/>
                <a:ext cx="154" cy="979"/>
                <a:chOff x="4956" y="853"/>
                <a:chExt cx="154" cy="979"/>
              </a:xfrm>
            </p:grpSpPr>
            <p:sp>
              <p:nvSpPr>
                <p:cNvPr id="73753" name="Line 62"/>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54" name="Line 63"/>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55" name="Line 64"/>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73750" name="Line 65"/>
            <p:cNvSpPr>
              <a:spLocks noChangeShapeType="1"/>
            </p:cNvSpPr>
            <p:nvPr/>
          </p:nvSpPr>
          <p:spPr bwMode="auto">
            <a:xfrm>
              <a:off x="1525" y="3449"/>
              <a:ext cx="0" cy="333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3733" name="Line 66"/>
          <p:cNvSpPr>
            <a:spLocks noChangeShapeType="1"/>
          </p:cNvSpPr>
          <p:nvPr/>
        </p:nvSpPr>
        <p:spPr bwMode="auto">
          <a:xfrm>
            <a:off x="6858000" y="3886200"/>
            <a:ext cx="228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34" name="Text Box 67"/>
          <p:cNvSpPr txBox="1">
            <a:spLocks noChangeArrowheads="1"/>
          </p:cNvSpPr>
          <p:nvPr/>
        </p:nvSpPr>
        <p:spPr bwMode="auto">
          <a:xfrm>
            <a:off x="6400800" y="4724400"/>
            <a:ext cx="76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18V</a:t>
            </a:r>
          </a:p>
        </p:txBody>
      </p:sp>
      <p:sp>
        <p:nvSpPr>
          <p:cNvPr id="73735" name="Text Box 68"/>
          <p:cNvSpPr txBox="1">
            <a:spLocks noChangeArrowheads="1"/>
          </p:cNvSpPr>
          <p:nvPr/>
        </p:nvSpPr>
        <p:spPr bwMode="auto">
          <a:xfrm>
            <a:off x="6629400" y="3886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3736" name="Text Box 69"/>
          <p:cNvSpPr txBox="1">
            <a:spLocks noChangeArrowheads="1"/>
          </p:cNvSpPr>
          <p:nvPr/>
        </p:nvSpPr>
        <p:spPr bwMode="auto">
          <a:xfrm>
            <a:off x="7086600" y="41910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4Ω</a:t>
            </a:r>
          </a:p>
        </p:txBody>
      </p:sp>
      <p:sp>
        <p:nvSpPr>
          <p:cNvPr id="73737" name="Text Box 70"/>
          <p:cNvSpPr txBox="1">
            <a:spLocks noChangeArrowheads="1"/>
          </p:cNvSpPr>
          <p:nvPr/>
        </p:nvSpPr>
        <p:spPr bwMode="auto">
          <a:xfrm>
            <a:off x="7086600" y="5257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2Ω</a:t>
            </a:r>
          </a:p>
        </p:txBody>
      </p:sp>
      <p:sp>
        <p:nvSpPr>
          <p:cNvPr id="73738" name="Text Box 72"/>
          <p:cNvSpPr txBox="1">
            <a:spLocks noChangeArrowheads="1"/>
          </p:cNvSpPr>
          <p:nvPr/>
        </p:nvSpPr>
        <p:spPr bwMode="auto">
          <a:xfrm>
            <a:off x="533400" y="762000"/>
            <a:ext cx="480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回到原图，电流 </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I=3A</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，利用并联电阻的分流公式计算其他电流</a:t>
            </a:r>
          </a:p>
        </p:txBody>
      </p:sp>
      <p:graphicFrame>
        <p:nvGraphicFramePr>
          <p:cNvPr id="73739" name="Object 73"/>
          <p:cNvGraphicFramePr>
            <a:graphicFrameLocks noChangeAspect="1"/>
          </p:cNvGraphicFramePr>
          <p:nvPr>
            <p:extLst>
              <p:ext uri="{D42A27DB-BD31-4B8C-83A1-F6EECF244321}">
                <p14:modId xmlns:p14="http://schemas.microsoft.com/office/powerpoint/2010/main" val="1713836667"/>
              </p:ext>
            </p:extLst>
          </p:nvPr>
        </p:nvGraphicFramePr>
        <p:xfrm>
          <a:off x="1295400" y="2590800"/>
          <a:ext cx="3009900" cy="895350"/>
        </p:xfrm>
        <a:graphic>
          <a:graphicData uri="http://schemas.openxmlformats.org/presentationml/2006/ole">
            <mc:AlternateContent xmlns:mc="http://schemas.openxmlformats.org/markup-compatibility/2006">
              <mc:Choice xmlns:v="urn:schemas-microsoft-com:vml" Requires="v">
                <p:oleObj spid="_x0000_s73939" name="Equation" r:id="rId3" imgW="1320227" imgH="393529" progId="Equation.3">
                  <p:embed/>
                </p:oleObj>
              </mc:Choice>
              <mc:Fallback>
                <p:oleObj name="Equation" r:id="rId3" imgW="1320227" imgH="393529" progId="Equation.3">
                  <p:embed/>
                  <p:pic>
                    <p:nvPicPr>
                      <p:cNvPr id="0" name="Object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590800"/>
                        <a:ext cx="300990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0" name="Object 75"/>
          <p:cNvGraphicFramePr>
            <a:graphicFrameLocks noChangeAspect="1"/>
          </p:cNvGraphicFramePr>
          <p:nvPr>
            <p:extLst>
              <p:ext uri="{D42A27DB-BD31-4B8C-83A1-F6EECF244321}">
                <p14:modId xmlns:p14="http://schemas.microsoft.com/office/powerpoint/2010/main" val="36152429"/>
              </p:ext>
            </p:extLst>
          </p:nvPr>
        </p:nvGraphicFramePr>
        <p:xfrm>
          <a:off x="1219200" y="3581400"/>
          <a:ext cx="2952750" cy="895350"/>
        </p:xfrm>
        <a:graphic>
          <a:graphicData uri="http://schemas.openxmlformats.org/presentationml/2006/ole">
            <mc:AlternateContent xmlns:mc="http://schemas.openxmlformats.org/markup-compatibility/2006">
              <mc:Choice xmlns:v="urn:schemas-microsoft-com:vml" Requires="v">
                <p:oleObj spid="_x0000_s73940" name="Equation" r:id="rId5" imgW="1295400" imgH="393700" progId="Equation.3">
                  <p:embed/>
                </p:oleObj>
              </mc:Choice>
              <mc:Fallback>
                <p:oleObj name="Equation" r:id="rId5" imgW="1295400" imgH="393700" progId="Equation.3">
                  <p:embed/>
                  <p:pic>
                    <p:nvPicPr>
                      <p:cNvPr id="0"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3581400"/>
                        <a:ext cx="295275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1" name="Object 76"/>
          <p:cNvGraphicFramePr>
            <a:graphicFrameLocks noChangeAspect="1"/>
          </p:cNvGraphicFramePr>
          <p:nvPr>
            <p:extLst>
              <p:ext uri="{D42A27DB-BD31-4B8C-83A1-F6EECF244321}">
                <p14:modId xmlns:p14="http://schemas.microsoft.com/office/powerpoint/2010/main" val="899140637"/>
              </p:ext>
            </p:extLst>
          </p:nvPr>
        </p:nvGraphicFramePr>
        <p:xfrm>
          <a:off x="920750" y="1600200"/>
          <a:ext cx="3879850" cy="895350"/>
        </p:xfrm>
        <a:graphic>
          <a:graphicData uri="http://schemas.openxmlformats.org/presentationml/2006/ole">
            <mc:AlternateContent xmlns:mc="http://schemas.openxmlformats.org/markup-compatibility/2006">
              <mc:Choice xmlns:v="urn:schemas-microsoft-com:vml" Requires="v">
                <p:oleObj spid="_x0000_s73941" name="Equation" r:id="rId7" imgW="1701800" imgH="393700" progId="Equation.3">
                  <p:embed/>
                </p:oleObj>
              </mc:Choice>
              <mc:Fallback>
                <p:oleObj name="Equation" r:id="rId7" imgW="1701800" imgH="393700" progId="Equation.3">
                  <p:embed/>
                  <p:pic>
                    <p:nvPicPr>
                      <p:cNvPr id="0"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0750" y="1600200"/>
                        <a:ext cx="3879850"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2" name="Text Box 77"/>
          <p:cNvSpPr txBox="1">
            <a:spLocks noChangeArrowheads="1"/>
          </p:cNvSpPr>
          <p:nvPr/>
        </p:nvSpPr>
        <p:spPr bwMode="auto">
          <a:xfrm>
            <a:off x="609600" y="4572000"/>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在中间节点处应用</a:t>
            </a:r>
            <a:r>
              <a:rPr lang="en-US" altLang="zh-CN"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计算电流 </a:t>
            </a:r>
            <a:r>
              <a:rPr lang="en-US" altLang="zh-CN" sz="2400" b="1"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5</a:t>
            </a:r>
          </a:p>
        </p:txBody>
      </p:sp>
      <p:graphicFrame>
        <p:nvGraphicFramePr>
          <p:cNvPr id="73743" name="Object 78"/>
          <p:cNvGraphicFramePr>
            <a:graphicFrameLocks noChangeAspect="1"/>
          </p:cNvGraphicFramePr>
          <p:nvPr>
            <p:extLst>
              <p:ext uri="{D42A27DB-BD31-4B8C-83A1-F6EECF244321}">
                <p14:modId xmlns:p14="http://schemas.microsoft.com/office/powerpoint/2010/main" val="4059516142"/>
              </p:ext>
            </p:extLst>
          </p:nvPr>
        </p:nvGraphicFramePr>
        <p:xfrm>
          <a:off x="1279525" y="5118100"/>
          <a:ext cx="3532188" cy="520700"/>
        </p:xfrm>
        <a:graphic>
          <a:graphicData uri="http://schemas.openxmlformats.org/presentationml/2006/ole">
            <mc:AlternateContent xmlns:mc="http://schemas.openxmlformats.org/markup-compatibility/2006">
              <mc:Choice xmlns:v="urn:schemas-microsoft-com:vml" Requires="v">
                <p:oleObj spid="_x0000_s73942" name="Equation" r:id="rId9" imgW="1549400" imgH="228600" progId="Equation.3">
                  <p:embed/>
                </p:oleObj>
              </mc:Choice>
              <mc:Fallback>
                <p:oleObj name="Equation" r:id="rId9" imgW="1549400" imgH="228600" progId="Equation.3">
                  <p:embed/>
                  <p:pic>
                    <p:nvPicPr>
                      <p:cNvPr id="0" name="Object 7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9525" y="5118100"/>
                        <a:ext cx="3532188"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44" name="Object 79"/>
          <p:cNvGraphicFramePr>
            <a:graphicFrameLocks noChangeAspect="1"/>
          </p:cNvGraphicFramePr>
          <p:nvPr>
            <p:extLst>
              <p:ext uri="{D42A27DB-BD31-4B8C-83A1-F6EECF244321}">
                <p14:modId xmlns:p14="http://schemas.microsoft.com/office/powerpoint/2010/main" val="4201512104"/>
              </p:ext>
            </p:extLst>
          </p:nvPr>
        </p:nvGraphicFramePr>
        <p:xfrm>
          <a:off x="815975" y="5867400"/>
          <a:ext cx="4459288" cy="520700"/>
        </p:xfrm>
        <a:graphic>
          <a:graphicData uri="http://schemas.openxmlformats.org/presentationml/2006/ole">
            <mc:AlternateContent xmlns:mc="http://schemas.openxmlformats.org/markup-compatibility/2006">
              <mc:Choice xmlns:v="urn:schemas-microsoft-com:vml" Requires="v">
                <p:oleObj spid="_x0000_s73943" name="Equation" r:id="rId11" imgW="1955800" imgH="228600" progId="Equation.3">
                  <p:embed/>
                </p:oleObj>
              </mc:Choice>
              <mc:Fallback>
                <p:oleObj name="Equation" r:id="rId11" imgW="1955800" imgH="228600" progId="Equation.3">
                  <p:embed/>
                  <p:pic>
                    <p:nvPicPr>
                      <p:cNvPr id="0" name="Object 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5975" y="5867400"/>
                        <a:ext cx="4459288"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3741"/>
                                        </p:tgtEl>
                                        <p:attrNameLst>
                                          <p:attrName>style.visibility</p:attrName>
                                        </p:attrNameLst>
                                      </p:cBhvr>
                                      <p:to>
                                        <p:strVal val="visible"/>
                                      </p:to>
                                    </p:set>
                                    <p:anim calcmode="lin" valueType="num">
                                      <p:cBhvr additive="base">
                                        <p:cTn id="7" dur="500" fill="hold"/>
                                        <p:tgtEl>
                                          <p:spTgt spid="73741"/>
                                        </p:tgtEl>
                                        <p:attrNameLst>
                                          <p:attrName>ppt_x</p:attrName>
                                        </p:attrNameLst>
                                      </p:cBhvr>
                                      <p:tavLst>
                                        <p:tav tm="0">
                                          <p:val>
                                            <p:strVal val="#ppt_x"/>
                                          </p:val>
                                        </p:tav>
                                        <p:tav tm="100000">
                                          <p:val>
                                            <p:strVal val="#ppt_x"/>
                                          </p:val>
                                        </p:tav>
                                      </p:tavLst>
                                    </p:anim>
                                    <p:anim calcmode="lin" valueType="num">
                                      <p:cBhvr additive="base">
                                        <p:cTn id="8" dur="500" fill="hold"/>
                                        <p:tgtEl>
                                          <p:spTgt spid="737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3739"/>
                                        </p:tgtEl>
                                        <p:attrNameLst>
                                          <p:attrName>style.visibility</p:attrName>
                                        </p:attrNameLst>
                                      </p:cBhvr>
                                      <p:to>
                                        <p:strVal val="visible"/>
                                      </p:to>
                                    </p:set>
                                    <p:anim calcmode="lin" valueType="num">
                                      <p:cBhvr additive="base">
                                        <p:cTn id="13" dur="500" fill="hold"/>
                                        <p:tgtEl>
                                          <p:spTgt spid="73739"/>
                                        </p:tgtEl>
                                        <p:attrNameLst>
                                          <p:attrName>ppt_x</p:attrName>
                                        </p:attrNameLst>
                                      </p:cBhvr>
                                      <p:tavLst>
                                        <p:tav tm="0">
                                          <p:val>
                                            <p:strVal val="#ppt_x"/>
                                          </p:val>
                                        </p:tav>
                                        <p:tav tm="100000">
                                          <p:val>
                                            <p:strVal val="#ppt_x"/>
                                          </p:val>
                                        </p:tav>
                                      </p:tavLst>
                                    </p:anim>
                                    <p:anim calcmode="lin" valueType="num">
                                      <p:cBhvr additive="base">
                                        <p:cTn id="14" dur="500" fill="hold"/>
                                        <p:tgtEl>
                                          <p:spTgt spid="7373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3740"/>
                                        </p:tgtEl>
                                        <p:attrNameLst>
                                          <p:attrName>style.visibility</p:attrName>
                                        </p:attrNameLst>
                                      </p:cBhvr>
                                      <p:to>
                                        <p:strVal val="visible"/>
                                      </p:to>
                                    </p:set>
                                    <p:anim calcmode="lin" valueType="num">
                                      <p:cBhvr additive="base">
                                        <p:cTn id="17" dur="500" fill="hold"/>
                                        <p:tgtEl>
                                          <p:spTgt spid="73740"/>
                                        </p:tgtEl>
                                        <p:attrNameLst>
                                          <p:attrName>ppt_x</p:attrName>
                                        </p:attrNameLst>
                                      </p:cBhvr>
                                      <p:tavLst>
                                        <p:tav tm="0">
                                          <p:val>
                                            <p:strVal val="#ppt_x"/>
                                          </p:val>
                                        </p:tav>
                                        <p:tav tm="100000">
                                          <p:val>
                                            <p:strVal val="#ppt_x"/>
                                          </p:val>
                                        </p:tav>
                                      </p:tavLst>
                                    </p:anim>
                                    <p:anim calcmode="lin" valueType="num">
                                      <p:cBhvr additive="base">
                                        <p:cTn id="18" dur="500" fill="hold"/>
                                        <p:tgtEl>
                                          <p:spTgt spid="737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3742"/>
                                        </p:tgtEl>
                                        <p:attrNameLst>
                                          <p:attrName>style.visibility</p:attrName>
                                        </p:attrNameLst>
                                      </p:cBhvr>
                                      <p:to>
                                        <p:strVal val="visible"/>
                                      </p:to>
                                    </p:set>
                                    <p:anim calcmode="lin" valueType="num">
                                      <p:cBhvr additive="base">
                                        <p:cTn id="23" dur="500" fill="hold"/>
                                        <p:tgtEl>
                                          <p:spTgt spid="73742"/>
                                        </p:tgtEl>
                                        <p:attrNameLst>
                                          <p:attrName>ppt_x</p:attrName>
                                        </p:attrNameLst>
                                      </p:cBhvr>
                                      <p:tavLst>
                                        <p:tav tm="0">
                                          <p:val>
                                            <p:strVal val="#ppt_x"/>
                                          </p:val>
                                        </p:tav>
                                        <p:tav tm="100000">
                                          <p:val>
                                            <p:strVal val="#ppt_x"/>
                                          </p:val>
                                        </p:tav>
                                      </p:tavLst>
                                    </p:anim>
                                    <p:anim calcmode="lin" valueType="num">
                                      <p:cBhvr additive="base">
                                        <p:cTn id="24" dur="500" fill="hold"/>
                                        <p:tgtEl>
                                          <p:spTgt spid="7374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3743"/>
                                        </p:tgtEl>
                                        <p:attrNameLst>
                                          <p:attrName>style.visibility</p:attrName>
                                        </p:attrNameLst>
                                      </p:cBhvr>
                                      <p:to>
                                        <p:strVal val="visible"/>
                                      </p:to>
                                    </p:set>
                                    <p:anim calcmode="lin" valueType="num">
                                      <p:cBhvr additive="base">
                                        <p:cTn id="29" dur="500" fill="hold"/>
                                        <p:tgtEl>
                                          <p:spTgt spid="73743"/>
                                        </p:tgtEl>
                                        <p:attrNameLst>
                                          <p:attrName>ppt_x</p:attrName>
                                        </p:attrNameLst>
                                      </p:cBhvr>
                                      <p:tavLst>
                                        <p:tav tm="0">
                                          <p:val>
                                            <p:strVal val="#ppt_x"/>
                                          </p:val>
                                        </p:tav>
                                        <p:tav tm="100000">
                                          <p:val>
                                            <p:strVal val="#ppt_x"/>
                                          </p:val>
                                        </p:tav>
                                      </p:tavLst>
                                    </p:anim>
                                    <p:anim calcmode="lin" valueType="num">
                                      <p:cBhvr additive="base">
                                        <p:cTn id="30" dur="500" fill="hold"/>
                                        <p:tgtEl>
                                          <p:spTgt spid="7374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3744"/>
                                        </p:tgtEl>
                                        <p:attrNameLst>
                                          <p:attrName>style.visibility</p:attrName>
                                        </p:attrNameLst>
                                      </p:cBhvr>
                                      <p:to>
                                        <p:strVal val="visible"/>
                                      </p:to>
                                    </p:set>
                                    <p:anim calcmode="lin" valueType="num">
                                      <p:cBhvr additive="base">
                                        <p:cTn id="33" dur="500" fill="hold"/>
                                        <p:tgtEl>
                                          <p:spTgt spid="73744"/>
                                        </p:tgtEl>
                                        <p:attrNameLst>
                                          <p:attrName>ppt_x</p:attrName>
                                        </p:attrNameLst>
                                      </p:cBhvr>
                                      <p:tavLst>
                                        <p:tav tm="0">
                                          <p:val>
                                            <p:strVal val="#ppt_x"/>
                                          </p:val>
                                        </p:tav>
                                        <p:tav tm="100000">
                                          <p:val>
                                            <p:strVal val="#ppt_x"/>
                                          </p:val>
                                        </p:tav>
                                      </p:tavLst>
                                    </p:anim>
                                    <p:anim calcmode="lin" valueType="num">
                                      <p:cBhvr additive="base">
                                        <p:cTn id="34" dur="500" fill="hold"/>
                                        <p:tgtEl>
                                          <p:spTgt spid="737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9"/>
          <p:cNvGrpSpPr>
            <a:grpSpLocks/>
          </p:cNvGrpSpPr>
          <p:nvPr/>
        </p:nvGrpSpPr>
        <p:grpSpPr bwMode="auto">
          <a:xfrm>
            <a:off x="5003800" y="549275"/>
            <a:ext cx="3857625" cy="2617788"/>
            <a:chOff x="2916" y="436"/>
            <a:chExt cx="2430" cy="1649"/>
          </a:xfrm>
        </p:grpSpPr>
        <p:sp>
          <p:nvSpPr>
            <p:cNvPr id="18493" name="Rectangle 7"/>
            <p:cNvSpPr>
              <a:spLocks noChangeArrowheads="1"/>
            </p:cNvSpPr>
            <p:nvPr/>
          </p:nvSpPr>
          <p:spPr bwMode="auto">
            <a:xfrm>
              <a:off x="3994" y="1480"/>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4" name="Rectangle 8"/>
            <p:cNvSpPr>
              <a:spLocks noChangeArrowheads="1"/>
            </p:cNvSpPr>
            <p:nvPr/>
          </p:nvSpPr>
          <p:spPr bwMode="auto">
            <a:xfrm>
              <a:off x="3901" y="482"/>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5" name="Text Box 9"/>
            <p:cNvSpPr txBox="1">
              <a:spLocks noChangeArrowheads="1"/>
            </p:cNvSpPr>
            <p:nvPr/>
          </p:nvSpPr>
          <p:spPr bwMode="auto">
            <a:xfrm>
              <a:off x="3319" y="781"/>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6" name="Line 10"/>
            <p:cNvSpPr>
              <a:spLocks noChangeShapeType="1"/>
            </p:cNvSpPr>
            <p:nvPr/>
          </p:nvSpPr>
          <p:spPr bwMode="auto">
            <a:xfrm flipV="1">
              <a:off x="3650" y="689"/>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7" name="Line 11"/>
            <p:cNvSpPr>
              <a:spLocks noChangeShapeType="1"/>
            </p:cNvSpPr>
            <p:nvPr/>
          </p:nvSpPr>
          <p:spPr bwMode="auto">
            <a:xfrm>
              <a:off x="3036" y="1705"/>
              <a:ext cx="1931"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8" name="Line 12"/>
            <p:cNvSpPr>
              <a:spLocks noChangeShapeType="1"/>
            </p:cNvSpPr>
            <p:nvPr/>
          </p:nvSpPr>
          <p:spPr bwMode="auto">
            <a:xfrm>
              <a:off x="3060" y="692"/>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9" name="Rectangle 13"/>
            <p:cNvSpPr>
              <a:spLocks noChangeArrowheads="1"/>
            </p:cNvSpPr>
            <p:nvPr/>
          </p:nvSpPr>
          <p:spPr bwMode="auto">
            <a:xfrm>
              <a:off x="3843" y="991"/>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0" name="Oval 15"/>
            <p:cNvSpPr>
              <a:spLocks noChangeArrowheads="1"/>
            </p:cNvSpPr>
            <p:nvPr/>
          </p:nvSpPr>
          <p:spPr bwMode="auto">
            <a:xfrm flipV="1">
              <a:off x="3972" y="660"/>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1" name="Oval 16"/>
            <p:cNvSpPr>
              <a:spLocks noChangeArrowheads="1"/>
            </p:cNvSpPr>
            <p:nvPr/>
          </p:nvSpPr>
          <p:spPr bwMode="auto">
            <a:xfrm flipV="1">
              <a:off x="3979" y="1668"/>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2" name="Rectangle 18"/>
            <p:cNvSpPr>
              <a:spLocks noChangeArrowheads="1"/>
            </p:cNvSpPr>
            <p:nvPr/>
          </p:nvSpPr>
          <p:spPr bwMode="auto">
            <a:xfrm>
              <a:off x="4059" y="1071"/>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3" name="Line 19"/>
            <p:cNvSpPr>
              <a:spLocks noChangeShapeType="1"/>
            </p:cNvSpPr>
            <p:nvPr/>
          </p:nvSpPr>
          <p:spPr bwMode="auto">
            <a:xfrm flipH="1">
              <a:off x="4005" y="692"/>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4" name="Line 20"/>
            <p:cNvSpPr>
              <a:spLocks noChangeShapeType="1"/>
            </p:cNvSpPr>
            <p:nvPr/>
          </p:nvSpPr>
          <p:spPr bwMode="auto">
            <a:xfrm>
              <a:off x="4005" y="1307"/>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5" name="Line 21"/>
            <p:cNvSpPr>
              <a:spLocks noChangeShapeType="1"/>
            </p:cNvSpPr>
            <p:nvPr/>
          </p:nvSpPr>
          <p:spPr bwMode="auto">
            <a:xfrm>
              <a:off x="4572" y="689"/>
              <a:ext cx="3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6" name="Line 22"/>
            <p:cNvSpPr>
              <a:spLocks noChangeShapeType="1"/>
            </p:cNvSpPr>
            <p:nvPr/>
          </p:nvSpPr>
          <p:spPr bwMode="auto">
            <a:xfrm>
              <a:off x="3036" y="689"/>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7" name="Rectangle 23"/>
            <p:cNvSpPr>
              <a:spLocks noChangeArrowheads="1"/>
            </p:cNvSpPr>
            <p:nvPr/>
          </p:nvSpPr>
          <p:spPr bwMode="auto">
            <a:xfrm rot="5400000">
              <a:off x="3472" y="563"/>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8" name="Rectangle 27"/>
            <p:cNvSpPr>
              <a:spLocks noChangeArrowheads="1"/>
            </p:cNvSpPr>
            <p:nvPr/>
          </p:nvSpPr>
          <p:spPr bwMode="auto">
            <a:xfrm>
              <a:off x="3196" y="1117"/>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204V</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09" name="Rectangle 28"/>
            <p:cNvSpPr>
              <a:spLocks noChangeArrowheads="1"/>
            </p:cNvSpPr>
            <p:nvPr/>
          </p:nvSpPr>
          <p:spPr bwMode="auto">
            <a:xfrm>
              <a:off x="3288" y="436"/>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30</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0" name="Rectangle 34"/>
            <p:cNvSpPr>
              <a:spLocks noChangeArrowheads="1"/>
            </p:cNvSpPr>
            <p:nvPr/>
          </p:nvSpPr>
          <p:spPr bwMode="auto">
            <a:xfrm>
              <a:off x="3016" y="890"/>
              <a:ext cx="23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1" name="Rectangle 35"/>
            <p:cNvSpPr>
              <a:spLocks noChangeArrowheads="1"/>
            </p:cNvSpPr>
            <p:nvPr/>
          </p:nvSpPr>
          <p:spPr bwMode="auto">
            <a:xfrm>
              <a:off x="3016" y="1344"/>
              <a:ext cx="30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zh-CN" altLang="en-US"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2" name="Rectangle 39"/>
            <p:cNvSpPr>
              <a:spLocks noChangeArrowheads="1"/>
            </p:cNvSpPr>
            <p:nvPr/>
          </p:nvSpPr>
          <p:spPr bwMode="auto">
            <a:xfrm rot="5400000">
              <a:off x="4396" y="554"/>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3" name="Rectangle 40"/>
            <p:cNvSpPr>
              <a:spLocks noChangeArrowheads="1"/>
            </p:cNvSpPr>
            <p:nvPr/>
          </p:nvSpPr>
          <p:spPr bwMode="auto">
            <a:xfrm rot="5400000">
              <a:off x="3868" y="1125"/>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4" name="Line 41"/>
            <p:cNvSpPr>
              <a:spLocks noChangeShapeType="1"/>
            </p:cNvSpPr>
            <p:nvPr/>
          </p:nvSpPr>
          <p:spPr bwMode="auto">
            <a:xfrm>
              <a:off x="3052" y="691"/>
              <a:ext cx="0" cy="9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5" name="Oval 43"/>
            <p:cNvSpPr>
              <a:spLocks noChangeArrowheads="1"/>
            </p:cNvSpPr>
            <p:nvPr/>
          </p:nvSpPr>
          <p:spPr bwMode="auto">
            <a:xfrm>
              <a:off x="2916" y="1071"/>
              <a:ext cx="273" cy="273"/>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6" name="Rectangle 46"/>
            <p:cNvSpPr>
              <a:spLocks noChangeArrowheads="1"/>
            </p:cNvSpPr>
            <p:nvPr/>
          </p:nvSpPr>
          <p:spPr bwMode="auto">
            <a:xfrm>
              <a:off x="4800" y="978"/>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7" name="Line 49"/>
            <p:cNvSpPr>
              <a:spLocks noChangeShapeType="1"/>
            </p:cNvSpPr>
            <p:nvPr/>
          </p:nvSpPr>
          <p:spPr bwMode="auto">
            <a:xfrm flipH="1">
              <a:off x="4962" y="679"/>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8" name="Line 50"/>
            <p:cNvSpPr>
              <a:spLocks noChangeShapeType="1"/>
            </p:cNvSpPr>
            <p:nvPr/>
          </p:nvSpPr>
          <p:spPr bwMode="auto">
            <a:xfrm>
              <a:off x="4967" y="1298"/>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19" name="Rectangle 51"/>
            <p:cNvSpPr>
              <a:spLocks noChangeArrowheads="1"/>
            </p:cNvSpPr>
            <p:nvPr/>
          </p:nvSpPr>
          <p:spPr bwMode="auto">
            <a:xfrm rot="5400000">
              <a:off x="4825" y="1112"/>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0" name="Rectangle 52"/>
            <p:cNvSpPr>
              <a:spLocks noChangeArrowheads="1"/>
            </p:cNvSpPr>
            <p:nvPr/>
          </p:nvSpPr>
          <p:spPr bwMode="auto">
            <a:xfrm>
              <a:off x="4195" y="436"/>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1" name="Rectangle 53"/>
            <p:cNvSpPr>
              <a:spLocks noChangeArrowheads="1"/>
            </p:cNvSpPr>
            <p:nvPr/>
          </p:nvSpPr>
          <p:spPr bwMode="auto">
            <a:xfrm>
              <a:off x="4830" y="482"/>
              <a:ext cx="2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2" name="Rectangle 55"/>
            <p:cNvSpPr>
              <a:spLocks noChangeArrowheads="1"/>
            </p:cNvSpPr>
            <p:nvPr/>
          </p:nvSpPr>
          <p:spPr bwMode="auto">
            <a:xfrm>
              <a:off x="5012" y="1071"/>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3" name="Line 56"/>
            <p:cNvSpPr>
              <a:spLocks noChangeShapeType="1"/>
            </p:cNvSpPr>
            <p:nvPr/>
          </p:nvSpPr>
          <p:spPr bwMode="auto">
            <a:xfrm>
              <a:off x="4014" y="1706"/>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4" name="Line 57"/>
            <p:cNvSpPr>
              <a:spLocks noChangeShapeType="1"/>
            </p:cNvSpPr>
            <p:nvPr/>
          </p:nvSpPr>
          <p:spPr bwMode="auto">
            <a:xfrm>
              <a:off x="3923" y="1797"/>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525" name="Text Box 58"/>
            <p:cNvSpPr txBox="1">
              <a:spLocks noChangeArrowheads="1"/>
            </p:cNvSpPr>
            <p:nvPr/>
          </p:nvSpPr>
          <p:spPr bwMode="auto">
            <a:xfrm>
              <a:off x="3788" y="1797"/>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grpSp>
      <p:sp>
        <p:nvSpPr>
          <p:cNvPr id="526396" name="Text Box 60"/>
          <p:cNvSpPr txBox="1">
            <a:spLocks noChangeArrowheads="1"/>
          </p:cNvSpPr>
          <p:nvPr/>
        </p:nvSpPr>
        <p:spPr bwMode="auto">
          <a:xfrm>
            <a:off x="323849" y="549275"/>
            <a:ext cx="4436269"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2-4】</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计算右图</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所示电路中</a:t>
            </a:r>
            <a:r>
              <a:rPr lang="en-US" altLang="zh-CN" sz="2400" dirty="0" err="1">
                <a:latin typeface="Times New Roman" panose="02020603050405020304" pitchFamily="18" charset="0"/>
                <a:ea typeface="华文中宋" panose="02010600040101010101" pitchFamily="2" charset="-122"/>
                <a:cs typeface="Times New Roman" panose="02020603050405020304" pitchFamily="18" charset="0"/>
              </a:rPr>
              <a:t>a,b</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两点的电位</a:t>
            </a:r>
            <a:r>
              <a:rPr lang="en-US" altLang="zh-CN" sz="2400" dirty="0" err="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sz="2400" baseline="-25000" dirty="0" err="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400" dirty="0" err="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sz="2400" baseline="-25000" dirty="0" err="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的值。</a:t>
            </a:r>
          </a:p>
        </p:txBody>
      </p:sp>
      <p:sp>
        <p:nvSpPr>
          <p:cNvPr id="526397" name="Text Box 61"/>
          <p:cNvSpPr txBox="1">
            <a:spLocks noChangeArrowheads="1"/>
          </p:cNvSpPr>
          <p:nvPr/>
        </p:nvSpPr>
        <p:spPr bwMode="auto">
          <a:xfrm>
            <a:off x="395288" y="2476900"/>
            <a:ext cx="20891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解：方法一</a:t>
            </a:r>
          </a:p>
        </p:txBody>
      </p:sp>
      <p:sp>
        <p:nvSpPr>
          <p:cNvPr id="526398" name="Text Box 62"/>
          <p:cNvSpPr txBox="1">
            <a:spLocks noChangeArrowheads="1"/>
          </p:cNvSpPr>
          <p:nvPr/>
        </p:nvSpPr>
        <p:spPr bwMode="auto">
          <a:xfrm>
            <a:off x="395288" y="3141663"/>
            <a:ext cx="8497887"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通过</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电阻等效变换方法</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将图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依次化简为图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 name="Group 131"/>
          <p:cNvGrpSpPr>
            <a:grpSpLocks/>
          </p:cNvGrpSpPr>
          <p:nvPr/>
        </p:nvGrpSpPr>
        <p:grpSpPr bwMode="auto">
          <a:xfrm>
            <a:off x="755650" y="3860800"/>
            <a:ext cx="3857625" cy="2617788"/>
            <a:chOff x="476" y="2432"/>
            <a:chExt cx="2430" cy="1649"/>
          </a:xfrm>
        </p:grpSpPr>
        <p:sp>
          <p:nvSpPr>
            <p:cNvPr id="18464" name="Rectangle 64"/>
            <p:cNvSpPr>
              <a:spLocks noChangeArrowheads="1"/>
            </p:cNvSpPr>
            <p:nvPr/>
          </p:nvSpPr>
          <p:spPr bwMode="auto">
            <a:xfrm>
              <a:off x="1554" y="3476"/>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5" name="Rectangle 65"/>
            <p:cNvSpPr>
              <a:spLocks noChangeArrowheads="1"/>
            </p:cNvSpPr>
            <p:nvPr/>
          </p:nvSpPr>
          <p:spPr bwMode="auto">
            <a:xfrm>
              <a:off x="1461" y="2478"/>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6" name="Text Box 66"/>
            <p:cNvSpPr txBox="1">
              <a:spLocks noChangeArrowheads="1"/>
            </p:cNvSpPr>
            <p:nvPr/>
          </p:nvSpPr>
          <p:spPr bwMode="auto">
            <a:xfrm>
              <a:off x="879" y="2777"/>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7" name="Line 67"/>
            <p:cNvSpPr>
              <a:spLocks noChangeShapeType="1"/>
            </p:cNvSpPr>
            <p:nvPr/>
          </p:nvSpPr>
          <p:spPr bwMode="auto">
            <a:xfrm>
              <a:off x="1210" y="2685"/>
              <a:ext cx="130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8" name="Line 68"/>
            <p:cNvSpPr>
              <a:spLocks noChangeShapeType="1"/>
            </p:cNvSpPr>
            <p:nvPr/>
          </p:nvSpPr>
          <p:spPr bwMode="auto">
            <a:xfrm>
              <a:off x="596" y="3701"/>
              <a:ext cx="1931"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9" name="Line 69"/>
            <p:cNvSpPr>
              <a:spLocks noChangeShapeType="1"/>
            </p:cNvSpPr>
            <p:nvPr/>
          </p:nvSpPr>
          <p:spPr bwMode="auto">
            <a:xfrm>
              <a:off x="620" y="2688"/>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0" name="Rectangle 70"/>
            <p:cNvSpPr>
              <a:spLocks noChangeArrowheads="1"/>
            </p:cNvSpPr>
            <p:nvPr/>
          </p:nvSpPr>
          <p:spPr bwMode="auto">
            <a:xfrm>
              <a:off x="1403" y="2987"/>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1" name="Oval 71"/>
            <p:cNvSpPr>
              <a:spLocks noChangeArrowheads="1"/>
            </p:cNvSpPr>
            <p:nvPr/>
          </p:nvSpPr>
          <p:spPr bwMode="auto">
            <a:xfrm flipV="1">
              <a:off x="1532" y="2656"/>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2" name="Oval 72"/>
            <p:cNvSpPr>
              <a:spLocks noChangeArrowheads="1"/>
            </p:cNvSpPr>
            <p:nvPr/>
          </p:nvSpPr>
          <p:spPr bwMode="auto">
            <a:xfrm flipV="1">
              <a:off x="1539" y="3664"/>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3" name="Rectangle 73"/>
            <p:cNvSpPr>
              <a:spLocks noChangeArrowheads="1"/>
            </p:cNvSpPr>
            <p:nvPr/>
          </p:nvSpPr>
          <p:spPr bwMode="auto">
            <a:xfrm>
              <a:off x="1619" y="3067"/>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4" name="Line 74"/>
            <p:cNvSpPr>
              <a:spLocks noChangeShapeType="1"/>
            </p:cNvSpPr>
            <p:nvPr/>
          </p:nvSpPr>
          <p:spPr bwMode="auto">
            <a:xfrm flipH="1">
              <a:off x="1565" y="2688"/>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5" name="Line 75"/>
            <p:cNvSpPr>
              <a:spLocks noChangeShapeType="1"/>
            </p:cNvSpPr>
            <p:nvPr/>
          </p:nvSpPr>
          <p:spPr bwMode="auto">
            <a:xfrm>
              <a:off x="1565" y="3303"/>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6" name="Line 77"/>
            <p:cNvSpPr>
              <a:spLocks noChangeShapeType="1"/>
            </p:cNvSpPr>
            <p:nvPr/>
          </p:nvSpPr>
          <p:spPr bwMode="auto">
            <a:xfrm>
              <a:off x="596" y="2685"/>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7" name="Rectangle 78"/>
            <p:cNvSpPr>
              <a:spLocks noChangeArrowheads="1"/>
            </p:cNvSpPr>
            <p:nvPr/>
          </p:nvSpPr>
          <p:spPr bwMode="auto">
            <a:xfrm rot="5400000">
              <a:off x="1032" y="2559"/>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8" name="Rectangle 79"/>
            <p:cNvSpPr>
              <a:spLocks noChangeArrowheads="1"/>
            </p:cNvSpPr>
            <p:nvPr/>
          </p:nvSpPr>
          <p:spPr bwMode="auto">
            <a:xfrm>
              <a:off x="756" y="3113"/>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204V</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79" name="Rectangle 80"/>
            <p:cNvSpPr>
              <a:spLocks noChangeArrowheads="1"/>
            </p:cNvSpPr>
            <p:nvPr/>
          </p:nvSpPr>
          <p:spPr bwMode="auto">
            <a:xfrm>
              <a:off x="848" y="2432"/>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30</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0" name="Rectangle 81"/>
            <p:cNvSpPr>
              <a:spLocks noChangeArrowheads="1"/>
            </p:cNvSpPr>
            <p:nvPr/>
          </p:nvSpPr>
          <p:spPr bwMode="auto">
            <a:xfrm>
              <a:off x="576" y="2886"/>
              <a:ext cx="23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1" name="Rectangle 82"/>
            <p:cNvSpPr>
              <a:spLocks noChangeArrowheads="1"/>
            </p:cNvSpPr>
            <p:nvPr/>
          </p:nvSpPr>
          <p:spPr bwMode="auto">
            <a:xfrm>
              <a:off x="576" y="3340"/>
              <a:ext cx="30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zh-CN" altLang="en-US"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2" name="Rectangle 84"/>
            <p:cNvSpPr>
              <a:spLocks noChangeArrowheads="1"/>
            </p:cNvSpPr>
            <p:nvPr/>
          </p:nvSpPr>
          <p:spPr bwMode="auto">
            <a:xfrm rot="5400000">
              <a:off x="1428" y="3121"/>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3" name="Line 85"/>
            <p:cNvSpPr>
              <a:spLocks noChangeShapeType="1"/>
            </p:cNvSpPr>
            <p:nvPr/>
          </p:nvSpPr>
          <p:spPr bwMode="auto">
            <a:xfrm>
              <a:off x="612" y="2687"/>
              <a:ext cx="0" cy="9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4" name="Oval 86"/>
            <p:cNvSpPr>
              <a:spLocks noChangeArrowheads="1"/>
            </p:cNvSpPr>
            <p:nvPr/>
          </p:nvSpPr>
          <p:spPr bwMode="auto">
            <a:xfrm>
              <a:off x="476" y="3067"/>
              <a:ext cx="273" cy="273"/>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5" name="Rectangle 87"/>
            <p:cNvSpPr>
              <a:spLocks noChangeArrowheads="1"/>
            </p:cNvSpPr>
            <p:nvPr/>
          </p:nvSpPr>
          <p:spPr bwMode="auto">
            <a:xfrm>
              <a:off x="2360" y="2974"/>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6" name="Line 88"/>
            <p:cNvSpPr>
              <a:spLocks noChangeShapeType="1"/>
            </p:cNvSpPr>
            <p:nvPr/>
          </p:nvSpPr>
          <p:spPr bwMode="auto">
            <a:xfrm flipH="1">
              <a:off x="2522" y="2675"/>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7" name="Line 89"/>
            <p:cNvSpPr>
              <a:spLocks noChangeShapeType="1"/>
            </p:cNvSpPr>
            <p:nvPr/>
          </p:nvSpPr>
          <p:spPr bwMode="auto">
            <a:xfrm>
              <a:off x="2527" y="3294"/>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8" name="Rectangle 90"/>
            <p:cNvSpPr>
              <a:spLocks noChangeArrowheads="1"/>
            </p:cNvSpPr>
            <p:nvPr/>
          </p:nvSpPr>
          <p:spPr bwMode="auto">
            <a:xfrm rot="5400000">
              <a:off x="2385" y="3108"/>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89" name="Rectangle 93"/>
            <p:cNvSpPr>
              <a:spLocks noChangeArrowheads="1"/>
            </p:cNvSpPr>
            <p:nvPr/>
          </p:nvSpPr>
          <p:spPr bwMode="auto">
            <a:xfrm>
              <a:off x="2572" y="3067"/>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12</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0" name="Line 94"/>
            <p:cNvSpPr>
              <a:spLocks noChangeShapeType="1"/>
            </p:cNvSpPr>
            <p:nvPr/>
          </p:nvSpPr>
          <p:spPr bwMode="auto">
            <a:xfrm>
              <a:off x="1574" y="3702"/>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1" name="Line 95"/>
            <p:cNvSpPr>
              <a:spLocks noChangeShapeType="1"/>
            </p:cNvSpPr>
            <p:nvPr/>
          </p:nvSpPr>
          <p:spPr bwMode="auto">
            <a:xfrm>
              <a:off x="1483" y="3793"/>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92" name="Text Box 96"/>
            <p:cNvSpPr txBox="1">
              <a:spLocks noChangeArrowheads="1"/>
            </p:cNvSpPr>
            <p:nvPr/>
          </p:nvSpPr>
          <p:spPr bwMode="auto">
            <a:xfrm>
              <a:off x="1348" y="3793"/>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nvGrpSpPr>
          <p:cNvPr id="4" name="Group 162"/>
          <p:cNvGrpSpPr>
            <a:grpSpLocks/>
          </p:cNvGrpSpPr>
          <p:nvPr/>
        </p:nvGrpSpPr>
        <p:grpSpPr bwMode="auto">
          <a:xfrm>
            <a:off x="5795963" y="3860800"/>
            <a:ext cx="2344737" cy="2617788"/>
            <a:chOff x="3651" y="2432"/>
            <a:chExt cx="1477" cy="1649"/>
          </a:xfrm>
        </p:grpSpPr>
        <p:sp>
          <p:nvSpPr>
            <p:cNvPr id="18440" name="Rectangle 133"/>
            <p:cNvSpPr>
              <a:spLocks noChangeArrowheads="1"/>
            </p:cNvSpPr>
            <p:nvPr/>
          </p:nvSpPr>
          <p:spPr bwMode="auto">
            <a:xfrm>
              <a:off x="4729" y="3476"/>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1" name="Rectangle 134"/>
            <p:cNvSpPr>
              <a:spLocks noChangeArrowheads="1"/>
            </p:cNvSpPr>
            <p:nvPr/>
          </p:nvSpPr>
          <p:spPr bwMode="auto">
            <a:xfrm>
              <a:off x="4636" y="2478"/>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2" name="Text Box 135"/>
            <p:cNvSpPr txBox="1">
              <a:spLocks noChangeArrowheads="1"/>
            </p:cNvSpPr>
            <p:nvPr/>
          </p:nvSpPr>
          <p:spPr bwMode="auto">
            <a:xfrm>
              <a:off x="4054" y="2777"/>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3" name="Line 136"/>
            <p:cNvSpPr>
              <a:spLocks noChangeShapeType="1"/>
            </p:cNvSpPr>
            <p:nvPr/>
          </p:nvSpPr>
          <p:spPr bwMode="auto">
            <a:xfrm flipV="1">
              <a:off x="4385" y="2686"/>
              <a:ext cx="35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4" name="Line 137"/>
            <p:cNvSpPr>
              <a:spLocks noChangeShapeType="1"/>
            </p:cNvSpPr>
            <p:nvPr/>
          </p:nvSpPr>
          <p:spPr bwMode="auto">
            <a:xfrm>
              <a:off x="3771" y="3701"/>
              <a:ext cx="969"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5" name="Line 138"/>
            <p:cNvSpPr>
              <a:spLocks noChangeShapeType="1"/>
            </p:cNvSpPr>
            <p:nvPr/>
          </p:nvSpPr>
          <p:spPr bwMode="auto">
            <a:xfrm>
              <a:off x="3795" y="2688"/>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6" name="Rectangle 139"/>
            <p:cNvSpPr>
              <a:spLocks noChangeArrowheads="1"/>
            </p:cNvSpPr>
            <p:nvPr/>
          </p:nvSpPr>
          <p:spPr bwMode="auto">
            <a:xfrm>
              <a:off x="4578" y="2987"/>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7" name="Oval 140"/>
            <p:cNvSpPr>
              <a:spLocks noChangeArrowheads="1"/>
            </p:cNvSpPr>
            <p:nvPr/>
          </p:nvSpPr>
          <p:spPr bwMode="auto">
            <a:xfrm flipV="1">
              <a:off x="4707" y="2656"/>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8" name="Oval 141"/>
            <p:cNvSpPr>
              <a:spLocks noChangeArrowheads="1"/>
            </p:cNvSpPr>
            <p:nvPr/>
          </p:nvSpPr>
          <p:spPr bwMode="auto">
            <a:xfrm flipV="1">
              <a:off x="4714" y="3664"/>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9" name="Rectangle 142"/>
            <p:cNvSpPr>
              <a:spLocks noChangeArrowheads="1"/>
            </p:cNvSpPr>
            <p:nvPr/>
          </p:nvSpPr>
          <p:spPr bwMode="auto">
            <a:xfrm>
              <a:off x="4794" y="3067"/>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0" name="Line 143"/>
            <p:cNvSpPr>
              <a:spLocks noChangeShapeType="1"/>
            </p:cNvSpPr>
            <p:nvPr/>
          </p:nvSpPr>
          <p:spPr bwMode="auto">
            <a:xfrm flipH="1">
              <a:off x="4740" y="2688"/>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1" name="Line 144"/>
            <p:cNvSpPr>
              <a:spLocks noChangeShapeType="1"/>
            </p:cNvSpPr>
            <p:nvPr/>
          </p:nvSpPr>
          <p:spPr bwMode="auto">
            <a:xfrm>
              <a:off x="4740" y="3303"/>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2" name="Line 145"/>
            <p:cNvSpPr>
              <a:spLocks noChangeShapeType="1"/>
            </p:cNvSpPr>
            <p:nvPr/>
          </p:nvSpPr>
          <p:spPr bwMode="auto">
            <a:xfrm>
              <a:off x="3771" y="2685"/>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3" name="Rectangle 146"/>
            <p:cNvSpPr>
              <a:spLocks noChangeArrowheads="1"/>
            </p:cNvSpPr>
            <p:nvPr/>
          </p:nvSpPr>
          <p:spPr bwMode="auto">
            <a:xfrm rot="5400000">
              <a:off x="4207" y="2559"/>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4" name="Rectangle 147"/>
            <p:cNvSpPr>
              <a:spLocks noChangeArrowheads="1"/>
            </p:cNvSpPr>
            <p:nvPr/>
          </p:nvSpPr>
          <p:spPr bwMode="auto">
            <a:xfrm>
              <a:off x="3931" y="3113"/>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204V</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5" name="Rectangle 148"/>
            <p:cNvSpPr>
              <a:spLocks noChangeArrowheads="1"/>
            </p:cNvSpPr>
            <p:nvPr/>
          </p:nvSpPr>
          <p:spPr bwMode="auto">
            <a:xfrm>
              <a:off x="4023" y="2432"/>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30</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6" name="Rectangle 149"/>
            <p:cNvSpPr>
              <a:spLocks noChangeArrowheads="1"/>
            </p:cNvSpPr>
            <p:nvPr/>
          </p:nvSpPr>
          <p:spPr bwMode="auto">
            <a:xfrm>
              <a:off x="3751" y="2886"/>
              <a:ext cx="23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7" name="Rectangle 150"/>
            <p:cNvSpPr>
              <a:spLocks noChangeArrowheads="1"/>
            </p:cNvSpPr>
            <p:nvPr/>
          </p:nvSpPr>
          <p:spPr bwMode="auto">
            <a:xfrm>
              <a:off x="3751" y="3340"/>
              <a:ext cx="30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zh-CN" altLang="en-US"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8" name="Rectangle 151"/>
            <p:cNvSpPr>
              <a:spLocks noChangeArrowheads="1"/>
            </p:cNvSpPr>
            <p:nvPr/>
          </p:nvSpPr>
          <p:spPr bwMode="auto">
            <a:xfrm rot="5400000">
              <a:off x="4603" y="3121"/>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9" name="Line 152"/>
            <p:cNvSpPr>
              <a:spLocks noChangeShapeType="1"/>
            </p:cNvSpPr>
            <p:nvPr/>
          </p:nvSpPr>
          <p:spPr bwMode="auto">
            <a:xfrm>
              <a:off x="3787" y="2687"/>
              <a:ext cx="0" cy="9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0" name="Oval 153"/>
            <p:cNvSpPr>
              <a:spLocks noChangeArrowheads="1"/>
            </p:cNvSpPr>
            <p:nvPr/>
          </p:nvSpPr>
          <p:spPr bwMode="auto">
            <a:xfrm>
              <a:off x="3651" y="3067"/>
              <a:ext cx="273" cy="273"/>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1" name="Line 159"/>
            <p:cNvSpPr>
              <a:spLocks noChangeShapeType="1"/>
            </p:cNvSpPr>
            <p:nvPr/>
          </p:nvSpPr>
          <p:spPr bwMode="auto">
            <a:xfrm>
              <a:off x="4749" y="3702"/>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2" name="Line 160"/>
            <p:cNvSpPr>
              <a:spLocks noChangeShapeType="1"/>
            </p:cNvSpPr>
            <p:nvPr/>
          </p:nvSpPr>
          <p:spPr bwMode="auto">
            <a:xfrm>
              <a:off x="4658" y="3793"/>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63" name="Text Box 161"/>
            <p:cNvSpPr txBox="1">
              <a:spLocks noChangeArrowheads="1"/>
            </p:cNvSpPr>
            <p:nvPr/>
          </p:nvSpPr>
          <p:spPr bwMode="auto">
            <a:xfrm>
              <a:off x="4150" y="3793"/>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grpSp>
      <p:sp>
        <p:nvSpPr>
          <p:cNvPr id="5" name="灯片编号占位符 4"/>
          <p:cNvSpPr>
            <a:spLocks noGrp="1"/>
          </p:cNvSpPr>
          <p:nvPr>
            <p:ph type="sldNum" sz="quarter" idx="12"/>
          </p:nvPr>
        </p:nvSpPr>
        <p:spPr/>
        <p:txBody>
          <a:bodyPr/>
          <a:lstStyle/>
          <a:p>
            <a:pPr>
              <a:defRPr/>
            </a:pPr>
            <a:fld id="{7F6DAC6E-051E-43BF-A607-F6F4F9E2F096}" type="slidenum">
              <a:rPr lang="en-US" altLang="zh-CN" smtClean="0"/>
              <a:pPr>
                <a:defRPr/>
              </a:pPr>
              <a:t>15</a:t>
            </a:fld>
            <a:endParaRPr lang="en-US" altLang="zh-CN"/>
          </a:p>
        </p:txBody>
      </p:sp>
    </p:spTree>
    <p:extLst>
      <p:ext uri="{BB962C8B-B14F-4D97-AF65-F5344CB8AC3E}">
        <p14:creationId xmlns:p14="http://schemas.microsoft.com/office/powerpoint/2010/main" val="2836477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26396"/>
                                        </p:tgtEl>
                                        <p:attrNameLst>
                                          <p:attrName>style.visibility</p:attrName>
                                        </p:attrNameLst>
                                      </p:cBhvr>
                                      <p:to>
                                        <p:strVal val="visible"/>
                                      </p:to>
                                    </p:set>
                                    <p:animEffect transition="in" filter="wipe(up)">
                                      <p:cBhvr>
                                        <p:cTn id="7" dur="500"/>
                                        <p:tgtEl>
                                          <p:spTgt spid="526396"/>
                                        </p:tgtEl>
                                      </p:cBhvr>
                                    </p:animEffect>
                                  </p:childTnLst>
                                </p:cTn>
                              </p:par>
                            </p:childTnLst>
                          </p:cTn>
                        </p:par>
                        <p:par>
                          <p:cTn id="8" fill="hold" nodeType="afterGroup">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26397"/>
                                        </p:tgtEl>
                                        <p:attrNameLst>
                                          <p:attrName>style.visibility</p:attrName>
                                        </p:attrNameLst>
                                      </p:cBhvr>
                                      <p:to>
                                        <p:strVal val="visible"/>
                                      </p:to>
                                    </p:set>
                                    <p:anim calcmode="lin" valueType="num">
                                      <p:cBhvr additive="base">
                                        <p:cTn id="17" dur="500" fill="hold"/>
                                        <p:tgtEl>
                                          <p:spTgt spid="526397"/>
                                        </p:tgtEl>
                                        <p:attrNameLst>
                                          <p:attrName>ppt_x</p:attrName>
                                        </p:attrNameLst>
                                      </p:cBhvr>
                                      <p:tavLst>
                                        <p:tav tm="0">
                                          <p:val>
                                            <p:strVal val="#ppt_x"/>
                                          </p:val>
                                        </p:tav>
                                        <p:tav tm="100000">
                                          <p:val>
                                            <p:strVal val="#ppt_x"/>
                                          </p:val>
                                        </p:tav>
                                      </p:tavLst>
                                    </p:anim>
                                    <p:anim calcmode="lin" valueType="num">
                                      <p:cBhvr additive="base">
                                        <p:cTn id="18" dur="500" fill="hold"/>
                                        <p:tgtEl>
                                          <p:spTgt spid="52639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26398"/>
                                        </p:tgtEl>
                                        <p:attrNameLst>
                                          <p:attrName>style.visibility</p:attrName>
                                        </p:attrNameLst>
                                      </p:cBhvr>
                                      <p:to>
                                        <p:strVal val="visible"/>
                                      </p:to>
                                    </p:set>
                                    <p:anim calcmode="lin" valueType="num">
                                      <p:cBhvr additive="base">
                                        <p:cTn id="21" dur="500" fill="hold"/>
                                        <p:tgtEl>
                                          <p:spTgt spid="526398"/>
                                        </p:tgtEl>
                                        <p:attrNameLst>
                                          <p:attrName>ppt_x</p:attrName>
                                        </p:attrNameLst>
                                      </p:cBhvr>
                                      <p:tavLst>
                                        <p:tav tm="0">
                                          <p:val>
                                            <p:strVal val="#ppt_x"/>
                                          </p:val>
                                        </p:tav>
                                        <p:tav tm="100000">
                                          <p:val>
                                            <p:strVal val="#ppt_x"/>
                                          </p:val>
                                        </p:tav>
                                      </p:tavLst>
                                    </p:anim>
                                    <p:anim calcmode="lin" valueType="num">
                                      <p:cBhvr additive="base">
                                        <p:cTn id="22" dur="500" fill="hold"/>
                                        <p:tgtEl>
                                          <p:spTgt spid="52639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96" grpId="0"/>
      <p:bldP spid="526397" grpId="0"/>
      <p:bldP spid="52639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5003800" y="549275"/>
            <a:ext cx="3857625" cy="2617788"/>
            <a:chOff x="2916" y="436"/>
            <a:chExt cx="2430" cy="1649"/>
          </a:xfrm>
        </p:grpSpPr>
        <p:sp>
          <p:nvSpPr>
            <p:cNvPr id="19559" name="Rectangle 5"/>
            <p:cNvSpPr>
              <a:spLocks noChangeArrowheads="1"/>
            </p:cNvSpPr>
            <p:nvPr/>
          </p:nvSpPr>
          <p:spPr bwMode="auto">
            <a:xfrm>
              <a:off x="3994" y="1480"/>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0" name="Rectangle 6"/>
            <p:cNvSpPr>
              <a:spLocks noChangeArrowheads="1"/>
            </p:cNvSpPr>
            <p:nvPr/>
          </p:nvSpPr>
          <p:spPr bwMode="auto">
            <a:xfrm>
              <a:off x="3901" y="482"/>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1" name="Text Box 7"/>
            <p:cNvSpPr txBox="1">
              <a:spLocks noChangeArrowheads="1"/>
            </p:cNvSpPr>
            <p:nvPr/>
          </p:nvSpPr>
          <p:spPr bwMode="auto">
            <a:xfrm>
              <a:off x="3319" y="781"/>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2" name="Line 8"/>
            <p:cNvSpPr>
              <a:spLocks noChangeShapeType="1"/>
            </p:cNvSpPr>
            <p:nvPr/>
          </p:nvSpPr>
          <p:spPr bwMode="auto">
            <a:xfrm flipV="1">
              <a:off x="3650" y="689"/>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3" name="Line 9"/>
            <p:cNvSpPr>
              <a:spLocks noChangeShapeType="1"/>
            </p:cNvSpPr>
            <p:nvPr/>
          </p:nvSpPr>
          <p:spPr bwMode="auto">
            <a:xfrm>
              <a:off x="3036" y="1705"/>
              <a:ext cx="1931"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4" name="Line 10"/>
            <p:cNvSpPr>
              <a:spLocks noChangeShapeType="1"/>
            </p:cNvSpPr>
            <p:nvPr/>
          </p:nvSpPr>
          <p:spPr bwMode="auto">
            <a:xfrm>
              <a:off x="3060" y="692"/>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5" name="Rectangle 11"/>
            <p:cNvSpPr>
              <a:spLocks noChangeArrowheads="1"/>
            </p:cNvSpPr>
            <p:nvPr/>
          </p:nvSpPr>
          <p:spPr bwMode="auto">
            <a:xfrm>
              <a:off x="3843" y="991"/>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6" name="Oval 12"/>
            <p:cNvSpPr>
              <a:spLocks noChangeArrowheads="1"/>
            </p:cNvSpPr>
            <p:nvPr/>
          </p:nvSpPr>
          <p:spPr bwMode="auto">
            <a:xfrm flipV="1">
              <a:off x="3972" y="660"/>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7" name="Oval 13"/>
            <p:cNvSpPr>
              <a:spLocks noChangeArrowheads="1"/>
            </p:cNvSpPr>
            <p:nvPr/>
          </p:nvSpPr>
          <p:spPr bwMode="auto">
            <a:xfrm flipV="1">
              <a:off x="3979" y="1668"/>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8" name="Rectangle 14"/>
            <p:cNvSpPr>
              <a:spLocks noChangeArrowheads="1"/>
            </p:cNvSpPr>
            <p:nvPr/>
          </p:nvSpPr>
          <p:spPr bwMode="auto">
            <a:xfrm>
              <a:off x="4059" y="1071"/>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69" name="Line 15"/>
            <p:cNvSpPr>
              <a:spLocks noChangeShapeType="1"/>
            </p:cNvSpPr>
            <p:nvPr/>
          </p:nvSpPr>
          <p:spPr bwMode="auto">
            <a:xfrm flipH="1">
              <a:off x="4005" y="692"/>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0" name="Line 16"/>
            <p:cNvSpPr>
              <a:spLocks noChangeShapeType="1"/>
            </p:cNvSpPr>
            <p:nvPr/>
          </p:nvSpPr>
          <p:spPr bwMode="auto">
            <a:xfrm>
              <a:off x="4005" y="1307"/>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1" name="Line 17"/>
            <p:cNvSpPr>
              <a:spLocks noChangeShapeType="1"/>
            </p:cNvSpPr>
            <p:nvPr/>
          </p:nvSpPr>
          <p:spPr bwMode="auto">
            <a:xfrm>
              <a:off x="4572" y="689"/>
              <a:ext cx="3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2" name="Line 18"/>
            <p:cNvSpPr>
              <a:spLocks noChangeShapeType="1"/>
            </p:cNvSpPr>
            <p:nvPr/>
          </p:nvSpPr>
          <p:spPr bwMode="auto">
            <a:xfrm>
              <a:off x="3036" y="689"/>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3" name="Rectangle 19"/>
            <p:cNvSpPr>
              <a:spLocks noChangeArrowheads="1"/>
            </p:cNvSpPr>
            <p:nvPr/>
          </p:nvSpPr>
          <p:spPr bwMode="auto">
            <a:xfrm rot="5400000">
              <a:off x="3472" y="563"/>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4" name="Rectangle 20"/>
            <p:cNvSpPr>
              <a:spLocks noChangeArrowheads="1"/>
            </p:cNvSpPr>
            <p:nvPr/>
          </p:nvSpPr>
          <p:spPr bwMode="auto">
            <a:xfrm>
              <a:off x="3196" y="1117"/>
              <a:ext cx="32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204V</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5" name="Rectangle 21"/>
            <p:cNvSpPr>
              <a:spLocks noChangeArrowheads="1"/>
            </p:cNvSpPr>
            <p:nvPr/>
          </p:nvSpPr>
          <p:spPr bwMode="auto">
            <a:xfrm>
              <a:off x="3288" y="436"/>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30</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6" name="Rectangle 22"/>
            <p:cNvSpPr>
              <a:spLocks noChangeArrowheads="1"/>
            </p:cNvSpPr>
            <p:nvPr/>
          </p:nvSpPr>
          <p:spPr bwMode="auto">
            <a:xfrm>
              <a:off x="3016" y="890"/>
              <a:ext cx="23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7" name="Rectangle 23"/>
            <p:cNvSpPr>
              <a:spLocks noChangeArrowheads="1"/>
            </p:cNvSpPr>
            <p:nvPr/>
          </p:nvSpPr>
          <p:spPr bwMode="auto">
            <a:xfrm>
              <a:off x="3016" y="1344"/>
              <a:ext cx="30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zh-CN" altLang="en-US"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8" name="Rectangle 24"/>
            <p:cNvSpPr>
              <a:spLocks noChangeArrowheads="1"/>
            </p:cNvSpPr>
            <p:nvPr/>
          </p:nvSpPr>
          <p:spPr bwMode="auto">
            <a:xfrm rot="5400000">
              <a:off x="4396" y="554"/>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79" name="Rectangle 25"/>
            <p:cNvSpPr>
              <a:spLocks noChangeArrowheads="1"/>
            </p:cNvSpPr>
            <p:nvPr/>
          </p:nvSpPr>
          <p:spPr bwMode="auto">
            <a:xfrm rot="5400000">
              <a:off x="3868" y="1125"/>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0" name="Line 26"/>
            <p:cNvSpPr>
              <a:spLocks noChangeShapeType="1"/>
            </p:cNvSpPr>
            <p:nvPr/>
          </p:nvSpPr>
          <p:spPr bwMode="auto">
            <a:xfrm>
              <a:off x="3052" y="691"/>
              <a:ext cx="0" cy="9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1" name="Oval 27"/>
            <p:cNvSpPr>
              <a:spLocks noChangeArrowheads="1"/>
            </p:cNvSpPr>
            <p:nvPr/>
          </p:nvSpPr>
          <p:spPr bwMode="auto">
            <a:xfrm>
              <a:off x="2916" y="1071"/>
              <a:ext cx="273" cy="273"/>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2" name="Rectangle 28"/>
            <p:cNvSpPr>
              <a:spLocks noChangeArrowheads="1"/>
            </p:cNvSpPr>
            <p:nvPr/>
          </p:nvSpPr>
          <p:spPr bwMode="auto">
            <a:xfrm>
              <a:off x="4800" y="978"/>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3" name="Line 29"/>
            <p:cNvSpPr>
              <a:spLocks noChangeShapeType="1"/>
            </p:cNvSpPr>
            <p:nvPr/>
          </p:nvSpPr>
          <p:spPr bwMode="auto">
            <a:xfrm flipH="1">
              <a:off x="4962" y="679"/>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4" name="Line 30"/>
            <p:cNvSpPr>
              <a:spLocks noChangeShapeType="1"/>
            </p:cNvSpPr>
            <p:nvPr/>
          </p:nvSpPr>
          <p:spPr bwMode="auto">
            <a:xfrm>
              <a:off x="4967" y="1298"/>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5" name="Rectangle 31"/>
            <p:cNvSpPr>
              <a:spLocks noChangeArrowheads="1"/>
            </p:cNvSpPr>
            <p:nvPr/>
          </p:nvSpPr>
          <p:spPr bwMode="auto">
            <a:xfrm rot="5400000">
              <a:off x="4825" y="1112"/>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6" name="Rectangle 32"/>
            <p:cNvSpPr>
              <a:spLocks noChangeArrowheads="1"/>
            </p:cNvSpPr>
            <p:nvPr/>
          </p:nvSpPr>
          <p:spPr bwMode="auto">
            <a:xfrm>
              <a:off x="4195" y="436"/>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7" name="Rectangle 33"/>
            <p:cNvSpPr>
              <a:spLocks noChangeArrowheads="1"/>
            </p:cNvSpPr>
            <p:nvPr/>
          </p:nvSpPr>
          <p:spPr bwMode="auto">
            <a:xfrm>
              <a:off x="4830" y="482"/>
              <a:ext cx="2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8" name="Rectangle 34"/>
            <p:cNvSpPr>
              <a:spLocks noChangeArrowheads="1"/>
            </p:cNvSpPr>
            <p:nvPr/>
          </p:nvSpPr>
          <p:spPr bwMode="auto">
            <a:xfrm>
              <a:off x="5012" y="1071"/>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89" name="Line 35"/>
            <p:cNvSpPr>
              <a:spLocks noChangeShapeType="1"/>
            </p:cNvSpPr>
            <p:nvPr/>
          </p:nvSpPr>
          <p:spPr bwMode="auto">
            <a:xfrm>
              <a:off x="4014" y="1706"/>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90" name="Line 36"/>
            <p:cNvSpPr>
              <a:spLocks noChangeShapeType="1"/>
            </p:cNvSpPr>
            <p:nvPr/>
          </p:nvSpPr>
          <p:spPr bwMode="auto">
            <a:xfrm>
              <a:off x="3923" y="1797"/>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91" name="Text Box 37"/>
            <p:cNvSpPr txBox="1">
              <a:spLocks noChangeArrowheads="1"/>
            </p:cNvSpPr>
            <p:nvPr/>
          </p:nvSpPr>
          <p:spPr bwMode="auto">
            <a:xfrm>
              <a:off x="3788" y="1797"/>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grpSp>
      <p:sp>
        <p:nvSpPr>
          <p:cNvPr id="527398" name="Text Box 38"/>
          <p:cNvSpPr txBox="1">
            <a:spLocks noChangeArrowheads="1"/>
          </p:cNvSpPr>
          <p:nvPr/>
        </p:nvSpPr>
        <p:spPr bwMode="auto">
          <a:xfrm>
            <a:off x="684213" y="692150"/>
            <a:ext cx="2089150"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方法二：</a:t>
            </a:r>
          </a:p>
        </p:txBody>
      </p:sp>
      <p:sp>
        <p:nvSpPr>
          <p:cNvPr id="527399" name="Text Box 39"/>
          <p:cNvSpPr txBox="1">
            <a:spLocks noChangeArrowheads="1"/>
          </p:cNvSpPr>
          <p:nvPr/>
        </p:nvSpPr>
        <p:spPr bwMode="auto">
          <a:xfrm>
            <a:off x="684213" y="1196975"/>
            <a:ext cx="424815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通过</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电源等效变换</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的方法将原电路依次化简为图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(e)</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(f)</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的形式</a:t>
            </a:r>
          </a:p>
        </p:txBody>
      </p:sp>
      <p:grpSp>
        <p:nvGrpSpPr>
          <p:cNvPr id="3" name="Group 125"/>
          <p:cNvGrpSpPr>
            <a:grpSpLocks/>
          </p:cNvGrpSpPr>
          <p:nvPr/>
        </p:nvGrpSpPr>
        <p:grpSpPr bwMode="auto">
          <a:xfrm>
            <a:off x="107950" y="3332163"/>
            <a:ext cx="2981326" cy="2617787"/>
            <a:chOff x="113" y="2099"/>
            <a:chExt cx="1878" cy="1649"/>
          </a:xfrm>
        </p:grpSpPr>
        <p:sp>
          <p:nvSpPr>
            <p:cNvPr id="19522" name="Rectangle 41"/>
            <p:cNvSpPr>
              <a:spLocks noChangeArrowheads="1"/>
            </p:cNvSpPr>
            <p:nvPr/>
          </p:nvSpPr>
          <p:spPr bwMode="auto">
            <a:xfrm>
              <a:off x="1191" y="3143"/>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3" name="Rectangle 42"/>
            <p:cNvSpPr>
              <a:spLocks noChangeArrowheads="1"/>
            </p:cNvSpPr>
            <p:nvPr/>
          </p:nvSpPr>
          <p:spPr bwMode="auto">
            <a:xfrm>
              <a:off x="1098" y="2145"/>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4" name="Text Box 43"/>
            <p:cNvSpPr txBox="1">
              <a:spLocks noChangeArrowheads="1"/>
            </p:cNvSpPr>
            <p:nvPr/>
          </p:nvSpPr>
          <p:spPr bwMode="auto">
            <a:xfrm>
              <a:off x="516" y="244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5" name="Line 44"/>
            <p:cNvSpPr>
              <a:spLocks noChangeShapeType="1"/>
            </p:cNvSpPr>
            <p:nvPr/>
          </p:nvSpPr>
          <p:spPr bwMode="auto">
            <a:xfrm flipV="1">
              <a:off x="847" y="2352"/>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6" name="Line 45"/>
            <p:cNvSpPr>
              <a:spLocks noChangeShapeType="1"/>
            </p:cNvSpPr>
            <p:nvPr/>
          </p:nvSpPr>
          <p:spPr bwMode="auto">
            <a:xfrm>
              <a:off x="233" y="3368"/>
              <a:ext cx="167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7" name="Line 46"/>
            <p:cNvSpPr>
              <a:spLocks noChangeShapeType="1"/>
            </p:cNvSpPr>
            <p:nvPr/>
          </p:nvSpPr>
          <p:spPr bwMode="auto">
            <a:xfrm>
              <a:off x="257" y="2355"/>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8" name="Rectangle 47"/>
            <p:cNvSpPr>
              <a:spLocks noChangeArrowheads="1"/>
            </p:cNvSpPr>
            <p:nvPr/>
          </p:nvSpPr>
          <p:spPr bwMode="auto">
            <a:xfrm>
              <a:off x="1040" y="2654"/>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9" name="Oval 48"/>
            <p:cNvSpPr>
              <a:spLocks noChangeArrowheads="1"/>
            </p:cNvSpPr>
            <p:nvPr/>
          </p:nvSpPr>
          <p:spPr bwMode="auto">
            <a:xfrm flipV="1">
              <a:off x="1169" y="2323"/>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0" name="Oval 49"/>
            <p:cNvSpPr>
              <a:spLocks noChangeArrowheads="1"/>
            </p:cNvSpPr>
            <p:nvPr/>
          </p:nvSpPr>
          <p:spPr bwMode="auto">
            <a:xfrm flipV="1">
              <a:off x="1176" y="3331"/>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1" name="Rectangle 50"/>
            <p:cNvSpPr>
              <a:spLocks noChangeArrowheads="1"/>
            </p:cNvSpPr>
            <p:nvPr/>
          </p:nvSpPr>
          <p:spPr bwMode="auto">
            <a:xfrm>
              <a:off x="1256" y="2734"/>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2" name="Line 51"/>
            <p:cNvSpPr>
              <a:spLocks noChangeShapeType="1"/>
            </p:cNvSpPr>
            <p:nvPr/>
          </p:nvSpPr>
          <p:spPr bwMode="auto">
            <a:xfrm flipH="1">
              <a:off x="1202" y="2355"/>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3" name="Line 52"/>
            <p:cNvSpPr>
              <a:spLocks noChangeShapeType="1"/>
            </p:cNvSpPr>
            <p:nvPr/>
          </p:nvSpPr>
          <p:spPr bwMode="auto">
            <a:xfrm>
              <a:off x="1202" y="2970"/>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4" name="Line 53"/>
            <p:cNvSpPr>
              <a:spLocks noChangeShapeType="1"/>
            </p:cNvSpPr>
            <p:nvPr/>
          </p:nvSpPr>
          <p:spPr bwMode="auto">
            <a:xfrm>
              <a:off x="1519" y="2352"/>
              <a:ext cx="3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5" name="Line 54"/>
            <p:cNvSpPr>
              <a:spLocks noChangeShapeType="1"/>
            </p:cNvSpPr>
            <p:nvPr/>
          </p:nvSpPr>
          <p:spPr bwMode="auto">
            <a:xfrm flipV="1">
              <a:off x="233" y="2350"/>
              <a:ext cx="6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6" name="Rectangle 56"/>
            <p:cNvSpPr>
              <a:spLocks noChangeArrowheads="1"/>
            </p:cNvSpPr>
            <p:nvPr/>
          </p:nvSpPr>
          <p:spPr bwMode="auto">
            <a:xfrm>
              <a:off x="265" y="2507"/>
              <a:ext cx="28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6.8A</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7" name="Rectangle 57"/>
            <p:cNvSpPr>
              <a:spLocks noChangeArrowheads="1"/>
            </p:cNvSpPr>
            <p:nvPr/>
          </p:nvSpPr>
          <p:spPr bwMode="auto">
            <a:xfrm>
              <a:off x="730" y="2734"/>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30</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8" name="Rectangle 60"/>
            <p:cNvSpPr>
              <a:spLocks noChangeArrowheads="1"/>
            </p:cNvSpPr>
            <p:nvPr/>
          </p:nvSpPr>
          <p:spPr bwMode="auto">
            <a:xfrm rot="5400000">
              <a:off x="1521" y="2235"/>
              <a:ext cx="112" cy="239"/>
            </a:xfrm>
            <a:prstGeom prst="rect">
              <a:avLst/>
            </a:prstGeom>
            <a:solidFill>
              <a:schemeClr val="bg1"/>
            </a:solidFill>
            <a:ln w="38100">
              <a:solidFill>
                <a:schemeClr val="tx1"/>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39" name="Rectangle 61"/>
            <p:cNvSpPr>
              <a:spLocks noChangeArrowheads="1"/>
            </p:cNvSpPr>
            <p:nvPr/>
          </p:nvSpPr>
          <p:spPr bwMode="auto">
            <a:xfrm rot="5400000">
              <a:off x="1065" y="2788"/>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0" name="Line 62"/>
            <p:cNvSpPr>
              <a:spLocks noChangeShapeType="1"/>
            </p:cNvSpPr>
            <p:nvPr/>
          </p:nvSpPr>
          <p:spPr bwMode="auto">
            <a:xfrm>
              <a:off x="249" y="2354"/>
              <a:ext cx="0" cy="10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1" name="Oval 63"/>
            <p:cNvSpPr>
              <a:spLocks noChangeArrowheads="1"/>
            </p:cNvSpPr>
            <p:nvPr/>
          </p:nvSpPr>
          <p:spPr bwMode="auto">
            <a:xfrm>
              <a:off x="113" y="2734"/>
              <a:ext cx="273" cy="273"/>
            </a:xfrm>
            <a:prstGeom prst="ellipse">
              <a:avLst/>
            </a:prstGeom>
            <a:solidFill>
              <a:schemeClr val="bg1"/>
            </a:solidFill>
            <a:ln w="38100" algn="ctr">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2" name="Line 65"/>
            <p:cNvSpPr>
              <a:spLocks noChangeShapeType="1"/>
            </p:cNvSpPr>
            <p:nvPr/>
          </p:nvSpPr>
          <p:spPr bwMode="auto">
            <a:xfrm flipH="1">
              <a:off x="1899" y="2342"/>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3" name="Line 66"/>
            <p:cNvSpPr>
              <a:spLocks noChangeShapeType="1"/>
            </p:cNvSpPr>
            <p:nvPr/>
          </p:nvSpPr>
          <p:spPr bwMode="auto">
            <a:xfrm>
              <a:off x="1904" y="2961"/>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4" name="Rectangle 67"/>
            <p:cNvSpPr>
              <a:spLocks noChangeArrowheads="1"/>
            </p:cNvSpPr>
            <p:nvPr/>
          </p:nvSpPr>
          <p:spPr bwMode="auto">
            <a:xfrm rot="5400000">
              <a:off x="1762" y="2775"/>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5" name="Rectangle 68"/>
            <p:cNvSpPr>
              <a:spLocks noChangeArrowheads="1"/>
            </p:cNvSpPr>
            <p:nvPr/>
          </p:nvSpPr>
          <p:spPr bwMode="auto">
            <a:xfrm>
              <a:off x="1392" y="2099"/>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6" name="Rectangle 69"/>
            <p:cNvSpPr>
              <a:spLocks noChangeArrowheads="1"/>
            </p:cNvSpPr>
            <p:nvPr/>
          </p:nvSpPr>
          <p:spPr bwMode="auto">
            <a:xfrm>
              <a:off x="1767" y="2145"/>
              <a:ext cx="2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7" name="Rectangle 70"/>
            <p:cNvSpPr>
              <a:spLocks noChangeArrowheads="1"/>
            </p:cNvSpPr>
            <p:nvPr/>
          </p:nvSpPr>
          <p:spPr bwMode="auto">
            <a:xfrm>
              <a:off x="1565" y="2750"/>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8" name="Line 71"/>
            <p:cNvSpPr>
              <a:spLocks noChangeShapeType="1"/>
            </p:cNvSpPr>
            <p:nvPr/>
          </p:nvSpPr>
          <p:spPr bwMode="auto">
            <a:xfrm>
              <a:off x="1211" y="3369"/>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49" name="Line 72"/>
            <p:cNvSpPr>
              <a:spLocks noChangeShapeType="1"/>
            </p:cNvSpPr>
            <p:nvPr/>
          </p:nvSpPr>
          <p:spPr bwMode="auto">
            <a:xfrm>
              <a:off x="1120" y="3460"/>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0" name="Text Box 73"/>
            <p:cNvSpPr txBox="1">
              <a:spLocks noChangeArrowheads="1"/>
            </p:cNvSpPr>
            <p:nvPr/>
          </p:nvSpPr>
          <p:spPr bwMode="auto">
            <a:xfrm>
              <a:off x="985" y="3460"/>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19551" name="Line 74"/>
            <p:cNvSpPr>
              <a:spLocks noChangeShapeType="1"/>
            </p:cNvSpPr>
            <p:nvPr/>
          </p:nvSpPr>
          <p:spPr bwMode="auto">
            <a:xfrm>
              <a:off x="113" y="2870"/>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2" name="Line 75"/>
            <p:cNvSpPr>
              <a:spLocks noChangeShapeType="1"/>
            </p:cNvSpPr>
            <p:nvPr/>
          </p:nvSpPr>
          <p:spPr bwMode="auto">
            <a:xfrm>
              <a:off x="249" y="2462"/>
              <a:ext cx="0" cy="136"/>
            </a:xfrm>
            <a:prstGeom prst="line">
              <a:avLst/>
            </a:prstGeom>
            <a:noFill/>
            <a:ln w="38100">
              <a:solidFill>
                <a:schemeClr val="tx1"/>
              </a:solidFill>
              <a:round/>
              <a:headEnd type="stealth" w="lg" len="me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3" name="Rectangle 78"/>
            <p:cNvSpPr>
              <a:spLocks noChangeArrowheads="1"/>
            </p:cNvSpPr>
            <p:nvPr/>
          </p:nvSpPr>
          <p:spPr bwMode="auto">
            <a:xfrm>
              <a:off x="597" y="2653"/>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4" name="Oval 79"/>
            <p:cNvSpPr>
              <a:spLocks noChangeArrowheads="1"/>
            </p:cNvSpPr>
            <p:nvPr/>
          </p:nvSpPr>
          <p:spPr bwMode="auto">
            <a:xfrm flipV="1">
              <a:off x="726" y="2316"/>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5" name="Oval 80"/>
            <p:cNvSpPr>
              <a:spLocks noChangeArrowheads="1"/>
            </p:cNvSpPr>
            <p:nvPr/>
          </p:nvSpPr>
          <p:spPr bwMode="auto">
            <a:xfrm flipV="1">
              <a:off x="733" y="3330"/>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6" name="Line 81"/>
            <p:cNvSpPr>
              <a:spLocks noChangeShapeType="1"/>
            </p:cNvSpPr>
            <p:nvPr/>
          </p:nvSpPr>
          <p:spPr bwMode="auto">
            <a:xfrm flipH="1">
              <a:off x="754" y="2354"/>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7" name="Line 82"/>
            <p:cNvSpPr>
              <a:spLocks noChangeShapeType="1"/>
            </p:cNvSpPr>
            <p:nvPr/>
          </p:nvSpPr>
          <p:spPr bwMode="auto">
            <a:xfrm>
              <a:off x="759" y="2969"/>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58" name="Rectangle 83"/>
            <p:cNvSpPr>
              <a:spLocks noChangeArrowheads="1"/>
            </p:cNvSpPr>
            <p:nvPr/>
          </p:nvSpPr>
          <p:spPr bwMode="auto">
            <a:xfrm rot="5400000">
              <a:off x="622" y="2787"/>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 name="Group 126"/>
          <p:cNvGrpSpPr>
            <a:grpSpLocks/>
          </p:cNvGrpSpPr>
          <p:nvPr/>
        </p:nvGrpSpPr>
        <p:grpSpPr bwMode="auto">
          <a:xfrm>
            <a:off x="3216276" y="3332163"/>
            <a:ext cx="2436813" cy="2617787"/>
            <a:chOff x="2643" y="2069"/>
            <a:chExt cx="1535" cy="1649"/>
          </a:xfrm>
        </p:grpSpPr>
        <p:sp>
          <p:nvSpPr>
            <p:cNvPr id="19492" name="Rectangle 86"/>
            <p:cNvSpPr>
              <a:spLocks noChangeArrowheads="1"/>
            </p:cNvSpPr>
            <p:nvPr/>
          </p:nvSpPr>
          <p:spPr bwMode="auto">
            <a:xfrm>
              <a:off x="3268" y="3113"/>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3" name="Rectangle 87"/>
            <p:cNvSpPr>
              <a:spLocks noChangeArrowheads="1"/>
            </p:cNvSpPr>
            <p:nvPr/>
          </p:nvSpPr>
          <p:spPr bwMode="auto">
            <a:xfrm>
              <a:off x="3175" y="2115"/>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4" name="Text Box 88"/>
            <p:cNvSpPr txBox="1">
              <a:spLocks noChangeArrowheads="1"/>
            </p:cNvSpPr>
            <p:nvPr/>
          </p:nvSpPr>
          <p:spPr bwMode="auto">
            <a:xfrm>
              <a:off x="3046" y="241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5" name="Line 89"/>
            <p:cNvSpPr>
              <a:spLocks noChangeShapeType="1"/>
            </p:cNvSpPr>
            <p:nvPr/>
          </p:nvSpPr>
          <p:spPr bwMode="auto">
            <a:xfrm flipV="1">
              <a:off x="3377" y="2322"/>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6" name="Line 90"/>
            <p:cNvSpPr>
              <a:spLocks noChangeShapeType="1"/>
            </p:cNvSpPr>
            <p:nvPr/>
          </p:nvSpPr>
          <p:spPr bwMode="auto">
            <a:xfrm>
              <a:off x="2763" y="3338"/>
              <a:ext cx="1308"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7" name="Line 91"/>
            <p:cNvSpPr>
              <a:spLocks noChangeShapeType="1"/>
            </p:cNvSpPr>
            <p:nvPr/>
          </p:nvSpPr>
          <p:spPr bwMode="auto">
            <a:xfrm>
              <a:off x="2787" y="2325"/>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8" name="Rectangle 92"/>
            <p:cNvSpPr>
              <a:spLocks noChangeArrowheads="1"/>
            </p:cNvSpPr>
            <p:nvPr/>
          </p:nvSpPr>
          <p:spPr bwMode="auto">
            <a:xfrm>
              <a:off x="3117" y="2624"/>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9" name="Oval 93"/>
            <p:cNvSpPr>
              <a:spLocks noChangeArrowheads="1"/>
            </p:cNvSpPr>
            <p:nvPr/>
          </p:nvSpPr>
          <p:spPr bwMode="auto">
            <a:xfrm flipV="1">
              <a:off x="3246" y="2293"/>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0" name="Oval 94"/>
            <p:cNvSpPr>
              <a:spLocks noChangeArrowheads="1"/>
            </p:cNvSpPr>
            <p:nvPr/>
          </p:nvSpPr>
          <p:spPr bwMode="auto">
            <a:xfrm flipV="1">
              <a:off x="3253" y="3301"/>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1" name="Rectangle 95"/>
            <p:cNvSpPr>
              <a:spLocks noChangeArrowheads="1"/>
            </p:cNvSpPr>
            <p:nvPr/>
          </p:nvSpPr>
          <p:spPr bwMode="auto">
            <a:xfrm>
              <a:off x="3379" y="2704"/>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5</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2" name="Line 96"/>
            <p:cNvSpPr>
              <a:spLocks noChangeShapeType="1"/>
            </p:cNvSpPr>
            <p:nvPr/>
          </p:nvSpPr>
          <p:spPr bwMode="auto">
            <a:xfrm flipH="1">
              <a:off x="3279" y="2325"/>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3" name="Line 97"/>
            <p:cNvSpPr>
              <a:spLocks noChangeShapeType="1"/>
            </p:cNvSpPr>
            <p:nvPr/>
          </p:nvSpPr>
          <p:spPr bwMode="auto">
            <a:xfrm>
              <a:off x="3279" y="2940"/>
              <a:ext cx="1" cy="4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4" name="Line 99"/>
            <p:cNvSpPr>
              <a:spLocks noChangeShapeType="1"/>
            </p:cNvSpPr>
            <p:nvPr/>
          </p:nvSpPr>
          <p:spPr bwMode="auto">
            <a:xfrm flipV="1">
              <a:off x="2763" y="2320"/>
              <a:ext cx="6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5" name="Rectangle 100"/>
            <p:cNvSpPr>
              <a:spLocks noChangeArrowheads="1"/>
            </p:cNvSpPr>
            <p:nvPr/>
          </p:nvSpPr>
          <p:spPr bwMode="auto">
            <a:xfrm>
              <a:off x="2795" y="2477"/>
              <a:ext cx="28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6.8A</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6" name="Rectangle 102"/>
            <p:cNvSpPr>
              <a:spLocks noChangeArrowheads="1"/>
            </p:cNvSpPr>
            <p:nvPr/>
          </p:nvSpPr>
          <p:spPr bwMode="auto">
            <a:xfrm rot="5400000">
              <a:off x="3624" y="2205"/>
              <a:ext cx="112" cy="239"/>
            </a:xfrm>
            <a:prstGeom prst="rect">
              <a:avLst/>
            </a:prstGeom>
            <a:solidFill>
              <a:schemeClr val="bg1"/>
            </a:solidFill>
            <a:ln w="38100">
              <a:solidFill>
                <a:schemeClr val="tx1"/>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7" name="Rectangle 103"/>
            <p:cNvSpPr>
              <a:spLocks noChangeArrowheads="1"/>
            </p:cNvSpPr>
            <p:nvPr/>
          </p:nvSpPr>
          <p:spPr bwMode="auto">
            <a:xfrm rot="5400000">
              <a:off x="3142" y="2758"/>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8" name="Line 104"/>
            <p:cNvSpPr>
              <a:spLocks noChangeShapeType="1"/>
            </p:cNvSpPr>
            <p:nvPr/>
          </p:nvSpPr>
          <p:spPr bwMode="auto">
            <a:xfrm>
              <a:off x="2779" y="2324"/>
              <a:ext cx="0" cy="10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09" name="Oval 105"/>
            <p:cNvSpPr>
              <a:spLocks noChangeArrowheads="1"/>
            </p:cNvSpPr>
            <p:nvPr/>
          </p:nvSpPr>
          <p:spPr bwMode="auto">
            <a:xfrm>
              <a:off x="2643" y="2704"/>
              <a:ext cx="273" cy="273"/>
            </a:xfrm>
            <a:prstGeom prst="ellipse">
              <a:avLst/>
            </a:prstGeom>
            <a:solidFill>
              <a:schemeClr val="bg1"/>
            </a:solidFill>
            <a:ln w="38100" algn="ctr">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0" name="Rectangle 106"/>
            <p:cNvSpPr>
              <a:spLocks noChangeArrowheads="1"/>
            </p:cNvSpPr>
            <p:nvPr/>
          </p:nvSpPr>
          <p:spPr bwMode="auto">
            <a:xfrm>
              <a:off x="3915" y="2611"/>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1" name="Line 107"/>
            <p:cNvSpPr>
              <a:spLocks noChangeShapeType="1"/>
            </p:cNvSpPr>
            <p:nvPr/>
          </p:nvSpPr>
          <p:spPr bwMode="auto">
            <a:xfrm flipH="1">
              <a:off x="4077" y="2312"/>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2" name="Line 108"/>
            <p:cNvSpPr>
              <a:spLocks noChangeShapeType="1"/>
            </p:cNvSpPr>
            <p:nvPr/>
          </p:nvSpPr>
          <p:spPr bwMode="auto">
            <a:xfrm>
              <a:off x="4082" y="2931"/>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3" name="Rectangle 109"/>
            <p:cNvSpPr>
              <a:spLocks noChangeArrowheads="1"/>
            </p:cNvSpPr>
            <p:nvPr/>
          </p:nvSpPr>
          <p:spPr bwMode="auto">
            <a:xfrm rot="5400000">
              <a:off x="3940" y="2745"/>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4" name="Rectangle 110"/>
            <p:cNvSpPr>
              <a:spLocks noChangeArrowheads="1"/>
            </p:cNvSpPr>
            <p:nvPr/>
          </p:nvSpPr>
          <p:spPr bwMode="auto">
            <a:xfrm>
              <a:off x="3427" y="2069"/>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5" name="Rectangle 111"/>
            <p:cNvSpPr>
              <a:spLocks noChangeArrowheads="1"/>
            </p:cNvSpPr>
            <p:nvPr/>
          </p:nvSpPr>
          <p:spPr bwMode="auto">
            <a:xfrm>
              <a:off x="3954" y="2115"/>
              <a:ext cx="2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6" name="Rectangle 112"/>
            <p:cNvSpPr>
              <a:spLocks noChangeArrowheads="1"/>
            </p:cNvSpPr>
            <p:nvPr/>
          </p:nvSpPr>
          <p:spPr bwMode="auto">
            <a:xfrm>
              <a:off x="3742" y="2704"/>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7" name="Line 113"/>
            <p:cNvSpPr>
              <a:spLocks noChangeShapeType="1"/>
            </p:cNvSpPr>
            <p:nvPr/>
          </p:nvSpPr>
          <p:spPr bwMode="auto">
            <a:xfrm>
              <a:off x="3288" y="3339"/>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8" name="Line 114"/>
            <p:cNvSpPr>
              <a:spLocks noChangeShapeType="1"/>
            </p:cNvSpPr>
            <p:nvPr/>
          </p:nvSpPr>
          <p:spPr bwMode="auto">
            <a:xfrm>
              <a:off x="3197" y="3430"/>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19" name="Text Box 115"/>
            <p:cNvSpPr txBox="1">
              <a:spLocks noChangeArrowheads="1"/>
            </p:cNvSpPr>
            <p:nvPr/>
          </p:nvSpPr>
          <p:spPr bwMode="auto">
            <a:xfrm>
              <a:off x="3062" y="3430"/>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(e)</a:t>
              </a:r>
            </a:p>
          </p:txBody>
        </p:sp>
        <p:sp>
          <p:nvSpPr>
            <p:cNvPr id="19520" name="Line 116"/>
            <p:cNvSpPr>
              <a:spLocks noChangeShapeType="1"/>
            </p:cNvSpPr>
            <p:nvPr/>
          </p:nvSpPr>
          <p:spPr bwMode="auto">
            <a:xfrm>
              <a:off x="2643" y="2840"/>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521" name="Line 117"/>
            <p:cNvSpPr>
              <a:spLocks noChangeShapeType="1"/>
            </p:cNvSpPr>
            <p:nvPr/>
          </p:nvSpPr>
          <p:spPr bwMode="auto">
            <a:xfrm>
              <a:off x="2779" y="2432"/>
              <a:ext cx="0" cy="136"/>
            </a:xfrm>
            <a:prstGeom prst="line">
              <a:avLst/>
            </a:prstGeom>
            <a:noFill/>
            <a:ln w="38100">
              <a:solidFill>
                <a:schemeClr val="tx1"/>
              </a:solidFill>
              <a:round/>
              <a:headEnd type="stealth" w="lg" len="me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 name="Group 192"/>
          <p:cNvGrpSpPr>
            <a:grpSpLocks/>
          </p:cNvGrpSpPr>
          <p:nvPr/>
        </p:nvGrpSpPr>
        <p:grpSpPr bwMode="auto">
          <a:xfrm>
            <a:off x="5724525" y="3284538"/>
            <a:ext cx="3257550" cy="2617787"/>
            <a:chOff x="3534" y="2069"/>
            <a:chExt cx="2052" cy="1649"/>
          </a:xfrm>
        </p:grpSpPr>
        <p:sp>
          <p:nvSpPr>
            <p:cNvPr id="19464" name="Rectangle 159"/>
            <p:cNvSpPr>
              <a:spLocks noChangeArrowheads="1"/>
            </p:cNvSpPr>
            <p:nvPr/>
          </p:nvSpPr>
          <p:spPr bwMode="auto">
            <a:xfrm>
              <a:off x="4432" y="3113"/>
              <a:ext cx="20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5" name="Rectangle 160"/>
            <p:cNvSpPr>
              <a:spLocks noChangeArrowheads="1"/>
            </p:cNvSpPr>
            <p:nvPr/>
          </p:nvSpPr>
          <p:spPr bwMode="auto">
            <a:xfrm>
              <a:off x="4357" y="2115"/>
              <a:ext cx="21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6" name="Text Box 161"/>
            <p:cNvSpPr txBox="1">
              <a:spLocks noChangeArrowheads="1"/>
            </p:cNvSpPr>
            <p:nvPr/>
          </p:nvSpPr>
          <p:spPr bwMode="auto">
            <a:xfrm>
              <a:off x="3937" y="241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7" name="Line 162"/>
            <p:cNvSpPr>
              <a:spLocks noChangeShapeType="1"/>
            </p:cNvSpPr>
            <p:nvPr/>
          </p:nvSpPr>
          <p:spPr bwMode="auto">
            <a:xfrm flipV="1">
              <a:off x="4268" y="2322"/>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8" name="Line 163"/>
            <p:cNvSpPr>
              <a:spLocks noChangeShapeType="1"/>
            </p:cNvSpPr>
            <p:nvPr/>
          </p:nvSpPr>
          <p:spPr bwMode="auto">
            <a:xfrm>
              <a:off x="3660" y="3339"/>
              <a:ext cx="155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9" name="Line 164"/>
            <p:cNvSpPr>
              <a:spLocks noChangeShapeType="1"/>
            </p:cNvSpPr>
            <p:nvPr/>
          </p:nvSpPr>
          <p:spPr bwMode="auto">
            <a:xfrm>
              <a:off x="3678" y="2325"/>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0" name="Oval 166"/>
            <p:cNvSpPr>
              <a:spLocks noChangeArrowheads="1"/>
            </p:cNvSpPr>
            <p:nvPr/>
          </p:nvSpPr>
          <p:spPr bwMode="auto">
            <a:xfrm flipV="1">
              <a:off x="4428" y="2293"/>
              <a:ext cx="55"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1" name="Oval 167"/>
            <p:cNvSpPr>
              <a:spLocks noChangeArrowheads="1"/>
            </p:cNvSpPr>
            <p:nvPr/>
          </p:nvSpPr>
          <p:spPr bwMode="auto">
            <a:xfrm flipV="1">
              <a:off x="4417" y="3301"/>
              <a:ext cx="56" cy="63"/>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2" name="Line 171"/>
            <p:cNvSpPr>
              <a:spLocks noChangeShapeType="1"/>
            </p:cNvSpPr>
            <p:nvPr/>
          </p:nvSpPr>
          <p:spPr bwMode="auto">
            <a:xfrm>
              <a:off x="4812" y="2322"/>
              <a:ext cx="38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3" name="Line 172"/>
            <p:cNvSpPr>
              <a:spLocks noChangeShapeType="1"/>
            </p:cNvSpPr>
            <p:nvPr/>
          </p:nvSpPr>
          <p:spPr bwMode="auto">
            <a:xfrm>
              <a:off x="3654" y="2322"/>
              <a:ext cx="3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4" name="Rectangle 173"/>
            <p:cNvSpPr>
              <a:spLocks noChangeArrowheads="1"/>
            </p:cNvSpPr>
            <p:nvPr/>
          </p:nvSpPr>
          <p:spPr bwMode="auto">
            <a:xfrm rot="5400000">
              <a:off x="4090" y="2196"/>
              <a:ext cx="112"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5" name="Rectangle 174"/>
            <p:cNvSpPr>
              <a:spLocks noChangeArrowheads="1"/>
            </p:cNvSpPr>
            <p:nvPr/>
          </p:nvSpPr>
          <p:spPr bwMode="auto">
            <a:xfrm>
              <a:off x="3851" y="2750"/>
              <a:ext cx="2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34V</a:t>
              </a:r>
              <a:endParaRPr kumimoji="1" lang="en-US"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6" name="Rectangle 175"/>
            <p:cNvSpPr>
              <a:spLocks noChangeArrowheads="1"/>
            </p:cNvSpPr>
            <p:nvPr/>
          </p:nvSpPr>
          <p:spPr bwMode="auto">
            <a:xfrm>
              <a:off x="3906" y="2069"/>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5</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7" name="Rectangle 176"/>
            <p:cNvSpPr>
              <a:spLocks noChangeArrowheads="1"/>
            </p:cNvSpPr>
            <p:nvPr/>
          </p:nvSpPr>
          <p:spPr bwMode="auto">
            <a:xfrm>
              <a:off x="3634" y="2523"/>
              <a:ext cx="23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8" name="Rectangle 177"/>
            <p:cNvSpPr>
              <a:spLocks noChangeArrowheads="1"/>
            </p:cNvSpPr>
            <p:nvPr/>
          </p:nvSpPr>
          <p:spPr bwMode="auto">
            <a:xfrm>
              <a:off x="3634" y="2977"/>
              <a:ext cx="30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zh-CN" altLang="en-US"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n-US"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9" name="Rectangle 178"/>
            <p:cNvSpPr>
              <a:spLocks noChangeArrowheads="1"/>
            </p:cNvSpPr>
            <p:nvPr/>
          </p:nvSpPr>
          <p:spPr bwMode="auto">
            <a:xfrm rot="5400000">
              <a:off x="4759" y="2196"/>
              <a:ext cx="112" cy="239"/>
            </a:xfrm>
            <a:prstGeom prst="rect">
              <a:avLst/>
            </a:prstGeom>
            <a:solidFill>
              <a:schemeClr val="bg1"/>
            </a:solidFill>
            <a:ln w="38100">
              <a:solidFill>
                <a:schemeClr val="tx1"/>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0" name="Line 180"/>
            <p:cNvSpPr>
              <a:spLocks noChangeShapeType="1"/>
            </p:cNvSpPr>
            <p:nvPr/>
          </p:nvSpPr>
          <p:spPr bwMode="auto">
            <a:xfrm>
              <a:off x="3670" y="2324"/>
              <a:ext cx="0" cy="10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1" name="Oval 181"/>
            <p:cNvSpPr>
              <a:spLocks noChangeArrowheads="1"/>
            </p:cNvSpPr>
            <p:nvPr/>
          </p:nvSpPr>
          <p:spPr bwMode="auto">
            <a:xfrm>
              <a:off x="3534" y="2704"/>
              <a:ext cx="273" cy="273"/>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2" name="Rectangle 182"/>
            <p:cNvSpPr>
              <a:spLocks noChangeArrowheads="1"/>
            </p:cNvSpPr>
            <p:nvPr/>
          </p:nvSpPr>
          <p:spPr bwMode="auto">
            <a:xfrm>
              <a:off x="5040" y="2611"/>
              <a:ext cx="22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3" name="Line 183"/>
            <p:cNvSpPr>
              <a:spLocks noChangeShapeType="1"/>
            </p:cNvSpPr>
            <p:nvPr/>
          </p:nvSpPr>
          <p:spPr bwMode="auto">
            <a:xfrm flipH="1">
              <a:off x="5202" y="2312"/>
              <a:ext cx="1"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4" name="Line 184"/>
            <p:cNvSpPr>
              <a:spLocks noChangeShapeType="1"/>
            </p:cNvSpPr>
            <p:nvPr/>
          </p:nvSpPr>
          <p:spPr bwMode="auto">
            <a:xfrm>
              <a:off x="5207" y="2931"/>
              <a:ext cx="5" cy="4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5" name="Rectangle 185"/>
            <p:cNvSpPr>
              <a:spLocks noChangeArrowheads="1"/>
            </p:cNvSpPr>
            <p:nvPr/>
          </p:nvSpPr>
          <p:spPr bwMode="auto">
            <a:xfrm rot="5400000">
              <a:off x="5065" y="2745"/>
              <a:ext cx="272" cy="10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6" name="Rectangle 186"/>
            <p:cNvSpPr>
              <a:spLocks noChangeArrowheads="1"/>
            </p:cNvSpPr>
            <p:nvPr/>
          </p:nvSpPr>
          <p:spPr bwMode="auto">
            <a:xfrm>
              <a:off x="4558" y="2078"/>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7" name="Rectangle 187"/>
            <p:cNvSpPr>
              <a:spLocks noChangeArrowheads="1"/>
            </p:cNvSpPr>
            <p:nvPr/>
          </p:nvSpPr>
          <p:spPr bwMode="auto">
            <a:xfrm>
              <a:off x="5070" y="2115"/>
              <a:ext cx="22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70000"/>
                </a:lnSpc>
                <a:spcBef>
                  <a:spcPct val="50000"/>
                </a:spcBef>
                <a:buClr>
                  <a:schemeClr val="tx1"/>
                </a:buClr>
              </a:pPr>
              <a:r>
                <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8" name="Rectangle 188"/>
            <p:cNvSpPr>
              <a:spLocks noChangeArrowheads="1"/>
            </p:cNvSpPr>
            <p:nvPr/>
          </p:nvSpPr>
          <p:spPr bwMode="auto">
            <a:xfrm>
              <a:off x="5252" y="2704"/>
              <a:ext cx="33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a:t>
              </a:r>
              <a:r>
                <a:rPr kumimoji="1" lang="el-GR" altLang="zh-CN" sz="1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Ω</a:t>
              </a:r>
              <a:endParaRPr kumimoji="1" lang="el-GR" altLang="zh-CN" sz="1800"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9" name="Line 189"/>
            <p:cNvSpPr>
              <a:spLocks noChangeShapeType="1"/>
            </p:cNvSpPr>
            <p:nvPr/>
          </p:nvSpPr>
          <p:spPr bwMode="auto">
            <a:xfrm>
              <a:off x="4452" y="3339"/>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0" name="Line 190"/>
            <p:cNvSpPr>
              <a:spLocks noChangeShapeType="1"/>
            </p:cNvSpPr>
            <p:nvPr/>
          </p:nvSpPr>
          <p:spPr bwMode="auto">
            <a:xfrm>
              <a:off x="4361" y="3430"/>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91" name="Text Box 191"/>
            <p:cNvSpPr txBox="1">
              <a:spLocks noChangeArrowheads="1"/>
            </p:cNvSpPr>
            <p:nvPr/>
          </p:nvSpPr>
          <p:spPr bwMode="auto">
            <a:xfrm>
              <a:off x="4226" y="3430"/>
              <a:ext cx="4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(f)</a:t>
              </a:r>
            </a:p>
          </p:txBody>
        </p:sp>
      </p:grpSp>
      <p:sp>
        <p:nvSpPr>
          <p:cNvPr id="6" name="灯片编号占位符 5"/>
          <p:cNvSpPr>
            <a:spLocks noGrp="1"/>
          </p:cNvSpPr>
          <p:nvPr>
            <p:ph type="sldNum" sz="quarter" idx="12"/>
          </p:nvPr>
        </p:nvSpPr>
        <p:spPr/>
        <p:txBody>
          <a:bodyPr/>
          <a:lstStyle/>
          <a:p>
            <a:pPr>
              <a:defRPr/>
            </a:pPr>
            <a:fld id="{7F6DAC6E-051E-43BF-A607-F6F4F9E2F096}" type="slidenum">
              <a:rPr lang="en-US" altLang="zh-CN" smtClean="0"/>
              <a:pPr>
                <a:defRPr/>
              </a:pPr>
              <a:t>16</a:t>
            </a:fld>
            <a:endParaRPr lang="en-US" altLang="zh-CN"/>
          </a:p>
        </p:txBody>
      </p:sp>
    </p:spTree>
    <p:extLst>
      <p:ext uri="{BB962C8B-B14F-4D97-AF65-F5344CB8AC3E}">
        <p14:creationId xmlns:p14="http://schemas.microsoft.com/office/powerpoint/2010/main" val="2744341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468313" y="115888"/>
            <a:ext cx="8229600" cy="549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8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2.2  </a:t>
            </a:r>
            <a:r>
              <a:rPr lang="zh-CN" altLang="en-US" sz="28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支路电流分析法</a:t>
            </a:r>
          </a:p>
        </p:txBody>
      </p:sp>
      <p:sp>
        <p:nvSpPr>
          <p:cNvPr id="529411" name="Rectangle 3"/>
          <p:cNvSpPr>
            <a:spLocks noChangeArrowheads="1"/>
          </p:cNvSpPr>
          <p:nvPr/>
        </p:nvSpPr>
        <p:spPr bwMode="auto">
          <a:xfrm>
            <a:off x="611188" y="765175"/>
            <a:ext cx="8143875" cy="1052596"/>
          </a:xfrm>
          <a:prstGeom prst="rect">
            <a:avLst/>
          </a:prstGeom>
          <a:noFill/>
          <a:ln w="9525">
            <a:noFill/>
            <a:miter lim="800000"/>
            <a:headEnd/>
            <a:tailEnd/>
          </a:ln>
          <a:effectLst/>
        </p:spPr>
        <p:txBody>
          <a:bodyPr>
            <a:spAutoFit/>
          </a:bodyPr>
          <a:lstStyle/>
          <a:p>
            <a:pPr eaLnBrk="1" hangingPunct="1">
              <a:lnSpc>
                <a:spcPct val="130000"/>
              </a:lnSpc>
              <a:defRPr/>
            </a:pP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支路电流法：</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以支路电流为未知量、应用</a:t>
            </a:r>
            <a:r>
              <a:rPr lang="zh-CN" altLang="en-US" dirty="0"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基尔霍夫定律</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）列方程求解。</a:t>
            </a:r>
          </a:p>
        </p:txBody>
      </p:sp>
      <p:sp>
        <p:nvSpPr>
          <p:cNvPr id="529412" name="Text Box 4"/>
          <p:cNvSpPr txBox="1">
            <a:spLocks noChangeArrowheads="1"/>
          </p:cNvSpPr>
          <p:nvPr/>
        </p:nvSpPr>
        <p:spPr bwMode="auto">
          <a:xfrm>
            <a:off x="827088" y="2205038"/>
            <a:ext cx="3352800" cy="461665"/>
          </a:xfrm>
          <a:prstGeom prst="rect">
            <a:avLst/>
          </a:prstGeom>
          <a:noFill/>
          <a:ln w="9525">
            <a:noFill/>
            <a:miter lim="800000"/>
            <a:headEnd/>
            <a:tailEnd/>
          </a:ln>
          <a:effectLst/>
        </p:spPr>
        <p:txBody>
          <a:bodyPr>
            <a:spAutoFit/>
          </a:bodyPr>
          <a:lstStyle/>
          <a:p>
            <a:pPr eaLnBrk="1" hangingPunct="1">
              <a:defRPr/>
            </a:pP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对右图电路</a:t>
            </a:r>
            <a:endPar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9413" name="Text Box 5"/>
          <p:cNvSpPr txBox="1">
            <a:spLocks noChangeArrowheads="1"/>
          </p:cNvSpPr>
          <p:nvPr/>
        </p:nvSpPr>
        <p:spPr bwMode="auto">
          <a:xfrm>
            <a:off x="611188" y="3994150"/>
            <a:ext cx="4032250" cy="2012859"/>
          </a:xfrm>
          <a:prstGeom prst="rect">
            <a:avLst/>
          </a:prstGeom>
          <a:noFill/>
          <a:ln w="9525">
            <a:noFill/>
            <a:miter lim="800000"/>
            <a:headEnd/>
            <a:tailEnd/>
          </a:ln>
          <a:effectLst/>
        </p:spPr>
        <p:txBody>
          <a:bodyPr>
            <a:spAutoFit/>
          </a:bodyPr>
          <a:lstStyle/>
          <a:p>
            <a:pPr eaLnBrk="1" hangingPunct="1">
              <a:lnSpc>
                <a:spcPct val="130000"/>
              </a:lnSpc>
              <a:spcBef>
                <a:spcPct val="1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若用支路电流法求解，有</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个支路，就有</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个支路电流作为变量，应列出</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个独立方程。</a:t>
            </a:r>
          </a:p>
        </p:txBody>
      </p:sp>
      <p:grpSp>
        <p:nvGrpSpPr>
          <p:cNvPr id="2" name="Group 121"/>
          <p:cNvGrpSpPr>
            <a:grpSpLocks/>
          </p:cNvGrpSpPr>
          <p:nvPr/>
        </p:nvGrpSpPr>
        <p:grpSpPr bwMode="auto">
          <a:xfrm>
            <a:off x="4716463" y="2420938"/>
            <a:ext cx="4267200" cy="3581400"/>
            <a:chOff x="2976" y="1525"/>
            <a:chExt cx="2688" cy="2256"/>
          </a:xfrm>
        </p:grpSpPr>
        <p:sp>
          <p:nvSpPr>
            <p:cNvPr id="20488" name="Text Box 6"/>
            <p:cNvSpPr txBox="1">
              <a:spLocks noChangeArrowheads="1"/>
            </p:cNvSpPr>
            <p:nvPr/>
          </p:nvSpPr>
          <p:spPr bwMode="auto">
            <a:xfrm>
              <a:off x="5328"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grpSp>
          <p:nvGrpSpPr>
            <p:cNvPr id="20489" name="Group 7"/>
            <p:cNvGrpSpPr>
              <a:grpSpLocks/>
            </p:cNvGrpSpPr>
            <p:nvPr/>
          </p:nvGrpSpPr>
          <p:grpSpPr bwMode="auto">
            <a:xfrm>
              <a:off x="2976" y="1525"/>
              <a:ext cx="2448" cy="2256"/>
              <a:chOff x="2976" y="1584"/>
              <a:chExt cx="2448" cy="2256"/>
            </a:xfrm>
          </p:grpSpPr>
          <p:grpSp>
            <p:nvGrpSpPr>
              <p:cNvPr id="20490" name="Group 8"/>
              <p:cNvGrpSpPr>
                <a:grpSpLocks/>
              </p:cNvGrpSpPr>
              <p:nvPr/>
            </p:nvGrpSpPr>
            <p:grpSpPr bwMode="auto">
              <a:xfrm>
                <a:off x="3072" y="1584"/>
                <a:ext cx="2352" cy="2016"/>
                <a:chOff x="3072" y="1584"/>
                <a:chExt cx="2352" cy="2016"/>
              </a:xfrm>
            </p:grpSpPr>
            <p:sp>
              <p:nvSpPr>
                <p:cNvPr id="20494" name="Text Box 9"/>
                <p:cNvSpPr txBox="1">
                  <a:spLocks noChangeArrowheads="1"/>
                </p:cNvSpPr>
                <p:nvPr/>
              </p:nvSpPr>
              <p:spPr bwMode="auto">
                <a:xfrm>
                  <a:off x="3952" y="1584"/>
                  <a:ext cx="1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0495" name="Text Box 10"/>
                <p:cNvSpPr txBox="1">
                  <a:spLocks noChangeArrowheads="1"/>
                </p:cNvSpPr>
                <p:nvPr/>
              </p:nvSpPr>
              <p:spPr bwMode="auto">
                <a:xfrm>
                  <a:off x="4410" y="2653"/>
                  <a:ext cx="37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0496" name="Text Box 11"/>
                <p:cNvSpPr txBox="1">
                  <a:spLocks noChangeArrowheads="1"/>
                </p:cNvSpPr>
                <p:nvPr/>
              </p:nvSpPr>
              <p:spPr bwMode="auto">
                <a:xfrm>
                  <a:off x="3375" y="2629"/>
                  <a:ext cx="3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0497" name="Line 12"/>
                <p:cNvSpPr>
                  <a:spLocks noChangeShapeType="1"/>
                </p:cNvSpPr>
                <p:nvPr/>
              </p:nvSpPr>
              <p:spPr bwMode="auto">
                <a:xfrm>
                  <a:off x="3201" y="1935"/>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8" name="Line 13"/>
                <p:cNvSpPr>
                  <a:spLocks noChangeShapeType="1"/>
                </p:cNvSpPr>
                <p:nvPr/>
              </p:nvSpPr>
              <p:spPr bwMode="auto">
                <a:xfrm>
                  <a:off x="3201" y="1935"/>
                  <a:ext cx="0" cy="164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9" name="Line 14"/>
                <p:cNvSpPr>
                  <a:spLocks noChangeShapeType="1"/>
                </p:cNvSpPr>
                <p:nvPr/>
              </p:nvSpPr>
              <p:spPr bwMode="auto">
                <a:xfrm>
                  <a:off x="5357" y="1940"/>
                  <a:ext cx="0" cy="16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00" name="Line 15"/>
                <p:cNvSpPr>
                  <a:spLocks noChangeShapeType="1"/>
                </p:cNvSpPr>
                <p:nvPr/>
              </p:nvSpPr>
              <p:spPr bwMode="auto">
                <a:xfrm>
                  <a:off x="3201" y="3576"/>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01" name="Line 16"/>
                <p:cNvSpPr>
                  <a:spLocks noChangeShapeType="1"/>
                </p:cNvSpPr>
                <p:nvPr/>
              </p:nvSpPr>
              <p:spPr bwMode="auto">
                <a:xfrm>
                  <a:off x="3201" y="2426"/>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02" name="Line 17"/>
                <p:cNvSpPr>
                  <a:spLocks noChangeShapeType="1"/>
                </p:cNvSpPr>
                <p:nvPr/>
              </p:nvSpPr>
              <p:spPr bwMode="auto">
                <a:xfrm>
                  <a:off x="4263" y="2421"/>
                  <a:ext cx="0" cy="11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0503" name="Group 18"/>
                <p:cNvGrpSpPr>
                  <a:grpSpLocks/>
                </p:cNvGrpSpPr>
                <p:nvPr/>
              </p:nvGrpSpPr>
              <p:grpSpPr bwMode="auto">
                <a:xfrm rot="-5400000">
                  <a:off x="4686" y="2030"/>
                  <a:ext cx="79" cy="798"/>
                  <a:chOff x="743" y="567"/>
                  <a:chExt cx="187" cy="1639"/>
                </a:xfrm>
              </p:grpSpPr>
              <p:sp>
                <p:nvSpPr>
                  <p:cNvPr id="20600" name="Line 1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601" name="Rectangle 2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04" name="Group 21"/>
                <p:cNvGrpSpPr>
                  <a:grpSpLocks/>
                </p:cNvGrpSpPr>
                <p:nvPr/>
              </p:nvGrpSpPr>
              <p:grpSpPr bwMode="auto">
                <a:xfrm rot="5400000">
                  <a:off x="3673" y="2024"/>
                  <a:ext cx="81" cy="799"/>
                  <a:chOff x="743" y="567"/>
                  <a:chExt cx="187" cy="1639"/>
                </a:xfrm>
              </p:grpSpPr>
              <p:sp>
                <p:nvSpPr>
                  <p:cNvPr id="20598" name="Line 2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9" name="Rectangle 2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05" name="Group 24"/>
                <p:cNvGrpSpPr>
                  <a:grpSpLocks/>
                </p:cNvGrpSpPr>
                <p:nvPr/>
              </p:nvGrpSpPr>
              <p:grpSpPr bwMode="auto">
                <a:xfrm rot="5400000">
                  <a:off x="4859" y="1533"/>
                  <a:ext cx="79" cy="800"/>
                  <a:chOff x="743" y="567"/>
                  <a:chExt cx="187" cy="1639"/>
                </a:xfrm>
              </p:grpSpPr>
              <p:sp>
                <p:nvSpPr>
                  <p:cNvPr id="20596" name="Line 2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7" name="Rectangle 2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06" name="Group 27"/>
                <p:cNvGrpSpPr>
                  <a:grpSpLocks/>
                </p:cNvGrpSpPr>
                <p:nvPr/>
              </p:nvGrpSpPr>
              <p:grpSpPr bwMode="auto">
                <a:xfrm>
                  <a:off x="5333" y="2758"/>
                  <a:ext cx="91" cy="698"/>
                  <a:chOff x="743" y="567"/>
                  <a:chExt cx="187" cy="1639"/>
                </a:xfrm>
              </p:grpSpPr>
              <p:sp>
                <p:nvSpPr>
                  <p:cNvPr id="20594" name="Line 2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5" name="Rectangle 2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07" name="Group 30"/>
                <p:cNvGrpSpPr>
                  <a:grpSpLocks/>
                </p:cNvGrpSpPr>
                <p:nvPr/>
              </p:nvGrpSpPr>
              <p:grpSpPr bwMode="auto">
                <a:xfrm>
                  <a:off x="3602" y="1759"/>
                  <a:ext cx="805" cy="296"/>
                  <a:chOff x="2370" y="2213"/>
                  <a:chExt cx="1650" cy="695"/>
                </a:xfrm>
              </p:grpSpPr>
              <p:grpSp>
                <p:nvGrpSpPr>
                  <p:cNvPr id="20587" name="Group 31"/>
                  <p:cNvGrpSpPr>
                    <a:grpSpLocks/>
                  </p:cNvGrpSpPr>
                  <p:nvPr/>
                </p:nvGrpSpPr>
                <p:grpSpPr bwMode="auto">
                  <a:xfrm rot="-5400000">
                    <a:off x="2919" y="1808"/>
                    <a:ext cx="551" cy="1650"/>
                    <a:chOff x="4417" y="567"/>
                    <a:chExt cx="550" cy="1650"/>
                  </a:xfrm>
                </p:grpSpPr>
                <p:sp>
                  <p:nvSpPr>
                    <p:cNvPr id="20592" name="Oval 32"/>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3" name="Line 33"/>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88" name="Group 34"/>
                  <p:cNvGrpSpPr>
                    <a:grpSpLocks/>
                  </p:cNvGrpSpPr>
                  <p:nvPr/>
                </p:nvGrpSpPr>
                <p:grpSpPr bwMode="auto">
                  <a:xfrm>
                    <a:off x="2655" y="2213"/>
                    <a:ext cx="1056" cy="143"/>
                    <a:chOff x="2655" y="2213"/>
                    <a:chExt cx="1056" cy="143"/>
                  </a:xfrm>
                </p:grpSpPr>
                <p:sp>
                  <p:nvSpPr>
                    <p:cNvPr id="20589" name="Line 35"/>
                    <p:cNvSpPr>
                      <a:spLocks noChangeShapeType="1"/>
                    </p:cNvSpPr>
                    <p:nvPr/>
                  </p:nvSpPr>
                  <p:spPr bwMode="auto">
                    <a:xfrm rot="-5400000">
                      <a:off x="2660" y="2285"/>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0" name="Line 36"/>
                    <p:cNvSpPr>
                      <a:spLocks noChangeShapeType="1"/>
                    </p:cNvSpPr>
                    <p:nvPr/>
                  </p:nvSpPr>
                  <p:spPr bwMode="auto">
                    <a:xfrm rot="10800000">
                      <a:off x="3557" y="2291"/>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91" name="Line 37"/>
                    <p:cNvSpPr>
                      <a:spLocks noChangeShapeType="1"/>
                    </p:cNvSpPr>
                    <p:nvPr/>
                  </p:nvSpPr>
                  <p:spPr bwMode="auto">
                    <a:xfrm>
                      <a:off x="2655" y="228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0508" name="Group 38"/>
                <p:cNvGrpSpPr>
                  <a:grpSpLocks/>
                </p:cNvGrpSpPr>
                <p:nvPr/>
              </p:nvGrpSpPr>
              <p:grpSpPr bwMode="auto">
                <a:xfrm>
                  <a:off x="4129" y="2431"/>
                  <a:ext cx="338" cy="702"/>
                  <a:chOff x="4417" y="567"/>
                  <a:chExt cx="693" cy="1650"/>
                </a:xfrm>
              </p:grpSpPr>
              <p:grpSp>
                <p:nvGrpSpPr>
                  <p:cNvPr id="20580" name="Group 39"/>
                  <p:cNvGrpSpPr>
                    <a:grpSpLocks/>
                  </p:cNvGrpSpPr>
                  <p:nvPr/>
                </p:nvGrpSpPr>
                <p:grpSpPr bwMode="auto">
                  <a:xfrm>
                    <a:off x="4417" y="567"/>
                    <a:ext cx="550" cy="1650"/>
                    <a:chOff x="4417" y="567"/>
                    <a:chExt cx="550" cy="1650"/>
                  </a:xfrm>
                </p:grpSpPr>
                <p:sp>
                  <p:nvSpPr>
                    <p:cNvPr id="20585" name="Oval 4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86" name="Line 41"/>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81" name="Group 42"/>
                  <p:cNvGrpSpPr>
                    <a:grpSpLocks/>
                  </p:cNvGrpSpPr>
                  <p:nvPr/>
                </p:nvGrpSpPr>
                <p:grpSpPr bwMode="auto">
                  <a:xfrm>
                    <a:off x="4956" y="853"/>
                    <a:ext cx="154" cy="979"/>
                    <a:chOff x="4956" y="853"/>
                    <a:chExt cx="154" cy="979"/>
                  </a:xfrm>
                </p:grpSpPr>
                <p:sp>
                  <p:nvSpPr>
                    <p:cNvPr id="20582" name="Line 43"/>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83" name="Line 44"/>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84" name="Line 45"/>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0509" name="Group 46"/>
                <p:cNvGrpSpPr>
                  <a:grpSpLocks/>
                </p:cNvGrpSpPr>
                <p:nvPr/>
              </p:nvGrpSpPr>
              <p:grpSpPr bwMode="auto">
                <a:xfrm>
                  <a:off x="3072" y="2395"/>
                  <a:ext cx="338" cy="702"/>
                  <a:chOff x="4417" y="567"/>
                  <a:chExt cx="693" cy="1650"/>
                </a:xfrm>
              </p:grpSpPr>
              <p:grpSp>
                <p:nvGrpSpPr>
                  <p:cNvPr id="20573" name="Group 47"/>
                  <p:cNvGrpSpPr>
                    <a:grpSpLocks/>
                  </p:cNvGrpSpPr>
                  <p:nvPr/>
                </p:nvGrpSpPr>
                <p:grpSpPr bwMode="auto">
                  <a:xfrm>
                    <a:off x="4417" y="567"/>
                    <a:ext cx="550" cy="1650"/>
                    <a:chOff x="4417" y="567"/>
                    <a:chExt cx="550" cy="1650"/>
                  </a:xfrm>
                </p:grpSpPr>
                <p:sp>
                  <p:nvSpPr>
                    <p:cNvPr id="20578" name="Oval 4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79" name="Line 4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74" name="Group 50"/>
                  <p:cNvGrpSpPr>
                    <a:grpSpLocks/>
                  </p:cNvGrpSpPr>
                  <p:nvPr/>
                </p:nvGrpSpPr>
                <p:grpSpPr bwMode="auto">
                  <a:xfrm>
                    <a:off x="4956" y="853"/>
                    <a:ext cx="154" cy="979"/>
                    <a:chOff x="4956" y="853"/>
                    <a:chExt cx="154" cy="979"/>
                  </a:xfrm>
                </p:grpSpPr>
                <p:sp>
                  <p:nvSpPr>
                    <p:cNvPr id="20575" name="Line 5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76" name="Line 5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77" name="Line 5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0510" name="Group 54"/>
                <p:cNvGrpSpPr>
                  <a:grpSpLocks/>
                </p:cNvGrpSpPr>
                <p:nvPr/>
              </p:nvGrpSpPr>
              <p:grpSpPr bwMode="auto">
                <a:xfrm>
                  <a:off x="4220" y="2800"/>
                  <a:ext cx="91" cy="696"/>
                  <a:chOff x="743" y="567"/>
                  <a:chExt cx="187" cy="1639"/>
                </a:xfrm>
              </p:grpSpPr>
              <p:sp>
                <p:nvSpPr>
                  <p:cNvPr id="20571" name="Line 5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72" name="Rectangle 5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1" name="Group 57"/>
                <p:cNvGrpSpPr>
                  <a:grpSpLocks/>
                </p:cNvGrpSpPr>
                <p:nvPr/>
              </p:nvGrpSpPr>
              <p:grpSpPr bwMode="auto">
                <a:xfrm>
                  <a:off x="3158" y="2793"/>
                  <a:ext cx="91" cy="697"/>
                  <a:chOff x="743" y="567"/>
                  <a:chExt cx="187" cy="1639"/>
                </a:xfrm>
              </p:grpSpPr>
              <p:sp>
                <p:nvSpPr>
                  <p:cNvPr id="20569" name="Line 5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70" name="Rectangle 5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2" name="Group 60"/>
                <p:cNvGrpSpPr>
                  <a:grpSpLocks/>
                </p:cNvGrpSpPr>
                <p:nvPr/>
              </p:nvGrpSpPr>
              <p:grpSpPr bwMode="auto">
                <a:xfrm flipV="1">
                  <a:off x="5331" y="2496"/>
                  <a:ext cx="64" cy="139"/>
                  <a:chOff x="5891" y="3889"/>
                  <a:chExt cx="103" cy="242"/>
                </a:xfrm>
              </p:grpSpPr>
              <p:sp>
                <p:nvSpPr>
                  <p:cNvPr id="20566" name="Line 61"/>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7" name="Line 62"/>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8" name="Line 63"/>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3" name="Group 64"/>
                <p:cNvGrpSpPr>
                  <a:grpSpLocks/>
                </p:cNvGrpSpPr>
                <p:nvPr/>
              </p:nvGrpSpPr>
              <p:grpSpPr bwMode="auto">
                <a:xfrm>
                  <a:off x="3168" y="3352"/>
                  <a:ext cx="64" cy="139"/>
                  <a:chOff x="5891" y="3889"/>
                  <a:chExt cx="103" cy="242"/>
                </a:xfrm>
              </p:grpSpPr>
              <p:sp>
                <p:nvSpPr>
                  <p:cNvPr id="20563" name="Line 65"/>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4" name="Line 66"/>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5" name="Line 67"/>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4" name="Group 68"/>
                <p:cNvGrpSpPr>
                  <a:grpSpLocks/>
                </p:cNvGrpSpPr>
                <p:nvPr/>
              </p:nvGrpSpPr>
              <p:grpSpPr bwMode="auto">
                <a:xfrm>
                  <a:off x="4234" y="3379"/>
                  <a:ext cx="64" cy="139"/>
                  <a:chOff x="5891" y="3889"/>
                  <a:chExt cx="103" cy="242"/>
                </a:xfrm>
              </p:grpSpPr>
              <p:sp>
                <p:nvSpPr>
                  <p:cNvPr id="20560" name="Line 69"/>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1" name="Line 70"/>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62" name="Line 71"/>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5" name="Group 72"/>
                <p:cNvGrpSpPr>
                  <a:grpSpLocks/>
                </p:cNvGrpSpPr>
                <p:nvPr/>
              </p:nvGrpSpPr>
              <p:grpSpPr bwMode="auto">
                <a:xfrm rot="5400000">
                  <a:off x="3556" y="1860"/>
                  <a:ext cx="61" cy="146"/>
                  <a:chOff x="5891" y="3889"/>
                  <a:chExt cx="103" cy="242"/>
                </a:xfrm>
              </p:grpSpPr>
              <p:sp>
                <p:nvSpPr>
                  <p:cNvPr id="20557" name="Line 73"/>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8" name="Line 74"/>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9" name="Line 75"/>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6" name="Group 76"/>
                <p:cNvGrpSpPr>
                  <a:grpSpLocks/>
                </p:cNvGrpSpPr>
                <p:nvPr/>
              </p:nvGrpSpPr>
              <p:grpSpPr bwMode="auto">
                <a:xfrm rot="5400000">
                  <a:off x="3992" y="2356"/>
                  <a:ext cx="60" cy="146"/>
                  <a:chOff x="5891" y="3889"/>
                  <a:chExt cx="103" cy="242"/>
                </a:xfrm>
              </p:grpSpPr>
              <p:sp>
                <p:nvSpPr>
                  <p:cNvPr id="20554" name="Line 77"/>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5" name="Line 78"/>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6" name="Line 79"/>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17" name="Group 80"/>
                <p:cNvGrpSpPr>
                  <a:grpSpLocks/>
                </p:cNvGrpSpPr>
                <p:nvPr/>
              </p:nvGrpSpPr>
              <p:grpSpPr bwMode="auto">
                <a:xfrm rot="5400000">
                  <a:off x="5090" y="2347"/>
                  <a:ext cx="62" cy="146"/>
                  <a:chOff x="5891" y="3889"/>
                  <a:chExt cx="103" cy="242"/>
                </a:xfrm>
              </p:grpSpPr>
              <p:sp>
                <p:nvSpPr>
                  <p:cNvPr id="20551" name="Line 81"/>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2" name="Line 82"/>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3" name="Line 83"/>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0518" name="Text Box 84"/>
                <p:cNvSpPr txBox="1">
                  <a:spLocks noChangeArrowheads="1"/>
                </p:cNvSpPr>
                <p:nvPr/>
              </p:nvSpPr>
              <p:spPr bwMode="auto">
                <a:xfrm>
                  <a:off x="4846" y="1632"/>
                  <a:ext cx="33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0519" name="Text Box 85"/>
                <p:cNvSpPr txBox="1">
                  <a:spLocks noChangeArrowheads="1"/>
                </p:cNvSpPr>
                <p:nvPr/>
              </p:nvSpPr>
              <p:spPr bwMode="auto">
                <a:xfrm>
                  <a:off x="3487" y="2138"/>
                  <a:ext cx="34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0520" name="Text Box 86"/>
                <p:cNvSpPr txBox="1">
                  <a:spLocks noChangeArrowheads="1"/>
                </p:cNvSpPr>
                <p:nvPr/>
              </p:nvSpPr>
              <p:spPr bwMode="auto">
                <a:xfrm>
                  <a:off x="4711" y="2491"/>
                  <a:ext cx="28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0521" name="Text Box 87"/>
                <p:cNvSpPr txBox="1">
                  <a:spLocks noChangeArrowheads="1"/>
                </p:cNvSpPr>
                <p:nvPr/>
              </p:nvSpPr>
              <p:spPr bwMode="auto">
                <a:xfrm>
                  <a:off x="3313" y="3002"/>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0522" name="Text Box 88"/>
                <p:cNvSpPr txBox="1">
                  <a:spLocks noChangeArrowheads="1"/>
                </p:cNvSpPr>
                <p:nvPr/>
              </p:nvSpPr>
              <p:spPr bwMode="auto">
                <a:xfrm>
                  <a:off x="3984" y="3113"/>
                  <a:ext cx="34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0523" name="Text Box 89"/>
                <p:cNvSpPr txBox="1">
                  <a:spLocks noChangeArrowheads="1"/>
                </p:cNvSpPr>
                <p:nvPr/>
              </p:nvSpPr>
              <p:spPr bwMode="auto">
                <a:xfrm>
                  <a:off x="5136" y="3168"/>
                  <a:ext cx="24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0524" name="Text Box 90"/>
                <p:cNvSpPr txBox="1">
                  <a:spLocks noChangeArrowheads="1"/>
                </p:cNvSpPr>
                <p:nvPr/>
              </p:nvSpPr>
              <p:spPr bwMode="auto">
                <a:xfrm>
                  <a:off x="3351" y="1632"/>
                  <a:ext cx="23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0525" name="Text Box 91"/>
                <p:cNvSpPr txBox="1">
                  <a:spLocks noChangeArrowheads="1"/>
                </p:cNvSpPr>
                <p:nvPr/>
              </p:nvSpPr>
              <p:spPr bwMode="auto">
                <a:xfrm>
                  <a:off x="3959" y="2480"/>
                  <a:ext cx="30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0526" name="Text Box 92"/>
                <p:cNvSpPr txBox="1">
                  <a:spLocks noChangeArrowheads="1"/>
                </p:cNvSpPr>
                <p:nvPr/>
              </p:nvSpPr>
              <p:spPr bwMode="auto">
                <a:xfrm>
                  <a:off x="5106" y="2156"/>
                  <a:ext cx="31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0527" name="Text Box 93"/>
                <p:cNvSpPr txBox="1">
                  <a:spLocks noChangeArrowheads="1"/>
                </p:cNvSpPr>
                <p:nvPr/>
              </p:nvSpPr>
              <p:spPr bwMode="auto">
                <a:xfrm>
                  <a:off x="4373" y="3296"/>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0528" name="Text Box 94"/>
                <p:cNvSpPr txBox="1">
                  <a:spLocks noChangeArrowheads="1"/>
                </p:cNvSpPr>
                <p:nvPr/>
              </p:nvSpPr>
              <p:spPr bwMode="auto">
                <a:xfrm>
                  <a:off x="3332" y="3278"/>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0529" name="Text Box 95"/>
                <p:cNvSpPr txBox="1">
                  <a:spLocks noChangeArrowheads="1"/>
                </p:cNvSpPr>
                <p:nvPr/>
              </p:nvSpPr>
              <p:spPr bwMode="auto">
                <a:xfrm>
                  <a:off x="5163" y="2573"/>
                  <a:ext cx="26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0530" name="Oval 96"/>
                <p:cNvSpPr>
                  <a:spLocks noChangeArrowheads="1"/>
                </p:cNvSpPr>
                <p:nvPr/>
              </p:nvSpPr>
              <p:spPr bwMode="auto">
                <a:xfrm>
                  <a:off x="4103" y="2027"/>
                  <a:ext cx="829" cy="286"/>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31" name="Oval 97"/>
                <p:cNvSpPr>
                  <a:spLocks noChangeArrowheads="1"/>
                </p:cNvSpPr>
                <p:nvPr/>
              </p:nvSpPr>
              <p:spPr bwMode="auto">
                <a:xfrm>
                  <a:off x="3612" y="2749"/>
                  <a:ext cx="415"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32" name="Oval 98"/>
                <p:cNvSpPr>
                  <a:spLocks noChangeArrowheads="1"/>
                </p:cNvSpPr>
                <p:nvPr/>
              </p:nvSpPr>
              <p:spPr bwMode="auto">
                <a:xfrm>
                  <a:off x="4634" y="2745"/>
                  <a:ext cx="424"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33" name="Text Box 99"/>
                <p:cNvSpPr txBox="1">
                  <a:spLocks noChangeArrowheads="1"/>
                </p:cNvSpPr>
                <p:nvPr/>
              </p:nvSpPr>
              <p:spPr bwMode="auto">
                <a:xfrm>
                  <a:off x="4518" y="2059"/>
                  <a:ext cx="27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34" name="Text Box 100"/>
                <p:cNvSpPr txBox="1">
                  <a:spLocks noChangeArrowheads="1"/>
                </p:cNvSpPr>
                <p:nvPr/>
              </p:nvSpPr>
              <p:spPr bwMode="auto">
                <a:xfrm>
                  <a:off x="3785" y="2883"/>
                  <a:ext cx="2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35" name="Text Box 101"/>
                <p:cNvSpPr txBox="1">
                  <a:spLocks noChangeArrowheads="1"/>
                </p:cNvSpPr>
                <p:nvPr/>
              </p:nvSpPr>
              <p:spPr bwMode="auto">
                <a:xfrm>
                  <a:off x="4846" y="2883"/>
                  <a:ext cx="27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0536" name="Group 102"/>
                <p:cNvGrpSpPr>
                  <a:grpSpLocks/>
                </p:cNvGrpSpPr>
                <p:nvPr/>
              </p:nvGrpSpPr>
              <p:grpSpPr bwMode="auto">
                <a:xfrm rot="6478896" flipV="1">
                  <a:off x="4225" y="2200"/>
                  <a:ext cx="61" cy="145"/>
                  <a:chOff x="5891" y="3889"/>
                  <a:chExt cx="103" cy="242"/>
                </a:xfrm>
              </p:grpSpPr>
              <p:sp>
                <p:nvSpPr>
                  <p:cNvPr id="20548" name="Line 103"/>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9" name="Line 104"/>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50" name="Line 105"/>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37" name="Group 106"/>
                <p:cNvGrpSpPr>
                  <a:grpSpLocks/>
                </p:cNvGrpSpPr>
                <p:nvPr/>
              </p:nvGrpSpPr>
              <p:grpSpPr bwMode="auto">
                <a:xfrm rot="9607385" flipV="1">
                  <a:off x="4636" y="3082"/>
                  <a:ext cx="63" cy="138"/>
                  <a:chOff x="5891" y="3889"/>
                  <a:chExt cx="103" cy="242"/>
                </a:xfrm>
              </p:grpSpPr>
              <p:sp>
                <p:nvSpPr>
                  <p:cNvPr id="20545" name="Line 107"/>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6" name="Line 108"/>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7" name="Line 109"/>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0538" name="Group 110"/>
                <p:cNvGrpSpPr>
                  <a:grpSpLocks/>
                </p:cNvGrpSpPr>
                <p:nvPr/>
              </p:nvGrpSpPr>
              <p:grpSpPr bwMode="auto">
                <a:xfrm rot="8126354" flipV="1">
                  <a:off x="3641" y="3162"/>
                  <a:ext cx="64" cy="139"/>
                  <a:chOff x="5891" y="3889"/>
                  <a:chExt cx="103" cy="242"/>
                </a:xfrm>
              </p:grpSpPr>
              <p:sp>
                <p:nvSpPr>
                  <p:cNvPr id="20542" name="Line 111"/>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3" name="Line 112"/>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4" name="Line 113"/>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0539" name="Rectangle 114"/>
                <p:cNvSpPr>
                  <a:spLocks noChangeArrowheads="1"/>
                </p:cNvSpPr>
                <p:nvPr/>
              </p:nvSpPr>
              <p:spPr bwMode="auto">
                <a:xfrm>
                  <a:off x="4586" y="2965"/>
                  <a:ext cx="154"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0" name="Rectangle 115"/>
                <p:cNvSpPr>
                  <a:spLocks noChangeArrowheads="1"/>
                </p:cNvSpPr>
                <p:nvPr/>
              </p:nvSpPr>
              <p:spPr bwMode="auto">
                <a:xfrm>
                  <a:off x="3544" y="3021"/>
                  <a:ext cx="145" cy="1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41" name="Rectangle 116"/>
                <p:cNvSpPr>
                  <a:spLocks noChangeArrowheads="1"/>
                </p:cNvSpPr>
                <p:nvPr/>
              </p:nvSpPr>
              <p:spPr bwMode="auto">
                <a:xfrm>
                  <a:off x="3969" y="2156"/>
                  <a:ext cx="221"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0491" name="Text Box 117"/>
              <p:cNvSpPr txBox="1">
                <a:spLocks noChangeArrowheads="1"/>
              </p:cNvSpPr>
              <p:nvPr/>
            </p:nvSpPr>
            <p:spPr bwMode="auto">
              <a:xfrm>
                <a:off x="2976" y="225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0492" name="Text Box 118"/>
              <p:cNvSpPr txBox="1">
                <a:spLocks noChangeArrowheads="1"/>
              </p:cNvSpPr>
              <p:nvPr/>
            </p:nvSpPr>
            <p:spPr bwMode="auto">
              <a:xfrm>
                <a:off x="4128" y="3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20493" name="Text Box 119"/>
              <p:cNvSpPr txBox="1">
                <a:spLocks noChangeArrowheads="1"/>
              </p:cNvSpPr>
              <p:nvPr/>
            </p:nvSpPr>
            <p:spPr bwMode="auto">
              <a:xfrm>
                <a:off x="3984" y="21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sp>
        <p:nvSpPr>
          <p:cNvPr id="529528" name="Rectangle 120"/>
          <p:cNvSpPr>
            <a:spLocks noChangeArrowheads="1"/>
          </p:cNvSpPr>
          <p:nvPr/>
        </p:nvSpPr>
        <p:spPr bwMode="auto">
          <a:xfrm>
            <a:off x="1187450" y="2852738"/>
            <a:ext cx="3563938" cy="830997"/>
          </a:xfrm>
          <a:prstGeom prst="rect">
            <a:avLst/>
          </a:prstGeom>
          <a:noFill/>
          <a:ln w="38100" algn="ctr">
            <a:noFill/>
            <a:miter lim="800000"/>
            <a:headEnd/>
            <a:tailEnd/>
          </a:ln>
          <a:effectLst/>
        </p:spPr>
        <p:txBody>
          <a:bodyPr>
            <a:spAutoFit/>
          </a:bodyPr>
          <a:lstStyle/>
          <a:p>
            <a:pPr eaLnBrk="1" hangingPunct="1">
              <a:defRPr/>
            </a:pPr>
            <a:r>
              <a:rPr kumimoji="1" lang="zh-CN" altLang="en-US">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节点数：</a:t>
            </a:r>
            <a:r>
              <a:rPr kumimoji="1" lang="en-US" altLang="zh-CN"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n</a:t>
            </a: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=4</a:t>
            </a:r>
          </a:p>
          <a:p>
            <a:pPr eaLnBrk="1" hangingPunct="1">
              <a:defRPr/>
            </a:pPr>
            <a:r>
              <a:rPr kumimoji="1" lang="zh-CN"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支</a:t>
            </a:r>
            <a:r>
              <a:rPr kumimoji="1" lang="zh-CN" altLang="en-US">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路数： </a:t>
            </a:r>
            <a:r>
              <a:rPr kumimoji="1" lang="en-US" altLang="zh-CN"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m</a:t>
            </a: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122" name="Rectangle 4"/>
          <p:cNvSpPr>
            <a:spLocks noChangeArrowheads="1"/>
          </p:cNvSpPr>
          <p:nvPr/>
        </p:nvSpPr>
        <p:spPr bwMode="auto">
          <a:xfrm>
            <a:off x="389681" y="6608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8483704B-B939-41F0-A9C6-BADB80BC3F1C}" type="slidenum">
              <a:rPr lang="en-US" altLang="zh-CN" smtClean="0"/>
              <a:pPr>
                <a:defRPr/>
              </a:pPr>
              <a:t>17</a:t>
            </a:fld>
            <a:endParaRPr lang="en-US" altLang="zh-CN"/>
          </a:p>
        </p:txBody>
      </p:sp>
    </p:spTree>
    <p:extLst>
      <p:ext uri="{BB962C8B-B14F-4D97-AF65-F5344CB8AC3E}">
        <p14:creationId xmlns:p14="http://schemas.microsoft.com/office/powerpoint/2010/main" val="670937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9411"/>
                                        </p:tgtEl>
                                        <p:attrNameLst>
                                          <p:attrName>style.visibility</p:attrName>
                                        </p:attrNameLst>
                                      </p:cBhvr>
                                      <p:to>
                                        <p:strVal val="visible"/>
                                      </p:to>
                                    </p:set>
                                    <p:animEffect transition="in" filter="wipe(left)">
                                      <p:cBhvr>
                                        <p:cTn id="7" dur="500"/>
                                        <p:tgtEl>
                                          <p:spTgt spid="5294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9412"/>
                                        </p:tgtEl>
                                        <p:attrNameLst>
                                          <p:attrName>style.visibility</p:attrName>
                                        </p:attrNameLst>
                                      </p:cBhvr>
                                      <p:to>
                                        <p:strVal val="visible"/>
                                      </p:to>
                                    </p:set>
                                    <p:animEffect transition="in" filter="wipe(left)">
                                      <p:cBhvr>
                                        <p:cTn id="12" dur="500"/>
                                        <p:tgtEl>
                                          <p:spTgt spid="529412"/>
                                        </p:tgtEl>
                                      </p:cBhvr>
                                    </p:animEffect>
                                  </p:childTnLst>
                                </p:cTn>
                              </p:par>
                            </p:childTnLst>
                          </p:cTn>
                        </p:par>
                        <p:par>
                          <p:cTn id="13" fill="hold" nodeType="afterGroup">
                            <p:stCondLst>
                              <p:cond delay="500"/>
                            </p:stCondLst>
                            <p:childTnLst>
                              <p:par>
                                <p:cTn id="14" presetID="23"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29528"/>
                                        </p:tgtEl>
                                        <p:attrNameLst>
                                          <p:attrName>style.visibility</p:attrName>
                                        </p:attrNameLst>
                                      </p:cBhvr>
                                      <p:to>
                                        <p:strVal val="visible"/>
                                      </p:to>
                                    </p:set>
                                    <p:animEffect transition="in" filter="wipe(up)">
                                      <p:cBhvr>
                                        <p:cTn id="22" dur="500"/>
                                        <p:tgtEl>
                                          <p:spTgt spid="5295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9413"/>
                                        </p:tgtEl>
                                        <p:attrNameLst>
                                          <p:attrName>style.visibility</p:attrName>
                                        </p:attrNameLst>
                                      </p:cBhvr>
                                      <p:to>
                                        <p:strVal val="visible"/>
                                      </p:to>
                                    </p:set>
                                    <p:animEffect transition="in" filter="wipe(left)">
                                      <p:cBhvr>
                                        <p:cTn id="27" dur="500"/>
                                        <p:tgtEl>
                                          <p:spTgt spid="529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autoUpdateAnimBg="0"/>
      <p:bldP spid="529412" grpId="0" autoUpdateAnimBg="0"/>
      <p:bldP spid="529413" grpId="0" autoUpdateAnimBg="0"/>
      <p:bldP spid="5295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547" name="Text Box 115"/>
          <p:cNvSpPr txBox="1">
            <a:spLocks noChangeArrowheads="1"/>
          </p:cNvSpPr>
          <p:nvPr/>
        </p:nvSpPr>
        <p:spPr bwMode="auto">
          <a:xfrm>
            <a:off x="762000" y="685800"/>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对图中</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个节点分别列出</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0548" name="Text Box 116"/>
          <p:cNvSpPr txBox="1">
            <a:spLocks noChangeArrowheads="1"/>
          </p:cNvSpPr>
          <p:nvPr/>
        </p:nvSpPr>
        <p:spPr bwMode="auto">
          <a:xfrm>
            <a:off x="685800" y="1412875"/>
            <a:ext cx="38100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节点</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          </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节点</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b      </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节点</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c      </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节点</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d         </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30549" name="Text Box 117"/>
          <p:cNvSpPr txBox="1">
            <a:spLocks noChangeArrowheads="1"/>
          </p:cNvSpPr>
          <p:nvPr/>
        </p:nvSpPr>
        <p:spPr bwMode="auto">
          <a:xfrm>
            <a:off x="611188" y="3716338"/>
            <a:ext cx="3886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4</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个节点列出的</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方程两边分别相加得到 </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0=0</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，说明方程不都是独立的。</a:t>
            </a:r>
          </a:p>
        </p:txBody>
      </p:sp>
      <p:sp>
        <p:nvSpPr>
          <p:cNvPr id="530550" name="Text Box 118"/>
          <p:cNvSpPr txBox="1">
            <a:spLocks noChangeArrowheads="1"/>
          </p:cNvSpPr>
          <p:nvPr/>
        </p:nvSpPr>
        <p:spPr bwMode="auto">
          <a:xfrm>
            <a:off x="609600" y="5084763"/>
            <a:ext cx="7620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由图中可以看出节点 </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流出的电流都流入了其他节点，节点 </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流入的电流都是由其他节点流出，可见节点</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的电流可以由其他的节点计算出来。</a:t>
            </a:r>
          </a:p>
        </p:txBody>
      </p:sp>
      <p:grpSp>
        <p:nvGrpSpPr>
          <p:cNvPr id="2" name="Group 120"/>
          <p:cNvGrpSpPr>
            <a:grpSpLocks/>
          </p:cNvGrpSpPr>
          <p:nvPr/>
        </p:nvGrpSpPr>
        <p:grpSpPr bwMode="auto">
          <a:xfrm>
            <a:off x="4716463" y="1268413"/>
            <a:ext cx="4240212" cy="3581400"/>
            <a:chOff x="2976" y="960"/>
            <a:chExt cx="2671" cy="2256"/>
          </a:xfrm>
        </p:grpSpPr>
        <p:grpSp>
          <p:nvGrpSpPr>
            <p:cNvPr id="21511" name="Group 2"/>
            <p:cNvGrpSpPr>
              <a:grpSpLocks/>
            </p:cNvGrpSpPr>
            <p:nvPr/>
          </p:nvGrpSpPr>
          <p:grpSpPr bwMode="auto">
            <a:xfrm>
              <a:off x="2976" y="960"/>
              <a:ext cx="2448" cy="2256"/>
              <a:chOff x="2976" y="960"/>
              <a:chExt cx="2448" cy="2256"/>
            </a:xfrm>
          </p:grpSpPr>
          <p:grpSp>
            <p:nvGrpSpPr>
              <p:cNvPr id="21513" name="Group 3"/>
              <p:cNvGrpSpPr>
                <a:grpSpLocks/>
              </p:cNvGrpSpPr>
              <p:nvPr/>
            </p:nvGrpSpPr>
            <p:grpSpPr bwMode="auto">
              <a:xfrm>
                <a:off x="3072" y="960"/>
                <a:ext cx="2352" cy="2016"/>
                <a:chOff x="3072" y="960"/>
                <a:chExt cx="2352" cy="2016"/>
              </a:xfrm>
            </p:grpSpPr>
            <p:sp>
              <p:nvSpPr>
                <p:cNvPr id="21517" name="Text Box 4"/>
                <p:cNvSpPr txBox="1">
                  <a:spLocks noChangeArrowheads="1"/>
                </p:cNvSpPr>
                <p:nvPr/>
              </p:nvSpPr>
              <p:spPr bwMode="auto">
                <a:xfrm>
                  <a:off x="3952" y="960"/>
                  <a:ext cx="1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1518" name="Text Box 5"/>
                <p:cNvSpPr txBox="1">
                  <a:spLocks noChangeArrowheads="1"/>
                </p:cNvSpPr>
                <p:nvPr/>
              </p:nvSpPr>
              <p:spPr bwMode="auto">
                <a:xfrm>
                  <a:off x="4410" y="2029"/>
                  <a:ext cx="37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1519" name="Text Box 6"/>
                <p:cNvSpPr txBox="1">
                  <a:spLocks noChangeArrowheads="1"/>
                </p:cNvSpPr>
                <p:nvPr/>
              </p:nvSpPr>
              <p:spPr bwMode="auto">
                <a:xfrm>
                  <a:off x="3375" y="2005"/>
                  <a:ext cx="3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1520" name="Line 7"/>
                <p:cNvSpPr>
                  <a:spLocks noChangeShapeType="1"/>
                </p:cNvSpPr>
                <p:nvPr/>
              </p:nvSpPr>
              <p:spPr bwMode="auto">
                <a:xfrm>
                  <a:off x="3201" y="1311"/>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21" name="Line 8"/>
                <p:cNvSpPr>
                  <a:spLocks noChangeShapeType="1"/>
                </p:cNvSpPr>
                <p:nvPr/>
              </p:nvSpPr>
              <p:spPr bwMode="auto">
                <a:xfrm>
                  <a:off x="3201" y="1311"/>
                  <a:ext cx="0" cy="164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22" name="Line 9"/>
                <p:cNvSpPr>
                  <a:spLocks noChangeShapeType="1"/>
                </p:cNvSpPr>
                <p:nvPr/>
              </p:nvSpPr>
              <p:spPr bwMode="auto">
                <a:xfrm>
                  <a:off x="5357" y="1316"/>
                  <a:ext cx="0" cy="16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23" name="Line 10"/>
                <p:cNvSpPr>
                  <a:spLocks noChangeShapeType="1"/>
                </p:cNvSpPr>
                <p:nvPr/>
              </p:nvSpPr>
              <p:spPr bwMode="auto">
                <a:xfrm>
                  <a:off x="3201" y="295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24" name="Line 11"/>
                <p:cNvSpPr>
                  <a:spLocks noChangeShapeType="1"/>
                </p:cNvSpPr>
                <p:nvPr/>
              </p:nvSpPr>
              <p:spPr bwMode="auto">
                <a:xfrm>
                  <a:off x="3201" y="180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25" name="Line 12"/>
                <p:cNvSpPr>
                  <a:spLocks noChangeShapeType="1"/>
                </p:cNvSpPr>
                <p:nvPr/>
              </p:nvSpPr>
              <p:spPr bwMode="auto">
                <a:xfrm>
                  <a:off x="4263" y="1797"/>
                  <a:ext cx="0" cy="11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1526" name="Group 13"/>
                <p:cNvGrpSpPr>
                  <a:grpSpLocks/>
                </p:cNvGrpSpPr>
                <p:nvPr/>
              </p:nvGrpSpPr>
              <p:grpSpPr bwMode="auto">
                <a:xfrm rot="-5400000">
                  <a:off x="4686" y="1406"/>
                  <a:ext cx="79" cy="798"/>
                  <a:chOff x="743" y="567"/>
                  <a:chExt cx="187" cy="1639"/>
                </a:xfrm>
              </p:grpSpPr>
              <p:sp>
                <p:nvSpPr>
                  <p:cNvPr id="21623" name="Line 1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24" name="Rectangle 1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27" name="Group 16"/>
                <p:cNvGrpSpPr>
                  <a:grpSpLocks/>
                </p:cNvGrpSpPr>
                <p:nvPr/>
              </p:nvGrpSpPr>
              <p:grpSpPr bwMode="auto">
                <a:xfrm rot="5400000">
                  <a:off x="3673" y="1400"/>
                  <a:ext cx="81" cy="799"/>
                  <a:chOff x="743" y="567"/>
                  <a:chExt cx="187" cy="1639"/>
                </a:xfrm>
              </p:grpSpPr>
              <p:sp>
                <p:nvSpPr>
                  <p:cNvPr id="21621" name="Line 1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22" name="Rectangle 1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28" name="Group 19"/>
                <p:cNvGrpSpPr>
                  <a:grpSpLocks/>
                </p:cNvGrpSpPr>
                <p:nvPr/>
              </p:nvGrpSpPr>
              <p:grpSpPr bwMode="auto">
                <a:xfrm rot="5400000">
                  <a:off x="4859" y="909"/>
                  <a:ext cx="79" cy="800"/>
                  <a:chOff x="743" y="567"/>
                  <a:chExt cx="187" cy="1639"/>
                </a:xfrm>
              </p:grpSpPr>
              <p:sp>
                <p:nvSpPr>
                  <p:cNvPr id="21619" name="Line 2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20" name="Rectangle 2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29" name="Group 22"/>
                <p:cNvGrpSpPr>
                  <a:grpSpLocks/>
                </p:cNvGrpSpPr>
                <p:nvPr/>
              </p:nvGrpSpPr>
              <p:grpSpPr bwMode="auto">
                <a:xfrm>
                  <a:off x="5333" y="2134"/>
                  <a:ext cx="91" cy="698"/>
                  <a:chOff x="743" y="567"/>
                  <a:chExt cx="187" cy="1639"/>
                </a:xfrm>
              </p:grpSpPr>
              <p:sp>
                <p:nvSpPr>
                  <p:cNvPr id="21617" name="Line 2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18" name="Rectangle 2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0" name="Group 25"/>
                <p:cNvGrpSpPr>
                  <a:grpSpLocks/>
                </p:cNvGrpSpPr>
                <p:nvPr/>
              </p:nvGrpSpPr>
              <p:grpSpPr bwMode="auto">
                <a:xfrm>
                  <a:off x="3602" y="1135"/>
                  <a:ext cx="805" cy="296"/>
                  <a:chOff x="2370" y="2213"/>
                  <a:chExt cx="1650" cy="695"/>
                </a:xfrm>
              </p:grpSpPr>
              <p:grpSp>
                <p:nvGrpSpPr>
                  <p:cNvPr id="21610" name="Group 26"/>
                  <p:cNvGrpSpPr>
                    <a:grpSpLocks/>
                  </p:cNvGrpSpPr>
                  <p:nvPr/>
                </p:nvGrpSpPr>
                <p:grpSpPr bwMode="auto">
                  <a:xfrm rot="-5400000">
                    <a:off x="2919" y="1808"/>
                    <a:ext cx="551" cy="1650"/>
                    <a:chOff x="4417" y="567"/>
                    <a:chExt cx="550" cy="1650"/>
                  </a:xfrm>
                </p:grpSpPr>
                <p:sp>
                  <p:nvSpPr>
                    <p:cNvPr id="21615" name="Oval 27"/>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16" name="Line 28"/>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611" name="Group 29"/>
                  <p:cNvGrpSpPr>
                    <a:grpSpLocks/>
                  </p:cNvGrpSpPr>
                  <p:nvPr/>
                </p:nvGrpSpPr>
                <p:grpSpPr bwMode="auto">
                  <a:xfrm>
                    <a:off x="2655" y="2213"/>
                    <a:ext cx="1056" cy="143"/>
                    <a:chOff x="2655" y="2213"/>
                    <a:chExt cx="1056" cy="143"/>
                  </a:xfrm>
                </p:grpSpPr>
                <p:sp>
                  <p:nvSpPr>
                    <p:cNvPr id="21612" name="Line 30"/>
                    <p:cNvSpPr>
                      <a:spLocks noChangeShapeType="1"/>
                    </p:cNvSpPr>
                    <p:nvPr/>
                  </p:nvSpPr>
                  <p:spPr bwMode="auto">
                    <a:xfrm rot="-5400000">
                      <a:off x="2660" y="2285"/>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13" name="Line 31"/>
                    <p:cNvSpPr>
                      <a:spLocks noChangeShapeType="1"/>
                    </p:cNvSpPr>
                    <p:nvPr/>
                  </p:nvSpPr>
                  <p:spPr bwMode="auto">
                    <a:xfrm rot="10800000">
                      <a:off x="3557" y="2291"/>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14" name="Line 32"/>
                    <p:cNvSpPr>
                      <a:spLocks noChangeShapeType="1"/>
                    </p:cNvSpPr>
                    <p:nvPr/>
                  </p:nvSpPr>
                  <p:spPr bwMode="auto">
                    <a:xfrm>
                      <a:off x="2655" y="228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1531" name="Group 33"/>
                <p:cNvGrpSpPr>
                  <a:grpSpLocks/>
                </p:cNvGrpSpPr>
                <p:nvPr/>
              </p:nvGrpSpPr>
              <p:grpSpPr bwMode="auto">
                <a:xfrm>
                  <a:off x="4129" y="1807"/>
                  <a:ext cx="338" cy="702"/>
                  <a:chOff x="4417" y="567"/>
                  <a:chExt cx="693" cy="1650"/>
                </a:xfrm>
              </p:grpSpPr>
              <p:grpSp>
                <p:nvGrpSpPr>
                  <p:cNvPr id="21603" name="Group 34"/>
                  <p:cNvGrpSpPr>
                    <a:grpSpLocks/>
                  </p:cNvGrpSpPr>
                  <p:nvPr/>
                </p:nvGrpSpPr>
                <p:grpSpPr bwMode="auto">
                  <a:xfrm>
                    <a:off x="4417" y="567"/>
                    <a:ext cx="550" cy="1650"/>
                    <a:chOff x="4417" y="567"/>
                    <a:chExt cx="550" cy="1650"/>
                  </a:xfrm>
                </p:grpSpPr>
                <p:sp>
                  <p:nvSpPr>
                    <p:cNvPr id="21608" name="Oval 3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09" name="Line 36"/>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604" name="Group 37"/>
                  <p:cNvGrpSpPr>
                    <a:grpSpLocks/>
                  </p:cNvGrpSpPr>
                  <p:nvPr/>
                </p:nvGrpSpPr>
                <p:grpSpPr bwMode="auto">
                  <a:xfrm>
                    <a:off x="4956" y="853"/>
                    <a:ext cx="154" cy="979"/>
                    <a:chOff x="4956" y="853"/>
                    <a:chExt cx="154" cy="979"/>
                  </a:xfrm>
                </p:grpSpPr>
                <p:sp>
                  <p:nvSpPr>
                    <p:cNvPr id="21605" name="Line 3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06" name="Line 3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07" name="Line 4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1532" name="Group 41"/>
                <p:cNvGrpSpPr>
                  <a:grpSpLocks/>
                </p:cNvGrpSpPr>
                <p:nvPr/>
              </p:nvGrpSpPr>
              <p:grpSpPr bwMode="auto">
                <a:xfrm>
                  <a:off x="3072" y="1771"/>
                  <a:ext cx="338" cy="702"/>
                  <a:chOff x="4417" y="567"/>
                  <a:chExt cx="693" cy="1650"/>
                </a:xfrm>
              </p:grpSpPr>
              <p:grpSp>
                <p:nvGrpSpPr>
                  <p:cNvPr id="21596" name="Group 42"/>
                  <p:cNvGrpSpPr>
                    <a:grpSpLocks/>
                  </p:cNvGrpSpPr>
                  <p:nvPr/>
                </p:nvGrpSpPr>
                <p:grpSpPr bwMode="auto">
                  <a:xfrm>
                    <a:off x="4417" y="567"/>
                    <a:ext cx="550" cy="1650"/>
                    <a:chOff x="4417" y="567"/>
                    <a:chExt cx="550" cy="1650"/>
                  </a:xfrm>
                </p:grpSpPr>
                <p:sp>
                  <p:nvSpPr>
                    <p:cNvPr id="21601" name="Oval 43"/>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02" name="Line 44"/>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97" name="Group 45"/>
                  <p:cNvGrpSpPr>
                    <a:grpSpLocks/>
                  </p:cNvGrpSpPr>
                  <p:nvPr/>
                </p:nvGrpSpPr>
                <p:grpSpPr bwMode="auto">
                  <a:xfrm>
                    <a:off x="4956" y="853"/>
                    <a:ext cx="154" cy="979"/>
                    <a:chOff x="4956" y="853"/>
                    <a:chExt cx="154" cy="979"/>
                  </a:xfrm>
                </p:grpSpPr>
                <p:sp>
                  <p:nvSpPr>
                    <p:cNvPr id="21598" name="Line 46"/>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99" name="Line 47"/>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600" name="Line 48"/>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1533" name="Group 49"/>
                <p:cNvGrpSpPr>
                  <a:grpSpLocks/>
                </p:cNvGrpSpPr>
                <p:nvPr/>
              </p:nvGrpSpPr>
              <p:grpSpPr bwMode="auto">
                <a:xfrm>
                  <a:off x="4220" y="2176"/>
                  <a:ext cx="91" cy="696"/>
                  <a:chOff x="743" y="567"/>
                  <a:chExt cx="187" cy="1639"/>
                </a:xfrm>
              </p:grpSpPr>
              <p:sp>
                <p:nvSpPr>
                  <p:cNvPr id="21594" name="Line 5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95" name="Rectangle 5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4" name="Group 52"/>
                <p:cNvGrpSpPr>
                  <a:grpSpLocks/>
                </p:cNvGrpSpPr>
                <p:nvPr/>
              </p:nvGrpSpPr>
              <p:grpSpPr bwMode="auto">
                <a:xfrm>
                  <a:off x="3158" y="2169"/>
                  <a:ext cx="91" cy="697"/>
                  <a:chOff x="743" y="567"/>
                  <a:chExt cx="187" cy="1639"/>
                </a:xfrm>
              </p:grpSpPr>
              <p:sp>
                <p:nvSpPr>
                  <p:cNvPr id="21592" name="Line 5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93" name="Rectangle 5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5" name="Group 55"/>
                <p:cNvGrpSpPr>
                  <a:grpSpLocks/>
                </p:cNvGrpSpPr>
                <p:nvPr/>
              </p:nvGrpSpPr>
              <p:grpSpPr bwMode="auto">
                <a:xfrm flipV="1">
                  <a:off x="5331" y="1872"/>
                  <a:ext cx="64" cy="139"/>
                  <a:chOff x="5891" y="3889"/>
                  <a:chExt cx="103" cy="242"/>
                </a:xfrm>
              </p:grpSpPr>
              <p:sp>
                <p:nvSpPr>
                  <p:cNvPr id="21589" name="Line 56"/>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90" name="Line 57"/>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91" name="Line 58"/>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6" name="Group 59"/>
                <p:cNvGrpSpPr>
                  <a:grpSpLocks/>
                </p:cNvGrpSpPr>
                <p:nvPr/>
              </p:nvGrpSpPr>
              <p:grpSpPr bwMode="auto">
                <a:xfrm>
                  <a:off x="3168" y="2728"/>
                  <a:ext cx="64" cy="139"/>
                  <a:chOff x="5891" y="3889"/>
                  <a:chExt cx="103" cy="242"/>
                </a:xfrm>
              </p:grpSpPr>
              <p:sp>
                <p:nvSpPr>
                  <p:cNvPr id="21586" name="Line 60"/>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7" name="Line 61"/>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8" name="Line 62"/>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7" name="Group 63"/>
                <p:cNvGrpSpPr>
                  <a:grpSpLocks/>
                </p:cNvGrpSpPr>
                <p:nvPr/>
              </p:nvGrpSpPr>
              <p:grpSpPr bwMode="auto">
                <a:xfrm>
                  <a:off x="4234" y="2755"/>
                  <a:ext cx="64" cy="139"/>
                  <a:chOff x="5891" y="3889"/>
                  <a:chExt cx="103" cy="242"/>
                </a:xfrm>
              </p:grpSpPr>
              <p:sp>
                <p:nvSpPr>
                  <p:cNvPr id="21583" name="Line 64"/>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4" name="Line 65"/>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5" name="Line 66"/>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8" name="Group 67"/>
                <p:cNvGrpSpPr>
                  <a:grpSpLocks/>
                </p:cNvGrpSpPr>
                <p:nvPr/>
              </p:nvGrpSpPr>
              <p:grpSpPr bwMode="auto">
                <a:xfrm rot="5400000">
                  <a:off x="3556" y="1236"/>
                  <a:ext cx="61" cy="146"/>
                  <a:chOff x="5891" y="3889"/>
                  <a:chExt cx="103" cy="242"/>
                </a:xfrm>
              </p:grpSpPr>
              <p:sp>
                <p:nvSpPr>
                  <p:cNvPr id="21580" name="Line 68"/>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1" name="Line 69"/>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82" name="Line 70"/>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39" name="Group 71"/>
                <p:cNvGrpSpPr>
                  <a:grpSpLocks/>
                </p:cNvGrpSpPr>
                <p:nvPr/>
              </p:nvGrpSpPr>
              <p:grpSpPr bwMode="auto">
                <a:xfrm rot="5400000">
                  <a:off x="3992" y="1732"/>
                  <a:ext cx="60" cy="146"/>
                  <a:chOff x="5891" y="3889"/>
                  <a:chExt cx="103" cy="242"/>
                </a:xfrm>
              </p:grpSpPr>
              <p:sp>
                <p:nvSpPr>
                  <p:cNvPr id="21577" name="Line 72"/>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8" name="Line 73"/>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9" name="Line 74"/>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40" name="Group 75"/>
                <p:cNvGrpSpPr>
                  <a:grpSpLocks/>
                </p:cNvGrpSpPr>
                <p:nvPr/>
              </p:nvGrpSpPr>
              <p:grpSpPr bwMode="auto">
                <a:xfrm rot="5400000">
                  <a:off x="5090" y="1723"/>
                  <a:ext cx="62" cy="146"/>
                  <a:chOff x="5891" y="3889"/>
                  <a:chExt cx="103" cy="242"/>
                </a:xfrm>
              </p:grpSpPr>
              <p:sp>
                <p:nvSpPr>
                  <p:cNvPr id="21574" name="Line 76"/>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5" name="Line 77"/>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6" name="Line 78"/>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541" name="Text Box 79"/>
                <p:cNvSpPr txBox="1">
                  <a:spLocks noChangeArrowheads="1"/>
                </p:cNvSpPr>
                <p:nvPr/>
              </p:nvSpPr>
              <p:spPr bwMode="auto">
                <a:xfrm>
                  <a:off x="4846" y="1008"/>
                  <a:ext cx="33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1542" name="Text Box 80"/>
                <p:cNvSpPr txBox="1">
                  <a:spLocks noChangeArrowheads="1"/>
                </p:cNvSpPr>
                <p:nvPr/>
              </p:nvSpPr>
              <p:spPr bwMode="auto">
                <a:xfrm>
                  <a:off x="3487" y="1514"/>
                  <a:ext cx="34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1543" name="Text Box 81"/>
                <p:cNvSpPr txBox="1">
                  <a:spLocks noChangeArrowheads="1"/>
                </p:cNvSpPr>
                <p:nvPr/>
              </p:nvSpPr>
              <p:spPr bwMode="auto">
                <a:xfrm>
                  <a:off x="4711" y="1867"/>
                  <a:ext cx="28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1544" name="Text Box 82"/>
                <p:cNvSpPr txBox="1">
                  <a:spLocks noChangeArrowheads="1"/>
                </p:cNvSpPr>
                <p:nvPr/>
              </p:nvSpPr>
              <p:spPr bwMode="auto">
                <a:xfrm>
                  <a:off x="3313" y="2378"/>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1545" name="Text Box 83"/>
                <p:cNvSpPr txBox="1">
                  <a:spLocks noChangeArrowheads="1"/>
                </p:cNvSpPr>
                <p:nvPr/>
              </p:nvSpPr>
              <p:spPr bwMode="auto">
                <a:xfrm>
                  <a:off x="3984" y="2489"/>
                  <a:ext cx="34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1546" name="Text Box 84"/>
                <p:cNvSpPr txBox="1">
                  <a:spLocks noChangeArrowheads="1"/>
                </p:cNvSpPr>
                <p:nvPr/>
              </p:nvSpPr>
              <p:spPr bwMode="auto">
                <a:xfrm>
                  <a:off x="5136" y="2544"/>
                  <a:ext cx="24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1547" name="Text Box 85"/>
                <p:cNvSpPr txBox="1">
                  <a:spLocks noChangeArrowheads="1"/>
                </p:cNvSpPr>
                <p:nvPr/>
              </p:nvSpPr>
              <p:spPr bwMode="auto">
                <a:xfrm>
                  <a:off x="3351" y="1008"/>
                  <a:ext cx="23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1548" name="Text Box 86"/>
                <p:cNvSpPr txBox="1">
                  <a:spLocks noChangeArrowheads="1"/>
                </p:cNvSpPr>
                <p:nvPr/>
              </p:nvSpPr>
              <p:spPr bwMode="auto">
                <a:xfrm>
                  <a:off x="3959" y="1856"/>
                  <a:ext cx="30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1549" name="Text Box 87"/>
                <p:cNvSpPr txBox="1">
                  <a:spLocks noChangeArrowheads="1"/>
                </p:cNvSpPr>
                <p:nvPr/>
              </p:nvSpPr>
              <p:spPr bwMode="auto">
                <a:xfrm>
                  <a:off x="5106" y="1532"/>
                  <a:ext cx="31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1550" name="Text Box 88"/>
                <p:cNvSpPr txBox="1">
                  <a:spLocks noChangeArrowheads="1"/>
                </p:cNvSpPr>
                <p:nvPr/>
              </p:nvSpPr>
              <p:spPr bwMode="auto">
                <a:xfrm>
                  <a:off x="4373" y="2672"/>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1551" name="Text Box 89"/>
                <p:cNvSpPr txBox="1">
                  <a:spLocks noChangeArrowheads="1"/>
                </p:cNvSpPr>
                <p:nvPr/>
              </p:nvSpPr>
              <p:spPr bwMode="auto">
                <a:xfrm>
                  <a:off x="3332" y="2654"/>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1552" name="Text Box 90"/>
                <p:cNvSpPr txBox="1">
                  <a:spLocks noChangeArrowheads="1"/>
                </p:cNvSpPr>
                <p:nvPr/>
              </p:nvSpPr>
              <p:spPr bwMode="auto">
                <a:xfrm>
                  <a:off x="5163" y="1949"/>
                  <a:ext cx="26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1553" name="Oval 91"/>
                <p:cNvSpPr>
                  <a:spLocks noChangeArrowheads="1"/>
                </p:cNvSpPr>
                <p:nvPr/>
              </p:nvSpPr>
              <p:spPr bwMode="auto">
                <a:xfrm>
                  <a:off x="4103" y="1403"/>
                  <a:ext cx="829" cy="286"/>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54" name="Oval 92"/>
                <p:cNvSpPr>
                  <a:spLocks noChangeArrowheads="1"/>
                </p:cNvSpPr>
                <p:nvPr/>
              </p:nvSpPr>
              <p:spPr bwMode="auto">
                <a:xfrm>
                  <a:off x="3612" y="2125"/>
                  <a:ext cx="415"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55" name="Oval 93"/>
                <p:cNvSpPr>
                  <a:spLocks noChangeArrowheads="1"/>
                </p:cNvSpPr>
                <p:nvPr/>
              </p:nvSpPr>
              <p:spPr bwMode="auto">
                <a:xfrm>
                  <a:off x="4634" y="2121"/>
                  <a:ext cx="424"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56" name="Text Box 94"/>
                <p:cNvSpPr txBox="1">
                  <a:spLocks noChangeArrowheads="1"/>
                </p:cNvSpPr>
                <p:nvPr/>
              </p:nvSpPr>
              <p:spPr bwMode="auto">
                <a:xfrm>
                  <a:off x="4518" y="1435"/>
                  <a:ext cx="27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57" name="Text Box 95"/>
                <p:cNvSpPr txBox="1">
                  <a:spLocks noChangeArrowheads="1"/>
                </p:cNvSpPr>
                <p:nvPr/>
              </p:nvSpPr>
              <p:spPr bwMode="auto">
                <a:xfrm>
                  <a:off x="3785" y="2259"/>
                  <a:ext cx="2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58" name="Text Box 96"/>
                <p:cNvSpPr txBox="1">
                  <a:spLocks noChangeArrowheads="1"/>
                </p:cNvSpPr>
                <p:nvPr/>
              </p:nvSpPr>
              <p:spPr bwMode="auto">
                <a:xfrm>
                  <a:off x="4846" y="2259"/>
                  <a:ext cx="27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1559" name="Group 97"/>
                <p:cNvGrpSpPr>
                  <a:grpSpLocks/>
                </p:cNvGrpSpPr>
                <p:nvPr/>
              </p:nvGrpSpPr>
              <p:grpSpPr bwMode="auto">
                <a:xfrm rot="6478896" flipV="1">
                  <a:off x="4225" y="1576"/>
                  <a:ext cx="61" cy="145"/>
                  <a:chOff x="5891" y="3889"/>
                  <a:chExt cx="103" cy="242"/>
                </a:xfrm>
              </p:grpSpPr>
              <p:sp>
                <p:nvSpPr>
                  <p:cNvPr id="21571" name="Line 98"/>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2" name="Line 99"/>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3" name="Line 100"/>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60" name="Group 101"/>
                <p:cNvGrpSpPr>
                  <a:grpSpLocks/>
                </p:cNvGrpSpPr>
                <p:nvPr/>
              </p:nvGrpSpPr>
              <p:grpSpPr bwMode="auto">
                <a:xfrm rot="9607385" flipV="1">
                  <a:off x="4636" y="2458"/>
                  <a:ext cx="63" cy="138"/>
                  <a:chOff x="5891" y="3889"/>
                  <a:chExt cx="103" cy="242"/>
                </a:xfrm>
              </p:grpSpPr>
              <p:sp>
                <p:nvSpPr>
                  <p:cNvPr id="21568" name="Line 102"/>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69" name="Line 103"/>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70" name="Line 104"/>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561" name="Group 105"/>
                <p:cNvGrpSpPr>
                  <a:grpSpLocks/>
                </p:cNvGrpSpPr>
                <p:nvPr/>
              </p:nvGrpSpPr>
              <p:grpSpPr bwMode="auto">
                <a:xfrm rot="8126354" flipV="1">
                  <a:off x="3641" y="2538"/>
                  <a:ext cx="64" cy="139"/>
                  <a:chOff x="5891" y="3889"/>
                  <a:chExt cx="103" cy="242"/>
                </a:xfrm>
              </p:grpSpPr>
              <p:sp>
                <p:nvSpPr>
                  <p:cNvPr id="21565" name="Line 106"/>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66" name="Line 107"/>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67" name="Line 108"/>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562" name="Rectangle 109"/>
                <p:cNvSpPr>
                  <a:spLocks noChangeArrowheads="1"/>
                </p:cNvSpPr>
                <p:nvPr/>
              </p:nvSpPr>
              <p:spPr bwMode="auto">
                <a:xfrm>
                  <a:off x="4586" y="2341"/>
                  <a:ext cx="154"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63" name="Rectangle 110"/>
                <p:cNvSpPr>
                  <a:spLocks noChangeArrowheads="1"/>
                </p:cNvSpPr>
                <p:nvPr/>
              </p:nvSpPr>
              <p:spPr bwMode="auto">
                <a:xfrm>
                  <a:off x="3544" y="2397"/>
                  <a:ext cx="145" cy="1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64" name="Rectangle 111"/>
                <p:cNvSpPr>
                  <a:spLocks noChangeArrowheads="1"/>
                </p:cNvSpPr>
                <p:nvPr/>
              </p:nvSpPr>
              <p:spPr bwMode="auto">
                <a:xfrm>
                  <a:off x="3969" y="1532"/>
                  <a:ext cx="221"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1514" name="Text Box 112"/>
              <p:cNvSpPr txBox="1">
                <a:spLocks noChangeArrowheads="1"/>
              </p:cNvSpPr>
              <p:nvPr/>
            </p:nvSpPr>
            <p:spPr bwMode="auto">
              <a:xfrm>
                <a:off x="2976" y="16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1515" name="Text Box 113"/>
              <p:cNvSpPr txBox="1">
                <a:spLocks noChangeArrowheads="1"/>
              </p:cNvSpPr>
              <p:nvPr/>
            </p:nvSpPr>
            <p:spPr bwMode="auto">
              <a:xfrm>
                <a:off x="4128" y="29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21516" name="Text Box 114"/>
              <p:cNvSpPr txBox="1">
                <a:spLocks noChangeArrowheads="1"/>
              </p:cNvSpPr>
              <p:nvPr/>
            </p:nvSpPr>
            <p:spPr bwMode="auto">
              <a:xfrm>
                <a:off x="3984" y="15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21512" name="Text Box 119"/>
            <p:cNvSpPr txBox="1">
              <a:spLocks noChangeArrowheads="1"/>
            </p:cNvSpPr>
            <p:nvPr/>
          </p:nvSpPr>
          <p:spPr bwMode="auto">
            <a:xfrm>
              <a:off x="5307" y="1645"/>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18</a:t>
            </a:fld>
            <a:endParaRPr lang="en-US" altLang="zh-CN"/>
          </a:p>
        </p:txBody>
      </p:sp>
    </p:spTree>
    <p:extLst>
      <p:ext uri="{BB962C8B-B14F-4D97-AF65-F5344CB8AC3E}">
        <p14:creationId xmlns:p14="http://schemas.microsoft.com/office/powerpoint/2010/main" val="482268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30547"/>
                                        </p:tgtEl>
                                        <p:attrNameLst>
                                          <p:attrName>style.visibility</p:attrName>
                                        </p:attrNameLst>
                                      </p:cBhvr>
                                      <p:to>
                                        <p:strVal val="visible"/>
                                      </p:to>
                                    </p:set>
                                    <p:animEffect transition="in" filter="wipe(left)">
                                      <p:cBhvr>
                                        <p:cTn id="15" dur="500"/>
                                        <p:tgtEl>
                                          <p:spTgt spid="53054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530548"/>
                                        </p:tgtEl>
                                        <p:attrNameLst>
                                          <p:attrName>style.visibility</p:attrName>
                                        </p:attrNameLst>
                                      </p:cBhvr>
                                      <p:to>
                                        <p:strVal val="visible"/>
                                      </p:to>
                                    </p:set>
                                    <p:animEffect transition="in" filter="blinds(horizontal)">
                                      <p:cBhvr>
                                        <p:cTn id="20" dur="500"/>
                                        <p:tgtEl>
                                          <p:spTgt spid="53054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530549"/>
                                        </p:tgtEl>
                                        <p:attrNameLst>
                                          <p:attrName>style.visibility</p:attrName>
                                        </p:attrNameLst>
                                      </p:cBhvr>
                                      <p:to>
                                        <p:strVal val="visible"/>
                                      </p:to>
                                    </p:set>
                                    <p:animEffect transition="in" filter="strips(downRight)">
                                      <p:cBhvr>
                                        <p:cTn id="25" dur="500"/>
                                        <p:tgtEl>
                                          <p:spTgt spid="53054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530550"/>
                                        </p:tgtEl>
                                        <p:attrNameLst>
                                          <p:attrName>style.visibility</p:attrName>
                                        </p:attrNameLst>
                                      </p:cBhvr>
                                      <p:to>
                                        <p:strVal val="visible"/>
                                      </p:to>
                                    </p:set>
                                    <p:animEffect transition="in" filter="box(in)">
                                      <p:cBhvr>
                                        <p:cTn id="30" dur="500"/>
                                        <p:tgtEl>
                                          <p:spTgt spid="530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547" grpId="0"/>
      <p:bldP spid="530548" grpId="0"/>
      <p:bldP spid="530549" grpId="0"/>
      <p:bldP spid="53055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Text Box 2"/>
          <p:cNvSpPr txBox="1">
            <a:spLocks noChangeArrowheads="1"/>
          </p:cNvSpPr>
          <p:nvPr/>
        </p:nvSpPr>
        <p:spPr bwMode="auto">
          <a:xfrm>
            <a:off x="685800" y="762000"/>
            <a:ext cx="3886200"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b="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在 </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n </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个节点中选择一个作为参考节点，其余</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个节点作为</a:t>
            </a:r>
            <a:r>
              <a:rPr lang="zh-CN" altLang="en-US" sz="24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独立节点</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列出 </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KCL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1459" name="Text Box 3"/>
          <p:cNvSpPr txBox="1">
            <a:spLocks noChangeArrowheads="1"/>
          </p:cNvSpPr>
          <p:nvPr/>
        </p:nvSpPr>
        <p:spPr bwMode="auto">
          <a:xfrm>
            <a:off x="685800" y="2743200"/>
            <a:ext cx="41910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b="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需要 </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m</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个独立方程，列出 </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 </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KCL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方程以后还需要补充 </a:t>
            </a:r>
            <a:r>
              <a:rPr lang="en-US" altLang="zh-CN" sz="2400" i="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m</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0070C0"/>
                </a:solidFill>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dirty="0">
                <a:solidFill>
                  <a:srgbClr val="0070C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solidFill>
                  <a:srgbClr val="0070C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1573" name="Text Box 117"/>
          <p:cNvSpPr txBox="1">
            <a:spLocks noChangeArrowheads="1"/>
          </p:cNvSpPr>
          <p:nvPr/>
        </p:nvSpPr>
        <p:spPr bwMode="auto">
          <a:xfrm>
            <a:off x="762000" y="4419600"/>
            <a:ext cx="7772400" cy="160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为了保证每个</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方程的独立性，要在每个</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方程中都有新的支路</a:t>
            </a:r>
            <a:r>
              <a:rPr lang="zh-CN" altLang="en-US" sz="2400" dirty="0" smtClean="0">
                <a:latin typeface="Times New Roman" panose="02020603050405020304" pitchFamily="18" charset="0"/>
                <a:ea typeface="华文中宋" panose="02010600040101010101" pitchFamily="2" charset="-122"/>
                <a:cs typeface="Times New Roman" panose="02020603050405020304" pitchFamily="18" charset="0"/>
              </a:rPr>
              <a:t>出现，这种回路也称之为</a:t>
            </a:r>
            <a:r>
              <a:rPr lang="zh-CN" altLang="en-US" sz="2400"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独立回路</a:t>
            </a:r>
            <a:r>
              <a:rPr lang="zh-CN" altLang="en-US" sz="2400" dirty="0" smtClean="0">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400"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l" eaLnBrk="1" hangingPunct="1">
              <a:lnSpc>
                <a:spcPct val="120000"/>
              </a:lnSpc>
              <a:spcBef>
                <a:spcPct val="50000"/>
              </a:spcBef>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dirty="0" smtClean="0">
                <a:latin typeface="Times New Roman" panose="02020603050405020304" pitchFamily="18" charset="0"/>
                <a:ea typeface="华文中宋"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119"/>
          <p:cNvGrpSpPr>
            <a:grpSpLocks/>
          </p:cNvGrpSpPr>
          <p:nvPr/>
        </p:nvGrpSpPr>
        <p:grpSpPr bwMode="auto">
          <a:xfrm>
            <a:off x="4876800" y="533400"/>
            <a:ext cx="4238625" cy="3581400"/>
            <a:chOff x="3072" y="336"/>
            <a:chExt cx="2670" cy="2256"/>
          </a:xfrm>
        </p:grpSpPr>
        <p:grpSp>
          <p:nvGrpSpPr>
            <p:cNvPr id="22534" name="Group 4"/>
            <p:cNvGrpSpPr>
              <a:grpSpLocks/>
            </p:cNvGrpSpPr>
            <p:nvPr/>
          </p:nvGrpSpPr>
          <p:grpSpPr bwMode="auto">
            <a:xfrm>
              <a:off x="3072" y="336"/>
              <a:ext cx="2448" cy="2256"/>
              <a:chOff x="2976" y="960"/>
              <a:chExt cx="2448" cy="2256"/>
            </a:xfrm>
          </p:grpSpPr>
          <p:grpSp>
            <p:nvGrpSpPr>
              <p:cNvPr id="22536" name="Group 5"/>
              <p:cNvGrpSpPr>
                <a:grpSpLocks/>
              </p:cNvGrpSpPr>
              <p:nvPr/>
            </p:nvGrpSpPr>
            <p:grpSpPr bwMode="auto">
              <a:xfrm>
                <a:off x="3072" y="960"/>
                <a:ext cx="2352" cy="2016"/>
                <a:chOff x="3072" y="960"/>
                <a:chExt cx="2352" cy="2016"/>
              </a:xfrm>
            </p:grpSpPr>
            <p:sp>
              <p:nvSpPr>
                <p:cNvPr id="22540" name="Text Box 6"/>
                <p:cNvSpPr txBox="1">
                  <a:spLocks noChangeArrowheads="1"/>
                </p:cNvSpPr>
                <p:nvPr/>
              </p:nvSpPr>
              <p:spPr bwMode="auto">
                <a:xfrm>
                  <a:off x="3952" y="960"/>
                  <a:ext cx="1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2541" name="Text Box 7"/>
                <p:cNvSpPr txBox="1">
                  <a:spLocks noChangeArrowheads="1"/>
                </p:cNvSpPr>
                <p:nvPr/>
              </p:nvSpPr>
              <p:spPr bwMode="auto">
                <a:xfrm>
                  <a:off x="4410" y="2029"/>
                  <a:ext cx="37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2542" name="Text Box 8"/>
                <p:cNvSpPr txBox="1">
                  <a:spLocks noChangeArrowheads="1"/>
                </p:cNvSpPr>
                <p:nvPr/>
              </p:nvSpPr>
              <p:spPr bwMode="auto">
                <a:xfrm>
                  <a:off x="3375" y="2005"/>
                  <a:ext cx="3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2543" name="Line 9"/>
                <p:cNvSpPr>
                  <a:spLocks noChangeShapeType="1"/>
                </p:cNvSpPr>
                <p:nvPr/>
              </p:nvSpPr>
              <p:spPr bwMode="auto">
                <a:xfrm>
                  <a:off x="3201" y="1311"/>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4" name="Line 10"/>
                <p:cNvSpPr>
                  <a:spLocks noChangeShapeType="1"/>
                </p:cNvSpPr>
                <p:nvPr/>
              </p:nvSpPr>
              <p:spPr bwMode="auto">
                <a:xfrm>
                  <a:off x="3201" y="1311"/>
                  <a:ext cx="0" cy="164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5" name="Line 11"/>
                <p:cNvSpPr>
                  <a:spLocks noChangeShapeType="1"/>
                </p:cNvSpPr>
                <p:nvPr/>
              </p:nvSpPr>
              <p:spPr bwMode="auto">
                <a:xfrm>
                  <a:off x="5357" y="1316"/>
                  <a:ext cx="0" cy="16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6" name="Line 12"/>
                <p:cNvSpPr>
                  <a:spLocks noChangeShapeType="1"/>
                </p:cNvSpPr>
                <p:nvPr/>
              </p:nvSpPr>
              <p:spPr bwMode="auto">
                <a:xfrm>
                  <a:off x="3201" y="295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7" name="Line 13"/>
                <p:cNvSpPr>
                  <a:spLocks noChangeShapeType="1"/>
                </p:cNvSpPr>
                <p:nvPr/>
              </p:nvSpPr>
              <p:spPr bwMode="auto">
                <a:xfrm>
                  <a:off x="3201" y="180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8" name="Line 14"/>
                <p:cNvSpPr>
                  <a:spLocks noChangeShapeType="1"/>
                </p:cNvSpPr>
                <p:nvPr/>
              </p:nvSpPr>
              <p:spPr bwMode="auto">
                <a:xfrm>
                  <a:off x="4263" y="1797"/>
                  <a:ext cx="0" cy="11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2549" name="Group 15"/>
                <p:cNvGrpSpPr>
                  <a:grpSpLocks/>
                </p:cNvGrpSpPr>
                <p:nvPr/>
              </p:nvGrpSpPr>
              <p:grpSpPr bwMode="auto">
                <a:xfrm rot="-5400000">
                  <a:off x="4686" y="1406"/>
                  <a:ext cx="79" cy="798"/>
                  <a:chOff x="743" y="567"/>
                  <a:chExt cx="187" cy="1639"/>
                </a:xfrm>
              </p:grpSpPr>
              <p:sp>
                <p:nvSpPr>
                  <p:cNvPr id="22646" name="Line 1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47" name="Rectangle 1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0" name="Group 18"/>
                <p:cNvGrpSpPr>
                  <a:grpSpLocks/>
                </p:cNvGrpSpPr>
                <p:nvPr/>
              </p:nvGrpSpPr>
              <p:grpSpPr bwMode="auto">
                <a:xfrm rot="5400000">
                  <a:off x="3673" y="1400"/>
                  <a:ext cx="81" cy="799"/>
                  <a:chOff x="743" y="567"/>
                  <a:chExt cx="187" cy="1639"/>
                </a:xfrm>
              </p:grpSpPr>
              <p:sp>
                <p:nvSpPr>
                  <p:cNvPr id="22644" name="Line 1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45" name="Rectangle 2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1" name="Group 21"/>
                <p:cNvGrpSpPr>
                  <a:grpSpLocks/>
                </p:cNvGrpSpPr>
                <p:nvPr/>
              </p:nvGrpSpPr>
              <p:grpSpPr bwMode="auto">
                <a:xfrm rot="5400000">
                  <a:off x="4859" y="909"/>
                  <a:ext cx="79" cy="800"/>
                  <a:chOff x="743" y="567"/>
                  <a:chExt cx="187" cy="1639"/>
                </a:xfrm>
              </p:grpSpPr>
              <p:sp>
                <p:nvSpPr>
                  <p:cNvPr id="22642" name="Line 2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43" name="Rectangle 2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2" name="Group 24"/>
                <p:cNvGrpSpPr>
                  <a:grpSpLocks/>
                </p:cNvGrpSpPr>
                <p:nvPr/>
              </p:nvGrpSpPr>
              <p:grpSpPr bwMode="auto">
                <a:xfrm>
                  <a:off x="5333" y="2134"/>
                  <a:ext cx="91" cy="698"/>
                  <a:chOff x="743" y="567"/>
                  <a:chExt cx="187" cy="1639"/>
                </a:xfrm>
              </p:grpSpPr>
              <p:sp>
                <p:nvSpPr>
                  <p:cNvPr id="22640" name="Line 2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41" name="Rectangle 2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3" name="Group 27"/>
                <p:cNvGrpSpPr>
                  <a:grpSpLocks/>
                </p:cNvGrpSpPr>
                <p:nvPr/>
              </p:nvGrpSpPr>
              <p:grpSpPr bwMode="auto">
                <a:xfrm>
                  <a:off x="3602" y="1135"/>
                  <a:ext cx="805" cy="296"/>
                  <a:chOff x="2370" y="2213"/>
                  <a:chExt cx="1650" cy="695"/>
                </a:xfrm>
              </p:grpSpPr>
              <p:grpSp>
                <p:nvGrpSpPr>
                  <p:cNvPr id="22633" name="Group 28"/>
                  <p:cNvGrpSpPr>
                    <a:grpSpLocks/>
                  </p:cNvGrpSpPr>
                  <p:nvPr/>
                </p:nvGrpSpPr>
                <p:grpSpPr bwMode="auto">
                  <a:xfrm rot="-5400000">
                    <a:off x="2919" y="1808"/>
                    <a:ext cx="551" cy="1650"/>
                    <a:chOff x="4417" y="567"/>
                    <a:chExt cx="550" cy="1650"/>
                  </a:xfrm>
                </p:grpSpPr>
                <p:sp>
                  <p:nvSpPr>
                    <p:cNvPr id="22638" name="Oval 2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39" name="Line 30"/>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634" name="Group 31"/>
                  <p:cNvGrpSpPr>
                    <a:grpSpLocks/>
                  </p:cNvGrpSpPr>
                  <p:nvPr/>
                </p:nvGrpSpPr>
                <p:grpSpPr bwMode="auto">
                  <a:xfrm>
                    <a:off x="2655" y="2213"/>
                    <a:ext cx="1056" cy="143"/>
                    <a:chOff x="2655" y="2213"/>
                    <a:chExt cx="1056" cy="143"/>
                  </a:xfrm>
                </p:grpSpPr>
                <p:sp>
                  <p:nvSpPr>
                    <p:cNvPr id="22635" name="Line 32"/>
                    <p:cNvSpPr>
                      <a:spLocks noChangeShapeType="1"/>
                    </p:cNvSpPr>
                    <p:nvPr/>
                  </p:nvSpPr>
                  <p:spPr bwMode="auto">
                    <a:xfrm rot="-5400000">
                      <a:off x="2660" y="2285"/>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36" name="Line 33"/>
                    <p:cNvSpPr>
                      <a:spLocks noChangeShapeType="1"/>
                    </p:cNvSpPr>
                    <p:nvPr/>
                  </p:nvSpPr>
                  <p:spPr bwMode="auto">
                    <a:xfrm rot="10800000">
                      <a:off x="3557" y="2291"/>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37" name="Line 34"/>
                    <p:cNvSpPr>
                      <a:spLocks noChangeShapeType="1"/>
                    </p:cNvSpPr>
                    <p:nvPr/>
                  </p:nvSpPr>
                  <p:spPr bwMode="auto">
                    <a:xfrm>
                      <a:off x="2655" y="228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2554" name="Group 35"/>
                <p:cNvGrpSpPr>
                  <a:grpSpLocks/>
                </p:cNvGrpSpPr>
                <p:nvPr/>
              </p:nvGrpSpPr>
              <p:grpSpPr bwMode="auto">
                <a:xfrm>
                  <a:off x="4129" y="1807"/>
                  <a:ext cx="338" cy="702"/>
                  <a:chOff x="4417" y="567"/>
                  <a:chExt cx="693" cy="1650"/>
                </a:xfrm>
              </p:grpSpPr>
              <p:grpSp>
                <p:nvGrpSpPr>
                  <p:cNvPr id="22626" name="Group 36"/>
                  <p:cNvGrpSpPr>
                    <a:grpSpLocks/>
                  </p:cNvGrpSpPr>
                  <p:nvPr/>
                </p:nvGrpSpPr>
                <p:grpSpPr bwMode="auto">
                  <a:xfrm>
                    <a:off x="4417" y="567"/>
                    <a:ext cx="550" cy="1650"/>
                    <a:chOff x="4417" y="567"/>
                    <a:chExt cx="550" cy="1650"/>
                  </a:xfrm>
                </p:grpSpPr>
                <p:sp>
                  <p:nvSpPr>
                    <p:cNvPr id="22631" name="Oval 37"/>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32" name="Line 38"/>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627" name="Group 39"/>
                  <p:cNvGrpSpPr>
                    <a:grpSpLocks/>
                  </p:cNvGrpSpPr>
                  <p:nvPr/>
                </p:nvGrpSpPr>
                <p:grpSpPr bwMode="auto">
                  <a:xfrm>
                    <a:off x="4956" y="853"/>
                    <a:ext cx="154" cy="979"/>
                    <a:chOff x="4956" y="853"/>
                    <a:chExt cx="154" cy="979"/>
                  </a:xfrm>
                </p:grpSpPr>
                <p:sp>
                  <p:nvSpPr>
                    <p:cNvPr id="22628" name="Line 40"/>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29" name="Line 41"/>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30" name="Line 42"/>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2555" name="Group 43"/>
                <p:cNvGrpSpPr>
                  <a:grpSpLocks/>
                </p:cNvGrpSpPr>
                <p:nvPr/>
              </p:nvGrpSpPr>
              <p:grpSpPr bwMode="auto">
                <a:xfrm>
                  <a:off x="3072" y="1771"/>
                  <a:ext cx="338" cy="702"/>
                  <a:chOff x="4417" y="567"/>
                  <a:chExt cx="693" cy="1650"/>
                </a:xfrm>
              </p:grpSpPr>
              <p:grpSp>
                <p:nvGrpSpPr>
                  <p:cNvPr id="22619" name="Group 44"/>
                  <p:cNvGrpSpPr>
                    <a:grpSpLocks/>
                  </p:cNvGrpSpPr>
                  <p:nvPr/>
                </p:nvGrpSpPr>
                <p:grpSpPr bwMode="auto">
                  <a:xfrm>
                    <a:off x="4417" y="567"/>
                    <a:ext cx="550" cy="1650"/>
                    <a:chOff x="4417" y="567"/>
                    <a:chExt cx="550" cy="1650"/>
                  </a:xfrm>
                </p:grpSpPr>
                <p:sp>
                  <p:nvSpPr>
                    <p:cNvPr id="22624" name="Oval 4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25" name="Line 46"/>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620" name="Group 47"/>
                  <p:cNvGrpSpPr>
                    <a:grpSpLocks/>
                  </p:cNvGrpSpPr>
                  <p:nvPr/>
                </p:nvGrpSpPr>
                <p:grpSpPr bwMode="auto">
                  <a:xfrm>
                    <a:off x="4956" y="853"/>
                    <a:ext cx="154" cy="979"/>
                    <a:chOff x="4956" y="853"/>
                    <a:chExt cx="154" cy="979"/>
                  </a:xfrm>
                </p:grpSpPr>
                <p:sp>
                  <p:nvSpPr>
                    <p:cNvPr id="22621" name="Line 4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22" name="Line 4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23" name="Line 5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2556" name="Group 51"/>
                <p:cNvGrpSpPr>
                  <a:grpSpLocks/>
                </p:cNvGrpSpPr>
                <p:nvPr/>
              </p:nvGrpSpPr>
              <p:grpSpPr bwMode="auto">
                <a:xfrm>
                  <a:off x="4220" y="2176"/>
                  <a:ext cx="91" cy="696"/>
                  <a:chOff x="743" y="567"/>
                  <a:chExt cx="187" cy="1639"/>
                </a:xfrm>
              </p:grpSpPr>
              <p:sp>
                <p:nvSpPr>
                  <p:cNvPr id="22617" name="Line 5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8" name="Rectangle 5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7" name="Group 54"/>
                <p:cNvGrpSpPr>
                  <a:grpSpLocks/>
                </p:cNvGrpSpPr>
                <p:nvPr/>
              </p:nvGrpSpPr>
              <p:grpSpPr bwMode="auto">
                <a:xfrm>
                  <a:off x="3158" y="2169"/>
                  <a:ext cx="91" cy="697"/>
                  <a:chOff x="743" y="567"/>
                  <a:chExt cx="187" cy="1639"/>
                </a:xfrm>
              </p:grpSpPr>
              <p:sp>
                <p:nvSpPr>
                  <p:cNvPr id="22615" name="Line 5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6" name="Rectangle 5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8" name="Group 57"/>
                <p:cNvGrpSpPr>
                  <a:grpSpLocks/>
                </p:cNvGrpSpPr>
                <p:nvPr/>
              </p:nvGrpSpPr>
              <p:grpSpPr bwMode="auto">
                <a:xfrm flipV="1">
                  <a:off x="5331" y="1872"/>
                  <a:ext cx="64" cy="139"/>
                  <a:chOff x="5891" y="3889"/>
                  <a:chExt cx="103" cy="242"/>
                </a:xfrm>
              </p:grpSpPr>
              <p:sp>
                <p:nvSpPr>
                  <p:cNvPr id="22612" name="Line 58"/>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3" name="Line 59"/>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4" name="Line 60"/>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59" name="Group 61"/>
                <p:cNvGrpSpPr>
                  <a:grpSpLocks/>
                </p:cNvGrpSpPr>
                <p:nvPr/>
              </p:nvGrpSpPr>
              <p:grpSpPr bwMode="auto">
                <a:xfrm>
                  <a:off x="3168" y="2728"/>
                  <a:ext cx="64" cy="139"/>
                  <a:chOff x="5891" y="3889"/>
                  <a:chExt cx="103" cy="242"/>
                </a:xfrm>
              </p:grpSpPr>
              <p:sp>
                <p:nvSpPr>
                  <p:cNvPr id="22609" name="Line 62"/>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0" name="Line 63"/>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11" name="Line 64"/>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60" name="Group 65"/>
                <p:cNvGrpSpPr>
                  <a:grpSpLocks/>
                </p:cNvGrpSpPr>
                <p:nvPr/>
              </p:nvGrpSpPr>
              <p:grpSpPr bwMode="auto">
                <a:xfrm>
                  <a:off x="4234" y="2755"/>
                  <a:ext cx="64" cy="139"/>
                  <a:chOff x="5891" y="3889"/>
                  <a:chExt cx="103" cy="242"/>
                </a:xfrm>
              </p:grpSpPr>
              <p:sp>
                <p:nvSpPr>
                  <p:cNvPr id="22606" name="Line 66"/>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7" name="Line 67"/>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8" name="Line 68"/>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61" name="Group 69"/>
                <p:cNvGrpSpPr>
                  <a:grpSpLocks/>
                </p:cNvGrpSpPr>
                <p:nvPr/>
              </p:nvGrpSpPr>
              <p:grpSpPr bwMode="auto">
                <a:xfrm rot="5400000">
                  <a:off x="3556" y="1236"/>
                  <a:ext cx="61" cy="146"/>
                  <a:chOff x="5891" y="3889"/>
                  <a:chExt cx="103" cy="242"/>
                </a:xfrm>
              </p:grpSpPr>
              <p:sp>
                <p:nvSpPr>
                  <p:cNvPr id="22603" name="Line 70"/>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4" name="Line 71"/>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5" name="Line 72"/>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62" name="Group 73"/>
                <p:cNvGrpSpPr>
                  <a:grpSpLocks/>
                </p:cNvGrpSpPr>
                <p:nvPr/>
              </p:nvGrpSpPr>
              <p:grpSpPr bwMode="auto">
                <a:xfrm rot="5400000">
                  <a:off x="3992" y="1732"/>
                  <a:ext cx="60" cy="146"/>
                  <a:chOff x="5891" y="3889"/>
                  <a:chExt cx="103" cy="242"/>
                </a:xfrm>
              </p:grpSpPr>
              <p:sp>
                <p:nvSpPr>
                  <p:cNvPr id="22600" name="Line 74"/>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1" name="Line 75"/>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602" name="Line 76"/>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63" name="Group 77"/>
                <p:cNvGrpSpPr>
                  <a:grpSpLocks/>
                </p:cNvGrpSpPr>
                <p:nvPr/>
              </p:nvGrpSpPr>
              <p:grpSpPr bwMode="auto">
                <a:xfrm rot="5400000">
                  <a:off x="5090" y="1723"/>
                  <a:ext cx="62" cy="146"/>
                  <a:chOff x="5891" y="3889"/>
                  <a:chExt cx="103" cy="242"/>
                </a:xfrm>
              </p:grpSpPr>
              <p:sp>
                <p:nvSpPr>
                  <p:cNvPr id="22597" name="Line 78"/>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8" name="Line 79"/>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9" name="Line 80"/>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2564" name="Text Box 81"/>
                <p:cNvSpPr txBox="1">
                  <a:spLocks noChangeArrowheads="1"/>
                </p:cNvSpPr>
                <p:nvPr/>
              </p:nvSpPr>
              <p:spPr bwMode="auto">
                <a:xfrm>
                  <a:off x="4846" y="1008"/>
                  <a:ext cx="33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2565" name="Text Box 82"/>
                <p:cNvSpPr txBox="1">
                  <a:spLocks noChangeArrowheads="1"/>
                </p:cNvSpPr>
                <p:nvPr/>
              </p:nvSpPr>
              <p:spPr bwMode="auto">
                <a:xfrm>
                  <a:off x="3487" y="1514"/>
                  <a:ext cx="34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2566" name="Text Box 83"/>
                <p:cNvSpPr txBox="1">
                  <a:spLocks noChangeArrowheads="1"/>
                </p:cNvSpPr>
                <p:nvPr/>
              </p:nvSpPr>
              <p:spPr bwMode="auto">
                <a:xfrm>
                  <a:off x="4711" y="1867"/>
                  <a:ext cx="28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2567" name="Text Box 84"/>
                <p:cNvSpPr txBox="1">
                  <a:spLocks noChangeArrowheads="1"/>
                </p:cNvSpPr>
                <p:nvPr/>
              </p:nvSpPr>
              <p:spPr bwMode="auto">
                <a:xfrm>
                  <a:off x="3313" y="2378"/>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2568" name="Text Box 85"/>
                <p:cNvSpPr txBox="1">
                  <a:spLocks noChangeArrowheads="1"/>
                </p:cNvSpPr>
                <p:nvPr/>
              </p:nvSpPr>
              <p:spPr bwMode="auto">
                <a:xfrm>
                  <a:off x="3984" y="2489"/>
                  <a:ext cx="34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2569" name="Text Box 86"/>
                <p:cNvSpPr txBox="1">
                  <a:spLocks noChangeArrowheads="1"/>
                </p:cNvSpPr>
                <p:nvPr/>
              </p:nvSpPr>
              <p:spPr bwMode="auto">
                <a:xfrm>
                  <a:off x="5136" y="2544"/>
                  <a:ext cx="24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2570" name="Text Box 87"/>
                <p:cNvSpPr txBox="1">
                  <a:spLocks noChangeArrowheads="1"/>
                </p:cNvSpPr>
                <p:nvPr/>
              </p:nvSpPr>
              <p:spPr bwMode="auto">
                <a:xfrm>
                  <a:off x="3351" y="1008"/>
                  <a:ext cx="23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2571" name="Text Box 88"/>
                <p:cNvSpPr txBox="1">
                  <a:spLocks noChangeArrowheads="1"/>
                </p:cNvSpPr>
                <p:nvPr/>
              </p:nvSpPr>
              <p:spPr bwMode="auto">
                <a:xfrm>
                  <a:off x="3959" y="1856"/>
                  <a:ext cx="30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2572" name="Text Box 89"/>
                <p:cNvSpPr txBox="1">
                  <a:spLocks noChangeArrowheads="1"/>
                </p:cNvSpPr>
                <p:nvPr/>
              </p:nvSpPr>
              <p:spPr bwMode="auto">
                <a:xfrm>
                  <a:off x="5106" y="1532"/>
                  <a:ext cx="31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2573" name="Text Box 90"/>
                <p:cNvSpPr txBox="1">
                  <a:spLocks noChangeArrowheads="1"/>
                </p:cNvSpPr>
                <p:nvPr/>
              </p:nvSpPr>
              <p:spPr bwMode="auto">
                <a:xfrm>
                  <a:off x="4373" y="2672"/>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2574" name="Text Box 91"/>
                <p:cNvSpPr txBox="1">
                  <a:spLocks noChangeArrowheads="1"/>
                </p:cNvSpPr>
                <p:nvPr/>
              </p:nvSpPr>
              <p:spPr bwMode="auto">
                <a:xfrm>
                  <a:off x="3332" y="2654"/>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2575" name="Text Box 92"/>
                <p:cNvSpPr txBox="1">
                  <a:spLocks noChangeArrowheads="1"/>
                </p:cNvSpPr>
                <p:nvPr/>
              </p:nvSpPr>
              <p:spPr bwMode="auto">
                <a:xfrm>
                  <a:off x="5163" y="1949"/>
                  <a:ext cx="26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2576" name="Oval 93"/>
                <p:cNvSpPr>
                  <a:spLocks noChangeArrowheads="1"/>
                </p:cNvSpPr>
                <p:nvPr/>
              </p:nvSpPr>
              <p:spPr bwMode="auto">
                <a:xfrm>
                  <a:off x="4103" y="1403"/>
                  <a:ext cx="829" cy="286"/>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77" name="Oval 94"/>
                <p:cNvSpPr>
                  <a:spLocks noChangeArrowheads="1"/>
                </p:cNvSpPr>
                <p:nvPr/>
              </p:nvSpPr>
              <p:spPr bwMode="auto">
                <a:xfrm>
                  <a:off x="3612" y="2125"/>
                  <a:ext cx="415"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78" name="Oval 95"/>
                <p:cNvSpPr>
                  <a:spLocks noChangeArrowheads="1"/>
                </p:cNvSpPr>
                <p:nvPr/>
              </p:nvSpPr>
              <p:spPr bwMode="auto">
                <a:xfrm>
                  <a:off x="4634" y="2121"/>
                  <a:ext cx="424"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79" name="Text Box 96"/>
                <p:cNvSpPr txBox="1">
                  <a:spLocks noChangeArrowheads="1"/>
                </p:cNvSpPr>
                <p:nvPr/>
              </p:nvSpPr>
              <p:spPr bwMode="auto">
                <a:xfrm>
                  <a:off x="4518" y="1435"/>
                  <a:ext cx="27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80" name="Text Box 97"/>
                <p:cNvSpPr txBox="1">
                  <a:spLocks noChangeArrowheads="1"/>
                </p:cNvSpPr>
                <p:nvPr/>
              </p:nvSpPr>
              <p:spPr bwMode="auto">
                <a:xfrm>
                  <a:off x="3785" y="2259"/>
                  <a:ext cx="2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81" name="Text Box 98"/>
                <p:cNvSpPr txBox="1">
                  <a:spLocks noChangeArrowheads="1"/>
                </p:cNvSpPr>
                <p:nvPr/>
              </p:nvSpPr>
              <p:spPr bwMode="auto">
                <a:xfrm>
                  <a:off x="4846" y="2259"/>
                  <a:ext cx="27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2582" name="Group 99"/>
                <p:cNvGrpSpPr>
                  <a:grpSpLocks/>
                </p:cNvGrpSpPr>
                <p:nvPr/>
              </p:nvGrpSpPr>
              <p:grpSpPr bwMode="auto">
                <a:xfrm rot="6478896" flipV="1">
                  <a:off x="4225" y="1576"/>
                  <a:ext cx="61" cy="145"/>
                  <a:chOff x="5891" y="3889"/>
                  <a:chExt cx="103" cy="242"/>
                </a:xfrm>
              </p:grpSpPr>
              <p:sp>
                <p:nvSpPr>
                  <p:cNvPr id="22594" name="Line 100"/>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5" name="Line 101"/>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6" name="Line 102"/>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83" name="Group 103"/>
                <p:cNvGrpSpPr>
                  <a:grpSpLocks/>
                </p:cNvGrpSpPr>
                <p:nvPr/>
              </p:nvGrpSpPr>
              <p:grpSpPr bwMode="auto">
                <a:xfrm rot="9607385" flipV="1">
                  <a:off x="4636" y="2458"/>
                  <a:ext cx="63" cy="138"/>
                  <a:chOff x="5891" y="3889"/>
                  <a:chExt cx="103" cy="242"/>
                </a:xfrm>
              </p:grpSpPr>
              <p:sp>
                <p:nvSpPr>
                  <p:cNvPr id="22591" name="Line 104"/>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2" name="Line 105"/>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3" name="Line 106"/>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2584" name="Group 107"/>
                <p:cNvGrpSpPr>
                  <a:grpSpLocks/>
                </p:cNvGrpSpPr>
                <p:nvPr/>
              </p:nvGrpSpPr>
              <p:grpSpPr bwMode="auto">
                <a:xfrm rot="8126354" flipV="1">
                  <a:off x="3641" y="2538"/>
                  <a:ext cx="64" cy="139"/>
                  <a:chOff x="5891" y="3889"/>
                  <a:chExt cx="103" cy="242"/>
                </a:xfrm>
              </p:grpSpPr>
              <p:sp>
                <p:nvSpPr>
                  <p:cNvPr id="22588" name="Line 108"/>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89" name="Line 109"/>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90" name="Line 110"/>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2585" name="Rectangle 111"/>
                <p:cNvSpPr>
                  <a:spLocks noChangeArrowheads="1"/>
                </p:cNvSpPr>
                <p:nvPr/>
              </p:nvSpPr>
              <p:spPr bwMode="auto">
                <a:xfrm>
                  <a:off x="4586" y="2341"/>
                  <a:ext cx="154"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86" name="Rectangle 112"/>
                <p:cNvSpPr>
                  <a:spLocks noChangeArrowheads="1"/>
                </p:cNvSpPr>
                <p:nvPr/>
              </p:nvSpPr>
              <p:spPr bwMode="auto">
                <a:xfrm>
                  <a:off x="3544" y="2397"/>
                  <a:ext cx="145" cy="1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87" name="Rectangle 113"/>
                <p:cNvSpPr>
                  <a:spLocks noChangeArrowheads="1"/>
                </p:cNvSpPr>
                <p:nvPr/>
              </p:nvSpPr>
              <p:spPr bwMode="auto">
                <a:xfrm>
                  <a:off x="3969" y="1532"/>
                  <a:ext cx="221"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2537" name="Text Box 114"/>
              <p:cNvSpPr txBox="1">
                <a:spLocks noChangeArrowheads="1"/>
              </p:cNvSpPr>
              <p:nvPr/>
            </p:nvSpPr>
            <p:spPr bwMode="auto">
              <a:xfrm>
                <a:off x="2976" y="16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2538" name="Text Box 115"/>
              <p:cNvSpPr txBox="1">
                <a:spLocks noChangeArrowheads="1"/>
              </p:cNvSpPr>
              <p:nvPr/>
            </p:nvSpPr>
            <p:spPr bwMode="auto">
              <a:xfrm>
                <a:off x="4128" y="29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22539" name="Text Box 116"/>
              <p:cNvSpPr txBox="1">
                <a:spLocks noChangeArrowheads="1"/>
              </p:cNvSpPr>
              <p:nvPr/>
            </p:nvSpPr>
            <p:spPr bwMode="auto">
              <a:xfrm>
                <a:off x="3984" y="15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22535" name="Text Box 118"/>
            <p:cNvSpPr txBox="1">
              <a:spLocks noChangeArrowheads="1"/>
            </p:cNvSpPr>
            <p:nvPr/>
          </p:nvSpPr>
          <p:spPr bwMode="auto">
            <a:xfrm>
              <a:off x="5402" y="1017"/>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19</a:t>
            </a:fld>
            <a:endParaRPr lang="en-US" altLang="zh-CN"/>
          </a:p>
        </p:txBody>
      </p:sp>
    </p:spTree>
    <p:extLst>
      <p:ext uri="{BB962C8B-B14F-4D97-AF65-F5344CB8AC3E}">
        <p14:creationId xmlns:p14="http://schemas.microsoft.com/office/powerpoint/2010/main" val="4174135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31458"/>
                                        </p:tgtEl>
                                        <p:attrNameLst>
                                          <p:attrName>style.visibility</p:attrName>
                                        </p:attrNameLst>
                                      </p:cBhvr>
                                      <p:to>
                                        <p:strVal val="visible"/>
                                      </p:to>
                                    </p:set>
                                    <p:animEffect transition="in" filter="blinds(horizontal)">
                                      <p:cBhvr>
                                        <p:cTn id="13" dur="500"/>
                                        <p:tgtEl>
                                          <p:spTgt spid="53145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31459"/>
                                        </p:tgtEl>
                                        <p:attrNameLst>
                                          <p:attrName>style.visibility</p:attrName>
                                        </p:attrNameLst>
                                      </p:cBhvr>
                                      <p:to>
                                        <p:strVal val="visible"/>
                                      </p:to>
                                    </p:set>
                                    <p:animEffect transition="in" filter="blinds(horizontal)">
                                      <p:cBhvr>
                                        <p:cTn id="18" dur="500"/>
                                        <p:tgtEl>
                                          <p:spTgt spid="53145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31573"/>
                                        </p:tgtEl>
                                        <p:attrNameLst>
                                          <p:attrName>style.visibility</p:attrName>
                                        </p:attrNameLst>
                                      </p:cBhvr>
                                      <p:to>
                                        <p:strVal val="visible"/>
                                      </p:to>
                                    </p:set>
                                    <p:animEffect transition="in" filter="blinds(horizontal)">
                                      <p:cBhvr>
                                        <p:cTn id="23" dur="500"/>
                                        <p:tgtEl>
                                          <p:spTgt spid="531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8" grpId="0"/>
      <p:bldP spid="531459" grpId="0"/>
      <p:bldP spid="53157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Text Box 2"/>
          <p:cNvSpPr txBox="1">
            <a:spLocks noChangeArrowheads="1"/>
          </p:cNvSpPr>
          <p:nvPr/>
        </p:nvSpPr>
        <p:spPr bwMode="auto">
          <a:xfrm>
            <a:off x="611188" y="838200"/>
            <a:ext cx="4441826" cy="94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前例中可以按图中虚线所示</a:t>
            </a:r>
            <a:r>
              <a:rPr lang="zh-CN" altLang="en-US" sz="2400" dirty="0" smtClean="0">
                <a:latin typeface="Times New Roman" panose="02020603050405020304" pitchFamily="18" charset="0"/>
                <a:ea typeface="华文中宋" panose="02010600040101010101" pitchFamily="2" charset="-122"/>
                <a:cs typeface="Times New Roman" panose="02020603050405020304" pitchFamily="18" charset="0"/>
              </a:rPr>
              <a:t>选取</a:t>
            </a:r>
            <a:r>
              <a:rPr lang="zh-CN" altLang="en-US" sz="2400"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独立回路</a:t>
            </a:r>
            <a:endParaRPr lang="zh-CN" altLang="en-US" sz="24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483" name="Text Box 3"/>
          <p:cNvSpPr txBox="1">
            <a:spLocks noChangeArrowheads="1"/>
          </p:cNvSpPr>
          <p:nvPr/>
        </p:nvSpPr>
        <p:spPr bwMode="auto">
          <a:xfrm>
            <a:off x="609600" y="2133600"/>
            <a:ext cx="4953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10000"/>
              </a:spcBef>
            </a:pP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回路 </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     </a:t>
            </a:r>
          </a:p>
          <a:p>
            <a:pPr algn="l" eaLnBrk="1" hangingPunct="1">
              <a:lnSpc>
                <a:spcPct val="120000"/>
              </a:lnSpc>
              <a:spcBef>
                <a:spcPct val="10000"/>
              </a:spcBef>
            </a:pP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lnSpc>
                <a:spcPct val="120000"/>
              </a:lnSpc>
              <a:spcBef>
                <a:spcPct val="10000"/>
              </a:spcBef>
            </a:pP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回路 </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     </a:t>
            </a:r>
          </a:p>
          <a:p>
            <a:pPr algn="l" eaLnBrk="1" hangingPunct="1">
              <a:lnSpc>
                <a:spcPct val="120000"/>
              </a:lnSpc>
              <a:spcBef>
                <a:spcPct val="10000"/>
              </a:spcBef>
            </a:pP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 </a:t>
            </a:r>
            <a:r>
              <a:rPr lang="zh-CN" altLang="en-US"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lnSpc>
                <a:spcPct val="120000"/>
              </a:lnSpc>
              <a:spcBef>
                <a:spcPct val="10000"/>
              </a:spcBef>
            </a:pP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回路 </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    </a:t>
            </a:r>
          </a:p>
          <a:p>
            <a:pPr algn="l" eaLnBrk="1" hangingPunct="1">
              <a:lnSpc>
                <a:spcPct val="120000"/>
              </a:lnSpc>
              <a:spcBef>
                <a:spcPct val="10000"/>
              </a:spcBef>
            </a:pP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 </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5 </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grpSp>
        <p:nvGrpSpPr>
          <p:cNvPr id="2" name="Group 119"/>
          <p:cNvGrpSpPr>
            <a:grpSpLocks/>
          </p:cNvGrpSpPr>
          <p:nvPr/>
        </p:nvGrpSpPr>
        <p:grpSpPr bwMode="auto">
          <a:xfrm>
            <a:off x="4876800" y="381000"/>
            <a:ext cx="4267200" cy="3581400"/>
            <a:chOff x="3072" y="240"/>
            <a:chExt cx="2688" cy="2256"/>
          </a:xfrm>
        </p:grpSpPr>
        <p:grpSp>
          <p:nvGrpSpPr>
            <p:cNvPr id="23557" name="Group 5"/>
            <p:cNvGrpSpPr>
              <a:grpSpLocks/>
            </p:cNvGrpSpPr>
            <p:nvPr/>
          </p:nvGrpSpPr>
          <p:grpSpPr bwMode="auto">
            <a:xfrm>
              <a:off x="3072" y="240"/>
              <a:ext cx="2448" cy="2256"/>
              <a:chOff x="2976" y="960"/>
              <a:chExt cx="2448" cy="2256"/>
            </a:xfrm>
          </p:grpSpPr>
          <p:grpSp>
            <p:nvGrpSpPr>
              <p:cNvPr id="23559" name="Group 6"/>
              <p:cNvGrpSpPr>
                <a:grpSpLocks/>
              </p:cNvGrpSpPr>
              <p:nvPr/>
            </p:nvGrpSpPr>
            <p:grpSpPr bwMode="auto">
              <a:xfrm>
                <a:off x="3072" y="960"/>
                <a:ext cx="2352" cy="2016"/>
                <a:chOff x="3072" y="960"/>
                <a:chExt cx="2352" cy="2016"/>
              </a:xfrm>
            </p:grpSpPr>
            <p:sp>
              <p:nvSpPr>
                <p:cNvPr id="23563" name="Text Box 7"/>
                <p:cNvSpPr txBox="1">
                  <a:spLocks noChangeArrowheads="1"/>
                </p:cNvSpPr>
                <p:nvPr/>
              </p:nvSpPr>
              <p:spPr bwMode="auto">
                <a:xfrm>
                  <a:off x="3952" y="960"/>
                  <a:ext cx="2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3564" name="Text Box 8"/>
                <p:cNvSpPr txBox="1">
                  <a:spLocks noChangeArrowheads="1"/>
                </p:cNvSpPr>
                <p:nvPr/>
              </p:nvSpPr>
              <p:spPr bwMode="auto">
                <a:xfrm>
                  <a:off x="4410" y="2029"/>
                  <a:ext cx="37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3565" name="Text Box 9"/>
                <p:cNvSpPr txBox="1">
                  <a:spLocks noChangeArrowheads="1"/>
                </p:cNvSpPr>
                <p:nvPr/>
              </p:nvSpPr>
              <p:spPr bwMode="auto">
                <a:xfrm>
                  <a:off x="3375" y="2005"/>
                  <a:ext cx="3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3566" name="Line 10"/>
                <p:cNvSpPr>
                  <a:spLocks noChangeShapeType="1"/>
                </p:cNvSpPr>
                <p:nvPr/>
              </p:nvSpPr>
              <p:spPr bwMode="auto">
                <a:xfrm>
                  <a:off x="3201" y="1311"/>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7" name="Line 11"/>
                <p:cNvSpPr>
                  <a:spLocks noChangeShapeType="1"/>
                </p:cNvSpPr>
                <p:nvPr/>
              </p:nvSpPr>
              <p:spPr bwMode="auto">
                <a:xfrm>
                  <a:off x="3201" y="1311"/>
                  <a:ext cx="0" cy="164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8" name="Line 12"/>
                <p:cNvSpPr>
                  <a:spLocks noChangeShapeType="1"/>
                </p:cNvSpPr>
                <p:nvPr/>
              </p:nvSpPr>
              <p:spPr bwMode="auto">
                <a:xfrm>
                  <a:off x="5357" y="1316"/>
                  <a:ext cx="0" cy="16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9" name="Line 13"/>
                <p:cNvSpPr>
                  <a:spLocks noChangeShapeType="1"/>
                </p:cNvSpPr>
                <p:nvPr/>
              </p:nvSpPr>
              <p:spPr bwMode="auto">
                <a:xfrm>
                  <a:off x="3201" y="295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70" name="Line 14"/>
                <p:cNvSpPr>
                  <a:spLocks noChangeShapeType="1"/>
                </p:cNvSpPr>
                <p:nvPr/>
              </p:nvSpPr>
              <p:spPr bwMode="auto">
                <a:xfrm>
                  <a:off x="3201" y="1802"/>
                  <a:ext cx="21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71" name="Line 15"/>
                <p:cNvSpPr>
                  <a:spLocks noChangeShapeType="1"/>
                </p:cNvSpPr>
                <p:nvPr/>
              </p:nvSpPr>
              <p:spPr bwMode="auto">
                <a:xfrm>
                  <a:off x="4263" y="1797"/>
                  <a:ext cx="0" cy="11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3572" name="Group 16"/>
                <p:cNvGrpSpPr>
                  <a:grpSpLocks/>
                </p:cNvGrpSpPr>
                <p:nvPr/>
              </p:nvGrpSpPr>
              <p:grpSpPr bwMode="auto">
                <a:xfrm rot="-5400000">
                  <a:off x="4686" y="1406"/>
                  <a:ext cx="79" cy="798"/>
                  <a:chOff x="743" y="567"/>
                  <a:chExt cx="187" cy="1639"/>
                </a:xfrm>
              </p:grpSpPr>
              <p:sp>
                <p:nvSpPr>
                  <p:cNvPr id="23669" name="Line 1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70" name="Rectangle 1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73" name="Group 19"/>
                <p:cNvGrpSpPr>
                  <a:grpSpLocks/>
                </p:cNvGrpSpPr>
                <p:nvPr/>
              </p:nvGrpSpPr>
              <p:grpSpPr bwMode="auto">
                <a:xfrm rot="5400000">
                  <a:off x="3673" y="1400"/>
                  <a:ext cx="81" cy="799"/>
                  <a:chOff x="743" y="567"/>
                  <a:chExt cx="187" cy="1639"/>
                </a:xfrm>
              </p:grpSpPr>
              <p:sp>
                <p:nvSpPr>
                  <p:cNvPr id="23667" name="Line 2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68" name="Rectangle 2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74" name="Group 22"/>
                <p:cNvGrpSpPr>
                  <a:grpSpLocks/>
                </p:cNvGrpSpPr>
                <p:nvPr/>
              </p:nvGrpSpPr>
              <p:grpSpPr bwMode="auto">
                <a:xfrm rot="5400000">
                  <a:off x="4859" y="909"/>
                  <a:ext cx="79" cy="800"/>
                  <a:chOff x="743" y="567"/>
                  <a:chExt cx="187" cy="1639"/>
                </a:xfrm>
              </p:grpSpPr>
              <p:sp>
                <p:nvSpPr>
                  <p:cNvPr id="23665" name="Line 2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66" name="Rectangle 2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75" name="Group 25"/>
                <p:cNvGrpSpPr>
                  <a:grpSpLocks/>
                </p:cNvGrpSpPr>
                <p:nvPr/>
              </p:nvGrpSpPr>
              <p:grpSpPr bwMode="auto">
                <a:xfrm>
                  <a:off x="5333" y="2134"/>
                  <a:ext cx="91" cy="698"/>
                  <a:chOff x="743" y="567"/>
                  <a:chExt cx="187" cy="1639"/>
                </a:xfrm>
              </p:grpSpPr>
              <p:sp>
                <p:nvSpPr>
                  <p:cNvPr id="23663" name="Line 2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64" name="Rectangle 2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76" name="Group 28"/>
                <p:cNvGrpSpPr>
                  <a:grpSpLocks/>
                </p:cNvGrpSpPr>
                <p:nvPr/>
              </p:nvGrpSpPr>
              <p:grpSpPr bwMode="auto">
                <a:xfrm>
                  <a:off x="3602" y="1135"/>
                  <a:ext cx="805" cy="296"/>
                  <a:chOff x="2370" y="2213"/>
                  <a:chExt cx="1650" cy="695"/>
                </a:xfrm>
              </p:grpSpPr>
              <p:grpSp>
                <p:nvGrpSpPr>
                  <p:cNvPr id="23656" name="Group 29"/>
                  <p:cNvGrpSpPr>
                    <a:grpSpLocks/>
                  </p:cNvGrpSpPr>
                  <p:nvPr/>
                </p:nvGrpSpPr>
                <p:grpSpPr bwMode="auto">
                  <a:xfrm rot="-5400000">
                    <a:off x="2919" y="1808"/>
                    <a:ext cx="551" cy="1650"/>
                    <a:chOff x="4417" y="567"/>
                    <a:chExt cx="550" cy="1650"/>
                  </a:xfrm>
                </p:grpSpPr>
                <p:sp>
                  <p:nvSpPr>
                    <p:cNvPr id="23661" name="Oval 3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62" name="Line 31"/>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657" name="Group 32"/>
                  <p:cNvGrpSpPr>
                    <a:grpSpLocks/>
                  </p:cNvGrpSpPr>
                  <p:nvPr/>
                </p:nvGrpSpPr>
                <p:grpSpPr bwMode="auto">
                  <a:xfrm>
                    <a:off x="2655" y="2213"/>
                    <a:ext cx="1056" cy="143"/>
                    <a:chOff x="2655" y="2213"/>
                    <a:chExt cx="1056" cy="143"/>
                  </a:xfrm>
                </p:grpSpPr>
                <p:sp>
                  <p:nvSpPr>
                    <p:cNvPr id="23658" name="Line 33"/>
                    <p:cNvSpPr>
                      <a:spLocks noChangeShapeType="1"/>
                    </p:cNvSpPr>
                    <p:nvPr/>
                  </p:nvSpPr>
                  <p:spPr bwMode="auto">
                    <a:xfrm rot="-5400000">
                      <a:off x="2660" y="2285"/>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59" name="Line 34"/>
                    <p:cNvSpPr>
                      <a:spLocks noChangeShapeType="1"/>
                    </p:cNvSpPr>
                    <p:nvPr/>
                  </p:nvSpPr>
                  <p:spPr bwMode="auto">
                    <a:xfrm rot="10800000">
                      <a:off x="3557" y="2291"/>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60" name="Line 35"/>
                    <p:cNvSpPr>
                      <a:spLocks noChangeShapeType="1"/>
                    </p:cNvSpPr>
                    <p:nvPr/>
                  </p:nvSpPr>
                  <p:spPr bwMode="auto">
                    <a:xfrm>
                      <a:off x="2655" y="228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3577" name="Group 36"/>
                <p:cNvGrpSpPr>
                  <a:grpSpLocks/>
                </p:cNvGrpSpPr>
                <p:nvPr/>
              </p:nvGrpSpPr>
              <p:grpSpPr bwMode="auto">
                <a:xfrm>
                  <a:off x="4129" y="1807"/>
                  <a:ext cx="338" cy="702"/>
                  <a:chOff x="4417" y="567"/>
                  <a:chExt cx="693" cy="1650"/>
                </a:xfrm>
              </p:grpSpPr>
              <p:grpSp>
                <p:nvGrpSpPr>
                  <p:cNvPr id="23649" name="Group 37"/>
                  <p:cNvGrpSpPr>
                    <a:grpSpLocks/>
                  </p:cNvGrpSpPr>
                  <p:nvPr/>
                </p:nvGrpSpPr>
                <p:grpSpPr bwMode="auto">
                  <a:xfrm>
                    <a:off x="4417" y="567"/>
                    <a:ext cx="550" cy="1650"/>
                    <a:chOff x="4417" y="567"/>
                    <a:chExt cx="550" cy="1650"/>
                  </a:xfrm>
                </p:grpSpPr>
                <p:sp>
                  <p:nvSpPr>
                    <p:cNvPr id="23654" name="Oval 3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55" name="Line 3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650" name="Group 40"/>
                  <p:cNvGrpSpPr>
                    <a:grpSpLocks/>
                  </p:cNvGrpSpPr>
                  <p:nvPr/>
                </p:nvGrpSpPr>
                <p:grpSpPr bwMode="auto">
                  <a:xfrm>
                    <a:off x="4956" y="853"/>
                    <a:ext cx="154" cy="979"/>
                    <a:chOff x="4956" y="853"/>
                    <a:chExt cx="154" cy="979"/>
                  </a:xfrm>
                </p:grpSpPr>
                <p:sp>
                  <p:nvSpPr>
                    <p:cNvPr id="23651" name="Line 4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52" name="Line 4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53" name="Line 4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3578" name="Group 44"/>
                <p:cNvGrpSpPr>
                  <a:grpSpLocks/>
                </p:cNvGrpSpPr>
                <p:nvPr/>
              </p:nvGrpSpPr>
              <p:grpSpPr bwMode="auto">
                <a:xfrm>
                  <a:off x="3072" y="1771"/>
                  <a:ext cx="338" cy="702"/>
                  <a:chOff x="4417" y="567"/>
                  <a:chExt cx="693" cy="1650"/>
                </a:xfrm>
              </p:grpSpPr>
              <p:grpSp>
                <p:nvGrpSpPr>
                  <p:cNvPr id="23642" name="Group 45"/>
                  <p:cNvGrpSpPr>
                    <a:grpSpLocks/>
                  </p:cNvGrpSpPr>
                  <p:nvPr/>
                </p:nvGrpSpPr>
                <p:grpSpPr bwMode="auto">
                  <a:xfrm>
                    <a:off x="4417" y="567"/>
                    <a:ext cx="550" cy="1650"/>
                    <a:chOff x="4417" y="567"/>
                    <a:chExt cx="550" cy="1650"/>
                  </a:xfrm>
                </p:grpSpPr>
                <p:sp>
                  <p:nvSpPr>
                    <p:cNvPr id="23647" name="Oval 4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48" name="Line 4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643" name="Group 48"/>
                  <p:cNvGrpSpPr>
                    <a:grpSpLocks/>
                  </p:cNvGrpSpPr>
                  <p:nvPr/>
                </p:nvGrpSpPr>
                <p:grpSpPr bwMode="auto">
                  <a:xfrm>
                    <a:off x="4956" y="853"/>
                    <a:ext cx="154" cy="979"/>
                    <a:chOff x="4956" y="853"/>
                    <a:chExt cx="154" cy="979"/>
                  </a:xfrm>
                </p:grpSpPr>
                <p:sp>
                  <p:nvSpPr>
                    <p:cNvPr id="23644" name="Line 4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45" name="Line 5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46" name="Line 5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3579" name="Group 52"/>
                <p:cNvGrpSpPr>
                  <a:grpSpLocks/>
                </p:cNvGrpSpPr>
                <p:nvPr/>
              </p:nvGrpSpPr>
              <p:grpSpPr bwMode="auto">
                <a:xfrm>
                  <a:off x="4220" y="2176"/>
                  <a:ext cx="91" cy="696"/>
                  <a:chOff x="743" y="567"/>
                  <a:chExt cx="187" cy="1639"/>
                </a:xfrm>
              </p:grpSpPr>
              <p:sp>
                <p:nvSpPr>
                  <p:cNvPr id="23640" name="Line 5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41" name="Rectangle 5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0" name="Group 55"/>
                <p:cNvGrpSpPr>
                  <a:grpSpLocks/>
                </p:cNvGrpSpPr>
                <p:nvPr/>
              </p:nvGrpSpPr>
              <p:grpSpPr bwMode="auto">
                <a:xfrm>
                  <a:off x="3158" y="2169"/>
                  <a:ext cx="91" cy="697"/>
                  <a:chOff x="743" y="567"/>
                  <a:chExt cx="187" cy="1639"/>
                </a:xfrm>
              </p:grpSpPr>
              <p:sp>
                <p:nvSpPr>
                  <p:cNvPr id="23638" name="Line 5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9" name="Rectangle 5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1" name="Group 58"/>
                <p:cNvGrpSpPr>
                  <a:grpSpLocks/>
                </p:cNvGrpSpPr>
                <p:nvPr/>
              </p:nvGrpSpPr>
              <p:grpSpPr bwMode="auto">
                <a:xfrm flipV="1">
                  <a:off x="5331" y="1872"/>
                  <a:ext cx="64" cy="139"/>
                  <a:chOff x="5891" y="3889"/>
                  <a:chExt cx="103" cy="242"/>
                </a:xfrm>
              </p:grpSpPr>
              <p:sp>
                <p:nvSpPr>
                  <p:cNvPr id="23635" name="Line 59"/>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6" name="Line 60"/>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7" name="Line 61"/>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2" name="Group 62"/>
                <p:cNvGrpSpPr>
                  <a:grpSpLocks/>
                </p:cNvGrpSpPr>
                <p:nvPr/>
              </p:nvGrpSpPr>
              <p:grpSpPr bwMode="auto">
                <a:xfrm>
                  <a:off x="3168" y="2728"/>
                  <a:ext cx="64" cy="139"/>
                  <a:chOff x="5891" y="3889"/>
                  <a:chExt cx="103" cy="242"/>
                </a:xfrm>
              </p:grpSpPr>
              <p:sp>
                <p:nvSpPr>
                  <p:cNvPr id="23632" name="Line 63"/>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3" name="Line 64"/>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4" name="Line 65"/>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3" name="Group 66"/>
                <p:cNvGrpSpPr>
                  <a:grpSpLocks/>
                </p:cNvGrpSpPr>
                <p:nvPr/>
              </p:nvGrpSpPr>
              <p:grpSpPr bwMode="auto">
                <a:xfrm>
                  <a:off x="4234" y="2755"/>
                  <a:ext cx="64" cy="139"/>
                  <a:chOff x="5891" y="3889"/>
                  <a:chExt cx="103" cy="242"/>
                </a:xfrm>
              </p:grpSpPr>
              <p:sp>
                <p:nvSpPr>
                  <p:cNvPr id="23629" name="Line 67"/>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0" name="Line 68"/>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31" name="Line 69"/>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4" name="Group 70"/>
                <p:cNvGrpSpPr>
                  <a:grpSpLocks/>
                </p:cNvGrpSpPr>
                <p:nvPr/>
              </p:nvGrpSpPr>
              <p:grpSpPr bwMode="auto">
                <a:xfrm rot="5400000">
                  <a:off x="3556" y="1236"/>
                  <a:ext cx="61" cy="146"/>
                  <a:chOff x="5891" y="3889"/>
                  <a:chExt cx="103" cy="242"/>
                </a:xfrm>
              </p:grpSpPr>
              <p:sp>
                <p:nvSpPr>
                  <p:cNvPr id="23626" name="Line 71"/>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7" name="Line 72"/>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8" name="Line 73"/>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5" name="Group 74"/>
                <p:cNvGrpSpPr>
                  <a:grpSpLocks/>
                </p:cNvGrpSpPr>
                <p:nvPr/>
              </p:nvGrpSpPr>
              <p:grpSpPr bwMode="auto">
                <a:xfrm rot="5400000">
                  <a:off x="3992" y="1732"/>
                  <a:ext cx="60" cy="146"/>
                  <a:chOff x="5891" y="3889"/>
                  <a:chExt cx="103" cy="242"/>
                </a:xfrm>
              </p:grpSpPr>
              <p:sp>
                <p:nvSpPr>
                  <p:cNvPr id="23623" name="Line 75"/>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4" name="Line 76"/>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5" name="Line 77"/>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586" name="Group 78"/>
                <p:cNvGrpSpPr>
                  <a:grpSpLocks/>
                </p:cNvGrpSpPr>
                <p:nvPr/>
              </p:nvGrpSpPr>
              <p:grpSpPr bwMode="auto">
                <a:xfrm rot="5400000">
                  <a:off x="5090" y="1723"/>
                  <a:ext cx="62" cy="146"/>
                  <a:chOff x="5891" y="3889"/>
                  <a:chExt cx="103" cy="242"/>
                </a:xfrm>
              </p:grpSpPr>
              <p:sp>
                <p:nvSpPr>
                  <p:cNvPr id="23620" name="Line 79"/>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1" name="Line 80"/>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22" name="Line 81"/>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587" name="Text Box 82"/>
                <p:cNvSpPr txBox="1">
                  <a:spLocks noChangeArrowheads="1"/>
                </p:cNvSpPr>
                <p:nvPr/>
              </p:nvSpPr>
              <p:spPr bwMode="auto">
                <a:xfrm>
                  <a:off x="4846" y="1008"/>
                  <a:ext cx="33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3588" name="Text Box 83"/>
                <p:cNvSpPr txBox="1">
                  <a:spLocks noChangeArrowheads="1"/>
                </p:cNvSpPr>
                <p:nvPr/>
              </p:nvSpPr>
              <p:spPr bwMode="auto">
                <a:xfrm>
                  <a:off x="3487" y="1514"/>
                  <a:ext cx="348"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3589" name="Text Box 84"/>
                <p:cNvSpPr txBox="1">
                  <a:spLocks noChangeArrowheads="1"/>
                </p:cNvSpPr>
                <p:nvPr/>
              </p:nvSpPr>
              <p:spPr bwMode="auto">
                <a:xfrm>
                  <a:off x="4711" y="1867"/>
                  <a:ext cx="28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3590" name="Text Box 85"/>
                <p:cNvSpPr txBox="1">
                  <a:spLocks noChangeArrowheads="1"/>
                </p:cNvSpPr>
                <p:nvPr/>
              </p:nvSpPr>
              <p:spPr bwMode="auto">
                <a:xfrm>
                  <a:off x="3313" y="2378"/>
                  <a:ext cx="231"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3591" name="Text Box 86"/>
                <p:cNvSpPr txBox="1">
                  <a:spLocks noChangeArrowheads="1"/>
                </p:cNvSpPr>
                <p:nvPr/>
              </p:nvSpPr>
              <p:spPr bwMode="auto">
                <a:xfrm>
                  <a:off x="3984" y="2489"/>
                  <a:ext cx="34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3592" name="Text Box 87"/>
                <p:cNvSpPr txBox="1">
                  <a:spLocks noChangeArrowheads="1"/>
                </p:cNvSpPr>
                <p:nvPr/>
              </p:nvSpPr>
              <p:spPr bwMode="auto">
                <a:xfrm>
                  <a:off x="5136" y="2544"/>
                  <a:ext cx="24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3593" name="Text Box 88"/>
                <p:cNvSpPr txBox="1">
                  <a:spLocks noChangeArrowheads="1"/>
                </p:cNvSpPr>
                <p:nvPr/>
              </p:nvSpPr>
              <p:spPr bwMode="auto">
                <a:xfrm>
                  <a:off x="3351" y="1008"/>
                  <a:ext cx="23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3594" name="Text Box 89"/>
                <p:cNvSpPr txBox="1">
                  <a:spLocks noChangeArrowheads="1"/>
                </p:cNvSpPr>
                <p:nvPr/>
              </p:nvSpPr>
              <p:spPr bwMode="auto">
                <a:xfrm>
                  <a:off x="3959" y="1856"/>
                  <a:ext cx="30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3595" name="Text Box 90"/>
                <p:cNvSpPr txBox="1">
                  <a:spLocks noChangeArrowheads="1"/>
                </p:cNvSpPr>
                <p:nvPr/>
              </p:nvSpPr>
              <p:spPr bwMode="auto">
                <a:xfrm>
                  <a:off x="5106" y="1532"/>
                  <a:ext cx="318"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3</a:t>
                  </a:r>
                </a:p>
              </p:txBody>
            </p:sp>
            <p:sp>
              <p:nvSpPr>
                <p:cNvPr id="23596" name="Text Box 91"/>
                <p:cNvSpPr txBox="1">
                  <a:spLocks noChangeArrowheads="1"/>
                </p:cNvSpPr>
                <p:nvPr/>
              </p:nvSpPr>
              <p:spPr bwMode="auto">
                <a:xfrm>
                  <a:off x="4373" y="2672"/>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5</a:t>
                  </a:r>
                </a:p>
              </p:txBody>
            </p:sp>
            <p:sp>
              <p:nvSpPr>
                <p:cNvPr id="23597" name="Text Box 92"/>
                <p:cNvSpPr txBox="1">
                  <a:spLocks noChangeArrowheads="1"/>
                </p:cNvSpPr>
                <p:nvPr/>
              </p:nvSpPr>
              <p:spPr bwMode="auto">
                <a:xfrm>
                  <a:off x="3332" y="2654"/>
                  <a:ext cx="357"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3598" name="Text Box 93"/>
                <p:cNvSpPr txBox="1">
                  <a:spLocks noChangeArrowheads="1"/>
                </p:cNvSpPr>
                <p:nvPr/>
              </p:nvSpPr>
              <p:spPr bwMode="auto">
                <a:xfrm>
                  <a:off x="5163" y="1949"/>
                  <a:ext cx="26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23599" name="Oval 94"/>
                <p:cNvSpPr>
                  <a:spLocks noChangeArrowheads="1"/>
                </p:cNvSpPr>
                <p:nvPr/>
              </p:nvSpPr>
              <p:spPr bwMode="auto">
                <a:xfrm>
                  <a:off x="4103" y="1403"/>
                  <a:ext cx="829" cy="286"/>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0" name="Oval 95"/>
                <p:cNvSpPr>
                  <a:spLocks noChangeArrowheads="1"/>
                </p:cNvSpPr>
                <p:nvPr/>
              </p:nvSpPr>
              <p:spPr bwMode="auto">
                <a:xfrm>
                  <a:off x="3612" y="2125"/>
                  <a:ext cx="415"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1" name="Oval 96"/>
                <p:cNvSpPr>
                  <a:spLocks noChangeArrowheads="1"/>
                </p:cNvSpPr>
                <p:nvPr/>
              </p:nvSpPr>
              <p:spPr bwMode="auto">
                <a:xfrm>
                  <a:off x="4634" y="2121"/>
                  <a:ext cx="424" cy="570"/>
                </a:xfrm>
                <a:prstGeom prst="ellipse">
                  <a:avLst/>
                </a:pr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2" name="Text Box 97"/>
                <p:cNvSpPr txBox="1">
                  <a:spLocks noChangeArrowheads="1"/>
                </p:cNvSpPr>
                <p:nvPr/>
              </p:nvSpPr>
              <p:spPr bwMode="auto">
                <a:xfrm>
                  <a:off x="4518" y="1435"/>
                  <a:ext cx="270"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3" name="Text Box 98"/>
                <p:cNvSpPr txBox="1">
                  <a:spLocks noChangeArrowheads="1"/>
                </p:cNvSpPr>
                <p:nvPr/>
              </p:nvSpPr>
              <p:spPr bwMode="auto">
                <a:xfrm>
                  <a:off x="3785" y="2259"/>
                  <a:ext cx="23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4" name="Text Box 99"/>
                <p:cNvSpPr txBox="1">
                  <a:spLocks noChangeArrowheads="1"/>
                </p:cNvSpPr>
                <p:nvPr/>
              </p:nvSpPr>
              <p:spPr bwMode="auto">
                <a:xfrm>
                  <a:off x="4846" y="2259"/>
                  <a:ext cx="27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3605" name="Group 100"/>
                <p:cNvGrpSpPr>
                  <a:grpSpLocks/>
                </p:cNvGrpSpPr>
                <p:nvPr/>
              </p:nvGrpSpPr>
              <p:grpSpPr bwMode="auto">
                <a:xfrm rot="6478896" flipV="1">
                  <a:off x="4225" y="1576"/>
                  <a:ext cx="61" cy="145"/>
                  <a:chOff x="5891" y="3889"/>
                  <a:chExt cx="103" cy="242"/>
                </a:xfrm>
              </p:grpSpPr>
              <p:sp>
                <p:nvSpPr>
                  <p:cNvPr id="23617" name="Line 101"/>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8" name="Line 102"/>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9" name="Line 103"/>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606" name="Group 104"/>
                <p:cNvGrpSpPr>
                  <a:grpSpLocks/>
                </p:cNvGrpSpPr>
                <p:nvPr/>
              </p:nvGrpSpPr>
              <p:grpSpPr bwMode="auto">
                <a:xfrm rot="9607385" flipV="1">
                  <a:off x="4636" y="2458"/>
                  <a:ext cx="63" cy="138"/>
                  <a:chOff x="5891" y="3889"/>
                  <a:chExt cx="103" cy="242"/>
                </a:xfrm>
              </p:grpSpPr>
              <p:sp>
                <p:nvSpPr>
                  <p:cNvPr id="23614" name="Line 105"/>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5" name="Line 106"/>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6" name="Line 107"/>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3607" name="Group 108"/>
                <p:cNvGrpSpPr>
                  <a:grpSpLocks/>
                </p:cNvGrpSpPr>
                <p:nvPr/>
              </p:nvGrpSpPr>
              <p:grpSpPr bwMode="auto">
                <a:xfrm rot="8126354" flipV="1">
                  <a:off x="3641" y="2538"/>
                  <a:ext cx="64" cy="139"/>
                  <a:chOff x="5891" y="3889"/>
                  <a:chExt cx="103" cy="242"/>
                </a:xfrm>
              </p:grpSpPr>
              <p:sp>
                <p:nvSpPr>
                  <p:cNvPr id="23611" name="Line 109"/>
                  <p:cNvSpPr>
                    <a:spLocks noChangeShapeType="1"/>
                  </p:cNvSpPr>
                  <p:nvPr/>
                </p:nvSpPr>
                <p:spPr bwMode="auto">
                  <a:xfrm flipH="1">
                    <a:off x="5891" y="3891"/>
                    <a:ext cx="44"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2" name="Line 110"/>
                  <p:cNvSpPr>
                    <a:spLocks noChangeShapeType="1"/>
                  </p:cNvSpPr>
                  <p:nvPr/>
                </p:nvSpPr>
                <p:spPr bwMode="auto">
                  <a:xfrm>
                    <a:off x="5939" y="3889"/>
                    <a:ext cx="55" cy="19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3" name="Line 111"/>
                  <p:cNvSpPr>
                    <a:spLocks noChangeShapeType="1"/>
                  </p:cNvSpPr>
                  <p:nvPr/>
                </p:nvSpPr>
                <p:spPr bwMode="auto">
                  <a:xfrm flipH="1">
                    <a:off x="5935" y="3889"/>
                    <a:ext cx="4" cy="24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608" name="Rectangle 112"/>
                <p:cNvSpPr>
                  <a:spLocks noChangeArrowheads="1"/>
                </p:cNvSpPr>
                <p:nvPr/>
              </p:nvSpPr>
              <p:spPr bwMode="auto">
                <a:xfrm>
                  <a:off x="4586" y="2341"/>
                  <a:ext cx="154"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09" name="Rectangle 113"/>
                <p:cNvSpPr>
                  <a:spLocks noChangeArrowheads="1"/>
                </p:cNvSpPr>
                <p:nvPr/>
              </p:nvSpPr>
              <p:spPr bwMode="auto">
                <a:xfrm>
                  <a:off x="3544" y="2397"/>
                  <a:ext cx="145" cy="1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610" name="Rectangle 114"/>
                <p:cNvSpPr>
                  <a:spLocks noChangeArrowheads="1"/>
                </p:cNvSpPr>
                <p:nvPr/>
              </p:nvSpPr>
              <p:spPr bwMode="auto">
                <a:xfrm>
                  <a:off x="3969" y="1532"/>
                  <a:ext cx="221" cy="1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3560" name="Text Box 115"/>
              <p:cNvSpPr txBox="1">
                <a:spLocks noChangeArrowheads="1"/>
              </p:cNvSpPr>
              <p:nvPr/>
            </p:nvSpPr>
            <p:spPr bwMode="auto">
              <a:xfrm>
                <a:off x="2976" y="16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3561" name="Text Box 116"/>
              <p:cNvSpPr txBox="1">
                <a:spLocks noChangeArrowheads="1"/>
              </p:cNvSpPr>
              <p:nvPr/>
            </p:nvSpPr>
            <p:spPr bwMode="auto">
              <a:xfrm>
                <a:off x="4128" y="29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23562" name="Text Box 117"/>
              <p:cNvSpPr txBox="1">
                <a:spLocks noChangeArrowheads="1"/>
              </p:cNvSpPr>
              <p:nvPr/>
            </p:nvSpPr>
            <p:spPr bwMode="auto">
              <a:xfrm>
                <a:off x="3984" y="15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23558" name="Text Box 118"/>
            <p:cNvSpPr txBox="1">
              <a:spLocks noChangeArrowheads="1"/>
            </p:cNvSpPr>
            <p:nvPr/>
          </p:nvSpPr>
          <p:spPr bwMode="auto">
            <a:xfrm>
              <a:off x="5420" y="935"/>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20</a:t>
            </a:fld>
            <a:endParaRPr lang="en-US" altLang="zh-CN"/>
          </a:p>
        </p:txBody>
      </p:sp>
    </p:spTree>
    <p:extLst>
      <p:ext uri="{BB962C8B-B14F-4D97-AF65-F5344CB8AC3E}">
        <p14:creationId xmlns:p14="http://schemas.microsoft.com/office/powerpoint/2010/main" val="2232894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2482"/>
                                        </p:tgtEl>
                                        <p:attrNameLst>
                                          <p:attrName>style.visibility</p:attrName>
                                        </p:attrNameLst>
                                      </p:cBhvr>
                                      <p:to>
                                        <p:strVal val="visible"/>
                                      </p:to>
                                    </p:set>
                                    <p:animEffect transition="in" filter="wipe(left)">
                                      <p:cBhvr>
                                        <p:cTn id="13" dur="500"/>
                                        <p:tgtEl>
                                          <p:spTgt spid="53248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32483"/>
                                        </p:tgtEl>
                                        <p:attrNameLst>
                                          <p:attrName>style.visibility</p:attrName>
                                        </p:attrNameLst>
                                      </p:cBhvr>
                                      <p:to>
                                        <p:strVal val="visible"/>
                                      </p:to>
                                    </p:set>
                                    <p:animEffect transition="in" filter="blinds(horizontal)">
                                      <p:cBhvr>
                                        <p:cTn id="18" dur="500"/>
                                        <p:tgtEl>
                                          <p:spTgt spid="532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2" grpId="0"/>
      <p:bldP spid="53248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Text Box 2"/>
          <p:cNvSpPr txBox="1">
            <a:spLocks noChangeArrowheads="1"/>
          </p:cNvSpPr>
          <p:nvPr/>
        </p:nvSpPr>
        <p:spPr bwMode="auto">
          <a:xfrm>
            <a:off x="468313" y="1022350"/>
            <a:ext cx="8340725" cy="1015663"/>
          </a:xfrm>
          <a:prstGeom prst="rect">
            <a:avLst/>
          </a:prstGeom>
          <a:noFill/>
          <a:ln w="9525">
            <a:noFill/>
            <a:miter lim="800000"/>
            <a:headEnd/>
            <a:tailEnd/>
          </a:ln>
          <a:effectLst/>
        </p:spPr>
        <p:txBody>
          <a:bodyPr wrap="square">
            <a:spAutoFit/>
          </a:bodyPr>
          <a:lstStyle/>
          <a:p>
            <a:pPr marL="342900" indent="-342900">
              <a:lnSpc>
                <a:spcPct val="125000"/>
              </a:lnSpc>
              <a:buFontTx/>
              <a:buAutoNum type="arabicPeriod"/>
              <a:defRPr/>
            </a:pP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确定支路数 </a:t>
            </a:r>
            <a:r>
              <a:rPr kumimoji="1" lang="en-US" altLang="zh-CN"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，选定支路电流的参考方向，以</a:t>
            </a:r>
            <a:r>
              <a:rPr kumimoji="1" lang="zh-CN" altLang="en-US"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支路</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电流作为变量。</a:t>
            </a:r>
          </a:p>
        </p:txBody>
      </p:sp>
      <p:sp>
        <p:nvSpPr>
          <p:cNvPr id="533507" name="Rectangle 3"/>
          <p:cNvSpPr>
            <a:spLocks noChangeArrowheads="1"/>
          </p:cNvSpPr>
          <p:nvPr/>
        </p:nvSpPr>
        <p:spPr bwMode="auto">
          <a:xfrm>
            <a:off x="481013" y="2270125"/>
            <a:ext cx="8328025" cy="1015663"/>
          </a:xfrm>
          <a:prstGeom prst="rect">
            <a:avLst/>
          </a:prstGeom>
          <a:noFill/>
          <a:ln w="9525">
            <a:noFill/>
            <a:miter lim="800000"/>
            <a:headEnd/>
            <a:tailEnd/>
          </a:ln>
          <a:effectLst/>
        </p:spPr>
        <p:txBody>
          <a:bodyPr>
            <a:spAutoFit/>
          </a:bodyPr>
          <a:lstStyle/>
          <a:p>
            <a:pPr eaLnBrk="1" hangingPunct="1">
              <a:lnSpc>
                <a:spcPct val="125000"/>
              </a:lnSpc>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确定</a:t>
            </a:r>
            <a:r>
              <a:rPr kumimoji="1" lang="zh-CN" altLang="en-US"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所有节点</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，利用</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列出 </a:t>
            </a:r>
            <a:r>
              <a:rPr kumimoji="1" lang="en-US" altLang="zh-CN"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n</a:t>
            </a:r>
            <a:r>
              <a:rPr kumimoji="1"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个独立的节点电流方程。</a:t>
            </a:r>
          </a:p>
        </p:txBody>
      </p:sp>
      <p:sp>
        <p:nvSpPr>
          <p:cNvPr id="533508" name="Rectangle 4"/>
          <p:cNvSpPr>
            <a:spLocks noChangeArrowheads="1"/>
          </p:cNvSpPr>
          <p:nvPr/>
        </p:nvSpPr>
        <p:spPr bwMode="auto">
          <a:xfrm>
            <a:off x="503238" y="3429000"/>
            <a:ext cx="8172450" cy="1477328"/>
          </a:xfrm>
          <a:prstGeom prst="rect">
            <a:avLst/>
          </a:prstGeom>
          <a:noFill/>
          <a:ln w="9525">
            <a:noFill/>
            <a:miter lim="800000"/>
            <a:headEnd/>
            <a:tailEnd/>
          </a:ln>
          <a:effectLst/>
        </p:spPr>
        <p:txBody>
          <a:bodyPr>
            <a:spAutoFit/>
          </a:bodyPr>
          <a:lstStyle/>
          <a:p>
            <a:pPr>
              <a:lnSpc>
                <a:spcPct val="125000"/>
              </a:lnSpc>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选择所有</a:t>
            </a:r>
            <a:r>
              <a:rPr kumimoji="1"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独立回路</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并指定每个独立回路的绕行方向，应用</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列出</a:t>
            </a:r>
            <a:r>
              <a:rPr kumimoji="1" lang="en-US" altLang="zh-CN"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n</a:t>
            </a:r>
            <a:r>
              <a:rPr kumimoji="1"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个独立的回路电压方程。</a:t>
            </a:r>
          </a:p>
          <a:p>
            <a:pPr>
              <a:lnSpc>
                <a:spcPct val="125000"/>
              </a:lnSpc>
              <a:defRPr/>
            </a:pPr>
            <a:endPar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3509" name="Rectangle 5"/>
          <p:cNvSpPr>
            <a:spLocks noChangeArrowheads="1"/>
          </p:cNvSpPr>
          <p:nvPr/>
        </p:nvSpPr>
        <p:spPr bwMode="auto">
          <a:xfrm>
            <a:off x="503238" y="4587875"/>
            <a:ext cx="7237412" cy="461665"/>
          </a:xfrm>
          <a:prstGeom prst="rect">
            <a:avLst/>
          </a:prstGeom>
          <a:noFill/>
          <a:ln w="9525">
            <a:noFill/>
            <a:miter lim="800000"/>
            <a:headEnd/>
            <a:tailEnd/>
          </a:ln>
          <a:effectLst/>
        </p:spPr>
        <p:txBody>
          <a:bodyPr>
            <a:spAutoFit/>
          </a:bodyPr>
          <a:lstStyle/>
          <a:p>
            <a:pPr>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联立求解 </a:t>
            </a:r>
            <a:r>
              <a:rPr kumimoji="1" lang="en-US" altLang="zh-CN"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个方程式，解出各支路电流。</a:t>
            </a:r>
          </a:p>
        </p:txBody>
      </p:sp>
      <p:sp>
        <p:nvSpPr>
          <p:cNvPr id="533510" name="Rectangle 6"/>
          <p:cNvSpPr>
            <a:spLocks noChangeArrowheads="1"/>
          </p:cNvSpPr>
          <p:nvPr/>
        </p:nvSpPr>
        <p:spPr bwMode="auto">
          <a:xfrm>
            <a:off x="468313" y="533400"/>
            <a:ext cx="3360215" cy="461665"/>
          </a:xfrm>
          <a:prstGeom prst="rect">
            <a:avLst/>
          </a:prstGeom>
          <a:noFill/>
          <a:ln w="9525">
            <a:noFill/>
            <a:miter lim="800000"/>
            <a:headEnd/>
            <a:tailEnd/>
          </a:ln>
          <a:effectLst/>
        </p:spPr>
        <p:txBody>
          <a:bodyPr wrap="none">
            <a:spAutoFit/>
          </a:bodyPr>
          <a:lstStyle/>
          <a:p>
            <a:pPr eaLnBrk="1" hangingPunct="1">
              <a:defRPr/>
            </a:pPr>
            <a:r>
              <a:rPr lang="zh-CN" altLang="en-US">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支路电流法的解题步骤</a:t>
            </a:r>
            <a:r>
              <a:rPr lang="en-US" altLang="zh-CN">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aphicFrame>
        <p:nvGraphicFramePr>
          <p:cNvPr id="24583" name="Object 7"/>
          <p:cNvGraphicFramePr>
            <a:graphicFrameLocks noChangeAspect="1"/>
          </p:cNvGraphicFramePr>
          <p:nvPr>
            <p:extLst>
              <p:ext uri="{D42A27DB-BD31-4B8C-83A1-F6EECF244321}">
                <p14:modId xmlns:p14="http://schemas.microsoft.com/office/powerpoint/2010/main" val="1420766533"/>
              </p:ext>
            </p:extLst>
          </p:nvPr>
        </p:nvGraphicFramePr>
        <p:xfrm>
          <a:off x="4637088" y="3546475"/>
          <a:ext cx="114300" cy="215900"/>
        </p:xfrm>
        <a:graphic>
          <a:graphicData uri="http://schemas.openxmlformats.org/presentationml/2006/ole">
            <mc:AlternateContent xmlns:mc="http://schemas.openxmlformats.org/markup-compatibility/2006">
              <mc:Choice xmlns:v="urn:schemas-microsoft-com:vml" Requires="v">
                <p:oleObj spid="_x0000_s76812"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7088" y="3546475"/>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512" name="Rectangle 8"/>
          <p:cNvSpPr>
            <a:spLocks noChangeArrowheads="1"/>
          </p:cNvSpPr>
          <p:nvPr/>
        </p:nvSpPr>
        <p:spPr bwMode="auto">
          <a:xfrm>
            <a:off x="504763" y="5238673"/>
            <a:ext cx="6037263" cy="461665"/>
          </a:xfrm>
          <a:prstGeom prst="rect">
            <a:avLst/>
          </a:prstGeom>
          <a:noFill/>
          <a:ln w="9525">
            <a:noFill/>
            <a:miter lim="800000"/>
            <a:headEnd/>
            <a:tailEnd/>
          </a:ln>
          <a:effectLst/>
        </p:spPr>
        <p:txBody>
          <a:bodyPr>
            <a:spAutoFit/>
          </a:bodyPr>
          <a:lstStyle/>
          <a:p>
            <a:pPr>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由支路电流求得其他响应。</a:t>
            </a:r>
          </a:p>
        </p:txBody>
      </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21</a:t>
            </a:fld>
            <a:endParaRPr lang="en-US" altLang="zh-CN"/>
          </a:p>
        </p:txBody>
      </p:sp>
    </p:spTree>
    <p:extLst>
      <p:ext uri="{BB962C8B-B14F-4D97-AF65-F5344CB8AC3E}">
        <p14:creationId xmlns:p14="http://schemas.microsoft.com/office/powerpoint/2010/main" val="2000037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3506"/>
                                        </p:tgtEl>
                                        <p:attrNameLst>
                                          <p:attrName>style.visibility</p:attrName>
                                        </p:attrNameLst>
                                      </p:cBhvr>
                                      <p:to>
                                        <p:strVal val="visible"/>
                                      </p:to>
                                    </p:set>
                                    <p:animEffect transition="in" filter="wipe(left)">
                                      <p:cBhvr>
                                        <p:cTn id="7" dur="500"/>
                                        <p:tgtEl>
                                          <p:spTgt spid="533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3507"/>
                                        </p:tgtEl>
                                        <p:attrNameLst>
                                          <p:attrName>style.visibility</p:attrName>
                                        </p:attrNameLst>
                                      </p:cBhvr>
                                      <p:to>
                                        <p:strVal val="visible"/>
                                      </p:to>
                                    </p:set>
                                    <p:animEffect transition="in" filter="wipe(left)">
                                      <p:cBhvr>
                                        <p:cTn id="12" dur="500"/>
                                        <p:tgtEl>
                                          <p:spTgt spid="5335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3508"/>
                                        </p:tgtEl>
                                        <p:attrNameLst>
                                          <p:attrName>style.visibility</p:attrName>
                                        </p:attrNameLst>
                                      </p:cBhvr>
                                      <p:to>
                                        <p:strVal val="visible"/>
                                      </p:to>
                                    </p:set>
                                    <p:animEffect transition="in" filter="wipe(left)">
                                      <p:cBhvr>
                                        <p:cTn id="17" dur="500"/>
                                        <p:tgtEl>
                                          <p:spTgt spid="5335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3509"/>
                                        </p:tgtEl>
                                        <p:attrNameLst>
                                          <p:attrName>style.visibility</p:attrName>
                                        </p:attrNameLst>
                                      </p:cBhvr>
                                      <p:to>
                                        <p:strVal val="visible"/>
                                      </p:to>
                                    </p:set>
                                    <p:animEffect transition="in" filter="wipe(left)">
                                      <p:cBhvr>
                                        <p:cTn id="22" dur="500"/>
                                        <p:tgtEl>
                                          <p:spTgt spid="5335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3512"/>
                                        </p:tgtEl>
                                        <p:attrNameLst>
                                          <p:attrName>style.visibility</p:attrName>
                                        </p:attrNameLst>
                                      </p:cBhvr>
                                      <p:to>
                                        <p:strVal val="visible"/>
                                      </p:to>
                                    </p:set>
                                    <p:animEffect transition="in" filter="wipe(left)">
                                      <p:cBhvr>
                                        <p:cTn id="27" dur="500"/>
                                        <p:tgtEl>
                                          <p:spTgt spid="533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autoUpdateAnimBg="0"/>
      <p:bldP spid="533507" grpId="0" autoUpdateAnimBg="0"/>
      <p:bldP spid="533508" grpId="0" autoUpdateAnimBg="0"/>
      <p:bldP spid="533509" grpId="0" autoUpdateAnimBg="0"/>
      <p:bldP spid="53351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98" name="Text Box 70"/>
          <p:cNvSpPr txBox="1">
            <a:spLocks noChangeArrowheads="1"/>
          </p:cNvSpPr>
          <p:nvPr/>
        </p:nvSpPr>
        <p:spPr bwMode="auto">
          <a:xfrm>
            <a:off x="395983" y="1820838"/>
            <a:ext cx="800100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2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解：电路中</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个支路，电流源支路的电流是已知的，将其 余</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个支路电流作为变量。需要列出</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个方程。</a:t>
            </a:r>
          </a:p>
        </p:txBody>
      </p:sp>
      <p:sp>
        <p:nvSpPr>
          <p:cNvPr id="534599" name="Text Box 71"/>
          <p:cNvSpPr txBox="1">
            <a:spLocks noChangeArrowheads="1"/>
          </p:cNvSpPr>
          <p:nvPr/>
        </p:nvSpPr>
        <p:spPr bwMode="auto">
          <a:xfrm>
            <a:off x="469008" y="3095600"/>
            <a:ext cx="364648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50000"/>
              </a:lnSpc>
              <a:spcBef>
                <a:spcPct val="50000"/>
              </a:spcBef>
            </a:pPr>
            <a:r>
              <a:rPr lang="en-US" altLang="zh-CN" sz="2400" b="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选择节点</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作为参考节点，节点</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作为独立节点，列出</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4600" name="Text Box 72"/>
          <p:cNvSpPr txBox="1">
            <a:spLocks noChangeArrowheads="1"/>
          </p:cNvSpPr>
          <p:nvPr/>
        </p:nvSpPr>
        <p:spPr bwMode="auto">
          <a:xfrm>
            <a:off x="1043683" y="5132363"/>
            <a:ext cx="2667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S3</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34602" name="Text Box 74"/>
          <p:cNvSpPr txBox="1">
            <a:spLocks noChangeArrowheads="1"/>
          </p:cNvSpPr>
          <p:nvPr/>
        </p:nvSpPr>
        <p:spPr bwMode="auto">
          <a:xfrm>
            <a:off x="251520" y="620688"/>
            <a:ext cx="861060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en-US" altLang="zh-CN">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2-5】</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图示电路中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S1</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=36V,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=108V, 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S3</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=18A</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 </a:t>
            </a:r>
          </a:p>
          <a:p>
            <a:pPr algn="l" eaLnBrk="1" hangingPunct="1">
              <a:spcBef>
                <a:spcPct val="1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=2Ω</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=8Ω</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。求各支路电流及电流源 发出的电功率。</a:t>
            </a:r>
            <a:r>
              <a:rPr lang="zh-CN" altLang="en-US">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2" name="Group 77"/>
          <p:cNvGrpSpPr>
            <a:grpSpLocks/>
          </p:cNvGrpSpPr>
          <p:nvPr/>
        </p:nvGrpSpPr>
        <p:grpSpPr bwMode="auto">
          <a:xfrm>
            <a:off x="4267895" y="3189263"/>
            <a:ext cx="4648200" cy="3033712"/>
            <a:chOff x="2688" y="1979"/>
            <a:chExt cx="2928" cy="1911"/>
          </a:xfrm>
        </p:grpSpPr>
        <p:grpSp>
          <p:nvGrpSpPr>
            <p:cNvPr id="25607" name="Group 2"/>
            <p:cNvGrpSpPr>
              <a:grpSpLocks/>
            </p:cNvGrpSpPr>
            <p:nvPr/>
          </p:nvGrpSpPr>
          <p:grpSpPr bwMode="auto">
            <a:xfrm>
              <a:off x="2688" y="2256"/>
              <a:ext cx="2928" cy="1375"/>
              <a:chOff x="2304" y="1680"/>
              <a:chExt cx="2928" cy="1375"/>
            </a:xfrm>
          </p:grpSpPr>
          <p:sp>
            <p:nvSpPr>
              <p:cNvPr id="25610" name="Text Box 3"/>
              <p:cNvSpPr txBox="1">
                <a:spLocks noChangeArrowheads="1"/>
              </p:cNvSpPr>
              <p:nvPr/>
            </p:nvSpPr>
            <p:spPr bwMode="auto">
              <a:xfrm>
                <a:off x="2688" y="192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25611" name="Text Box 4"/>
              <p:cNvSpPr txBox="1">
                <a:spLocks noChangeArrowheads="1"/>
              </p:cNvSpPr>
              <p:nvPr/>
            </p:nvSpPr>
            <p:spPr bwMode="auto">
              <a:xfrm>
                <a:off x="3408" y="1920"/>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25612" name="Text Box 5"/>
              <p:cNvSpPr txBox="1">
                <a:spLocks noChangeArrowheads="1"/>
              </p:cNvSpPr>
              <p:nvPr/>
            </p:nvSpPr>
            <p:spPr bwMode="auto">
              <a:xfrm>
                <a:off x="4176" y="23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S3</a:t>
                </a:r>
              </a:p>
            </p:txBody>
          </p:sp>
          <p:sp>
            <p:nvSpPr>
              <p:cNvPr id="25613" name="Text Box 6"/>
              <p:cNvSpPr txBox="1">
                <a:spLocks noChangeArrowheads="1"/>
              </p:cNvSpPr>
              <p:nvPr/>
            </p:nvSpPr>
            <p:spPr bwMode="auto">
              <a:xfrm>
                <a:off x="2592" y="25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14" name="Text Box 7"/>
              <p:cNvSpPr txBox="1">
                <a:spLocks noChangeArrowheads="1"/>
              </p:cNvSpPr>
              <p:nvPr/>
            </p:nvSpPr>
            <p:spPr bwMode="auto">
              <a:xfrm>
                <a:off x="3360" y="249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15" name="Text Box 8"/>
              <p:cNvSpPr txBox="1">
                <a:spLocks noChangeArrowheads="1"/>
              </p:cNvSpPr>
              <p:nvPr/>
            </p:nvSpPr>
            <p:spPr bwMode="auto">
              <a:xfrm>
                <a:off x="4800" y="220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grpSp>
            <p:nvGrpSpPr>
              <p:cNvPr id="25616" name="Group 9"/>
              <p:cNvGrpSpPr>
                <a:grpSpLocks/>
              </p:cNvGrpSpPr>
              <p:nvPr/>
            </p:nvGrpSpPr>
            <p:grpSpPr bwMode="auto">
              <a:xfrm>
                <a:off x="2448" y="1680"/>
                <a:ext cx="2367" cy="1375"/>
                <a:chOff x="1304" y="3328"/>
                <a:chExt cx="5918" cy="3438"/>
              </a:xfrm>
            </p:grpSpPr>
            <p:sp>
              <p:nvSpPr>
                <p:cNvPr id="25640" name="Line 10"/>
                <p:cNvSpPr>
                  <a:spLocks noChangeShapeType="1"/>
                </p:cNvSpPr>
                <p:nvPr/>
              </p:nvSpPr>
              <p:spPr bwMode="auto">
                <a:xfrm>
                  <a:off x="7117" y="3341"/>
                  <a:ext cx="0" cy="341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41" name="Line 11"/>
                <p:cNvSpPr>
                  <a:spLocks noChangeShapeType="1"/>
                </p:cNvSpPr>
                <p:nvPr/>
              </p:nvSpPr>
              <p:spPr bwMode="auto">
                <a:xfrm>
                  <a:off x="5424" y="3355"/>
                  <a:ext cx="5" cy="340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5642" name="Group 12"/>
                <p:cNvGrpSpPr>
                  <a:grpSpLocks/>
                </p:cNvGrpSpPr>
                <p:nvPr/>
              </p:nvGrpSpPr>
              <p:grpSpPr bwMode="auto">
                <a:xfrm>
                  <a:off x="3207" y="3328"/>
                  <a:ext cx="828" cy="1988"/>
                  <a:chOff x="4417" y="567"/>
                  <a:chExt cx="693" cy="1650"/>
                </a:xfrm>
              </p:grpSpPr>
              <p:grpSp>
                <p:nvGrpSpPr>
                  <p:cNvPr id="25670" name="Group 13"/>
                  <p:cNvGrpSpPr>
                    <a:grpSpLocks/>
                  </p:cNvGrpSpPr>
                  <p:nvPr/>
                </p:nvGrpSpPr>
                <p:grpSpPr bwMode="auto">
                  <a:xfrm>
                    <a:off x="4417" y="567"/>
                    <a:ext cx="550" cy="1650"/>
                    <a:chOff x="4417" y="567"/>
                    <a:chExt cx="550" cy="1650"/>
                  </a:xfrm>
                </p:grpSpPr>
                <p:sp>
                  <p:nvSpPr>
                    <p:cNvPr id="25675" name="Oval 14"/>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76" name="Line 15"/>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71" name="Group 16"/>
                  <p:cNvGrpSpPr>
                    <a:grpSpLocks/>
                  </p:cNvGrpSpPr>
                  <p:nvPr/>
                </p:nvGrpSpPr>
                <p:grpSpPr bwMode="auto">
                  <a:xfrm>
                    <a:off x="4956" y="853"/>
                    <a:ext cx="154" cy="979"/>
                    <a:chOff x="4956" y="853"/>
                    <a:chExt cx="154" cy="979"/>
                  </a:xfrm>
                </p:grpSpPr>
                <p:sp>
                  <p:nvSpPr>
                    <p:cNvPr id="25672" name="Line 17"/>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73" name="Line 18"/>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74" name="Line 19"/>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5643" name="Group 20"/>
                <p:cNvGrpSpPr>
                  <a:grpSpLocks/>
                </p:cNvGrpSpPr>
                <p:nvPr/>
              </p:nvGrpSpPr>
              <p:grpSpPr bwMode="auto">
                <a:xfrm>
                  <a:off x="1304" y="3341"/>
                  <a:ext cx="828" cy="1988"/>
                  <a:chOff x="4417" y="567"/>
                  <a:chExt cx="693" cy="1650"/>
                </a:xfrm>
              </p:grpSpPr>
              <p:grpSp>
                <p:nvGrpSpPr>
                  <p:cNvPr id="25663" name="Group 21"/>
                  <p:cNvGrpSpPr>
                    <a:grpSpLocks/>
                  </p:cNvGrpSpPr>
                  <p:nvPr/>
                </p:nvGrpSpPr>
                <p:grpSpPr bwMode="auto">
                  <a:xfrm>
                    <a:off x="4417" y="567"/>
                    <a:ext cx="550" cy="1650"/>
                    <a:chOff x="4417" y="567"/>
                    <a:chExt cx="550" cy="1650"/>
                  </a:xfrm>
                </p:grpSpPr>
                <p:sp>
                  <p:nvSpPr>
                    <p:cNvPr id="25668" name="Oval 22"/>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69" name="Line 23"/>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64" name="Group 24"/>
                  <p:cNvGrpSpPr>
                    <a:grpSpLocks/>
                  </p:cNvGrpSpPr>
                  <p:nvPr/>
                </p:nvGrpSpPr>
                <p:grpSpPr bwMode="auto">
                  <a:xfrm>
                    <a:off x="4956" y="853"/>
                    <a:ext cx="154" cy="979"/>
                    <a:chOff x="4956" y="853"/>
                    <a:chExt cx="154" cy="979"/>
                  </a:xfrm>
                </p:grpSpPr>
                <p:sp>
                  <p:nvSpPr>
                    <p:cNvPr id="25665" name="Line 25"/>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66" name="Line 26"/>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67" name="Line 27"/>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5644" name="Group 28"/>
                <p:cNvGrpSpPr>
                  <a:grpSpLocks/>
                </p:cNvGrpSpPr>
                <p:nvPr/>
              </p:nvGrpSpPr>
              <p:grpSpPr bwMode="auto">
                <a:xfrm>
                  <a:off x="5096" y="4375"/>
                  <a:ext cx="658" cy="1987"/>
                  <a:chOff x="3591" y="567"/>
                  <a:chExt cx="301" cy="907"/>
                </a:xfrm>
              </p:grpSpPr>
              <p:sp>
                <p:nvSpPr>
                  <p:cNvPr id="25656" name="Line 29"/>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57" name="Oval 30"/>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58" name="Line 31"/>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5659" name="Group 32"/>
                  <p:cNvGrpSpPr>
                    <a:grpSpLocks/>
                  </p:cNvGrpSpPr>
                  <p:nvPr/>
                </p:nvGrpSpPr>
                <p:grpSpPr bwMode="auto">
                  <a:xfrm>
                    <a:off x="3715" y="591"/>
                    <a:ext cx="56" cy="222"/>
                    <a:chOff x="4507" y="645"/>
                    <a:chExt cx="56" cy="222"/>
                  </a:xfrm>
                </p:grpSpPr>
                <p:sp>
                  <p:nvSpPr>
                    <p:cNvPr id="25660" name="Line 33"/>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61" name="Line 34"/>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62" name="Line 35"/>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5645" name="Group 36"/>
                <p:cNvGrpSpPr>
                  <a:grpSpLocks/>
                </p:cNvGrpSpPr>
                <p:nvPr/>
              </p:nvGrpSpPr>
              <p:grpSpPr bwMode="auto">
                <a:xfrm>
                  <a:off x="6999" y="4123"/>
                  <a:ext cx="223" cy="1974"/>
                  <a:chOff x="743" y="567"/>
                  <a:chExt cx="187" cy="1639"/>
                </a:xfrm>
              </p:grpSpPr>
              <p:sp>
                <p:nvSpPr>
                  <p:cNvPr id="25654" name="Line 3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55" name="Rectangle 3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46" name="Group 39"/>
                <p:cNvGrpSpPr>
                  <a:grpSpLocks/>
                </p:cNvGrpSpPr>
                <p:nvPr/>
              </p:nvGrpSpPr>
              <p:grpSpPr bwMode="auto">
                <a:xfrm>
                  <a:off x="3430" y="4772"/>
                  <a:ext cx="223" cy="1975"/>
                  <a:chOff x="743" y="567"/>
                  <a:chExt cx="187" cy="1639"/>
                </a:xfrm>
              </p:grpSpPr>
              <p:sp>
                <p:nvSpPr>
                  <p:cNvPr id="25652" name="Line 4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53" name="Rectangle 4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47" name="Group 42"/>
                <p:cNvGrpSpPr>
                  <a:grpSpLocks/>
                </p:cNvGrpSpPr>
                <p:nvPr/>
              </p:nvGrpSpPr>
              <p:grpSpPr bwMode="auto">
                <a:xfrm>
                  <a:off x="1527" y="4791"/>
                  <a:ext cx="223" cy="1975"/>
                  <a:chOff x="743" y="567"/>
                  <a:chExt cx="187" cy="1639"/>
                </a:xfrm>
              </p:grpSpPr>
              <p:sp>
                <p:nvSpPr>
                  <p:cNvPr id="25650" name="Line 4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51" name="Rectangle 4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648" name="Line 45"/>
                <p:cNvSpPr>
                  <a:spLocks noChangeShapeType="1"/>
                </p:cNvSpPr>
                <p:nvPr/>
              </p:nvSpPr>
              <p:spPr bwMode="auto">
                <a:xfrm flipV="1">
                  <a:off x="1658" y="3341"/>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49" name="Line 46"/>
                <p:cNvSpPr>
                  <a:spLocks noChangeShapeType="1"/>
                </p:cNvSpPr>
                <p:nvPr/>
              </p:nvSpPr>
              <p:spPr bwMode="auto">
                <a:xfrm flipV="1">
                  <a:off x="1658" y="6747"/>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17" name="Group 47"/>
              <p:cNvGrpSpPr>
                <a:grpSpLocks/>
              </p:cNvGrpSpPr>
              <p:nvPr/>
            </p:nvGrpSpPr>
            <p:grpSpPr bwMode="auto">
              <a:xfrm>
                <a:off x="3324" y="2314"/>
                <a:ext cx="41" cy="161"/>
                <a:chOff x="4507" y="645"/>
                <a:chExt cx="56" cy="222"/>
              </a:xfrm>
            </p:grpSpPr>
            <p:sp>
              <p:nvSpPr>
                <p:cNvPr id="25637" name="Line 48"/>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8" name="Line 49"/>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9" name="Line 50"/>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18" name="Group 51"/>
              <p:cNvGrpSpPr>
                <a:grpSpLocks/>
              </p:cNvGrpSpPr>
              <p:nvPr/>
            </p:nvGrpSpPr>
            <p:grpSpPr bwMode="auto">
              <a:xfrm>
                <a:off x="2562" y="2283"/>
                <a:ext cx="42" cy="161"/>
                <a:chOff x="4507" y="645"/>
                <a:chExt cx="56" cy="222"/>
              </a:xfrm>
            </p:grpSpPr>
            <p:sp>
              <p:nvSpPr>
                <p:cNvPr id="25634" name="Line 5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5" name="Line 5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6" name="Line 5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5619" name="Group 55"/>
              <p:cNvGrpSpPr>
                <a:grpSpLocks/>
              </p:cNvGrpSpPr>
              <p:nvPr/>
            </p:nvGrpSpPr>
            <p:grpSpPr bwMode="auto">
              <a:xfrm flipV="1">
                <a:off x="4758" y="1900"/>
                <a:ext cx="41" cy="162"/>
                <a:chOff x="4507" y="645"/>
                <a:chExt cx="56" cy="222"/>
              </a:xfrm>
            </p:grpSpPr>
            <p:sp>
              <p:nvSpPr>
                <p:cNvPr id="25631" name="Line 56"/>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2" name="Line 57"/>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33" name="Line 58"/>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5620" name="Oval 59"/>
              <p:cNvSpPr>
                <a:spLocks noChangeArrowheads="1"/>
              </p:cNvSpPr>
              <p:nvPr/>
            </p:nvSpPr>
            <p:spPr bwMode="auto">
              <a:xfrm>
                <a:off x="2831" y="2036"/>
                <a:ext cx="312" cy="801"/>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1" name="Oval 60"/>
              <p:cNvSpPr>
                <a:spLocks noChangeArrowheads="1"/>
              </p:cNvSpPr>
              <p:nvPr/>
            </p:nvSpPr>
            <p:spPr bwMode="auto">
              <a:xfrm>
                <a:off x="3600" y="2064"/>
                <a:ext cx="1056" cy="855"/>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2" name="Oval 61"/>
              <p:cNvSpPr>
                <a:spLocks noChangeArrowheads="1"/>
              </p:cNvSpPr>
              <p:nvPr/>
            </p:nvSpPr>
            <p:spPr bwMode="auto">
              <a:xfrm>
                <a:off x="4272" y="2736"/>
                <a:ext cx="198" cy="1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3" name="Oval 62"/>
              <p:cNvSpPr>
                <a:spLocks noChangeArrowheads="1"/>
              </p:cNvSpPr>
              <p:nvPr/>
            </p:nvSpPr>
            <p:spPr bwMode="auto">
              <a:xfrm>
                <a:off x="2923" y="2753"/>
                <a:ext cx="137" cy="13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4" name="Line 63"/>
              <p:cNvSpPr>
                <a:spLocks noChangeShapeType="1"/>
              </p:cNvSpPr>
              <p:nvPr/>
            </p:nvSpPr>
            <p:spPr bwMode="auto">
              <a:xfrm flipH="1">
                <a:off x="4472" y="2762"/>
                <a:ext cx="57" cy="70"/>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5" name="Line 64"/>
              <p:cNvSpPr>
                <a:spLocks noChangeShapeType="1"/>
              </p:cNvSpPr>
              <p:nvPr/>
            </p:nvSpPr>
            <p:spPr bwMode="auto">
              <a:xfrm flipH="1">
                <a:off x="3033" y="2731"/>
                <a:ext cx="62" cy="102"/>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26" name="Text Box 65"/>
              <p:cNvSpPr txBox="1">
                <a:spLocks noChangeArrowheads="1"/>
              </p:cNvSpPr>
              <p:nvPr/>
            </p:nvSpPr>
            <p:spPr bwMode="auto">
              <a:xfrm>
                <a:off x="3120"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5627" name="Text Box 66"/>
              <p:cNvSpPr txBox="1">
                <a:spLocks noChangeArrowheads="1"/>
              </p:cNvSpPr>
              <p:nvPr/>
            </p:nvSpPr>
            <p:spPr bwMode="auto">
              <a:xfrm>
                <a:off x="2304"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5628" name="Text Box 67"/>
              <p:cNvSpPr txBox="1">
                <a:spLocks noChangeArrowheads="1"/>
              </p:cNvSpPr>
              <p:nvPr/>
            </p:nvSpPr>
            <p:spPr bwMode="auto">
              <a:xfrm>
                <a:off x="4752"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5629" name="Text Box 68"/>
              <p:cNvSpPr txBox="1">
                <a:spLocks noChangeArrowheads="1"/>
              </p:cNvSpPr>
              <p:nvPr/>
            </p:nvSpPr>
            <p:spPr bwMode="auto">
              <a:xfrm>
                <a:off x="2880" y="23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5630" name="Text Box 69"/>
              <p:cNvSpPr txBox="1">
                <a:spLocks noChangeArrowheads="1"/>
              </p:cNvSpPr>
              <p:nvPr/>
            </p:nvSpPr>
            <p:spPr bwMode="auto">
              <a:xfrm>
                <a:off x="3792" y="25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p>
            </p:txBody>
          </p:sp>
        </p:grpSp>
        <p:sp>
          <p:nvSpPr>
            <p:cNvPr id="25608" name="Text Box 75"/>
            <p:cNvSpPr txBox="1">
              <a:spLocks noChangeArrowheads="1"/>
            </p:cNvSpPr>
            <p:nvPr/>
          </p:nvSpPr>
          <p:spPr bwMode="auto">
            <a:xfrm>
              <a:off x="4332" y="197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5609" name="Text Box 76"/>
            <p:cNvSpPr txBox="1">
              <a:spLocks noChangeArrowheads="1"/>
            </p:cNvSpPr>
            <p:nvPr/>
          </p:nvSpPr>
          <p:spPr bwMode="auto">
            <a:xfrm>
              <a:off x="4350" y="360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22</a:t>
            </a:fld>
            <a:endParaRPr lang="en-US" altLang="zh-CN"/>
          </a:p>
        </p:txBody>
      </p:sp>
    </p:spTree>
    <p:extLst>
      <p:ext uri="{BB962C8B-B14F-4D97-AF65-F5344CB8AC3E}">
        <p14:creationId xmlns:p14="http://schemas.microsoft.com/office/powerpoint/2010/main" val="2107041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34602"/>
                                        </p:tgtEl>
                                        <p:attrNameLst>
                                          <p:attrName>style.visibility</p:attrName>
                                        </p:attrNameLst>
                                      </p:cBhvr>
                                      <p:to>
                                        <p:strVal val="visible"/>
                                      </p:to>
                                    </p:set>
                                    <p:animEffect transition="in" filter="blinds(horizontal)">
                                      <p:cBhvr>
                                        <p:cTn id="7" dur="500"/>
                                        <p:tgtEl>
                                          <p:spTgt spid="534602"/>
                                        </p:tgtEl>
                                      </p:cBhvr>
                                    </p:animEffect>
                                  </p:childTnLst>
                                </p:cTn>
                              </p:par>
                            </p:childTnLst>
                          </p:cTn>
                        </p:par>
                        <p:par>
                          <p:cTn id="8" fill="hold" nodeType="afterGroup">
                            <p:stCondLst>
                              <p:cond delay="500"/>
                            </p:stCondLst>
                            <p:childTnLst>
                              <p:par>
                                <p:cTn id="9" presetID="8" presetClass="entr" presetSubtype="3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amond(ou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534598"/>
                                        </p:tgtEl>
                                        <p:attrNameLst>
                                          <p:attrName>style.visibility</p:attrName>
                                        </p:attrNameLst>
                                      </p:cBhvr>
                                      <p:to>
                                        <p:strVal val="visible"/>
                                      </p:to>
                                    </p:set>
                                    <p:animEffect transition="in" filter="wipe(up)">
                                      <p:cBhvr>
                                        <p:cTn id="16" dur="500"/>
                                        <p:tgtEl>
                                          <p:spTgt spid="53459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34599"/>
                                        </p:tgtEl>
                                        <p:attrNameLst>
                                          <p:attrName>style.visibility</p:attrName>
                                        </p:attrNameLst>
                                      </p:cBhvr>
                                      <p:to>
                                        <p:strVal val="visible"/>
                                      </p:to>
                                    </p:set>
                                    <p:animEffect transition="in" filter="blinds(horizontal)">
                                      <p:cBhvr>
                                        <p:cTn id="21" dur="500"/>
                                        <p:tgtEl>
                                          <p:spTgt spid="53459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34600"/>
                                        </p:tgtEl>
                                        <p:attrNameLst>
                                          <p:attrName>style.visibility</p:attrName>
                                        </p:attrNameLst>
                                      </p:cBhvr>
                                      <p:to>
                                        <p:strVal val="visible"/>
                                      </p:to>
                                    </p:set>
                                    <p:animEffect transition="in" filter="wipe(left)">
                                      <p:cBhvr>
                                        <p:cTn id="26" dur="500"/>
                                        <p:tgtEl>
                                          <p:spTgt spid="534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98" grpId="0"/>
      <p:bldP spid="534599" grpId="0"/>
      <p:bldP spid="534600" grpId="0"/>
      <p:bldP spid="53460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622" name="Text Box 70"/>
          <p:cNvSpPr txBox="1">
            <a:spLocks noChangeArrowheads="1"/>
          </p:cNvSpPr>
          <p:nvPr/>
        </p:nvSpPr>
        <p:spPr bwMode="auto">
          <a:xfrm>
            <a:off x="827088" y="609600"/>
            <a:ext cx="571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按图中虚线选取独立回路列出</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5623" name="Text Box 71"/>
          <p:cNvSpPr txBox="1">
            <a:spLocks noChangeArrowheads="1"/>
          </p:cNvSpPr>
          <p:nvPr/>
        </p:nvSpPr>
        <p:spPr bwMode="auto">
          <a:xfrm>
            <a:off x="838200" y="1143000"/>
            <a:ext cx="365760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2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回路</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     </a:t>
            </a:r>
          </a:p>
          <a:p>
            <a:pPr algn="l" eaLnBrk="1" hangingPunct="1">
              <a:spcBef>
                <a:spcPct val="2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S1</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S2</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spcBef>
                <a:spcPct val="2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回路</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      </a:t>
            </a:r>
          </a:p>
          <a:p>
            <a:pPr algn="l" eaLnBrk="1" hangingPunct="1">
              <a:spcBef>
                <a:spcPct val="2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S2</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35624" name="Text Box 72"/>
          <p:cNvSpPr txBox="1">
            <a:spLocks noChangeArrowheads="1"/>
          </p:cNvSpPr>
          <p:nvPr/>
        </p:nvSpPr>
        <p:spPr bwMode="auto">
          <a:xfrm>
            <a:off x="863600" y="2997200"/>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代入参数并整理，得</a:t>
            </a:r>
          </a:p>
        </p:txBody>
      </p:sp>
      <p:sp>
        <p:nvSpPr>
          <p:cNvPr id="535625" name="Text Box 73"/>
          <p:cNvSpPr txBox="1">
            <a:spLocks noChangeArrowheads="1"/>
          </p:cNvSpPr>
          <p:nvPr/>
        </p:nvSpPr>
        <p:spPr bwMode="auto">
          <a:xfrm>
            <a:off x="1219200" y="3505200"/>
            <a:ext cx="2438400" cy="182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50000"/>
              </a:lnSpc>
              <a:spcBef>
                <a:spcPct val="1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=18</a:t>
            </a:r>
          </a:p>
          <a:p>
            <a:pPr algn="l" eaLnBrk="1" hangingPunct="1">
              <a:lnSpc>
                <a:spcPct val="150000"/>
              </a:lnSpc>
              <a:spcBef>
                <a:spcPct val="1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2</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72</a:t>
            </a:r>
          </a:p>
          <a:p>
            <a:pPr algn="l" eaLnBrk="1" hangingPunct="1">
              <a:lnSpc>
                <a:spcPct val="150000"/>
              </a:lnSpc>
              <a:spcBef>
                <a:spcPct val="1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2</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+8</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=108</a:t>
            </a:r>
          </a:p>
        </p:txBody>
      </p:sp>
      <p:sp>
        <p:nvSpPr>
          <p:cNvPr id="535626" name="Text Box 74"/>
          <p:cNvSpPr txBox="1">
            <a:spLocks noChangeArrowheads="1"/>
          </p:cNvSpPr>
          <p:nvPr/>
        </p:nvSpPr>
        <p:spPr bwMode="auto">
          <a:xfrm>
            <a:off x="827088" y="5378450"/>
            <a:ext cx="67691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解得</a:t>
            </a:r>
          </a:p>
          <a:p>
            <a:pPr algn="l" eaLnBrk="1" hangingPunct="1">
              <a:spcBef>
                <a:spcPct val="1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i="1">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22 (A)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=14 (A)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=10(A)</a:t>
            </a:r>
            <a:r>
              <a:rPr lang="en-US" altLang="zh-CN" sz="2400" b="0">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2" name="Group 75"/>
          <p:cNvGrpSpPr>
            <a:grpSpLocks/>
          </p:cNvGrpSpPr>
          <p:nvPr/>
        </p:nvGrpSpPr>
        <p:grpSpPr bwMode="auto">
          <a:xfrm>
            <a:off x="4067175" y="1700213"/>
            <a:ext cx="4648200" cy="3033712"/>
            <a:chOff x="2688" y="1979"/>
            <a:chExt cx="2928" cy="1911"/>
          </a:xfrm>
        </p:grpSpPr>
        <p:grpSp>
          <p:nvGrpSpPr>
            <p:cNvPr id="26632" name="Group 76"/>
            <p:cNvGrpSpPr>
              <a:grpSpLocks/>
            </p:cNvGrpSpPr>
            <p:nvPr/>
          </p:nvGrpSpPr>
          <p:grpSpPr bwMode="auto">
            <a:xfrm>
              <a:off x="2688" y="2256"/>
              <a:ext cx="2928" cy="1375"/>
              <a:chOff x="2304" y="1680"/>
              <a:chExt cx="2928" cy="1375"/>
            </a:xfrm>
          </p:grpSpPr>
          <p:sp>
            <p:nvSpPr>
              <p:cNvPr id="26635" name="Text Box 77"/>
              <p:cNvSpPr txBox="1">
                <a:spLocks noChangeArrowheads="1"/>
              </p:cNvSpPr>
              <p:nvPr/>
            </p:nvSpPr>
            <p:spPr bwMode="auto">
              <a:xfrm>
                <a:off x="2688" y="192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26636" name="Text Box 78"/>
              <p:cNvSpPr txBox="1">
                <a:spLocks noChangeArrowheads="1"/>
              </p:cNvSpPr>
              <p:nvPr/>
            </p:nvSpPr>
            <p:spPr bwMode="auto">
              <a:xfrm>
                <a:off x="3408" y="1920"/>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26637" name="Text Box 79"/>
              <p:cNvSpPr txBox="1">
                <a:spLocks noChangeArrowheads="1"/>
              </p:cNvSpPr>
              <p:nvPr/>
            </p:nvSpPr>
            <p:spPr bwMode="auto">
              <a:xfrm>
                <a:off x="4176" y="23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S3</a:t>
                </a:r>
              </a:p>
            </p:txBody>
          </p:sp>
          <p:sp>
            <p:nvSpPr>
              <p:cNvPr id="26638" name="Text Box 80"/>
              <p:cNvSpPr txBox="1">
                <a:spLocks noChangeArrowheads="1"/>
              </p:cNvSpPr>
              <p:nvPr/>
            </p:nvSpPr>
            <p:spPr bwMode="auto">
              <a:xfrm>
                <a:off x="2592" y="25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39" name="Text Box 81"/>
              <p:cNvSpPr txBox="1">
                <a:spLocks noChangeArrowheads="1"/>
              </p:cNvSpPr>
              <p:nvPr/>
            </p:nvSpPr>
            <p:spPr bwMode="auto">
              <a:xfrm>
                <a:off x="3360" y="249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0" name="Text Box 82"/>
              <p:cNvSpPr txBox="1">
                <a:spLocks noChangeArrowheads="1"/>
              </p:cNvSpPr>
              <p:nvPr/>
            </p:nvSpPr>
            <p:spPr bwMode="auto">
              <a:xfrm>
                <a:off x="4800" y="220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grpSp>
            <p:nvGrpSpPr>
              <p:cNvPr id="26641" name="Group 83"/>
              <p:cNvGrpSpPr>
                <a:grpSpLocks/>
              </p:cNvGrpSpPr>
              <p:nvPr/>
            </p:nvGrpSpPr>
            <p:grpSpPr bwMode="auto">
              <a:xfrm>
                <a:off x="2448" y="1680"/>
                <a:ext cx="2367" cy="1375"/>
                <a:chOff x="1304" y="3328"/>
                <a:chExt cx="5918" cy="3438"/>
              </a:xfrm>
            </p:grpSpPr>
            <p:sp>
              <p:nvSpPr>
                <p:cNvPr id="26665" name="Line 84"/>
                <p:cNvSpPr>
                  <a:spLocks noChangeShapeType="1"/>
                </p:cNvSpPr>
                <p:nvPr/>
              </p:nvSpPr>
              <p:spPr bwMode="auto">
                <a:xfrm>
                  <a:off x="7117" y="3341"/>
                  <a:ext cx="0" cy="341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66" name="Line 85"/>
                <p:cNvSpPr>
                  <a:spLocks noChangeShapeType="1"/>
                </p:cNvSpPr>
                <p:nvPr/>
              </p:nvSpPr>
              <p:spPr bwMode="auto">
                <a:xfrm>
                  <a:off x="5424" y="3355"/>
                  <a:ext cx="5" cy="340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6667" name="Group 86"/>
                <p:cNvGrpSpPr>
                  <a:grpSpLocks/>
                </p:cNvGrpSpPr>
                <p:nvPr/>
              </p:nvGrpSpPr>
              <p:grpSpPr bwMode="auto">
                <a:xfrm>
                  <a:off x="3207" y="3328"/>
                  <a:ext cx="828" cy="1988"/>
                  <a:chOff x="4417" y="567"/>
                  <a:chExt cx="693" cy="1650"/>
                </a:xfrm>
              </p:grpSpPr>
              <p:grpSp>
                <p:nvGrpSpPr>
                  <p:cNvPr id="26695" name="Group 87"/>
                  <p:cNvGrpSpPr>
                    <a:grpSpLocks/>
                  </p:cNvGrpSpPr>
                  <p:nvPr/>
                </p:nvGrpSpPr>
                <p:grpSpPr bwMode="auto">
                  <a:xfrm>
                    <a:off x="4417" y="567"/>
                    <a:ext cx="550" cy="1650"/>
                    <a:chOff x="4417" y="567"/>
                    <a:chExt cx="550" cy="1650"/>
                  </a:xfrm>
                </p:grpSpPr>
                <p:sp>
                  <p:nvSpPr>
                    <p:cNvPr id="26700" name="Oval 8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701" name="Line 8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96" name="Group 90"/>
                  <p:cNvGrpSpPr>
                    <a:grpSpLocks/>
                  </p:cNvGrpSpPr>
                  <p:nvPr/>
                </p:nvGrpSpPr>
                <p:grpSpPr bwMode="auto">
                  <a:xfrm>
                    <a:off x="4956" y="853"/>
                    <a:ext cx="154" cy="979"/>
                    <a:chOff x="4956" y="853"/>
                    <a:chExt cx="154" cy="979"/>
                  </a:xfrm>
                </p:grpSpPr>
                <p:sp>
                  <p:nvSpPr>
                    <p:cNvPr id="26697" name="Line 9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98" name="Line 9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99" name="Line 9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6668" name="Group 94"/>
                <p:cNvGrpSpPr>
                  <a:grpSpLocks/>
                </p:cNvGrpSpPr>
                <p:nvPr/>
              </p:nvGrpSpPr>
              <p:grpSpPr bwMode="auto">
                <a:xfrm>
                  <a:off x="1304" y="3341"/>
                  <a:ext cx="828" cy="1988"/>
                  <a:chOff x="4417" y="567"/>
                  <a:chExt cx="693" cy="1650"/>
                </a:xfrm>
              </p:grpSpPr>
              <p:grpSp>
                <p:nvGrpSpPr>
                  <p:cNvPr id="26688" name="Group 95"/>
                  <p:cNvGrpSpPr>
                    <a:grpSpLocks/>
                  </p:cNvGrpSpPr>
                  <p:nvPr/>
                </p:nvGrpSpPr>
                <p:grpSpPr bwMode="auto">
                  <a:xfrm>
                    <a:off x="4417" y="567"/>
                    <a:ext cx="550" cy="1650"/>
                    <a:chOff x="4417" y="567"/>
                    <a:chExt cx="550" cy="1650"/>
                  </a:xfrm>
                </p:grpSpPr>
                <p:sp>
                  <p:nvSpPr>
                    <p:cNvPr id="26693" name="Oval 9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94" name="Line 9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89" name="Group 98"/>
                  <p:cNvGrpSpPr>
                    <a:grpSpLocks/>
                  </p:cNvGrpSpPr>
                  <p:nvPr/>
                </p:nvGrpSpPr>
                <p:grpSpPr bwMode="auto">
                  <a:xfrm>
                    <a:off x="4956" y="853"/>
                    <a:ext cx="154" cy="979"/>
                    <a:chOff x="4956" y="853"/>
                    <a:chExt cx="154" cy="979"/>
                  </a:xfrm>
                </p:grpSpPr>
                <p:sp>
                  <p:nvSpPr>
                    <p:cNvPr id="26690" name="Line 9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91" name="Line 10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92" name="Line 10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6669" name="Group 102"/>
                <p:cNvGrpSpPr>
                  <a:grpSpLocks/>
                </p:cNvGrpSpPr>
                <p:nvPr/>
              </p:nvGrpSpPr>
              <p:grpSpPr bwMode="auto">
                <a:xfrm>
                  <a:off x="5096" y="4375"/>
                  <a:ext cx="658" cy="1987"/>
                  <a:chOff x="3591" y="567"/>
                  <a:chExt cx="301" cy="907"/>
                </a:xfrm>
              </p:grpSpPr>
              <p:sp>
                <p:nvSpPr>
                  <p:cNvPr id="26681" name="Line 103"/>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82" name="Oval 104"/>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83" name="Line 105"/>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6684" name="Group 106"/>
                  <p:cNvGrpSpPr>
                    <a:grpSpLocks/>
                  </p:cNvGrpSpPr>
                  <p:nvPr/>
                </p:nvGrpSpPr>
                <p:grpSpPr bwMode="auto">
                  <a:xfrm>
                    <a:off x="3715" y="591"/>
                    <a:ext cx="56" cy="222"/>
                    <a:chOff x="4507" y="645"/>
                    <a:chExt cx="56" cy="222"/>
                  </a:xfrm>
                </p:grpSpPr>
                <p:sp>
                  <p:nvSpPr>
                    <p:cNvPr id="26685" name="Line 107"/>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86" name="Line 108"/>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87" name="Line 109"/>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6670" name="Group 110"/>
                <p:cNvGrpSpPr>
                  <a:grpSpLocks/>
                </p:cNvGrpSpPr>
                <p:nvPr/>
              </p:nvGrpSpPr>
              <p:grpSpPr bwMode="auto">
                <a:xfrm>
                  <a:off x="6999" y="4123"/>
                  <a:ext cx="223" cy="1974"/>
                  <a:chOff x="743" y="567"/>
                  <a:chExt cx="187" cy="1639"/>
                </a:xfrm>
              </p:grpSpPr>
              <p:sp>
                <p:nvSpPr>
                  <p:cNvPr id="26679" name="Line 11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80" name="Rectangle 11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71" name="Group 113"/>
                <p:cNvGrpSpPr>
                  <a:grpSpLocks/>
                </p:cNvGrpSpPr>
                <p:nvPr/>
              </p:nvGrpSpPr>
              <p:grpSpPr bwMode="auto">
                <a:xfrm>
                  <a:off x="3430" y="4772"/>
                  <a:ext cx="223" cy="1975"/>
                  <a:chOff x="743" y="567"/>
                  <a:chExt cx="187" cy="1639"/>
                </a:xfrm>
              </p:grpSpPr>
              <p:sp>
                <p:nvSpPr>
                  <p:cNvPr id="26677" name="Line 11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78" name="Rectangle 11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72" name="Group 116"/>
                <p:cNvGrpSpPr>
                  <a:grpSpLocks/>
                </p:cNvGrpSpPr>
                <p:nvPr/>
              </p:nvGrpSpPr>
              <p:grpSpPr bwMode="auto">
                <a:xfrm>
                  <a:off x="1527" y="4791"/>
                  <a:ext cx="223" cy="1975"/>
                  <a:chOff x="743" y="567"/>
                  <a:chExt cx="187" cy="1639"/>
                </a:xfrm>
              </p:grpSpPr>
              <p:sp>
                <p:nvSpPr>
                  <p:cNvPr id="26675" name="Line 11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76" name="Rectangle 11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6673" name="Line 119"/>
                <p:cNvSpPr>
                  <a:spLocks noChangeShapeType="1"/>
                </p:cNvSpPr>
                <p:nvPr/>
              </p:nvSpPr>
              <p:spPr bwMode="auto">
                <a:xfrm flipV="1">
                  <a:off x="1658" y="3341"/>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74" name="Line 120"/>
                <p:cNvSpPr>
                  <a:spLocks noChangeShapeType="1"/>
                </p:cNvSpPr>
                <p:nvPr/>
              </p:nvSpPr>
              <p:spPr bwMode="auto">
                <a:xfrm flipV="1">
                  <a:off x="1658" y="6747"/>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42" name="Group 121"/>
              <p:cNvGrpSpPr>
                <a:grpSpLocks/>
              </p:cNvGrpSpPr>
              <p:nvPr/>
            </p:nvGrpSpPr>
            <p:grpSpPr bwMode="auto">
              <a:xfrm>
                <a:off x="3324" y="2314"/>
                <a:ext cx="41" cy="161"/>
                <a:chOff x="4507" y="645"/>
                <a:chExt cx="56" cy="222"/>
              </a:xfrm>
            </p:grpSpPr>
            <p:sp>
              <p:nvSpPr>
                <p:cNvPr id="26662" name="Line 12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63" name="Line 12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64" name="Line 12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43" name="Group 125"/>
              <p:cNvGrpSpPr>
                <a:grpSpLocks/>
              </p:cNvGrpSpPr>
              <p:nvPr/>
            </p:nvGrpSpPr>
            <p:grpSpPr bwMode="auto">
              <a:xfrm>
                <a:off x="2562" y="2283"/>
                <a:ext cx="42" cy="161"/>
                <a:chOff x="4507" y="645"/>
                <a:chExt cx="56" cy="222"/>
              </a:xfrm>
            </p:grpSpPr>
            <p:sp>
              <p:nvSpPr>
                <p:cNvPr id="26659" name="Line 126"/>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60" name="Line 127"/>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61" name="Line 128"/>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6644" name="Group 129"/>
              <p:cNvGrpSpPr>
                <a:grpSpLocks/>
              </p:cNvGrpSpPr>
              <p:nvPr/>
            </p:nvGrpSpPr>
            <p:grpSpPr bwMode="auto">
              <a:xfrm flipV="1">
                <a:off x="4758" y="1900"/>
                <a:ext cx="41" cy="162"/>
                <a:chOff x="4507" y="645"/>
                <a:chExt cx="56" cy="222"/>
              </a:xfrm>
            </p:grpSpPr>
            <p:sp>
              <p:nvSpPr>
                <p:cNvPr id="26656" name="Line 130"/>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57" name="Line 131"/>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58" name="Line 132"/>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6645" name="Oval 133"/>
              <p:cNvSpPr>
                <a:spLocks noChangeArrowheads="1"/>
              </p:cNvSpPr>
              <p:nvPr/>
            </p:nvSpPr>
            <p:spPr bwMode="auto">
              <a:xfrm>
                <a:off x="2831" y="2036"/>
                <a:ext cx="312" cy="801"/>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6" name="Oval 134"/>
              <p:cNvSpPr>
                <a:spLocks noChangeArrowheads="1"/>
              </p:cNvSpPr>
              <p:nvPr/>
            </p:nvSpPr>
            <p:spPr bwMode="auto">
              <a:xfrm>
                <a:off x="3600" y="2064"/>
                <a:ext cx="1056" cy="855"/>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7" name="Oval 135"/>
              <p:cNvSpPr>
                <a:spLocks noChangeArrowheads="1"/>
              </p:cNvSpPr>
              <p:nvPr/>
            </p:nvSpPr>
            <p:spPr bwMode="auto">
              <a:xfrm>
                <a:off x="4272" y="2736"/>
                <a:ext cx="198" cy="1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8" name="Oval 136"/>
              <p:cNvSpPr>
                <a:spLocks noChangeArrowheads="1"/>
              </p:cNvSpPr>
              <p:nvPr/>
            </p:nvSpPr>
            <p:spPr bwMode="auto">
              <a:xfrm>
                <a:off x="2923" y="2753"/>
                <a:ext cx="137" cy="13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9" name="Line 137"/>
              <p:cNvSpPr>
                <a:spLocks noChangeShapeType="1"/>
              </p:cNvSpPr>
              <p:nvPr/>
            </p:nvSpPr>
            <p:spPr bwMode="auto">
              <a:xfrm flipH="1">
                <a:off x="4472" y="2762"/>
                <a:ext cx="57" cy="70"/>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50" name="Line 138"/>
              <p:cNvSpPr>
                <a:spLocks noChangeShapeType="1"/>
              </p:cNvSpPr>
              <p:nvPr/>
            </p:nvSpPr>
            <p:spPr bwMode="auto">
              <a:xfrm flipH="1">
                <a:off x="3033" y="2731"/>
                <a:ext cx="62" cy="102"/>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51" name="Text Box 139"/>
              <p:cNvSpPr txBox="1">
                <a:spLocks noChangeArrowheads="1"/>
              </p:cNvSpPr>
              <p:nvPr/>
            </p:nvSpPr>
            <p:spPr bwMode="auto">
              <a:xfrm>
                <a:off x="3120"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6652" name="Text Box 140"/>
              <p:cNvSpPr txBox="1">
                <a:spLocks noChangeArrowheads="1"/>
              </p:cNvSpPr>
              <p:nvPr/>
            </p:nvSpPr>
            <p:spPr bwMode="auto">
              <a:xfrm>
                <a:off x="2304"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6653" name="Text Box 141"/>
              <p:cNvSpPr txBox="1">
                <a:spLocks noChangeArrowheads="1"/>
              </p:cNvSpPr>
              <p:nvPr/>
            </p:nvSpPr>
            <p:spPr bwMode="auto">
              <a:xfrm>
                <a:off x="4752"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6654" name="Text Box 142"/>
              <p:cNvSpPr txBox="1">
                <a:spLocks noChangeArrowheads="1"/>
              </p:cNvSpPr>
              <p:nvPr/>
            </p:nvSpPr>
            <p:spPr bwMode="auto">
              <a:xfrm>
                <a:off x="2880" y="23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6655" name="Text Box 143"/>
              <p:cNvSpPr txBox="1">
                <a:spLocks noChangeArrowheads="1"/>
              </p:cNvSpPr>
              <p:nvPr/>
            </p:nvSpPr>
            <p:spPr bwMode="auto">
              <a:xfrm>
                <a:off x="3792" y="25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p>
            </p:txBody>
          </p:sp>
        </p:grpSp>
        <p:sp>
          <p:nvSpPr>
            <p:cNvPr id="26633" name="Text Box 144"/>
            <p:cNvSpPr txBox="1">
              <a:spLocks noChangeArrowheads="1"/>
            </p:cNvSpPr>
            <p:nvPr/>
          </p:nvSpPr>
          <p:spPr bwMode="auto">
            <a:xfrm>
              <a:off x="4332" y="197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6634" name="Text Box 145"/>
            <p:cNvSpPr txBox="1">
              <a:spLocks noChangeArrowheads="1"/>
            </p:cNvSpPr>
            <p:nvPr/>
          </p:nvSpPr>
          <p:spPr bwMode="auto">
            <a:xfrm>
              <a:off x="4350" y="360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23</a:t>
            </a:fld>
            <a:endParaRPr lang="en-US" altLang="zh-CN"/>
          </a:p>
        </p:txBody>
      </p:sp>
    </p:spTree>
    <p:extLst>
      <p:ext uri="{BB962C8B-B14F-4D97-AF65-F5344CB8AC3E}">
        <p14:creationId xmlns:p14="http://schemas.microsoft.com/office/powerpoint/2010/main" val="979078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5622"/>
                                        </p:tgtEl>
                                        <p:attrNameLst>
                                          <p:attrName>style.visibility</p:attrName>
                                        </p:attrNameLst>
                                      </p:cBhvr>
                                      <p:to>
                                        <p:strVal val="visible"/>
                                      </p:to>
                                    </p:set>
                                    <p:animEffect transition="in" filter="wipe(left)">
                                      <p:cBhvr>
                                        <p:cTn id="12" dur="500"/>
                                        <p:tgtEl>
                                          <p:spTgt spid="5356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5623">
                                            <p:txEl>
                                              <p:pRg st="0" end="0"/>
                                            </p:txEl>
                                          </p:spTgt>
                                        </p:tgtEl>
                                        <p:attrNameLst>
                                          <p:attrName>style.visibility</p:attrName>
                                        </p:attrNameLst>
                                      </p:cBhvr>
                                      <p:to>
                                        <p:strVal val="visible"/>
                                      </p:to>
                                    </p:set>
                                    <p:animEffect transition="in" filter="wipe(left)">
                                      <p:cBhvr>
                                        <p:cTn id="17" dur="500"/>
                                        <p:tgtEl>
                                          <p:spTgt spid="53562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5623">
                                            <p:txEl>
                                              <p:pRg st="1" end="1"/>
                                            </p:txEl>
                                          </p:spTgt>
                                        </p:tgtEl>
                                        <p:attrNameLst>
                                          <p:attrName>style.visibility</p:attrName>
                                        </p:attrNameLst>
                                      </p:cBhvr>
                                      <p:to>
                                        <p:strVal val="visible"/>
                                      </p:to>
                                    </p:set>
                                    <p:animEffect transition="in" filter="wipe(left)">
                                      <p:cBhvr>
                                        <p:cTn id="22" dur="500"/>
                                        <p:tgtEl>
                                          <p:spTgt spid="535623">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5623">
                                            <p:txEl>
                                              <p:pRg st="2" end="2"/>
                                            </p:txEl>
                                          </p:spTgt>
                                        </p:tgtEl>
                                        <p:attrNameLst>
                                          <p:attrName>style.visibility</p:attrName>
                                        </p:attrNameLst>
                                      </p:cBhvr>
                                      <p:to>
                                        <p:strVal val="visible"/>
                                      </p:to>
                                    </p:set>
                                    <p:animEffect transition="in" filter="wipe(left)">
                                      <p:cBhvr>
                                        <p:cTn id="27" dur="500"/>
                                        <p:tgtEl>
                                          <p:spTgt spid="53562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5623">
                                            <p:txEl>
                                              <p:pRg st="3" end="3"/>
                                            </p:txEl>
                                          </p:spTgt>
                                        </p:tgtEl>
                                        <p:attrNameLst>
                                          <p:attrName>style.visibility</p:attrName>
                                        </p:attrNameLst>
                                      </p:cBhvr>
                                      <p:to>
                                        <p:strVal val="visible"/>
                                      </p:to>
                                    </p:set>
                                    <p:animEffect transition="in" filter="wipe(left)">
                                      <p:cBhvr>
                                        <p:cTn id="32" dur="500"/>
                                        <p:tgtEl>
                                          <p:spTgt spid="535623">
                                            <p:txEl>
                                              <p:pRg st="3" end="3"/>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35624"/>
                                        </p:tgtEl>
                                        <p:attrNameLst>
                                          <p:attrName>style.visibility</p:attrName>
                                        </p:attrNameLst>
                                      </p:cBhvr>
                                      <p:to>
                                        <p:strVal val="visible"/>
                                      </p:to>
                                    </p:set>
                                    <p:animEffect transition="in" filter="wipe(left)">
                                      <p:cBhvr>
                                        <p:cTn id="37" dur="500"/>
                                        <p:tgtEl>
                                          <p:spTgt spid="5356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35625">
                                            <p:txEl>
                                              <p:pRg st="0" end="0"/>
                                            </p:txEl>
                                          </p:spTgt>
                                        </p:tgtEl>
                                        <p:attrNameLst>
                                          <p:attrName>style.visibility</p:attrName>
                                        </p:attrNameLst>
                                      </p:cBhvr>
                                      <p:to>
                                        <p:strVal val="visible"/>
                                      </p:to>
                                    </p:set>
                                    <p:animEffect transition="in" filter="wipe(left)">
                                      <p:cBhvr>
                                        <p:cTn id="42" dur="500"/>
                                        <p:tgtEl>
                                          <p:spTgt spid="535625">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35625">
                                            <p:txEl>
                                              <p:pRg st="1" end="1"/>
                                            </p:txEl>
                                          </p:spTgt>
                                        </p:tgtEl>
                                        <p:attrNameLst>
                                          <p:attrName>style.visibility</p:attrName>
                                        </p:attrNameLst>
                                      </p:cBhvr>
                                      <p:to>
                                        <p:strVal val="visible"/>
                                      </p:to>
                                    </p:set>
                                    <p:animEffect transition="in" filter="wipe(left)">
                                      <p:cBhvr>
                                        <p:cTn id="47" dur="500"/>
                                        <p:tgtEl>
                                          <p:spTgt spid="535625">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35625">
                                            <p:txEl>
                                              <p:pRg st="2" end="2"/>
                                            </p:txEl>
                                          </p:spTgt>
                                        </p:tgtEl>
                                        <p:attrNameLst>
                                          <p:attrName>style.visibility</p:attrName>
                                        </p:attrNameLst>
                                      </p:cBhvr>
                                      <p:to>
                                        <p:strVal val="visible"/>
                                      </p:to>
                                    </p:set>
                                    <p:animEffect transition="in" filter="wipe(left)">
                                      <p:cBhvr>
                                        <p:cTn id="52" dur="500"/>
                                        <p:tgtEl>
                                          <p:spTgt spid="535625">
                                            <p:txEl>
                                              <p:pRg st="2" end="2"/>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35626">
                                            <p:txEl>
                                              <p:pRg st="0" end="0"/>
                                            </p:txEl>
                                          </p:spTgt>
                                        </p:tgtEl>
                                        <p:attrNameLst>
                                          <p:attrName>style.visibility</p:attrName>
                                        </p:attrNameLst>
                                      </p:cBhvr>
                                      <p:to>
                                        <p:strVal val="visible"/>
                                      </p:to>
                                    </p:set>
                                    <p:animEffect transition="in" filter="wipe(left)">
                                      <p:cBhvr>
                                        <p:cTn id="57" dur="500"/>
                                        <p:tgtEl>
                                          <p:spTgt spid="535626">
                                            <p:txEl>
                                              <p:pRg st="0" end="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35626">
                                            <p:txEl>
                                              <p:pRg st="1" end="1"/>
                                            </p:txEl>
                                          </p:spTgt>
                                        </p:tgtEl>
                                        <p:attrNameLst>
                                          <p:attrName>style.visibility</p:attrName>
                                        </p:attrNameLst>
                                      </p:cBhvr>
                                      <p:to>
                                        <p:strVal val="visible"/>
                                      </p:to>
                                    </p:set>
                                    <p:animEffect transition="in" filter="wipe(left)">
                                      <p:cBhvr>
                                        <p:cTn id="62" dur="500"/>
                                        <p:tgtEl>
                                          <p:spTgt spid="5356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622" grpId="0"/>
      <p:bldP spid="535623" grpId="0" build="p"/>
      <p:bldP spid="535624" grpId="0"/>
      <p:bldP spid="535625" grpId="0" build="p"/>
      <p:bldP spid="53562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646" name="Text Box 70"/>
          <p:cNvSpPr txBox="1">
            <a:spLocks noChangeArrowheads="1"/>
          </p:cNvSpPr>
          <p:nvPr/>
        </p:nvSpPr>
        <p:spPr bwMode="auto">
          <a:xfrm>
            <a:off x="838200" y="609600"/>
            <a:ext cx="617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电流源端电压与电阻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的端电压相等，即</a:t>
            </a:r>
          </a:p>
        </p:txBody>
      </p:sp>
      <p:sp>
        <p:nvSpPr>
          <p:cNvPr id="536647" name="Text Box 71"/>
          <p:cNvSpPr txBox="1">
            <a:spLocks noChangeArrowheads="1"/>
          </p:cNvSpPr>
          <p:nvPr/>
        </p:nvSpPr>
        <p:spPr bwMode="auto">
          <a:xfrm>
            <a:off x="838200" y="1752600"/>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故电流源发出的电功率为</a:t>
            </a:r>
          </a:p>
        </p:txBody>
      </p:sp>
      <p:sp>
        <p:nvSpPr>
          <p:cNvPr id="536648" name="Text Box 72"/>
          <p:cNvSpPr txBox="1">
            <a:spLocks noChangeArrowheads="1"/>
          </p:cNvSpPr>
          <p:nvPr/>
        </p:nvSpPr>
        <p:spPr bwMode="auto">
          <a:xfrm>
            <a:off x="2478088" y="2324100"/>
            <a:ext cx="4038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ab</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S3</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=80×18=1440 (W)</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536649" name="Text Box 73"/>
          <p:cNvSpPr txBox="1">
            <a:spLocks noChangeArrowheads="1"/>
          </p:cNvSpPr>
          <p:nvPr/>
        </p:nvSpPr>
        <p:spPr bwMode="auto">
          <a:xfrm>
            <a:off x="2438400" y="1143000"/>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ab</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R</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=8×10=80 (V)</a:t>
            </a:r>
          </a:p>
        </p:txBody>
      </p:sp>
      <p:sp>
        <p:nvSpPr>
          <p:cNvPr id="536650" name="Text Box 74"/>
          <p:cNvSpPr txBox="1">
            <a:spLocks noChangeArrowheads="1"/>
          </p:cNvSpPr>
          <p:nvPr/>
        </p:nvSpPr>
        <p:spPr bwMode="auto">
          <a:xfrm>
            <a:off x="395288" y="3136900"/>
            <a:ext cx="3816350" cy="3387725"/>
          </a:xfrm>
          <a:prstGeom prst="rect">
            <a:avLst/>
          </a:prstGeom>
          <a:solidFill>
            <a:srgbClr val="FFFF99"/>
          </a:solidFill>
          <a:ln w="9525">
            <a:solidFill>
              <a:schemeClr val="tx1"/>
            </a:solidFill>
            <a:miter lim="800000"/>
            <a:headEnd/>
            <a:tailEnd/>
          </a:ln>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50000"/>
              </a:lnSpc>
              <a:spcBef>
                <a:spcPct val="50000"/>
              </a:spcBef>
            </a:pPr>
            <a:r>
              <a:rPr lang="en-US" altLang="zh-CN" sz="2400" b="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支路电流法列出的方程数量比较多，解起来比较麻烦。但是，这个方法简单易学，容易记忆，不容易忘记，所以它是一个比较重要的方法。</a:t>
            </a:r>
          </a:p>
        </p:txBody>
      </p:sp>
      <p:grpSp>
        <p:nvGrpSpPr>
          <p:cNvPr id="2" name="Group 75"/>
          <p:cNvGrpSpPr>
            <a:grpSpLocks/>
          </p:cNvGrpSpPr>
          <p:nvPr/>
        </p:nvGrpSpPr>
        <p:grpSpPr bwMode="auto">
          <a:xfrm>
            <a:off x="4284663" y="2781300"/>
            <a:ext cx="4648200" cy="3033713"/>
            <a:chOff x="2688" y="1979"/>
            <a:chExt cx="2928" cy="1911"/>
          </a:xfrm>
        </p:grpSpPr>
        <p:grpSp>
          <p:nvGrpSpPr>
            <p:cNvPr id="27656" name="Group 76"/>
            <p:cNvGrpSpPr>
              <a:grpSpLocks/>
            </p:cNvGrpSpPr>
            <p:nvPr/>
          </p:nvGrpSpPr>
          <p:grpSpPr bwMode="auto">
            <a:xfrm>
              <a:off x="2688" y="2256"/>
              <a:ext cx="2928" cy="1375"/>
              <a:chOff x="2304" y="1680"/>
              <a:chExt cx="2928" cy="1375"/>
            </a:xfrm>
          </p:grpSpPr>
          <p:sp>
            <p:nvSpPr>
              <p:cNvPr id="27659" name="Text Box 77"/>
              <p:cNvSpPr txBox="1">
                <a:spLocks noChangeArrowheads="1"/>
              </p:cNvSpPr>
              <p:nvPr/>
            </p:nvSpPr>
            <p:spPr bwMode="auto">
              <a:xfrm>
                <a:off x="2688" y="192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27660" name="Text Box 78"/>
              <p:cNvSpPr txBox="1">
                <a:spLocks noChangeArrowheads="1"/>
              </p:cNvSpPr>
              <p:nvPr/>
            </p:nvSpPr>
            <p:spPr bwMode="auto">
              <a:xfrm>
                <a:off x="3408" y="1920"/>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27661" name="Text Box 79"/>
              <p:cNvSpPr txBox="1">
                <a:spLocks noChangeArrowheads="1"/>
              </p:cNvSpPr>
              <p:nvPr/>
            </p:nvSpPr>
            <p:spPr bwMode="auto">
              <a:xfrm>
                <a:off x="4176" y="23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S3</a:t>
                </a:r>
              </a:p>
            </p:txBody>
          </p:sp>
          <p:sp>
            <p:nvSpPr>
              <p:cNvPr id="27662" name="Text Box 80"/>
              <p:cNvSpPr txBox="1">
                <a:spLocks noChangeArrowheads="1"/>
              </p:cNvSpPr>
              <p:nvPr/>
            </p:nvSpPr>
            <p:spPr bwMode="auto">
              <a:xfrm>
                <a:off x="2592" y="25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63" name="Text Box 81"/>
              <p:cNvSpPr txBox="1">
                <a:spLocks noChangeArrowheads="1"/>
              </p:cNvSpPr>
              <p:nvPr/>
            </p:nvSpPr>
            <p:spPr bwMode="auto">
              <a:xfrm>
                <a:off x="3360" y="249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64" name="Text Box 82"/>
              <p:cNvSpPr txBox="1">
                <a:spLocks noChangeArrowheads="1"/>
              </p:cNvSpPr>
              <p:nvPr/>
            </p:nvSpPr>
            <p:spPr bwMode="auto">
              <a:xfrm>
                <a:off x="4800" y="220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grpSp>
            <p:nvGrpSpPr>
              <p:cNvPr id="27665" name="Group 83"/>
              <p:cNvGrpSpPr>
                <a:grpSpLocks/>
              </p:cNvGrpSpPr>
              <p:nvPr/>
            </p:nvGrpSpPr>
            <p:grpSpPr bwMode="auto">
              <a:xfrm>
                <a:off x="2448" y="1680"/>
                <a:ext cx="2367" cy="1375"/>
                <a:chOff x="1304" y="3328"/>
                <a:chExt cx="5918" cy="3438"/>
              </a:xfrm>
            </p:grpSpPr>
            <p:sp>
              <p:nvSpPr>
                <p:cNvPr id="27689" name="Line 84"/>
                <p:cNvSpPr>
                  <a:spLocks noChangeShapeType="1"/>
                </p:cNvSpPr>
                <p:nvPr/>
              </p:nvSpPr>
              <p:spPr bwMode="auto">
                <a:xfrm>
                  <a:off x="7117" y="3341"/>
                  <a:ext cx="0" cy="341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90" name="Line 85"/>
                <p:cNvSpPr>
                  <a:spLocks noChangeShapeType="1"/>
                </p:cNvSpPr>
                <p:nvPr/>
              </p:nvSpPr>
              <p:spPr bwMode="auto">
                <a:xfrm>
                  <a:off x="5424" y="3355"/>
                  <a:ext cx="5" cy="340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7691" name="Group 86"/>
                <p:cNvGrpSpPr>
                  <a:grpSpLocks/>
                </p:cNvGrpSpPr>
                <p:nvPr/>
              </p:nvGrpSpPr>
              <p:grpSpPr bwMode="auto">
                <a:xfrm>
                  <a:off x="3207" y="3328"/>
                  <a:ext cx="828" cy="1988"/>
                  <a:chOff x="4417" y="567"/>
                  <a:chExt cx="693" cy="1650"/>
                </a:xfrm>
              </p:grpSpPr>
              <p:grpSp>
                <p:nvGrpSpPr>
                  <p:cNvPr id="27719" name="Group 87"/>
                  <p:cNvGrpSpPr>
                    <a:grpSpLocks/>
                  </p:cNvGrpSpPr>
                  <p:nvPr/>
                </p:nvGrpSpPr>
                <p:grpSpPr bwMode="auto">
                  <a:xfrm>
                    <a:off x="4417" y="567"/>
                    <a:ext cx="550" cy="1650"/>
                    <a:chOff x="4417" y="567"/>
                    <a:chExt cx="550" cy="1650"/>
                  </a:xfrm>
                </p:grpSpPr>
                <p:sp>
                  <p:nvSpPr>
                    <p:cNvPr id="27724" name="Oval 8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25" name="Line 8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720" name="Group 90"/>
                  <p:cNvGrpSpPr>
                    <a:grpSpLocks/>
                  </p:cNvGrpSpPr>
                  <p:nvPr/>
                </p:nvGrpSpPr>
                <p:grpSpPr bwMode="auto">
                  <a:xfrm>
                    <a:off x="4956" y="853"/>
                    <a:ext cx="154" cy="979"/>
                    <a:chOff x="4956" y="853"/>
                    <a:chExt cx="154" cy="979"/>
                  </a:xfrm>
                </p:grpSpPr>
                <p:sp>
                  <p:nvSpPr>
                    <p:cNvPr id="27721" name="Line 9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22" name="Line 9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23" name="Line 9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7692" name="Group 94"/>
                <p:cNvGrpSpPr>
                  <a:grpSpLocks/>
                </p:cNvGrpSpPr>
                <p:nvPr/>
              </p:nvGrpSpPr>
              <p:grpSpPr bwMode="auto">
                <a:xfrm>
                  <a:off x="1304" y="3341"/>
                  <a:ext cx="828" cy="1988"/>
                  <a:chOff x="4417" y="567"/>
                  <a:chExt cx="693" cy="1650"/>
                </a:xfrm>
              </p:grpSpPr>
              <p:grpSp>
                <p:nvGrpSpPr>
                  <p:cNvPr id="27712" name="Group 95"/>
                  <p:cNvGrpSpPr>
                    <a:grpSpLocks/>
                  </p:cNvGrpSpPr>
                  <p:nvPr/>
                </p:nvGrpSpPr>
                <p:grpSpPr bwMode="auto">
                  <a:xfrm>
                    <a:off x="4417" y="567"/>
                    <a:ext cx="550" cy="1650"/>
                    <a:chOff x="4417" y="567"/>
                    <a:chExt cx="550" cy="1650"/>
                  </a:xfrm>
                </p:grpSpPr>
                <p:sp>
                  <p:nvSpPr>
                    <p:cNvPr id="27717" name="Oval 9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18" name="Line 9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713" name="Group 98"/>
                  <p:cNvGrpSpPr>
                    <a:grpSpLocks/>
                  </p:cNvGrpSpPr>
                  <p:nvPr/>
                </p:nvGrpSpPr>
                <p:grpSpPr bwMode="auto">
                  <a:xfrm>
                    <a:off x="4956" y="853"/>
                    <a:ext cx="154" cy="979"/>
                    <a:chOff x="4956" y="853"/>
                    <a:chExt cx="154" cy="979"/>
                  </a:xfrm>
                </p:grpSpPr>
                <p:sp>
                  <p:nvSpPr>
                    <p:cNvPr id="27714" name="Line 9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15" name="Line 10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16" name="Line 10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7693" name="Group 102"/>
                <p:cNvGrpSpPr>
                  <a:grpSpLocks/>
                </p:cNvGrpSpPr>
                <p:nvPr/>
              </p:nvGrpSpPr>
              <p:grpSpPr bwMode="auto">
                <a:xfrm>
                  <a:off x="5096" y="4375"/>
                  <a:ext cx="658" cy="1987"/>
                  <a:chOff x="3591" y="567"/>
                  <a:chExt cx="301" cy="907"/>
                </a:xfrm>
              </p:grpSpPr>
              <p:sp>
                <p:nvSpPr>
                  <p:cNvPr id="27705" name="Line 103"/>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06" name="Oval 104"/>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07" name="Line 105"/>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7708" name="Group 106"/>
                  <p:cNvGrpSpPr>
                    <a:grpSpLocks/>
                  </p:cNvGrpSpPr>
                  <p:nvPr/>
                </p:nvGrpSpPr>
                <p:grpSpPr bwMode="auto">
                  <a:xfrm>
                    <a:off x="3715" y="591"/>
                    <a:ext cx="56" cy="222"/>
                    <a:chOff x="4507" y="645"/>
                    <a:chExt cx="56" cy="222"/>
                  </a:xfrm>
                </p:grpSpPr>
                <p:sp>
                  <p:nvSpPr>
                    <p:cNvPr id="27709" name="Line 107"/>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10" name="Line 108"/>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11" name="Line 109"/>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7694" name="Group 110"/>
                <p:cNvGrpSpPr>
                  <a:grpSpLocks/>
                </p:cNvGrpSpPr>
                <p:nvPr/>
              </p:nvGrpSpPr>
              <p:grpSpPr bwMode="auto">
                <a:xfrm>
                  <a:off x="6999" y="4123"/>
                  <a:ext cx="223" cy="1974"/>
                  <a:chOff x="743" y="567"/>
                  <a:chExt cx="187" cy="1639"/>
                </a:xfrm>
              </p:grpSpPr>
              <p:sp>
                <p:nvSpPr>
                  <p:cNvPr id="27703" name="Line 11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04" name="Rectangle 11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695" name="Group 113"/>
                <p:cNvGrpSpPr>
                  <a:grpSpLocks/>
                </p:cNvGrpSpPr>
                <p:nvPr/>
              </p:nvGrpSpPr>
              <p:grpSpPr bwMode="auto">
                <a:xfrm>
                  <a:off x="3430" y="4772"/>
                  <a:ext cx="223" cy="1975"/>
                  <a:chOff x="743" y="567"/>
                  <a:chExt cx="187" cy="1639"/>
                </a:xfrm>
              </p:grpSpPr>
              <p:sp>
                <p:nvSpPr>
                  <p:cNvPr id="27701" name="Line 11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02" name="Rectangle 11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696" name="Group 116"/>
                <p:cNvGrpSpPr>
                  <a:grpSpLocks/>
                </p:cNvGrpSpPr>
                <p:nvPr/>
              </p:nvGrpSpPr>
              <p:grpSpPr bwMode="auto">
                <a:xfrm>
                  <a:off x="1527" y="4791"/>
                  <a:ext cx="223" cy="1975"/>
                  <a:chOff x="743" y="567"/>
                  <a:chExt cx="187" cy="1639"/>
                </a:xfrm>
              </p:grpSpPr>
              <p:sp>
                <p:nvSpPr>
                  <p:cNvPr id="27699" name="Line 11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700" name="Rectangle 11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7697" name="Line 119"/>
                <p:cNvSpPr>
                  <a:spLocks noChangeShapeType="1"/>
                </p:cNvSpPr>
                <p:nvPr/>
              </p:nvSpPr>
              <p:spPr bwMode="auto">
                <a:xfrm flipV="1">
                  <a:off x="1658" y="3341"/>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98" name="Line 120"/>
                <p:cNvSpPr>
                  <a:spLocks noChangeShapeType="1"/>
                </p:cNvSpPr>
                <p:nvPr/>
              </p:nvSpPr>
              <p:spPr bwMode="auto">
                <a:xfrm flipV="1">
                  <a:off x="1658" y="6747"/>
                  <a:ext cx="54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666" name="Group 121"/>
              <p:cNvGrpSpPr>
                <a:grpSpLocks/>
              </p:cNvGrpSpPr>
              <p:nvPr/>
            </p:nvGrpSpPr>
            <p:grpSpPr bwMode="auto">
              <a:xfrm>
                <a:off x="3324" y="2314"/>
                <a:ext cx="41" cy="161"/>
                <a:chOff x="4507" y="645"/>
                <a:chExt cx="56" cy="222"/>
              </a:xfrm>
            </p:grpSpPr>
            <p:sp>
              <p:nvSpPr>
                <p:cNvPr id="27686" name="Line 12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7" name="Line 12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8" name="Line 12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667" name="Group 125"/>
              <p:cNvGrpSpPr>
                <a:grpSpLocks/>
              </p:cNvGrpSpPr>
              <p:nvPr/>
            </p:nvGrpSpPr>
            <p:grpSpPr bwMode="auto">
              <a:xfrm>
                <a:off x="2562" y="2283"/>
                <a:ext cx="42" cy="161"/>
                <a:chOff x="4507" y="645"/>
                <a:chExt cx="56" cy="222"/>
              </a:xfrm>
            </p:grpSpPr>
            <p:sp>
              <p:nvSpPr>
                <p:cNvPr id="27683" name="Line 126"/>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4" name="Line 127"/>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5" name="Line 128"/>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7668" name="Group 129"/>
              <p:cNvGrpSpPr>
                <a:grpSpLocks/>
              </p:cNvGrpSpPr>
              <p:nvPr/>
            </p:nvGrpSpPr>
            <p:grpSpPr bwMode="auto">
              <a:xfrm flipV="1">
                <a:off x="4758" y="1900"/>
                <a:ext cx="41" cy="162"/>
                <a:chOff x="4507" y="645"/>
                <a:chExt cx="56" cy="222"/>
              </a:xfrm>
            </p:grpSpPr>
            <p:sp>
              <p:nvSpPr>
                <p:cNvPr id="27680" name="Line 130"/>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1" name="Line 131"/>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82" name="Line 132"/>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7669" name="Oval 133"/>
              <p:cNvSpPr>
                <a:spLocks noChangeArrowheads="1"/>
              </p:cNvSpPr>
              <p:nvPr/>
            </p:nvSpPr>
            <p:spPr bwMode="auto">
              <a:xfrm>
                <a:off x="2831" y="2036"/>
                <a:ext cx="312" cy="801"/>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0" name="Oval 134"/>
              <p:cNvSpPr>
                <a:spLocks noChangeArrowheads="1"/>
              </p:cNvSpPr>
              <p:nvPr/>
            </p:nvSpPr>
            <p:spPr bwMode="auto">
              <a:xfrm>
                <a:off x="3600" y="2064"/>
                <a:ext cx="1056" cy="855"/>
              </a:xfrm>
              <a:prstGeom prst="ellipse">
                <a:avLst/>
              </a:prstGeom>
              <a:noFill/>
              <a:ln w="38100">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1" name="Oval 135"/>
              <p:cNvSpPr>
                <a:spLocks noChangeArrowheads="1"/>
              </p:cNvSpPr>
              <p:nvPr/>
            </p:nvSpPr>
            <p:spPr bwMode="auto">
              <a:xfrm>
                <a:off x="4272" y="2736"/>
                <a:ext cx="198" cy="19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2" name="Oval 136"/>
              <p:cNvSpPr>
                <a:spLocks noChangeArrowheads="1"/>
              </p:cNvSpPr>
              <p:nvPr/>
            </p:nvSpPr>
            <p:spPr bwMode="auto">
              <a:xfrm>
                <a:off x="2923" y="2753"/>
                <a:ext cx="137" cy="13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3" name="Line 137"/>
              <p:cNvSpPr>
                <a:spLocks noChangeShapeType="1"/>
              </p:cNvSpPr>
              <p:nvPr/>
            </p:nvSpPr>
            <p:spPr bwMode="auto">
              <a:xfrm flipH="1">
                <a:off x="4472" y="2762"/>
                <a:ext cx="57" cy="70"/>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4" name="Line 138"/>
              <p:cNvSpPr>
                <a:spLocks noChangeShapeType="1"/>
              </p:cNvSpPr>
              <p:nvPr/>
            </p:nvSpPr>
            <p:spPr bwMode="auto">
              <a:xfrm flipH="1">
                <a:off x="3033" y="2731"/>
                <a:ext cx="62" cy="102"/>
              </a:xfrm>
              <a:prstGeom prst="line">
                <a:avLst/>
              </a:prstGeom>
              <a:noFill/>
              <a:ln w="9525">
                <a:solidFill>
                  <a:srgbClr val="FF33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75" name="Text Box 139"/>
              <p:cNvSpPr txBox="1">
                <a:spLocks noChangeArrowheads="1"/>
              </p:cNvSpPr>
              <p:nvPr/>
            </p:nvSpPr>
            <p:spPr bwMode="auto">
              <a:xfrm>
                <a:off x="3120"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27676" name="Text Box 140"/>
              <p:cNvSpPr txBox="1">
                <a:spLocks noChangeArrowheads="1"/>
              </p:cNvSpPr>
              <p:nvPr/>
            </p:nvSpPr>
            <p:spPr bwMode="auto">
              <a:xfrm>
                <a:off x="2304" y="225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7677" name="Text Box 141"/>
              <p:cNvSpPr txBox="1">
                <a:spLocks noChangeArrowheads="1"/>
              </p:cNvSpPr>
              <p:nvPr/>
            </p:nvSpPr>
            <p:spPr bwMode="auto">
              <a:xfrm>
                <a:off x="4752"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p>
            </p:txBody>
          </p:sp>
          <p:sp>
            <p:nvSpPr>
              <p:cNvPr id="27678" name="Text Box 142"/>
              <p:cNvSpPr txBox="1">
                <a:spLocks noChangeArrowheads="1"/>
              </p:cNvSpPr>
              <p:nvPr/>
            </p:nvSpPr>
            <p:spPr bwMode="auto">
              <a:xfrm>
                <a:off x="2880" y="23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27679" name="Text Box 143"/>
              <p:cNvSpPr txBox="1">
                <a:spLocks noChangeArrowheads="1"/>
              </p:cNvSpPr>
              <p:nvPr/>
            </p:nvSpPr>
            <p:spPr bwMode="auto">
              <a:xfrm>
                <a:off x="3792" y="25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p>
            </p:txBody>
          </p:sp>
        </p:grpSp>
        <p:sp>
          <p:nvSpPr>
            <p:cNvPr id="27657" name="Text Box 144"/>
            <p:cNvSpPr txBox="1">
              <a:spLocks noChangeArrowheads="1"/>
            </p:cNvSpPr>
            <p:nvPr/>
          </p:nvSpPr>
          <p:spPr bwMode="auto">
            <a:xfrm>
              <a:off x="4332" y="1979"/>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7658" name="Text Box 145"/>
            <p:cNvSpPr txBox="1">
              <a:spLocks noChangeArrowheads="1"/>
            </p:cNvSpPr>
            <p:nvPr/>
          </p:nvSpPr>
          <p:spPr bwMode="auto">
            <a:xfrm>
              <a:off x="4350" y="360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24</a:t>
            </a:fld>
            <a:endParaRPr lang="en-US" altLang="zh-CN"/>
          </a:p>
        </p:txBody>
      </p:sp>
    </p:spTree>
    <p:extLst>
      <p:ext uri="{BB962C8B-B14F-4D97-AF65-F5344CB8AC3E}">
        <p14:creationId xmlns:p14="http://schemas.microsoft.com/office/powerpoint/2010/main" val="2016165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3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ou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6646"/>
                                        </p:tgtEl>
                                        <p:attrNameLst>
                                          <p:attrName>style.visibility</p:attrName>
                                        </p:attrNameLst>
                                      </p:cBhvr>
                                      <p:to>
                                        <p:strVal val="visible"/>
                                      </p:to>
                                    </p:set>
                                    <p:animEffect transition="in" filter="wipe(left)">
                                      <p:cBhvr>
                                        <p:cTn id="12" dur="500"/>
                                        <p:tgtEl>
                                          <p:spTgt spid="5366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6649"/>
                                        </p:tgtEl>
                                        <p:attrNameLst>
                                          <p:attrName>style.visibility</p:attrName>
                                        </p:attrNameLst>
                                      </p:cBhvr>
                                      <p:to>
                                        <p:strVal val="visible"/>
                                      </p:to>
                                    </p:set>
                                    <p:animEffect transition="in" filter="wipe(left)">
                                      <p:cBhvr>
                                        <p:cTn id="17" dur="500"/>
                                        <p:tgtEl>
                                          <p:spTgt spid="5366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6647"/>
                                        </p:tgtEl>
                                        <p:attrNameLst>
                                          <p:attrName>style.visibility</p:attrName>
                                        </p:attrNameLst>
                                      </p:cBhvr>
                                      <p:to>
                                        <p:strVal val="visible"/>
                                      </p:to>
                                    </p:set>
                                    <p:animEffect transition="in" filter="wipe(left)">
                                      <p:cBhvr>
                                        <p:cTn id="22" dur="500"/>
                                        <p:tgtEl>
                                          <p:spTgt spid="5366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6648"/>
                                        </p:tgtEl>
                                        <p:attrNameLst>
                                          <p:attrName>style.visibility</p:attrName>
                                        </p:attrNameLst>
                                      </p:cBhvr>
                                      <p:to>
                                        <p:strVal val="visible"/>
                                      </p:to>
                                    </p:set>
                                    <p:animEffect transition="in" filter="wipe(left)">
                                      <p:cBhvr>
                                        <p:cTn id="27" dur="500"/>
                                        <p:tgtEl>
                                          <p:spTgt spid="5366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536650"/>
                                        </p:tgtEl>
                                        <p:attrNameLst>
                                          <p:attrName>style.visibility</p:attrName>
                                        </p:attrNameLst>
                                      </p:cBhvr>
                                      <p:to>
                                        <p:strVal val="visible"/>
                                      </p:to>
                                    </p:set>
                                    <p:animEffect transition="in" filter="strips(downRight)">
                                      <p:cBhvr>
                                        <p:cTn id="32" dur="500"/>
                                        <p:tgtEl>
                                          <p:spTgt spid="536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46" grpId="0"/>
      <p:bldP spid="536647" grpId="0"/>
      <p:bldP spid="536648" grpId="0"/>
      <p:bldP spid="536649" grpId="0"/>
      <p:bldP spid="53665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2747962" y="308543"/>
            <a:ext cx="4200302"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zh-CN" sz="32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2.3 </a:t>
            </a:r>
            <a:r>
              <a:rPr lang="zh-CN" altLang="en-US" sz="32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节点电位分析法</a:t>
            </a:r>
          </a:p>
        </p:txBody>
      </p:sp>
      <p:sp>
        <p:nvSpPr>
          <p:cNvPr id="537603" name="Text Box 3"/>
          <p:cNvSpPr txBox="1">
            <a:spLocks noChangeArrowheads="1"/>
          </p:cNvSpPr>
          <p:nvPr/>
        </p:nvSpPr>
        <p:spPr bwMode="auto">
          <a:xfrm>
            <a:off x="442913" y="1377950"/>
            <a:ext cx="8305800" cy="1015663"/>
          </a:xfrm>
          <a:prstGeom prst="rect">
            <a:avLst/>
          </a:prstGeom>
          <a:noFill/>
          <a:ln w="38100">
            <a:noFill/>
            <a:miter lim="800000"/>
            <a:headEnd/>
            <a:tailEnd/>
          </a:ln>
          <a:effectLst/>
        </p:spPr>
        <p:txBody>
          <a:bodyPr>
            <a:spAutoFit/>
          </a:bodyPr>
          <a:lstStyle/>
          <a:p>
            <a:pPr>
              <a:lnSpc>
                <a:spcPct val="125000"/>
              </a:lnSpc>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选择电路中某一</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点为电位参考点，其它各</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点的电位称为</a:t>
            </a:r>
            <a:r>
              <a:rPr kumimoji="1"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节点电位</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。又称为</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a:t>
            </a:r>
            <a:r>
              <a:rPr kumimoji="1"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点电压</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37604" name="Text Box 4"/>
          <p:cNvSpPr txBox="1">
            <a:spLocks noChangeArrowheads="1"/>
          </p:cNvSpPr>
          <p:nvPr/>
        </p:nvSpPr>
        <p:spPr bwMode="auto">
          <a:xfrm>
            <a:off x="468313" y="2781300"/>
            <a:ext cx="79248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5000"/>
              </a:lnSpc>
              <a:spcBef>
                <a:spcPct val="50000"/>
              </a:spcBef>
            </a:pPr>
            <a:r>
              <a:rPr lang="en-US" altLang="zh-CN" sz="2400" b="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如果求出了节点电位，就可以由节点电位求出各支路的电压以及其它的响应，所以可以用节点电位为变量列方程求解电路。</a:t>
            </a:r>
          </a:p>
        </p:txBody>
      </p:sp>
      <p:sp>
        <p:nvSpPr>
          <p:cNvPr id="537605" name="Text Box 5"/>
          <p:cNvSpPr txBox="1">
            <a:spLocks noChangeArrowheads="1"/>
          </p:cNvSpPr>
          <p:nvPr/>
        </p:nvSpPr>
        <p:spPr bwMode="auto">
          <a:xfrm>
            <a:off x="442913" y="4365104"/>
            <a:ext cx="8208962" cy="1477328"/>
          </a:xfrm>
          <a:prstGeom prst="rect">
            <a:avLst/>
          </a:prstGeom>
          <a:noFill/>
          <a:ln w="38100">
            <a:noFill/>
            <a:miter lim="800000"/>
            <a:headEnd/>
            <a:tailEnd/>
          </a:ln>
          <a:effectLst/>
        </p:spPr>
        <p:txBody>
          <a:bodyPr>
            <a:spAutoFit/>
          </a:bodyPr>
          <a:lstStyle/>
          <a:p>
            <a:pPr>
              <a:lnSpc>
                <a:spcPct val="125000"/>
              </a:lnSpc>
              <a:defRPr/>
            </a:pPr>
            <a:r>
              <a:rPr lang="en-US" altLang="zh-CN"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节点电位分析法</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也称为节点电压分析法，简称节点法，是</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以节点电位为未知量</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，将</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各支路电流用节点电位表示</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，然后利用</a:t>
            </a:r>
            <a:r>
              <a:rPr lang="en-US" altLang="zh-CN"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列出独立的电流方程进行求解的方法。</a:t>
            </a:r>
          </a:p>
        </p:txBody>
      </p:sp>
      <p:sp>
        <p:nvSpPr>
          <p:cNvPr id="6" name="Rectangle 4"/>
          <p:cNvSpPr>
            <a:spLocks noChangeArrowheads="1"/>
          </p:cNvSpPr>
          <p:nvPr/>
        </p:nvSpPr>
        <p:spPr bwMode="auto">
          <a:xfrm>
            <a:off x="327025" y="89126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8483704B-B939-41F0-A9C6-BADB80BC3F1C}" type="slidenum">
              <a:rPr lang="en-US" altLang="zh-CN" smtClean="0"/>
              <a:pPr>
                <a:defRPr/>
              </a:pPr>
              <a:t>25</a:t>
            </a:fld>
            <a:endParaRPr lang="en-US" altLang="zh-CN"/>
          </a:p>
        </p:txBody>
      </p:sp>
    </p:spTree>
    <p:extLst>
      <p:ext uri="{BB962C8B-B14F-4D97-AF65-F5344CB8AC3E}">
        <p14:creationId xmlns:p14="http://schemas.microsoft.com/office/powerpoint/2010/main" val="1015161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7603">
                                            <p:txEl>
                                              <p:pRg st="0" end="0"/>
                                            </p:txEl>
                                          </p:spTgt>
                                        </p:tgtEl>
                                        <p:attrNameLst>
                                          <p:attrName>style.visibility</p:attrName>
                                        </p:attrNameLst>
                                      </p:cBhvr>
                                      <p:to>
                                        <p:strVal val="visible"/>
                                      </p:to>
                                    </p:set>
                                    <p:animEffect transition="in" filter="wipe(left)">
                                      <p:cBhvr>
                                        <p:cTn id="7" dur="500"/>
                                        <p:tgtEl>
                                          <p:spTgt spid="537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7604"/>
                                        </p:tgtEl>
                                        <p:attrNameLst>
                                          <p:attrName>style.visibility</p:attrName>
                                        </p:attrNameLst>
                                      </p:cBhvr>
                                      <p:to>
                                        <p:strVal val="visible"/>
                                      </p:to>
                                    </p:set>
                                    <p:animEffect transition="in" filter="blinds(horizontal)">
                                      <p:cBhvr>
                                        <p:cTn id="12" dur="500"/>
                                        <p:tgtEl>
                                          <p:spTgt spid="537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7605">
                                            <p:txEl>
                                              <p:pRg st="0" end="0"/>
                                            </p:txEl>
                                          </p:spTgt>
                                        </p:tgtEl>
                                        <p:attrNameLst>
                                          <p:attrName>style.visibility</p:attrName>
                                        </p:attrNameLst>
                                      </p:cBhvr>
                                      <p:to>
                                        <p:strVal val="visible"/>
                                      </p:to>
                                    </p:set>
                                    <p:animEffect transition="in" filter="wipe(left)">
                                      <p:cBhvr>
                                        <p:cTn id="17" dur="500"/>
                                        <p:tgtEl>
                                          <p:spTgt spid="5376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3" grpId="0" build="p" autoUpdateAnimBg="0"/>
      <p:bldP spid="537604" grpId="0"/>
      <p:bldP spid="537605"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76" name="Text Box 52"/>
          <p:cNvSpPr txBox="1">
            <a:spLocks noChangeArrowheads="1"/>
          </p:cNvSpPr>
          <p:nvPr/>
        </p:nvSpPr>
        <p:spPr bwMode="auto">
          <a:xfrm>
            <a:off x="685800" y="809625"/>
            <a:ext cx="7543800" cy="830997"/>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图中电路有</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3</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个节点，选择节点</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为参考节点，上面</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个为独立节点，分别记为 </a:t>
            </a:r>
            <a:r>
              <a:rPr kumimoji="1" lang="en-US" altLang="zh-CN" i="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 </a:t>
            </a:r>
            <a:r>
              <a:rPr kumimoji="1" lang="en-US" altLang="zh-CN" i="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en-US" altLang="zh-CN"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38677" name="Text Box 53"/>
          <p:cNvSpPr txBox="1">
            <a:spLocks noChangeArrowheads="1"/>
          </p:cNvSpPr>
          <p:nvPr/>
        </p:nvSpPr>
        <p:spPr bwMode="auto">
          <a:xfrm>
            <a:off x="611188" y="1766888"/>
            <a:ext cx="82812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）用</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节点电位表示出各支路</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电流，独立电流源之路除外</a:t>
            </a:r>
            <a:endPar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538678" name="Object 54"/>
          <p:cNvGraphicFramePr>
            <a:graphicFrameLocks noChangeAspect="1"/>
          </p:cNvGraphicFramePr>
          <p:nvPr>
            <p:extLst>
              <p:ext uri="{D42A27DB-BD31-4B8C-83A1-F6EECF244321}">
                <p14:modId xmlns:p14="http://schemas.microsoft.com/office/powerpoint/2010/main" val="1589212367"/>
              </p:ext>
            </p:extLst>
          </p:nvPr>
        </p:nvGraphicFramePr>
        <p:xfrm>
          <a:off x="1352550" y="2362200"/>
          <a:ext cx="2554288" cy="1066800"/>
        </p:xfrm>
        <a:graphic>
          <a:graphicData uri="http://schemas.openxmlformats.org/presentationml/2006/ole">
            <mc:AlternateContent xmlns:mc="http://schemas.openxmlformats.org/markup-compatibility/2006">
              <mc:Choice xmlns:v="urn:schemas-microsoft-com:vml" Requires="v">
                <p:oleObj spid="_x0000_s77866" name="公式" r:id="rId3" imgW="771500" imgH="400140" progId="Equation.3">
                  <p:embed/>
                </p:oleObj>
              </mc:Choice>
              <mc:Fallback>
                <p:oleObj name="公式" r:id="rId3" imgW="771500" imgH="4001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2362200"/>
                        <a:ext cx="2554288"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8679" name="Object 55"/>
          <p:cNvGraphicFramePr>
            <a:graphicFrameLocks noChangeAspect="1"/>
          </p:cNvGraphicFramePr>
          <p:nvPr>
            <p:extLst>
              <p:ext uri="{D42A27DB-BD31-4B8C-83A1-F6EECF244321}">
                <p14:modId xmlns:p14="http://schemas.microsoft.com/office/powerpoint/2010/main" val="3805705328"/>
              </p:ext>
            </p:extLst>
          </p:nvPr>
        </p:nvGraphicFramePr>
        <p:xfrm>
          <a:off x="1295400" y="3352800"/>
          <a:ext cx="1981200" cy="990600"/>
        </p:xfrm>
        <a:graphic>
          <a:graphicData uri="http://schemas.openxmlformats.org/presentationml/2006/ole">
            <mc:AlternateContent xmlns:mc="http://schemas.openxmlformats.org/markup-compatibility/2006">
              <mc:Choice xmlns:v="urn:schemas-microsoft-com:vml" Requires="v">
                <p:oleObj spid="_x0000_s77867" name="Equation" r:id="rId5" imgW="504878" imgH="400140" progId="Equation.3">
                  <p:embed/>
                </p:oleObj>
              </mc:Choice>
              <mc:Fallback>
                <p:oleObj name="Equation" r:id="rId5" imgW="504878" imgH="4001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3352800"/>
                        <a:ext cx="19812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8680" name="Object 56"/>
          <p:cNvGraphicFramePr>
            <a:graphicFrameLocks noChangeAspect="1"/>
          </p:cNvGraphicFramePr>
          <p:nvPr>
            <p:extLst>
              <p:ext uri="{D42A27DB-BD31-4B8C-83A1-F6EECF244321}">
                <p14:modId xmlns:p14="http://schemas.microsoft.com/office/powerpoint/2010/main" val="299101326"/>
              </p:ext>
            </p:extLst>
          </p:nvPr>
        </p:nvGraphicFramePr>
        <p:xfrm>
          <a:off x="1331913" y="4343400"/>
          <a:ext cx="2743200" cy="996950"/>
        </p:xfrm>
        <a:graphic>
          <a:graphicData uri="http://schemas.openxmlformats.org/presentationml/2006/ole">
            <mc:AlternateContent xmlns:mc="http://schemas.openxmlformats.org/markup-compatibility/2006">
              <mc:Choice xmlns:v="urn:schemas-microsoft-com:vml" Requires="v">
                <p:oleObj spid="_x0000_s77868" name="Equation" r:id="rId7" imgW="771500" imgH="400140" progId="Equation.3">
                  <p:embed/>
                </p:oleObj>
              </mc:Choice>
              <mc:Fallback>
                <p:oleObj name="Equation" r:id="rId7" imgW="771500" imgH="4001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4343400"/>
                        <a:ext cx="27432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8681" name="Object 57"/>
          <p:cNvGraphicFramePr>
            <a:graphicFrameLocks noChangeAspect="1"/>
          </p:cNvGraphicFramePr>
          <p:nvPr>
            <p:extLst>
              <p:ext uri="{D42A27DB-BD31-4B8C-83A1-F6EECF244321}">
                <p14:modId xmlns:p14="http://schemas.microsoft.com/office/powerpoint/2010/main" val="138164918"/>
              </p:ext>
            </p:extLst>
          </p:nvPr>
        </p:nvGraphicFramePr>
        <p:xfrm>
          <a:off x="1316038" y="5257800"/>
          <a:ext cx="1600200" cy="998538"/>
        </p:xfrm>
        <a:graphic>
          <a:graphicData uri="http://schemas.openxmlformats.org/presentationml/2006/ole">
            <mc:AlternateContent xmlns:mc="http://schemas.openxmlformats.org/markup-compatibility/2006">
              <mc:Choice xmlns:v="urn:schemas-microsoft-com:vml" Requires="v">
                <p:oleObj spid="_x0000_s77869" name="Equation" r:id="rId9" imgW="504878" imgH="400140" progId="Equation.3">
                  <p:embed/>
                </p:oleObj>
              </mc:Choice>
              <mc:Fallback>
                <p:oleObj name="Equation" r:id="rId9" imgW="504878" imgH="4001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16038" y="5257800"/>
                        <a:ext cx="1600200"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9"/>
          <p:cNvGrpSpPr>
            <a:grpSpLocks/>
          </p:cNvGrpSpPr>
          <p:nvPr/>
        </p:nvGrpSpPr>
        <p:grpSpPr bwMode="auto">
          <a:xfrm>
            <a:off x="4579937" y="2698750"/>
            <a:ext cx="4206875" cy="3092450"/>
            <a:chOff x="2885" y="1700"/>
            <a:chExt cx="2650" cy="1948"/>
          </a:xfrm>
        </p:grpSpPr>
        <p:sp>
          <p:nvSpPr>
            <p:cNvPr id="538627" name="Text Box 3"/>
            <p:cNvSpPr txBox="1">
              <a:spLocks noChangeArrowheads="1"/>
            </p:cNvSpPr>
            <p:nvPr/>
          </p:nvSpPr>
          <p:spPr bwMode="auto">
            <a:xfrm>
              <a:off x="4655" y="1760"/>
              <a:ext cx="21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28" name="Text Box 4"/>
            <p:cNvSpPr txBox="1">
              <a:spLocks noChangeArrowheads="1"/>
            </p:cNvSpPr>
            <p:nvPr/>
          </p:nvSpPr>
          <p:spPr bwMode="auto">
            <a:xfrm>
              <a:off x="3617" y="1760"/>
              <a:ext cx="352"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29" name="Rectangle 5"/>
            <p:cNvSpPr>
              <a:spLocks noChangeArrowheads="1"/>
            </p:cNvSpPr>
            <p:nvPr/>
          </p:nvSpPr>
          <p:spPr bwMode="auto">
            <a:xfrm>
              <a:off x="3860" y="237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30" name="Rectangle 6"/>
            <p:cNvSpPr>
              <a:spLocks noChangeArrowheads="1"/>
            </p:cNvSpPr>
            <p:nvPr/>
          </p:nvSpPr>
          <p:spPr bwMode="auto">
            <a:xfrm>
              <a:off x="4388" y="2036"/>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31" name="Rectangle 7"/>
            <p:cNvSpPr>
              <a:spLocks noChangeArrowheads="1"/>
            </p:cNvSpPr>
            <p:nvPr/>
          </p:nvSpPr>
          <p:spPr bwMode="auto">
            <a:xfrm>
              <a:off x="2885" y="2660"/>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32" name="Text Box 8"/>
            <p:cNvSpPr txBox="1">
              <a:spLocks noChangeArrowheads="1"/>
            </p:cNvSpPr>
            <p:nvPr/>
          </p:nvSpPr>
          <p:spPr bwMode="auto">
            <a:xfrm>
              <a:off x="3084" y="2948"/>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538633" name="Text Box 9"/>
            <p:cNvSpPr txBox="1">
              <a:spLocks noChangeArrowheads="1"/>
            </p:cNvSpPr>
            <p:nvPr/>
          </p:nvSpPr>
          <p:spPr bwMode="auto">
            <a:xfrm>
              <a:off x="3708" y="2852"/>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34" name="Text Box 10"/>
            <p:cNvSpPr txBox="1">
              <a:spLocks noChangeArrowheads="1"/>
            </p:cNvSpPr>
            <p:nvPr/>
          </p:nvSpPr>
          <p:spPr bwMode="auto">
            <a:xfrm>
              <a:off x="4956" y="280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35" name="Text Box 11"/>
            <p:cNvSpPr txBox="1">
              <a:spLocks noChangeArrowheads="1"/>
            </p:cNvSpPr>
            <p:nvPr/>
          </p:nvSpPr>
          <p:spPr bwMode="auto">
            <a:xfrm>
              <a:off x="3951" y="1700"/>
              <a:ext cx="53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14" name="Line 12"/>
            <p:cNvSpPr>
              <a:spLocks noChangeShapeType="1"/>
            </p:cNvSpPr>
            <p:nvPr/>
          </p:nvSpPr>
          <p:spPr bwMode="auto">
            <a:xfrm>
              <a:off x="5365" y="2029"/>
              <a:ext cx="0" cy="136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15" name="Line 13"/>
            <p:cNvSpPr>
              <a:spLocks noChangeShapeType="1"/>
            </p:cNvSpPr>
            <p:nvPr/>
          </p:nvSpPr>
          <p:spPr bwMode="auto">
            <a:xfrm>
              <a:off x="4758" y="2035"/>
              <a:ext cx="2" cy="13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9716" name="Group 14"/>
            <p:cNvGrpSpPr>
              <a:grpSpLocks/>
            </p:cNvGrpSpPr>
            <p:nvPr/>
          </p:nvGrpSpPr>
          <p:grpSpPr bwMode="auto">
            <a:xfrm>
              <a:off x="3039" y="2029"/>
              <a:ext cx="331" cy="795"/>
              <a:chOff x="4417" y="567"/>
              <a:chExt cx="693" cy="1650"/>
            </a:xfrm>
          </p:grpSpPr>
          <p:grpSp>
            <p:nvGrpSpPr>
              <p:cNvPr id="29748" name="Group 15"/>
              <p:cNvGrpSpPr>
                <a:grpSpLocks/>
              </p:cNvGrpSpPr>
              <p:nvPr/>
            </p:nvGrpSpPr>
            <p:grpSpPr bwMode="auto">
              <a:xfrm>
                <a:off x="4417" y="567"/>
                <a:ext cx="550" cy="1650"/>
                <a:chOff x="4417" y="567"/>
                <a:chExt cx="550" cy="1650"/>
              </a:xfrm>
            </p:grpSpPr>
            <p:sp>
              <p:nvSpPr>
                <p:cNvPr id="29753" name="Oval 1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54" name="Line 1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9749" name="Group 18"/>
              <p:cNvGrpSpPr>
                <a:grpSpLocks/>
              </p:cNvGrpSpPr>
              <p:nvPr/>
            </p:nvGrpSpPr>
            <p:grpSpPr bwMode="auto">
              <a:xfrm>
                <a:off x="4956" y="853"/>
                <a:ext cx="154" cy="979"/>
                <a:chOff x="4956" y="853"/>
                <a:chExt cx="154" cy="979"/>
              </a:xfrm>
            </p:grpSpPr>
            <p:sp>
              <p:nvSpPr>
                <p:cNvPr id="29750" name="Line 1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51" name="Line 2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52" name="Line 2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9717" name="Group 22"/>
            <p:cNvGrpSpPr>
              <a:grpSpLocks/>
            </p:cNvGrpSpPr>
            <p:nvPr/>
          </p:nvGrpSpPr>
          <p:grpSpPr bwMode="auto">
            <a:xfrm>
              <a:off x="5232" y="2323"/>
              <a:ext cx="263" cy="795"/>
              <a:chOff x="3591" y="567"/>
              <a:chExt cx="301" cy="907"/>
            </a:xfrm>
          </p:grpSpPr>
          <p:sp>
            <p:nvSpPr>
              <p:cNvPr id="29741" name="Line 23"/>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42" name="Oval 24"/>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43" name="Line 25"/>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9744" name="Group 26"/>
              <p:cNvGrpSpPr>
                <a:grpSpLocks/>
              </p:cNvGrpSpPr>
              <p:nvPr/>
            </p:nvGrpSpPr>
            <p:grpSpPr bwMode="auto">
              <a:xfrm>
                <a:off x="3715" y="591"/>
                <a:ext cx="56" cy="222"/>
                <a:chOff x="4507" y="645"/>
                <a:chExt cx="56" cy="222"/>
              </a:xfrm>
            </p:grpSpPr>
            <p:sp>
              <p:nvSpPr>
                <p:cNvPr id="29745" name="Line 27"/>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46" name="Line 28"/>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47" name="Line 29"/>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9718" name="Group 30"/>
            <p:cNvGrpSpPr>
              <a:grpSpLocks/>
            </p:cNvGrpSpPr>
            <p:nvPr/>
          </p:nvGrpSpPr>
          <p:grpSpPr bwMode="auto">
            <a:xfrm>
              <a:off x="4710" y="2253"/>
              <a:ext cx="90" cy="789"/>
              <a:chOff x="743" y="567"/>
              <a:chExt cx="187" cy="1639"/>
            </a:xfrm>
          </p:grpSpPr>
          <p:sp>
            <p:nvSpPr>
              <p:cNvPr id="29739" name="Line 3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40" name="Rectangle 3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9719" name="Group 33"/>
            <p:cNvGrpSpPr>
              <a:grpSpLocks/>
            </p:cNvGrpSpPr>
            <p:nvPr/>
          </p:nvGrpSpPr>
          <p:grpSpPr bwMode="auto">
            <a:xfrm>
              <a:off x="3123" y="2618"/>
              <a:ext cx="89" cy="790"/>
              <a:chOff x="743" y="567"/>
              <a:chExt cx="187" cy="1639"/>
            </a:xfrm>
          </p:grpSpPr>
          <p:sp>
            <p:nvSpPr>
              <p:cNvPr id="29737" name="Line 3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38" name="Rectangle 3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9720" name="Line 36"/>
            <p:cNvSpPr>
              <a:spLocks noChangeShapeType="1"/>
            </p:cNvSpPr>
            <p:nvPr/>
          </p:nvSpPr>
          <p:spPr bwMode="auto">
            <a:xfrm flipV="1">
              <a:off x="3181" y="2029"/>
              <a:ext cx="218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21" name="Line 37"/>
            <p:cNvSpPr>
              <a:spLocks noChangeShapeType="1"/>
            </p:cNvSpPr>
            <p:nvPr/>
          </p:nvSpPr>
          <p:spPr bwMode="auto">
            <a:xfrm flipV="1">
              <a:off x="3181" y="3392"/>
              <a:ext cx="218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9722" name="Group 38"/>
            <p:cNvGrpSpPr>
              <a:grpSpLocks/>
            </p:cNvGrpSpPr>
            <p:nvPr/>
          </p:nvGrpSpPr>
          <p:grpSpPr bwMode="auto">
            <a:xfrm rot="-5400000">
              <a:off x="4181" y="1639"/>
              <a:ext cx="89" cy="790"/>
              <a:chOff x="743" y="567"/>
              <a:chExt cx="187" cy="1639"/>
            </a:xfrm>
          </p:grpSpPr>
          <p:sp>
            <p:nvSpPr>
              <p:cNvPr id="29735" name="Line 3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36" name="Rectangle 4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9723" name="Line 41"/>
            <p:cNvSpPr>
              <a:spLocks noChangeShapeType="1"/>
            </p:cNvSpPr>
            <p:nvPr/>
          </p:nvSpPr>
          <p:spPr bwMode="auto">
            <a:xfrm>
              <a:off x="3822" y="2029"/>
              <a:ext cx="0" cy="136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9724" name="Group 42"/>
            <p:cNvGrpSpPr>
              <a:grpSpLocks/>
            </p:cNvGrpSpPr>
            <p:nvPr/>
          </p:nvGrpSpPr>
          <p:grpSpPr bwMode="auto">
            <a:xfrm>
              <a:off x="3774" y="2457"/>
              <a:ext cx="89" cy="790"/>
              <a:chOff x="743" y="567"/>
              <a:chExt cx="187" cy="1639"/>
            </a:xfrm>
          </p:grpSpPr>
          <p:sp>
            <p:nvSpPr>
              <p:cNvPr id="29733" name="Line 4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34" name="Rectangle 4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9725" name="Line 45"/>
            <p:cNvSpPr>
              <a:spLocks noChangeShapeType="1"/>
            </p:cNvSpPr>
            <p:nvPr/>
          </p:nvSpPr>
          <p:spPr bwMode="auto">
            <a:xfrm>
              <a:off x="4756" y="3059"/>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26" name="Line 46"/>
            <p:cNvSpPr>
              <a:spLocks noChangeShapeType="1"/>
            </p:cNvSpPr>
            <p:nvPr/>
          </p:nvSpPr>
          <p:spPr bwMode="auto">
            <a:xfrm>
              <a:off x="3171" y="2667"/>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27" name="Line 47"/>
            <p:cNvSpPr>
              <a:spLocks noChangeShapeType="1"/>
            </p:cNvSpPr>
            <p:nvPr/>
          </p:nvSpPr>
          <p:spPr bwMode="auto">
            <a:xfrm rot="-5400000">
              <a:off x="4615" y="1971"/>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728" name="Line 48"/>
            <p:cNvSpPr>
              <a:spLocks noChangeShapeType="1"/>
            </p:cNvSpPr>
            <p:nvPr/>
          </p:nvSpPr>
          <p:spPr bwMode="auto">
            <a:xfrm>
              <a:off x="3818" y="2359"/>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73" name="Text Box 49"/>
            <p:cNvSpPr txBox="1">
              <a:spLocks noChangeArrowheads="1"/>
            </p:cNvSpPr>
            <p:nvPr/>
          </p:nvSpPr>
          <p:spPr bwMode="auto">
            <a:xfrm>
              <a:off x="4236" y="2516"/>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74" name="Text Box 50"/>
            <p:cNvSpPr txBox="1">
              <a:spLocks noChangeArrowheads="1"/>
            </p:cNvSpPr>
            <p:nvPr/>
          </p:nvSpPr>
          <p:spPr bwMode="auto">
            <a:xfrm>
              <a:off x="3135" y="2276"/>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75" name="Rectangle 51"/>
            <p:cNvSpPr>
              <a:spLocks noChangeArrowheads="1"/>
            </p:cNvSpPr>
            <p:nvPr/>
          </p:nvSpPr>
          <p:spPr bwMode="auto">
            <a:xfrm>
              <a:off x="4484" y="2996"/>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8682" name="Text Box 58"/>
            <p:cNvSpPr txBox="1">
              <a:spLocks noChangeArrowheads="1"/>
            </p:cNvSpPr>
            <p:nvPr/>
          </p:nvSpPr>
          <p:spPr bwMode="auto">
            <a:xfrm>
              <a:off x="4660" y="3357"/>
              <a:ext cx="20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26</a:t>
            </a:fld>
            <a:endParaRPr lang="en-US" altLang="zh-CN"/>
          </a:p>
        </p:txBody>
      </p:sp>
    </p:spTree>
    <p:extLst>
      <p:ext uri="{BB962C8B-B14F-4D97-AF65-F5344CB8AC3E}">
        <p14:creationId xmlns:p14="http://schemas.microsoft.com/office/powerpoint/2010/main" val="1579071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38676"/>
                                        </p:tgtEl>
                                        <p:attrNameLst>
                                          <p:attrName>style.visibility</p:attrName>
                                        </p:attrNameLst>
                                      </p:cBhvr>
                                      <p:to>
                                        <p:strVal val="visible"/>
                                      </p:to>
                                    </p:set>
                                    <p:animEffect transition="in" filter="wipe(up)">
                                      <p:cBhvr>
                                        <p:cTn id="13" dur="500"/>
                                        <p:tgtEl>
                                          <p:spTgt spid="53867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38677"/>
                                        </p:tgtEl>
                                        <p:attrNameLst>
                                          <p:attrName>style.visibility</p:attrName>
                                        </p:attrNameLst>
                                      </p:cBhvr>
                                      <p:to>
                                        <p:strVal val="visible"/>
                                      </p:to>
                                    </p:set>
                                    <p:animEffect transition="in" filter="wipe(left)">
                                      <p:cBhvr>
                                        <p:cTn id="18" dur="500"/>
                                        <p:tgtEl>
                                          <p:spTgt spid="53867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38678"/>
                                        </p:tgtEl>
                                        <p:attrNameLst>
                                          <p:attrName>style.visibility</p:attrName>
                                        </p:attrNameLst>
                                      </p:cBhvr>
                                      <p:to>
                                        <p:strVal val="visible"/>
                                      </p:to>
                                    </p:set>
                                    <p:animEffect transition="in" filter="wipe(left)">
                                      <p:cBhvr>
                                        <p:cTn id="23" dur="500"/>
                                        <p:tgtEl>
                                          <p:spTgt spid="53867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38679"/>
                                        </p:tgtEl>
                                        <p:attrNameLst>
                                          <p:attrName>style.visibility</p:attrName>
                                        </p:attrNameLst>
                                      </p:cBhvr>
                                      <p:to>
                                        <p:strVal val="visible"/>
                                      </p:to>
                                    </p:set>
                                    <p:animEffect transition="in" filter="wipe(left)">
                                      <p:cBhvr>
                                        <p:cTn id="28" dur="500"/>
                                        <p:tgtEl>
                                          <p:spTgt spid="53867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38680"/>
                                        </p:tgtEl>
                                        <p:attrNameLst>
                                          <p:attrName>style.visibility</p:attrName>
                                        </p:attrNameLst>
                                      </p:cBhvr>
                                      <p:to>
                                        <p:strVal val="visible"/>
                                      </p:to>
                                    </p:set>
                                    <p:animEffect transition="in" filter="wipe(left)">
                                      <p:cBhvr>
                                        <p:cTn id="33" dur="500"/>
                                        <p:tgtEl>
                                          <p:spTgt spid="53868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38681"/>
                                        </p:tgtEl>
                                        <p:attrNameLst>
                                          <p:attrName>style.visibility</p:attrName>
                                        </p:attrNameLst>
                                      </p:cBhvr>
                                      <p:to>
                                        <p:strVal val="visible"/>
                                      </p:to>
                                    </p:set>
                                    <p:animEffect transition="in" filter="wipe(left)">
                                      <p:cBhvr>
                                        <p:cTn id="38" dur="500"/>
                                        <p:tgtEl>
                                          <p:spTgt spid="538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76" grpId="0"/>
      <p:bldP spid="53867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700" name="Text Box 52"/>
          <p:cNvSpPr txBox="1">
            <a:spLocks noChangeArrowheads="1"/>
          </p:cNvSpPr>
          <p:nvPr/>
        </p:nvSpPr>
        <p:spPr bwMode="auto">
          <a:xfrm>
            <a:off x="115538" y="862718"/>
            <a:ext cx="4694304"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0000"/>
              </a:lnSpc>
              <a:spcBef>
                <a:spcPct val="50000"/>
              </a:spcBef>
            </a:pP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）对</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独立节点</a:t>
            </a:r>
            <a:r>
              <a:rPr lang="en-US" altLang="zh-CN"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列出</a:t>
            </a:r>
            <a:r>
              <a:rPr lang="en-US" altLang="zh-CN"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方程</a:t>
            </a:r>
          </a:p>
        </p:txBody>
      </p:sp>
      <p:sp>
        <p:nvSpPr>
          <p:cNvPr id="539701" name="Text Box 53"/>
          <p:cNvSpPr txBox="1">
            <a:spLocks noChangeArrowheads="1"/>
          </p:cNvSpPr>
          <p:nvPr/>
        </p:nvSpPr>
        <p:spPr bwMode="auto">
          <a:xfrm>
            <a:off x="1295400" y="1635125"/>
            <a:ext cx="26670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20000"/>
              </a:spcBef>
            </a:pPr>
            <a:r>
              <a:rPr lang="en-US" altLang="zh-CN" i="1">
                <a:latin typeface="Times New Roman" panose="02020603050405020304" pitchFamily="18" charset="0"/>
                <a:ea typeface="华文中宋" panose="02010600040101010101" pitchFamily="2" charset="-122"/>
                <a:cs typeface="Times New Roman" panose="02020603050405020304" pitchFamily="18" charset="0"/>
              </a:rPr>
              <a:t>    </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a:p>
            <a:pPr algn="l" eaLnBrk="1" hangingPunct="1">
              <a:spcBef>
                <a:spcPct val="20000"/>
              </a:spcBef>
            </a:pPr>
            <a:r>
              <a:rPr lang="zh-CN" altLang="en-US">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4</a:t>
            </a:r>
            <a:r>
              <a:rPr lang="zh-CN" altLang="en-US">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39702" name="Text Box 54"/>
          <p:cNvSpPr txBox="1">
            <a:spLocks noChangeArrowheads="1"/>
          </p:cNvSpPr>
          <p:nvPr/>
        </p:nvSpPr>
        <p:spPr bwMode="auto">
          <a:xfrm>
            <a:off x="66153" y="2717807"/>
            <a:ext cx="5086227"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10000"/>
              </a:lnSpc>
              <a:spcBef>
                <a:spcPct val="50000"/>
              </a:spcBef>
            </a:pP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）将前面支路电流表达式代入</a:t>
            </a:r>
            <a:r>
              <a:rPr lang="en-US" altLang="zh-CN"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方程中</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并整理，得到</a:t>
            </a:r>
          </a:p>
        </p:txBody>
      </p:sp>
      <p:graphicFrame>
        <p:nvGraphicFramePr>
          <p:cNvPr id="539704" name="Object 56"/>
          <p:cNvGraphicFramePr>
            <a:graphicFrameLocks noChangeAspect="1"/>
          </p:cNvGraphicFramePr>
          <p:nvPr>
            <p:extLst>
              <p:ext uri="{D42A27DB-BD31-4B8C-83A1-F6EECF244321}">
                <p14:modId xmlns:p14="http://schemas.microsoft.com/office/powerpoint/2010/main" val="3872712059"/>
              </p:ext>
            </p:extLst>
          </p:nvPr>
        </p:nvGraphicFramePr>
        <p:xfrm>
          <a:off x="1828800" y="3846513"/>
          <a:ext cx="4687888" cy="954087"/>
        </p:xfrm>
        <a:graphic>
          <a:graphicData uri="http://schemas.openxmlformats.org/presentationml/2006/ole">
            <mc:AlternateContent xmlns:mc="http://schemas.openxmlformats.org/markup-compatibility/2006">
              <mc:Choice xmlns:v="urn:schemas-microsoft-com:vml" Requires="v">
                <p:oleObj spid="_x0000_s78870" name="Equation" r:id="rId3" imgW="2095421" imgH="400140" progId="Equation.3">
                  <p:embed/>
                </p:oleObj>
              </mc:Choice>
              <mc:Fallback>
                <p:oleObj name="Equation" r:id="rId3" imgW="2095421" imgH="4001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846513"/>
                        <a:ext cx="4687888"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9705" name="Object 57"/>
          <p:cNvGraphicFramePr>
            <a:graphicFrameLocks noChangeAspect="1"/>
          </p:cNvGraphicFramePr>
          <p:nvPr>
            <p:extLst>
              <p:ext uri="{D42A27DB-BD31-4B8C-83A1-F6EECF244321}">
                <p14:modId xmlns:p14="http://schemas.microsoft.com/office/powerpoint/2010/main" val="2030797235"/>
              </p:ext>
            </p:extLst>
          </p:nvPr>
        </p:nvGraphicFramePr>
        <p:xfrm>
          <a:off x="1938338" y="4813300"/>
          <a:ext cx="3857625" cy="977900"/>
        </p:xfrm>
        <a:graphic>
          <a:graphicData uri="http://schemas.openxmlformats.org/presentationml/2006/ole">
            <mc:AlternateContent xmlns:mc="http://schemas.openxmlformats.org/markup-compatibility/2006">
              <mc:Choice xmlns:v="urn:schemas-microsoft-com:vml" Requires="v">
                <p:oleObj spid="_x0000_s78871" name="Equation" r:id="rId5" imgW="1676445" imgH="400140" progId="Equation.3">
                  <p:embed/>
                </p:oleObj>
              </mc:Choice>
              <mc:Fallback>
                <p:oleObj name="Equation" r:id="rId5" imgW="1676445" imgH="4001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8338" y="4813300"/>
                        <a:ext cx="385762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9706" name="Text Box 58"/>
          <p:cNvSpPr txBox="1">
            <a:spLocks noChangeArrowheads="1"/>
          </p:cNvSpPr>
          <p:nvPr/>
        </p:nvSpPr>
        <p:spPr bwMode="auto">
          <a:xfrm>
            <a:off x="288462" y="5661028"/>
            <a:ext cx="83983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出节点电位 </a:t>
            </a:r>
            <a:r>
              <a:rPr lang="en-US" altLang="zh-CN" sz="2400" i="1" dirty="0" err="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V</a:t>
            </a:r>
            <a:r>
              <a:rPr lang="en-US" altLang="zh-CN" sz="2400" i="1" baseline="-25000" dirty="0" err="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a:t>
            </a:r>
            <a:r>
              <a:rPr lang="en-US" altLang="zh-CN" sz="2400" i="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400" i="1" dirty="0" err="1"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V</a:t>
            </a:r>
            <a:r>
              <a:rPr lang="en-US" altLang="zh-CN" sz="2400" i="1" baseline="-25000" dirty="0" err="1"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i="1" baseline="-250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进而求得各支路上元件的响应（电压和电流）</a:t>
            </a:r>
            <a:endParaRPr lang="zh-CN" altLang="en-US" sz="2400"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9"/>
          <p:cNvGrpSpPr>
            <a:grpSpLocks/>
          </p:cNvGrpSpPr>
          <p:nvPr/>
        </p:nvGrpSpPr>
        <p:grpSpPr bwMode="auto">
          <a:xfrm>
            <a:off x="4527551" y="720725"/>
            <a:ext cx="4206875" cy="3092450"/>
            <a:chOff x="2885" y="1700"/>
            <a:chExt cx="2650" cy="1948"/>
          </a:xfrm>
        </p:grpSpPr>
        <p:sp>
          <p:nvSpPr>
            <p:cNvPr id="539708" name="Text Box 60"/>
            <p:cNvSpPr txBox="1">
              <a:spLocks noChangeArrowheads="1"/>
            </p:cNvSpPr>
            <p:nvPr/>
          </p:nvSpPr>
          <p:spPr bwMode="auto">
            <a:xfrm>
              <a:off x="4655" y="1760"/>
              <a:ext cx="21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09" name="Text Box 61"/>
            <p:cNvSpPr txBox="1">
              <a:spLocks noChangeArrowheads="1"/>
            </p:cNvSpPr>
            <p:nvPr/>
          </p:nvSpPr>
          <p:spPr bwMode="auto">
            <a:xfrm>
              <a:off x="3617" y="1760"/>
              <a:ext cx="352"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0" name="Rectangle 62"/>
            <p:cNvSpPr>
              <a:spLocks noChangeArrowheads="1"/>
            </p:cNvSpPr>
            <p:nvPr/>
          </p:nvSpPr>
          <p:spPr bwMode="auto">
            <a:xfrm>
              <a:off x="3860" y="237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1" name="Rectangle 63"/>
            <p:cNvSpPr>
              <a:spLocks noChangeArrowheads="1"/>
            </p:cNvSpPr>
            <p:nvPr/>
          </p:nvSpPr>
          <p:spPr bwMode="auto">
            <a:xfrm>
              <a:off x="4388" y="2036"/>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2" name="Rectangle 64"/>
            <p:cNvSpPr>
              <a:spLocks noChangeArrowheads="1"/>
            </p:cNvSpPr>
            <p:nvPr/>
          </p:nvSpPr>
          <p:spPr bwMode="auto">
            <a:xfrm>
              <a:off x="2885" y="2660"/>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3" name="Text Box 65"/>
            <p:cNvSpPr txBox="1">
              <a:spLocks noChangeArrowheads="1"/>
            </p:cNvSpPr>
            <p:nvPr/>
          </p:nvSpPr>
          <p:spPr bwMode="auto">
            <a:xfrm>
              <a:off x="3084" y="2948"/>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539714" name="Text Box 66"/>
            <p:cNvSpPr txBox="1">
              <a:spLocks noChangeArrowheads="1"/>
            </p:cNvSpPr>
            <p:nvPr/>
          </p:nvSpPr>
          <p:spPr bwMode="auto">
            <a:xfrm>
              <a:off x="3708" y="2852"/>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5" name="Text Box 67"/>
            <p:cNvSpPr txBox="1">
              <a:spLocks noChangeArrowheads="1"/>
            </p:cNvSpPr>
            <p:nvPr/>
          </p:nvSpPr>
          <p:spPr bwMode="auto">
            <a:xfrm>
              <a:off x="4956" y="280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16" name="Text Box 68"/>
            <p:cNvSpPr txBox="1">
              <a:spLocks noChangeArrowheads="1"/>
            </p:cNvSpPr>
            <p:nvPr/>
          </p:nvSpPr>
          <p:spPr bwMode="auto">
            <a:xfrm>
              <a:off x="3951" y="1700"/>
              <a:ext cx="53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38" name="Line 69"/>
            <p:cNvSpPr>
              <a:spLocks noChangeShapeType="1"/>
            </p:cNvSpPr>
            <p:nvPr/>
          </p:nvSpPr>
          <p:spPr bwMode="auto">
            <a:xfrm>
              <a:off x="5365" y="2029"/>
              <a:ext cx="0" cy="136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39" name="Line 70"/>
            <p:cNvSpPr>
              <a:spLocks noChangeShapeType="1"/>
            </p:cNvSpPr>
            <p:nvPr/>
          </p:nvSpPr>
          <p:spPr bwMode="auto">
            <a:xfrm>
              <a:off x="4758" y="2035"/>
              <a:ext cx="2" cy="13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0740" name="Group 71"/>
            <p:cNvGrpSpPr>
              <a:grpSpLocks/>
            </p:cNvGrpSpPr>
            <p:nvPr/>
          </p:nvGrpSpPr>
          <p:grpSpPr bwMode="auto">
            <a:xfrm>
              <a:off x="3039" y="2029"/>
              <a:ext cx="331" cy="795"/>
              <a:chOff x="4417" y="567"/>
              <a:chExt cx="693" cy="1650"/>
            </a:xfrm>
          </p:grpSpPr>
          <p:grpSp>
            <p:nvGrpSpPr>
              <p:cNvPr id="30772" name="Group 72"/>
              <p:cNvGrpSpPr>
                <a:grpSpLocks/>
              </p:cNvGrpSpPr>
              <p:nvPr/>
            </p:nvGrpSpPr>
            <p:grpSpPr bwMode="auto">
              <a:xfrm>
                <a:off x="4417" y="567"/>
                <a:ext cx="550" cy="1650"/>
                <a:chOff x="4417" y="567"/>
                <a:chExt cx="550" cy="1650"/>
              </a:xfrm>
            </p:grpSpPr>
            <p:sp>
              <p:nvSpPr>
                <p:cNvPr id="30777" name="Oval 73"/>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78" name="Line 74"/>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0773" name="Group 75"/>
              <p:cNvGrpSpPr>
                <a:grpSpLocks/>
              </p:cNvGrpSpPr>
              <p:nvPr/>
            </p:nvGrpSpPr>
            <p:grpSpPr bwMode="auto">
              <a:xfrm>
                <a:off x="4956" y="853"/>
                <a:ext cx="154" cy="979"/>
                <a:chOff x="4956" y="853"/>
                <a:chExt cx="154" cy="979"/>
              </a:xfrm>
            </p:grpSpPr>
            <p:sp>
              <p:nvSpPr>
                <p:cNvPr id="30774" name="Line 76"/>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75" name="Line 77"/>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76" name="Line 78"/>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0741" name="Group 79"/>
            <p:cNvGrpSpPr>
              <a:grpSpLocks/>
            </p:cNvGrpSpPr>
            <p:nvPr/>
          </p:nvGrpSpPr>
          <p:grpSpPr bwMode="auto">
            <a:xfrm>
              <a:off x="5232" y="2323"/>
              <a:ext cx="263" cy="795"/>
              <a:chOff x="3591" y="567"/>
              <a:chExt cx="301" cy="907"/>
            </a:xfrm>
          </p:grpSpPr>
          <p:sp>
            <p:nvSpPr>
              <p:cNvPr id="30765" name="Line 80"/>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6" name="Oval 81"/>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7" name="Line 82"/>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0768" name="Group 83"/>
              <p:cNvGrpSpPr>
                <a:grpSpLocks/>
              </p:cNvGrpSpPr>
              <p:nvPr/>
            </p:nvGrpSpPr>
            <p:grpSpPr bwMode="auto">
              <a:xfrm>
                <a:off x="3715" y="591"/>
                <a:ext cx="56" cy="222"/>
                <a:chOff x="4507" y="645"/>
                <a:chExt cx="56" cy="222"/>
              </a:xfrm>
            </p:grpSpPr>
            <p:sp>
              <p:nvSpPr>
                <p:cNvPr id="30769" name="Line 84"/>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70" name="Line 85"/>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71" name="Line 86"/>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0742" name="Group 87"/>
            <p:cNvGrpSpPr>
              <a:grpSpLocks/>
            </p:cNvGrpSpPr>
            <p:nvPr/>
          </p:nvGrpSpPr>
          <p:grpSpPr bwMode="auto">
            <a:xfrm>
              <a:off x="4710" y="2253"/>
              <a:ext cx="90" cy="789"/>
              <a:chOff x="743" y="567"/>
              <a:chExt cx="187" cy="1639"/>
            </a:xfrm>
          </p:grpSpPr>
          <p:sp>
            <p:nvSpPr>
              <p:cNvPr id="30763" name="Line 8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4" name="Rectangle 8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0743" name="Group 90"/>
            <p:cNvGrpSpPr>
              <a:grpSpLocks/>
            </p:cNvGrpSpPr>
            <p:nvPr/>
          </p:nvGrpSpPr>
          <p:grpSpPr bwMode="auto">
            <a:xfrm>
              <a:off x="3123" y="2618"/>
              <a:ext cx="89" cy="790"/>
              <a:chOff x="743" y="567"/>
              <a:chExt cx="187" cy="1639"/>
            </a:xfrm>
          </p:grpSpPr>
          <p:sp>
            <p:nvSpPr>
              <p:cNvPr id="30761" name="Line 9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2" name="Rectangle 9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0744" name="Line 93"/>
            <p:cNvSpPr>
              <a:spLocks noChangeShapeType="1"/>
            </p:cNvSpPr>
            <p:nvPr/>
          </p:nvSpPr>
          <p:spPr bwMode="auto">
            <a:xfrm flipV="1">
              <a:off x="3181" y="2029"/>
              <a:ext cx="218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45" name="Line 94"/>
            <p:cNvSpPr>
              <a:spLocks noChangeShapeType="1"/>
            </p:cNvSpPr>
            <p:nvPr/>
          </p:nvSpPr>
          <p:spPr bwMode="auto">
            <a:xfrm flipV="1">
              <a:off x="3181" y="3392"/>
              <a:ext cx="218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0746" name="Group 95"/>
            <p:cNvGrpSpPr>
              <a:grpSpLocks/>
            </p:cNvGrpSpPr>
            <p:nvPr/>
          </p:nvGrpSpPr>
          <p:grpSpPr bwMode="auto">
            <a:xfrm rot="-5400000">
              <a:off x="4181" y="1639"/>
              <a:ext cx="89" cy="790"/>
              <a:chOff x="743" y="567"/>
              <a:chExt cx="187" cy="1639"/>
            </a:xfrm>
          </p:grpSpPr>
          <p:sp>
            <p:nvSpPr>
              <p:cNvPr id="30759" name="Line 9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60" name="Rectangle 9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0747" name="Line 98"/>
            <p:cNvSpPr>
              <a:spLocks noChangeShapeType="1"/>
            </p:cNvSpPr>
            <p:nvPr/>
          </p:nvSpPr>
          <p:spPr bwMode="auto">
            <a:xfrm>
              <a:off x="3822" y="2029"/>
              <a:ext cx="0" cy="136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0748" name="Group 99"/>
            <p:cNvGrpSpPr>
              <a:grpSpLocks/>
            </p:cNvGrpSpPr>
            <p:nvPr/>
          </p:nvGrpSpPr>
          <p:grpSpPr bwMode="auto">
            <a:xfrm>
              <a:off x="3774" y="2457"/>
              <a:ext cx="89" cy="790"/>
              <a:chOff x="743" y="567"/>
              <a:chExt cx="187" cy="1639"/>
            </a:xfrm>
          </p:grpSpPr>
          <p:sp>
            <p:nvSpPr>
              <p:cNvPr id="30757" name="Line 10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58" name="Rectangle 10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0749" name="Line 102"/>
            <p:cNvSpPr>
              <a:spLocks noChangeShapeType="1"/>
            </p:cNvSpPr>
            <p:nvPr/>
          </p:nvSpPr>
          <p:spPr bwMode="auto">
            <a:xfrm>
              <a:off x="4756" y="3059"/>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50" name="Line 103"/>
            <p:cNvSpPr>
              <a:spLocks noChangeShapeType="1"/>
            </p:cNvSpPr>
            <p:nvPr/>
          </p:nvSpPr>
          <p:spPr bwMode="auto">
            <a:xfrm>
              <a:off x="3171" y="2667"/>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51" name="Line 104"/>
            <p:cNvSpPr>
              <a:spLocks noChangeShapeType="1"/>
            </p:cNvSpPr>
            <p:nvPr/>
          </p:nvSpPr>
          <p:spPr bwMode="auto">
            <a:xfrm rot="-5400000">
              <a:off x="4615" y="1971"/>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52" name="Line 105"/>
            <p:cNvSpPr>
              <a:spLocks noChangeShapeType="1"/>
            </p:cNvSpPr>
            <p:nvPr/>
          </p:nvSpPr>
          <p:spPr bwMode="auto">
            <a:xfrm>
              <a:off x="3818" y="2359"/>
              <a:ext cx="0" cy="12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54" name="Text Box 106"/>
            <p:cNvSpPr txBox="1">
              <a:spLocks noChangeArrowheads="1"/>
            </p:cNvSpPr>
            <p:nvPr/>
          </p:nvSpPr>
          <p:spPr bwMode="auto">
            <a:xfrm>
              <a:off x="4236" y="2516"/>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55" name="Text Box 107"/>
            <p:cNvSpPr txBox="1">
              <a:spLocks noChangeArrowheads="1"/>
            </p:cNvSpPr>
            <p:nvPr/>
          </p:nvSpPr>
          <p:spPr bwMode="auto">
            <a:xfrm>
              <a:off x="3135" y="2276"/>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56" name="Rectangle 108"/>
            <p:cNvSpPr>
              <a:spLocks noChangeArrowheads="1"/>
            </p:cNvSpPr>
            <p:nvPr/>
          </p:nvSpPr>
          <p:spPr bwMode="auto">
            <a:xfrm>
              <a:off x="4484" y="2996"/>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9757" name="Text Box 109"/>
            <p:cNvSpPr txBox="1">
              <a:spLocks noChangeArrowheads="1"/>
            </p:cNvSpPr>
            <p:nvPr/>
          </p:nvSpPr>
          <p:spPr bwMode="auto">
            <a:xfrm>
              <a:off x="4660" y="3357"/>
              <a:ext cx="20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endParaRPr kumimoji="1" lang="en-US" altLang="zh-CN" i="1" baseline="-2500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 name="灯片编号占位符 2"/>
          <p:cNvSpPr>
            <a:spLocks noGrp="1"/>
          </p:cNvSpPr>
          <p:nvPr>
            <p:ph type="sldNum" sz="quarter" idx="12"/>
          </p:nvPr>
        </p:nvSpPr>
        <p:spPr/>
        <p:txBody>
          <a:bodyPr/>
          <a:lstStyle/>
          <a:p>
            <a:pPr>
              <a:defRPr/>
            </a:pPr>
            <a:fld id="{4324DAC4-A72B-4AD4-8480-0E4C6687AABC}" type="slidenum">
              <a:rPr lang="en-US" altLang="zh-CN" smtClean="0"/>
              <a:pPr>
                <a:defRPr/>
              </a:pPr>
              <a:t>27</a:t>
            </a:fld>
            <a:endParaRPr lang="en-US" altLang="zh-CN"/>
          </a:p>
        </p:txBody>
      </p:sp>
    </p:spTree>
    <p:extLst>
      <p:ext uri="{BB962C8B-B14F-4D97-AF65-F5344CB8AC3E}">
        <p14:creationId xmlns:p14="http://schemas.microsoft.com/office/powerpoint/2010/main" val="1565839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39700"/>
                                        </p:tgtEl>
                                        <p:attrNameLst>
                                          <p:attrName>style.visibility</p:attrName>
                                        </p:attrNameLst>
                                      </p:cBhvr>
                                      <p:to>
                                        <p:strVal val="visible"/>
                                      </p:to>
                                    </p:set>
                                    <p:animEffect transition="in" filter="blinds(horizontal)">
                                      <p:cBhvr>
                                        <p:cTn id="13" dur="500"/>
                                        <p:tgtEl>
                                          <p:spTgt spid="53970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39701"/>
                                        </p:tgtEl>
                                        <p:attrNameLst>
                                          <p:attrName>style.visibility</p:attrName>
                                        </p:attrNameLst>
                                      </p:cBhvr>
                                      <p:to>
                                        <p:strVal val="visible"/>
                                      </p:to>
                                    </p:set>
                                    <p:animEffect transition="in" filter="blinds(horizontal)">
                                      <p:cBhvr>
                                        <p:cTn id="18" dur="500"/>
                                        <p:tgtEl>
                                          <p:spTgt spid="53970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39702"/>
                                        </p:tgtEl>
                                        <p:attrNameLst>
                                          <p:attrName>style.visibility</p:attrName>
                                        </p:attrNameLst>
                                      </p:cBhvr>
                                      <p:to>
                                        <p:strVal val="visible"/>
                                      </p:to>
                                    </p:set>
                                    <p:animEffect transition="in" filter="blinds(horizontal)">
                                      <p:cBhvr>
                                        <p:cTn id="23" dur="500"/>
                                        <p:tgtEl>
                                          <p:spTgt spid="5397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39704"/>
                                        </p:tgtEl>
                                        <p:attrNameLst>
                                          <p:attrName>style.visibility</p:attrName>
                                        </p:attrNameLst>
                                      </p:cBhvr>
                                      <p:to>
                                        <p:strVal val="visible"/>
                                      </p:to>
                                    </p:set>
                                    <p:animEffect transition="in" filter="wipe(left)">
                                      <p:cBhvr>
                                        <p:cTn id="28" dur="500"/>
                                        <p:tgtEl>
                                          <p:spTgt spid="53970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39705"/>
                                        </p:tgtEl>
                                        <p:attrNameLst>
                                          <p:attrName>style.visibility</p:attrName>
                                        </p:attrNameLst>
                                      </p:cBhvr>
                                      <p:to>
                                        <p:strVal val="visible"/>
                                      </p:to>
                                    </p:set>
                                    <p:animEffect transition="in" filter="wipe(left)">
                                      <p:cBhvr>
                                        <p:cTn id="33" dur="500"/>
                                        <p:tgtEl>
                                          <p:spTgt spid="53970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39706"/>
                                        </p:tgtEl>
                                        <p:attrNameLst>
                                          <p:attrName>style.visibility</p:attrName>
                                        </p:attrNameLst>
                                      </p:cBhvr>
                                      <p:to>
                                        <p:strVal val="visible"/>
                                      </p:to>
                                    </p:set>
                                    <p:animEffect transition="in" filter="wipe(left)">
                                      <p:cBhvr>
                                        <p:cTn id="38" dur="500"/>
                                        <p:tgtEl>
                                          <p:spTgt spid="539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700" grpId="0"/>
      <p:bldP spid="539701" grpId="0"/>
      <p:bldP spid="539702" grpId="0"/>
      <p:bldP spid="53970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6" name="Text Box 4"/>
          <p:cNvSpPr txBox="1">
            <a:spLocks noChangeArrowheads="1"/>
          </p:cNvSpPr>
          <p:nvPr/>
        </p:nvSpPr>
        <p:spPr bwMode="auto">
          <a:xfrm>
            <a:off x="611188" y="476250"/>
            <a:ext cx="8208962" cy="1015663"/>
          </a:xfrm>
          <a:prstGeom prst="rect">
            <a:avLst/>
          </a:prstGeom>
          <a:noFill/>
          <a:ln w="9525">
            <a:noFill/>
            <a:miter lim="800000"/>
            <a:headEnd/>
            <a:tailEnd/>
          </a:ln>
          <a:effectLst/>
        </p:spPr>
        <p:txBody>
          <a:bodyPr>
            <a:spAutoFit/>
          </a:bodyPr>
          <a:lstStyle/>
          <a:p>
            <a:pPr eaLnBrk="1" hangingPunct="1">
              <a:lnSpc>
                <a:spcPct val="125000"/>
              </a:lnSpc>
              <a:spcBef>
                <a:spcPct val="10000"/>
              </a:spcBef>
              <a:defRPr/>
            </a:pPr>
            <a:r>
              <a:rPr lang="en-US" altLang="zh-CN"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2-6】</a:t>
            </a:r>
            <a:r>
              <a:rPr lang="en-US" altLang="zh-CN"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图中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S1</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=78V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S2</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=130V</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=2Ω</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=10 Ω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 Ω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。求节点电位</a:t>
            </a:r>
            <a:r>
              <a:rPr kumimoji="1" lang="en-US" altLang="zh-CN" i="1" dirty="0" err="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V</a:t>
            </a:r>
            <a:r>
              <a:rPr kumimoji="1" lang="en-US" altLang="zh-CN" i="1" baseline="-25000" dirty="0" err="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2" name="Group 5"/>
          <p:cNvGrpSpPr>
            <a:grpSpLocks/>
          </p:cNvGrpSpPr>
          <p:nvPr/>
        </p:nvGrpSpPr>
        <p:grpSpPr bwMode="auto">
          <a:xfrm>
            <a:off x="5786438" y="2619375"/>
            <a:ext cx="3357562" cy="3236913"/>
            <a:chOff x="1056" y="162"/>
            <a:chExt cx="2115" cy="2039"/>
          </a:xfrm>
        </p:grpSpPr>
        <p:sp>
          <p:nvSpPr>
            <p:cNvPr id="545798" name="Text Box 6"/>
            <p:cNvSpPr txBox="1">
              <a:spLocks noChangeArrowheads="1"/>
            </p:cNvSpPr>
            <p:nvPr/>
          </p:nvSpPr>
          <p:spPr bwMode="auto">
            <a:xfrm>
              <a:off x="2064" y="1871"/>
              <a:ext cx="229" cy="330"/>
            </a:xfrm>
            <a:prstGeom prst="rect">
              <a:avLst/>
            </a:prstGeom>
            <a:noFill/>
            <a:ln w="9525">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45799" name="Text Box 7"/>
            <p:cNvSpPr txBox="1">
              <a:spLocks noChangeArrowheads="1"/>
            </p:cNvSpPr>
            <p:nvPr/>
          </p:nvSpPr>
          <p:spPr bwMode="auto">
            <a:xfrm>
              <a:off x="1871" y="200"/>
              <a:ext cx="229" cy="330"/>
            </a:xfrm>
            <a:prstGeom prst="rect">
              <a:avLst/>
            </a:prstGeom>
            <a:noFill/>
            <a:ln w="9525">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45800" name="Rectangle 8"/>
            <p:cNvSpPr>
              <a:spLocks noChangeArrowheads="1"/>
            </p:cNvSpPr>
            <p:nvPr/>
          </p:nvSpPr>
          <p:spPr bwMode="auto">
            <a:xfrm>
              <a:off x="1937" y="555"/>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5801" name="Rectangle 9"/>
            <p:cNvSpPr>
              <a:spLocks noChangeArrowheads="1"/>
            </p:cNvSpPr>
            <p:nvPr/>
          </p:nvSpPr>
          <p:spPr bwMode="auto">
            <a:xfrm>
              <a:off x="2417" y="16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5802" name="Rectangle 10"/>
            <p:cNvSpPr>
              <a:spLocks noChangeArrowheads="1"/>
            </p:cNvSpPr>
            <p:nvPr/>
          </p:nvSpPr>
          <p:spPr bwMode="auto">
            <a:xfrm>
              <a:off x="1553" y="16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5803" name="Text Box 11"/>
            <p:cNvSpPr txBox="1">
              <a:spLocks noChangeArrowheads="1"/>
            </p:cNvSpPr>
            <p:nvPr/>
          </p:nvSpPr>
          <p:spPr bwMode="auto">
            <a:xfrm>
              <a:off x="1104" y="131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545804" name="Text Box 12"/>
            <p:cNvSpPr txBox="1">
              <a:spLocks noChangeArrowheads="1"/>
            </p:cNvSpPr>
            <p:nvPr/>
          </p:nvSpPr>
          <p:spPr bwMode="auto">
            <a:xfrm>
              <a:off x="1869" y="882"/>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5805" name="Text Box 13"/>
            <p:cNvSpPr txBox="1">
              <a:spLocks noChangeArrowheads="1"/>
            </p:cNvSpPr>
            <p:nvPr/>
          </p:nvSpPr>
          <p:spPr bwMode="auto">
            <a:xfrm>
              <a:off x="1248" y="747"/>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5806" name="Text Box 14"/>
            <p:cNvSpPr txBox="1">
              <a:spLocks noChangeArrowheads="1"/>
            </p:cNvSpPr>
            <p:nvPr/>
          </p:nvSpPr>
          <p:spPr bwMode="auto">
            <a:xfrm>
              <a:off x="2592" y="107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1760" name="Group 15"/>
            <p:cNvGrpSpPr>
              <a:grpSpLocks/>
            </p:cNvGrpSpPr>
            <p:nvPr/>
          </p:nvGrpSpPr>
          <p:grpSpPr bwMode="auto">
            <a:xfrm>
              <a:off x="1056" y="528"/>
              <a:ext cx="1647" cy="1483"/>
              <a:chOff x="2096" y="3493"/>
              <a:chExt cx="4117" cy="3707"/>
            </a:xfrm>
          </p:grpSpPr>
          <p:sp>
            <p:nvSpPr>
              <p:cNvPr id="31762" name="Line 16"/>
              <p:cNvSpPr>
                <a:spLocks noChangeShapeType="1"/>
              </p:cNvSpPr>
              <p:nvPr/>
            </p:nvSpPr>
            <p:spPr bwMode="auto">
              <a:xfrm>
                <a:off x="6100" y="3520"/>
                <a:ext cx="5" cy="340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1763" name="Group 17"/>
              <p:cNvGrpSpPr>
                <a:grpSpLocks/>
              </p:cNvGrpSpPr>
              <p:nvPr/>
            </p:nvGrpSpPr>
            <p:grpSpPr bwMode="auto">
              <a:xfrm>
                <a:off x="2096" y="3506"/>
                <a:ext cx="828" cy="1988"/>
                <a:chOff x="4417" y="567"/>
                <a:chExt cx="693" cy="1650"/>
              </a:xfrm>
            </p:grpSpPr>
            <p:grpSp>
              <p:nvGrpSpPr>
                <p:cNvPr id="31788" name="Group 18"/>
                <p:cNvGrpSpPr>
                  <a:grpSpLocks/>
                </p:cNvGrpSpPr>
                <p:nvPr/>
              </p:nvGrpSpPr>
              <p:grpSpPr bwMode="auto">
                <a:xfrm>
                  <a:off x="4417" y="567"/>
                  <a:ext cx="550" cy="1650"/>
                  <a:chOff x="4417" y="567"/>
                  <a:chExt cx="550" cy="1650"/>
                </a:xfrm>
              </p:grpSpPr>
              <p:sp>
                <p:nvSpPr>
                  <p:cNvPr id="31793" name="Oval 1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94" name="Line 20"/>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1789" name="Group 21"/>
                <p:cNvGrpSpPr>
                  <a:grpSpLocks/>
                </p:cNvGrpSpPr>
                <p:nvPr/>
              </p:nvGrpSpPr>
              <p:grpSpPr bwMode="auto">
                <a:xfrm>
                  <a:off x="4956" y="853"/>
                  <a:ext cx="154" cy="979"/>
                  <a:chOff x="4956" y="853"/>
                  <a:chExt cx="154" cy="979"/>
                </a:xfrm>
              </p:grpSpPr>
              <p:sp>
                <p:nvSpPr>
                  <p:cNvPr id="31790" name="Line 22"/>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91" name="Line 23"/>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92" name="Line 24"/>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1764" name="Group 25"/>
              <p:cNvGrpSpPr>
                <a:grpSpLocks/>
              </p:cNvGrpSpPr>
              <p:nvPr/>
            </p:nvGrpSpPr>
            <p:grpSpPr bwMode="auto">
              <a:xfrm>
                <a:off x="5990" y="4197"/>
                <a:ext cx="223" cy="1974"/>
                <a:chOff x="743" y="567"/>
                <a:chExt cx="187" cy="1639"/>
              </a:xfrm>
            </p:grpSpPr>
            <p:sp>
              <p:nvSpPr>
                <p:cNvPr id="31786" name="Line 2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7" name="Rectangle 2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1765" name="Group 28"/>
              <p:cNvGrpSpPr>
                <a:grpSpLocks/>
              </p:cNvGrpSpPr>
              <p:nvPr/>
            </p:nvGrpSpPr>
            <p:grpSpPr bwMode="auto">
              <a:xfrm>
                <a:off x="2305" y="4978"/>
                <a:ext cx="223" cy="1975"/>
                <a:chOff x="743" y="567"/>
                <a:chExt cx="187" cy="1639"/>
              </a:xfrm>
            </p:grpSpPr>
            <p:sp>
              <p:nvSpPr>
                <p:cNvPr id="31784" name="Line 2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5" name="Rectangle 3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1766" name="Line 31"/>
              <p:cNvSpPr>
                <a:spLocks noChangeShapeType="1"/>
              </p:cNvSpPr>
              <p:nvPr/>
            </p:nvSpPr>
            <p:spPr bwMode="auto">
              <a:xfrm flipV="1">
                <a:off x="2450" y="3504"/>
                <a:ext cx="3639"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7" name="Line 32"/>
              <p:cNvSpPr>
                <a:spLocks noChangeShapeType="1"/>
              </p:cNvSpPr>
              <p:nvPr/>
            </p:nvSpPr>
            <p:spPr bwMode="auto">
              <a:xfrm>
                <a:off x="2450" y="6912"/>
                <a:ext cx="3661" cy="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1768" name="Group 33"/>
              <p:cNvGrpSpPr>
                <a:grpSpLocks/>
              </p:cNvGrpSpPr>
              <p:nvPr/>
            </p:nvGrpSpPr>
            <p:grpSpPr bwMode="auto">
              <a:xfrm>
                <a:off x="4095" y="3526"/>
                <a:ext cx="223" cy="1975"/>
                <a:chOff x="743" y="567"/>
                <a:chExt cx="187" cy="1639"/>
              </a:xfrm>
            </p:grpSpPr>
            <p:sp>
              <p:nvSpPr>
                <p:cNvPr id="31782" name="Line 3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3" name="Rectangle 3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1769" name="Line 36"/>
              <p:cNvSpPr>
                <a:spLocks noChangeShapeType="1"/>
              </p:cNvSpPr>
              <p:nvPr/>
            </p:nvSpPr>
            <p:spPr bwMode="auto">
              <a:xfrm rot="5400000" flipH="1">
                <a:off x="3042" y="3339"/>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0" name="Line 37"/>
              <p:cNvSpPr>
                <a:spLocks noChangeShapeType="1"/>
              </p:cNvSpPr>
              <p:nvPr/>
            </p:nvSpPr>
            <p:spPr bwMode="auto">
              <a:xfrm rot="-5400000">
                <a:off x="5374" y="3339"/>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1" name="Line 38"/>
              <p:cNvSpPr>
                <a:spLocks noChangeShapeType="1"/>
              </p:cNvSpPr>
              <p:nvPr/>
            </p:nvSpPr>
            <p:spPr bwMode="auto">
              <a:xfrm>
                <a:off x="4208" y="3790"/>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1772" name="Group 39"/>
              <p:cNvGrpSpPr>
                <a:grpSpLocks/>
              </p:cNvGrpSpPr>
              <p:nvPr/>
            </p:nvGrpSpPr>
            <p:grpSpPr bwMode="auto">
              <a:xfrm>
                <a:off x="3897" y="4934"/>
                <a:ext cx="828" cy="1988"/>
                <a:chOff x="4417" y="567"/>
                <a:chExt cx="693" cy="1650"/>
              </a:xfrm>
            </p:grpSpPr>
            <p:grpSp>
              <p:nvGrpSpPr>
                <p:cNvPr id="31775" name="Group 40"/>
                <p:cNvGrpSpPr>
                  <a:grpSpLocks/>
                </p:cNvGrpSpPr>
                <p:nvPr/>
              </p:nvGrpSpPr>
              <p:grpSpPr bwMode="auto">
                <a:xfrm>
                  <a:off x="4417" y="567"/>
                  <a:ext cx="550" cy="1650"/>
                  <a:chOff x="4417" y="567"/>
                  <a:chExt cx="550" cy="1650"/>
                </a:xfrm>
              </p:grpSpPr>
              <p:sp>
                <p:nvSpPr>
                  <p:cNvPr id="31780" name="Oval 41"/>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1" name="Line 42"/>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1776" name="Group 43"/>
                <p:cNvGrpSpPr>
                  <a:grpSpLocks/>
                </p:cNvGrpSpPr>
                <p:nvPr/>
              </p:nvGrpSpPr>
              <p:grpSpPr bwMode="auto">
                <a:xfrm>
                  <a:off x="4956" y="853"/>
                  <a:ext cx="154" cy="979"/>
                  <a:chOff x="4956" y="853"/>
                  <a:chExt cx="154" cy="979"/>
                </a:xfrm>
              </p:grpSpPr>
              <p:sp>
                <p:nvSpPr>
                  <p:cNvPr id="31777" name="Line 44"/>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8" name="Line 45"/>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9" name="Line 46"/>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31773" name="Line 47"/>
              <p:cNvSpPr>
                <a:spLocks noChangeShapeType="1"/>
              </p:cNvSpPr>
              <p:nvPr/>
            </p:nvSpPr>
            <p:spPr bwMode="auto">
              <a:xfrm>
                <a:off x="3977" y="7200"/>
                <a:ext cx="5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4" name="Line 48"/>
              <p:cNvSpPr>
                <a:spLocks noChangeShapeType="1"/>
              </p:cNvSpPr>
              <p:nvPr/>
            </p:nvSpPr>
            <p:spPr bwMode="auto">
              <a:xfrm>
                <a:off x="4219" y="6738"/>
                <a:ext cx="0" cy="4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5841" name="Text Box 49"/>
            <p:cNvSpPr txBox="1">
              <a:spLocks noChangeArrowheads="1"/>
            </p:cNvSpPr>
            <p:nvPr/>
          </p:nvSpPr>
          <p:spPr bwMode="auto">
            <a:xfrm>
              <a:off x="1968" y="1323"/>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5842" name="Text Box 50"/>
          <p:cNvSpPr txBox="1">
            <a:spLocks noChangeArrowheads="1"/>
          </p:cNvSpPr>
          <p:nvPr/>
        </p:nvSpPr>
        <p:spPr bwMode="auto">
          <a:xfrm>
            <a:off x="535435" y="2033261"/>
            <a:ext cx="78424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解：这个例子中只有一个</a:t>
            </a:r>
            <a:r>
              <a:rPr lang="zh-CN" altLang="en-US" sz="2400" dirty="0" smtClean="0">
                <a:latin typeface="Times New Roman" panose="02020603050405020304" pitchFamily="18" charset="0"/>
                <a:ea typeface="华文中宋" panose="02010600040101010101" pitchFamily="2" charset="-122"/>
                <a:cs typeface="Times New Roman" panose="02020603050405020304" pitchFamily="18" charset="0"/>
              </a:rPr>
              <a:t>独立</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节点，只需列一个方程。</a:t>
            </a:r>
          </a:p>
        </p:txBody>
      </p:sp>
      <p:graphicFrame>
        <p:nvGraphicFramePr>
          <p:cNvPr id="545843" name="Object 51"/>
          <p:cNvGraphicFramePr>
            <a:graphicFrameLocks noChangeAspect="1"/>
          </p:cNvGraphicFramePr>
          <p:nvPr>
            <p:extLst>
              <p:ext uri="{D42A27DB-BD31-4B8C-83A1-F6EECF244321}">
                <p14:modId xmlns:p14="http://schemas.microsoft.com/office/powerpoint/2010/main" val="2790256869"/>
              </p:ext>
            </p:extLst>
          </p:nvPr>
        </p:nvGraphicFramePr>
        <p:xfrm>
          <a:off x="2133600" y="2865438"/>
          <a:ext cx="2374900" cy="2849562"/>
        </p:xfrm>
        <a:graphic>
          <a:graphicData uri="http://schemas.openxmlformats.org/presentationml/2006/ole">
            <mc:AlternateContent xmlns:mc="http://schemas.openxmlformats.org/markup-compatibility/2006">
              <mc:Choice xmlns:v="urn:schemas-microsoft-com:vml" Requires="v">
                <p:oleObj spid="_x0000_s79883" name="Equation" r:id="rId3" imgW="857132" imgH="1304910" progId="Equation.3">
                  <p:embed/>
                </p:oleObj>
              </mc:Choice>
              <mc:Fallback>
                <p:oleObj name="Equation" r:id="rId3" imgW="857132" imgH="130491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865438"/>
                        <a:ext cx="2374900" cy="284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5844" name="Text Box 52"/>
          <p:cNvSpPr txBox="1">
            <a:spLocks noChangeArrowheads="1"/>
          </p:cNvSpPr>
          <p:nvPr/>
        </p:nvSpPr>
        <p:spPr bwMode="auto">
          <a:xfrm>
            <a:off x="771525" y="5789613"/>
            <a:ext cx="4953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将其代入   </a:t>
            </a:r>
            <a:r>
              <a:rPr lang="en-US" altLang="zh-CN" sz="2400" i="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1</a:t>
            </a: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=0</a:t>
            </a:r>
            <a:r>
              <a:rPr lang="en-US" altLang="zh-CN" sz="2400"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中</a:t>
            </a:r>
          </a:p>
        </p:txBody>
      </p:sp>
      <p:sp>
        <p:nvSpPr>
          <p:cNvPr id="3" name="灯片编号占位符 2"/>
          <p:cNvSpPr>
            <a:spLocks noGrp="1"/>
          </p:cNvSpPr>
          <p:nvPr>
            <p:ph type="sldNum" sz="quarter" idx="12"/>
          </p:nvPr>
        </p:nvSpPr>
        <p:spPr/>
        <p:txBody>
          <a:bodyPr/>
          <a:lstStyle/>
          <a:p>
            <a:pPr>
              <a:defRPr/>
            </a:pPr>
            <a:fld id="{7F6DAC6E-051E-43BF-A607-F6F4F9E2F096}" type="slidenum">
              <a:rPr lang="en-US" altLang="zh-CN" smtClean="0"/>
              <a:pPr>
                <a:defRPr/>
              </a:pPr>
              <a:t>28</a:t>
            </a:fld>
            <a:endParaRPr lang="en-US" altLang="zh-CN"/>
          </a:p>
        </p:txBody>
      </p:sp>
    </p:spTree>
    <p:extLst>
      <p:ext uri="{BB962C8B-B14F-4D97-AF65-F5344CB8AC3E}">
        <p14:creationId xmlns:p14="http://schemas.microsoft.com/office/powerpoint/2010/main" val="952019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45796"/>
                                        </p:tgtEl>
                                        <p:attrNameLst>
                                          <p:attrName>style.visibility</p:attrName>
                                        </p:attrNameLst>
                                      </p:cBhvr>
                                      <p:to>
                                        <p:strVal val="visible"/>
                                      </p:to>
                                    </p:set>
                                    <p:animEffect transition="in" filter="wipe(up)">
                                      <p:cBhvr>
                                        <p:cTn id="7" dur="500"/>
                                        <p:tgtEl>
                                          <p:spTgt spid="545796"/>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545842"/>
                                        </p:tgtEl>
                                        <p:attrNameLst>
                                          <p:attrName>style.visibility</p:attrName>
                                        </p:attrNameLst>
                                      </p:cBhvr>
                                      <p:to>
                                        <p:strVal val="visible"/>
                                      </p:to>
                                    </p:set>
                                    <p:animEffect transition="in" filter="strips(downRight)">
                                      <p:cBhvr>
                                        <p:cTn id="16" dur="500"/>
                                        <p:tgtEl>
                                          <p:spTgt spid="5458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545843"/>
                                        </p:tgtEl>
                                        <p:attrNameLst>
                                          <p:attrName>style.visibility</p:attrName>
                                        </p:attrNameLst>
                                      </p:cBhvr>
                                      <p:to>
                                        <p:strVal val="visible"/>
                                      </p:to>
                                    </p:set>
                                    <p:animEffect transition="in" filter="blinds(horizontal)">
                                      <p:cBhvr>
                                        <p:cTn id="21" dur="500"/>
                                        <p:tgtEl>
                                          <p:spTgt spid="54584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45844"/>
                                        </p:tgtEl>
                                        <p:attrNameLst>
                                          <p:attrName>style.visibility</p:attrName>
                                        </p:attrNameLst>
                                      </p:cBhvr>
                                      <p:to>
                                        <p:strVal val="visible"/>
                                      </p:to>
                                    </p:set>
                                    <p:animEffect transition="in" filter="wipe(left)">
                                      <p:cBhvr>
                                        <p:cTn id="26" dur="500"/>
                                        <p:tgtEl>
                                          <p:spTgt spid="54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6" grpId="0"/>
      <p:bldP spid="545842" grpId="0"/>
      <p:bldP spid="54584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5786438" y="2619375"/>
            <a:ext cx="3357562" cy="3236913"/>
            <a:chOff x="1056" y="162"/>
            <a:chExt cx="2115" cy="2039"/>
          </a:xfrm>
        </p:grpSpPr>
        <p:sp>
          <p:nvSpPr>
            <p:cNvPr id="541699" name="Text Box 3"/>
            <p:cNvSpPr txBox="1">
              <a:spLocks noChangeArrowheads="1"/>
            </p:cNvSpPr>
            <p:nvPr/>
          </p:nvSpPr>
          <p:spPr bwMode="auto">
            <a:xfrm>
              <a:off x="2064" y="1871"/>
              <a:ext cx="229" cy="330"/>
            </a:xfrm>
            <a:prstGeom prst="rect">
              <a:avLst/>
            </a:prstGeom>
            <a:noFill/>
            <a:ln w="9525">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41700" name="Text Box 4"/>
            <p:cNvSpPr txBox="1">
              <a:spLocks noChangeArrowheads="1"/>
            </p:cNvSpPr>
            <p:nvPr/>
          </p:nvSpPr>
          <p:spPr bwMode="auto">
            <a:xfrm>
              <a:off x="1871" y="200"/>
              <a:ext cx="229" cy="330"/>
            </a:xfrm>
            <a:prstGeom prst="rect">
              <a:avLst/>
            </a:prstGeom>
            <a:noFill/>
            <a:ln w="9525">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41701" name="Rectangle 5"/>
            <p:cNvSpPr>
              <a:spLocks noChangeArrowheads="1"/>
            </p:cNvSpPr>
            <p:nvPr/>
          </p:nvSpPr>
          <p:spPr bwMode="auto">
            <a:xfrm>
              <a:off x="1937" y="555"/>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1702" name="Rectangle 6"/>
            <p:cNvSpPr>
              <a:spLocks noChangeArrowheads="1"/>
            </p:cNvSpPr>
            <p:nvPr/>
          </p:nvSpPr>
          <p:spPr bwMode="auto">
            <a:xfrm>
              <a:off x="2417" y="16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1703" name="Rectangle 7"/>
            <p:cNvSpPr>
              <a:spLocks noChangeArrowheads="1"/>
            </p:cNvSpPr>
            <p:nvPr/>
          </p:nvSpPr>
          <p:spPr bwMode="auto">
            <a:xfrm>
              <a:off x="1553" y="162"/>
              <a:ext cx="246" cy="291"/>
            </a:xfrm>
            <a:prstGeom prst="rect">
              <a:avLst/>
            </a:prstGeom>
            <a:noFill/>
            <a:ln w="9525">
              <a:noFill/>
              <a:miter lim="800000"/>
              <a:headEnd/>
              <a:tailEnd/>
            </a:ln>
            <a:effectLst/>
          </p:spPr>
          <p:txBody>
            <a:bodyPr wrap="none" anchor="ct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1704" name="Text Box 8"/>
            <p:cNvSpPr txBox="1">
              <a:spLocks noChangeArrowheads="1"/>
            </p:cNvSpPr>
            <p:nvPr/>
          </p:nvSpPr>
          <p:spPr bwMode="auto">
            <a:xfrm>
              <a:off x="1104" y="131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541705" name="Text Box 9"/>
            <p:cNvSpPr txBox="1">
              <a:spLocks noChangeArrowheads="1"/>
            </p:cNvSpPr>
            <p:nvPr/>
          </p:nvSpPr>
          <p:spPr bwMode="auto">
            <a:xfrm>
              <a:off x="1869" y="882"/>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1706" name="Text Box 10"/>
            <p:cNvSpPr txBox="1">
              <a:spLocks noChangeArrowheads="1"/>
            </p:cNvSpPr>
            <p:nvPr/>
          </p:nvSpPr>
          <p:spPr bwMode="auto">
            <a:xfrm>
              <a:off x="1248" y="747"/>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1707" name="Text Box 11"/>
            <p:cNvSpPr txBox="1">
              <a:spLocks noChangeArrowheads="1"/>
            </p:cNvSpPr>
            <p:nvPr/>
          </p:nvSpPr>
          <p:spPr bwMode="auto">
            <a:xfrm>
              <a:off x="2592" y="107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2784" name="Group 12"/>
            <p:cNvGrpSpPr>
              <a:grpSpLocks/>
            </p:cNvGrpSpPr>
            <p:nvPr/>
          </p:nvGrpSpPr>
          <p:grpSpPr bwMode="auto">
            <a:xfrm>
              <a:off x="1056" y="528"/>
              <a:ext cx="1647" cy="1483"/>
              <a:chOff x="2096" y="3493"/>
              <a:chExt cx="4117" cy="3707"/>
            </a:xfrm>
          </p:grpSpPr>
          <p:sp>
            <p:nvSpPr>
              <p:cNvPr id="32786" name="Line 13"/>
              <p:cNvSpPr>
                <a:spLocks noChangeShapeType="1"/>
              </p:cNvSpPr>
              <p:nvPr/>
            </p:nvSpPr>
            <p:spPr bwMode="auto">
              <a:xfrm>
                <a:off x="6100" y="3520"/>
                <a:ext cx="5" cy="340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2787" name="Group 14"/>
              <p:cNvGrpSpPr>
                <a:grpSpLocks/>
              </p:cNvGrpSpPr>
              <p:nvPr/>
            </p:nvGrpSpPr>
            <p:grpSpPr bwMode="auto">
              <a:xfrm>
                <a:off x="2096" y="3506"/>
                <a:ext cx="828" cy="1988"/>
                <a:chOff x="4417" y="567"/>
                <a:chExt cx="693" cy="1650"/>
              </a:xfrm>
            </p:grpSpPr>
            <p:grpSp>
              <p:nvGrpSpPr>
                <p:cNvPr id="32812" name="Group 15"/>
                <p:cNvGrpSpPr>
                  <a:grpSpLocks/>
                </p:cNvGrpSpPr>
                <p:nvPr/>
              </p:nvGrpSpPr>
              <p:grpSpPr bwMode="auto">
                <a:xfrm>
                  <a:off x="4417" y="567"/>
                  <a:ext cx="550" cy="1650"/>
                  <a:chOff x="4417" y="567"/>
                  <a:chExt cx="550" cy="1650"/>
                </a:xfrm>
              </p:grpSpPr>
              <p:sp>
                <p:nvSpPr>
                  <p:cNvPr id="32817" name="Oval 1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18" name="Line 1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2813" name="Group 18"/>
                <p:cNvGrpSpPr>
                  <a:grpSpLocks/>
                </p:cNvGrpSpPr>
                <p:nvPr/>
              </p:nvGrpSpPr>
              <p:grpSpPr bwMode="auto">
                <a:xfrm>
                  <a:off x="4956" y="853"/>
                  <a:ext cx="154" cy="979"/>
                  <a:chOff x="4956" y="853"/>
                  <a:chExt cx="154" cy="979"/>
                </a:xfrm>
              </p:grpSpPr>
              <p:sp>
                <p:nvSpPr>
                  <p:cNvPr id="32814" name="Line 1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15" name="Line 2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16" name="Line 2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2788" name="Group 22"/>
              <p:cNvGrpSpPr>
                <a:grpSpLocks/>
              </p:cNvGrpSpPr>
              <p:nvPr/>
            </p:nvGrpSpPr>
            <p:grpSpPr bwMode="auto">
              <a:xfrm>
                <a:off x="5990" y="4197"/>
                <a:ext cx="223" cy="1974"/>
                <a:chOff x="743" y="567"/>
                <a:chExt cx="187" cy="1639"/>
              </a:xfrm>
            </p:grpSpPr>
            <p:sp>
              <p:nvSpPr>
                <p:cNvPr id="32810" name="Line 2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11" name="Rectangle 2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2789" name="Group 25"/>
              <p:cNvGrpSpPr>
                <a:grpSpLocks/>
              </p:cNvGrpSpPr>
              <p:nvPr/>
            </p:nvGrpSpPr>
            <p:grpSpPr bwMode="auto">
              <a:xfrm>
                <a:off x="2305" y="4978"/>
                <a:ext cx="223" cy="1975"/>
                <a:chOff x="743" y="567"/>
                <a:chExt cx="187" cy="1639"/>
              </a:xfrm>
            </p:grpSpPr>
            <p:sp>
              <p:nvSpPr>
                <p:cNvPr id="32808" name="Line 2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09" name="Rectangle 2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2790" name="Line 28"/>
              <p:cNvSpPr>
                <a:spLocks noChangeShapeType="1"/>
              </p:cNvSpPr>
              <p:nvPr/>
            </p:nvSpPr>
            <p:spPr bwMode="auto">
              <a:xfrm flipV="1">
                <a:off x="2450" y="3504"/>
                <a:ext cx="3639"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791" name="Line 29"/>
              <p:cNvSpPr>
                <a:spLocks noChangeShapeType="1"/>
              </p:cNvSpPr>
              <p:nvPr/>
            </p:nvSpPr>
            <p:spPr bwMode="auto">
              <a:xfrm>
                <a:off x="2450" y="6912"/>
                <a:ext cx="3661" cy="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2792" name="Group 30"/>
              <p:cNvGrpSpPr>
                <a:grpSpLocks/>
              </p:cNvGrpSpPr>
              <p:nvPr/>
            </p:nvGrpSpPr>
            <p:grpSpPr bwMode="auto">
              <a:xfrm>
                <a:off x="4095" y="3526"/>
                <a:ext cx="223" cy="1975"/>
                <a:chOff x="743" y="567"/>
                <a:chExt cx="187" cy="1639"/>
              </a:xfrm>
            </p:grpSpPr>
            <p:sp>
              <p:nvSpPr>
                <p:cNvPr id="32806" name="Line 3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07" name="Rectangle 3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2793" name="Line 33"/>
              <p:cNvSpPr>
                <a:spLocks noChangeShapeType="1"/>
              </p:cNvSpPr>
              <p:nvPr/>
            </p:nvSpPr>
            <p:spPr bwMode="auto">
              <a:xfrm rot="5400000" flipH="1">
                <a:off x="3042" y="3339"/>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794" name="Line 34"/>
              <p:cNvSpPr>
                <a:spLocks noChangeShapeType="1"/>
              </p:cNvSpPr>
              <p:nvPr/>
            </p:nvSpPr>
            <p:spPr bwMode="auto">
              <a:xfrm rot="-5400000">
                <a:off x="5374" y="3339"/>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795" name="Line 35"/>
              <p:cNvSpPr>
                <a:spLocks noChangeShapeType="1"/>
              </p:cNvSpPr>
              <p:nvPr/>
            </p:nvSpPr>
            <p:spPr bwMode="auto">
              <a:xfrm>
                <a:off x="4208" y="3790"/>
                <a:ext cx="0" cy="308"/>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2796" name="Group 36"/>
              <p:cNvGrpSpPr>
                <a:grpSpLocks/>
              </p:cNvGrpSpPr>
              <p:nvPr/>
            </p:nvGrpSpPr>
            <p:grpSpPr bwMode="auto">
              <a:xfrm>
                <a:off x="3897" y="4934"/>
                <a:ext cx="828" cy="1988"/>
                <a:chOff x="4417" y="567"/>
                <a:chExt cx="693" cy="1650"/>
              </a:xfrm>
            </p:grpSpPr>
            <p:grpSp>
              <p:nvGrpSpPr>
                <p:cNvPr id="32799" name="Group 37"/>
                <p:cNvGrpSpPr>
                  <a:grpSpLocks/>
                </p:cNvGrpSpPr>
                <p:nvPr/>
              </p:nvGrpSpPr>
              <p:grpSpPr bwMode="auto">
                <a:xfrm>
                  <a:off x="4417" y="567"/>
                  <a:ext cx="550" cy="1650"/>
                  <a:chOff x="4417" y="567"/>
                  <a:chExt cx="550" cy="1650"/>
                </a:xfrm>
              </p:grpSpPr>
              <p:sp>
                <p:nvSpPr>
                  <p:cNvPr id="32804" name="Oval 3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05" name="Line 3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2800" name="Group 40"/>
                <p:cNvGrpSpPr>
                  <a:grpSpLocks/>
                </p:cNvGrpSpPr>
                <p:nvPr/>
              </p:nvGrpSpPr>
              <p:grpSpPr bwMode="auto">
                <a:xfrm>
                  <a:off x="4956" y="853"/>
                  <a:ext cx="154" cy="979"/>
                  <a:chOff x="4956" y="853"/>
                  <a:chExt cx="154" cy="979"/>
                </a:xfrm>
              </p:grpSpPr>
              <p:sp>
                <p:nvSpPr>
                  <p:cNvPr id="32801" name="Line 4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02" name="Line 4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803" name="Line 4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32797" name="Line 44"/>
              <p:cNvSpPr>
                <a:spLocks noChangeShapeType="1"/>
              </p:cNvSpPr>
              <p:nvPr/>
            </p:nvSpPr>
            <p:spPr bwMode="auto">
              <a:xfrm>
                <a:off x="3977" y="7200"/>
                <a:ext cx="5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2798" name="Line 45"/>
              <p:cNvSpPr>
                <a:spLocks noChangeShapeType="1"/>
              </p:cNvSpPr>
              <p:nvPr/>
            </p:nvSpPr>
            <p:spPr bwMode="auto">
              <a:xfrm>
                <a:off x="4219" y="6738"/>
                <a:ext cx="0" cy="4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1742" name="Text Box 46"/>
            <p:cNvSpPr txBox="1">
              <a:spLocks noChangeArrowheads="1"/>
            </p:cNvSpPr>
            <p:nvPr/>
          </p:nvSpPr>
          <p:spPr bwMode="auto">
            <a:xfrm>
              <a:off x="1968" y="1323"/>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1743" name="Text Box 47"/>
          <p:cNvSpPr txBox="1">
            <a:spLocks noChangeArrowheads="1"/>
          </p:cNvSpPr>
          <p:nvPr/>
        </p:nvSpPr>
        <p:spPr bwMode="auto">
          <a:xfrm>
            <a:off x="685800" y="533400"/>
            <a:ext cx="137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得到</a:t>
            </a:r>
          </a:p>
        </p:txBody>
      </p:sp>
      <p:graphicFrame>
        <p:nvGraphicFramePr>
          <p:cNvPr id="541744" name="Object 48"/>
          <p:cNvGraphicFramePr>
            <a:graphicFrameLocks noChangeAspect="1"/>
          </p:cNvGraphicFramePr>
          <p:nvPr>
            <p:extLst>
              <p:ext uri="{D42A27DB-BD31-4B8C-83A1-F6EECF244321}">
                <p14:modId xmlns:p14="http://schemas.microsoft.com/office/powerpoint/2010/main" val="1313822139"/>
              </p:ext>
            </p:extLst>
          </p:nvPr>
        </p:nvGraphicFramePr>
        <p:xfrm>
          <a:off x="1600200" y="1145658"/>
          <a:ext cx="6477000" cy="911741"/>
        </p:xfrm>
        <a:graphic>
          <a:graphicData uri="http://schemas.openxmlformats.org/presentationml/2006/ole">
            <mc:AlternateContent xmlns:mc="http://schemas.openxmlformats.org/markup-compatibility/2006">
              <mc:Choice xmlns:v="urn:schemas-microsoft-com:vml" Requires="v">
                <p:oleObj spid="_x0000_s80916" name="Equation" r:id="rId3" imgW="1943066" imgH="400140" progId="Equation.3">
                  <p:embed/>
                </p:oleObj>
              </mc:Choice>
              <mc:Fallback>
                <p:oleObj name="Equation" r:id="rId3" imgW="1943066" imgH="4001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145658"/>
                        <a:ext cx="6477000" cy="911741"/>
                      </a:xfrm>
                      <a:prstGeom prst="rect">
                        <a:avLst/>
                      </a:prstGeom>
                      <a:noFill/>
                      <a:ln>
                        <a:noFill/>
                      </a:ln>
                      <a:effectLst/>
                      <a:extLst/>
                    </p:spPr>
                  </p:pic>
                </p:oleObj>
              </mc:Fallback>
            </mc:AlternateContent>
          </a:graphicData>
        </a:graphic>
      </p:graphicFrame>
      <p:graphicFrame>
        <p:nvGraphicFramePr>
          <p:cNvPr id="541745" name="Object 49"/>
          <p:cNvGraphicFramePr>
            <a:graphicFrameLocks noChangeAspect="1"/>
          </p:cNvGraphicFramePr>
          <p:nvPr>
            <p:extLst>
              <p:ext uri="{D42A27DB-BD31-4B8C-83A1-F6EECF244321}">
                <p14:modId xmlns:p14="http://schemas.microsoft.com/office/powerpoint/2010/main" val="4292088239"/>
              </p:ext>
            </p:extLst>
          </p:nvPr>
        </p:nvGraphicFramePr>
        <p:xfrm>
          <a:off x="1219200" y="2546350"/>
          <a:ext cx="4216400" cy="3608388"/>
        </p:xfrm>
        <a:graphic>
          <a:graphicData uri="http://schemas.openxmlformats.org/presentationml/2006/ole">
            <mc:AlternateContent xmlns:mc="http://schemas.openxmlformats.org/markup-compatibility/2006">
              <mc:Choice xmlns:v="urn:schemas-microsoft-com:vml" Requires="v">
                <p:oleObj spid="_x0000_s80917" name="Equation" r:id="rId5" imgW="1409824" imgH="1600290" progId="Equation.3">
                  <p:embed/>
                </p:oleObj>
              </mc:Choice>
              <mc:Fallback>
                <p:oleObj name="Equation" r:id="rId5" imgW="1409824" imgH="16002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546350"/>
                        <a:ext cx="4216400" cy="3608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1746" name="Text Box 50"/>
          <p:cNvSpPr txBox="1">
            <a:spLocks noChangeArrowheads="1"/>
          </p:cNvSpPr>
          <p:nvPr/>
        </p:nvSpPr>
        <p:spPr bwMode="auto">
          <a:xfrm>
            <a:off x="685800" y="2133600"/>
            <a:ext cx="1371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1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解得</a:t>
            </a:r>
          </a:p>
        </p:txBody>
      </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29</a:t>
            </a:fld>
            <a:endParaRPr lang="en-US" altLang="zh-CN"/>
          </a:p>
        </p:txBody>
      </p:sp>
    </p:spTree>
    <p:extLst>
      <p:ext uri="{BB962C8B-B14F-4D97-AF65-F5344CB8AC3E}">
        <p14:creationId xmlns:p14="http://schemas.microsoft.com/office/powerpoint/2010/main" val="2012161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1743"/>
                                        </p:tgtEl>
                                        <p:attrNameLst>
                                          <p:attrName>style.visibility</p:attrName>
                                        </p:attrNameLst>
                                      </p:cBhvr>
                                      <p:to>
                                        <p:strVal val="visible"/>
                                      </p:to>
                                    </p:set>
                                    <p:animEffect transition="in" filter="wipe(left)">
                                      <p:cBhvr>
                                        <p:cTn id="7" dur="500"/>
                                        <p:tgtEl>
                                          <p:spTgt spid="5417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41744"/>
                                        </p:tgtEl>
                                        <p:attrNameLst>
                                          <p:attrName>style.visibility</p:attrName>
                                        </p:attrNameLst>
                                      </p:cBhvr>
                                      <p:to>
                                        <p:strVal val="visible"/>
                                      </p:to>
                                    </p:set>
                                    <p:animEffect transition="in" filter="wipe(left)">
                                      <p:cBhvr>
                                        <p:cTn id="12" dur="500"/>
                                        <p:tgtEl>
                                          <p:spTgt spid="5417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1746"/>
                                        </p:tgtEl>
                                        <p:attrNameLst>
                                          <p:attrName>style.visibility</p:attrName>
                                        </p:attrNameLst>
                                      </p:cBhvr>
                                      <p:to>
                                        <p:strVal val="visible"/>
                                      </p:to>
                                    </p:set>
                                    <p:animEffect transition="in" filter="wipe(left)">
                                      <p:cBhvr>
                                        <p:cTn id="17" dur="500"/>
                                        <p:tgtEl>
                                          <p:spTgt spid="5417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541745"/>
                                        </p:tgtEl>
                                        <p:attrNameLst>
                                          <p:attrName>style.visibility</p:attrName>
                                        </p:attrNameLst>
                                      </p:cBhvr>
                                      <p:to>
                                        <p:strVal val="visible"/>
                                      </p:to>
                                    </p:set>
                                    <p:animEffect transition="in" filter="strips(downRight)">
                                      <p:cBhvr>
                                        <p:cTn id="22" dur="500"/>
                                        <p:tgtEl>
                                          <p:spTgt spid="541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743" grpId="0"/>
      <p:bldP spid="54174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4"/>
          <p:cNvSpPr txBox="1">
            <a:spLocks noChangeArrowheads="1"/>
          </p:cNvSpPr>
          <p:nvPr/>
        </p:nvSpPr>
        <p:spPr bwMode="auto">
          <a:xfrm>
            <a:off x="3124200" y="4876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
          <p:cNvGrpSpPr>
            <a:grpSpLocks/>
          </p:cNvGrpSpPr>
          <p:nvPr/>
        </p:nvGrpSpPr>
        <p:grpSpPr bwMode="auto">
          <a:xfrm>
            <a:off x="4613275" y="1125538"/>
            <a:ext cx="4495800" cy="2576512"/>
            <a:chOff x="1632" y="624"/>
            <a:chExt cx="2832" cy="1623"/>
          </a:xfrm>
        </p:grpSpPr>
        <p:sp>
          <p:nvSpPr>
            <p:cNvPr id="546822" name="Text Box 6"/>
            <p:cNvSpPr txBox="1">
              <a:spLocks noChangeArrowheads="1"/>
            </p:cNvSpPr>
            <p:nvPr/>
          </p:nvSpPr>
          <p:spPr bwMode="auto">
            <a:xfrm>
              <a:off x="3888" y="1824"/>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10Ω</a:t>
              </a:r>
            </a:p>
          </p:txBody>
        </p:sp>
        <p:grpSp>
          <p:nvGrpSpPr>
            <p:cNvPr id="33800" name="Group 7"/>
            <p:cNvGrpSpPr>
              <a:grpSpLocks/>
            </p:cNvGrpSpPr>
            <p:nvPr/>
          </p:nvGrpSpPr>
          <p:grpSpPr bwMode="auto">
            <a:xfrm>
              <a:off x="1632" y="624"/>
              <a:ext cx="2640" cy="1623"/>
              <a:chOff x="1632" y="624"/>
              <a:chExt cx="2640" cy="1623"/>
            </a:xfrm>
          </p:grpSpPr>
          <p:sp>
            <p:nvSpPr>
              <p:cNvPr id="33801" name="Text Box 8"/>
              <p:cNvSpPr txBox="1">
                <a:spLocks noChangeArrowheads="1"/>
              </p:cNvSpPr>
              <p:nvPr/>
            </p:nvSpPr>
            <p:spPr bwMode="auto">
              <a:xfrm>
                <a:off x="1824" y="1287"/>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70V</a:t>
                </a:r>
              </a:p>
            </p:txBody>
          </p:sp>
          <p:sp>
            <p:nvSpPr>
              <p:cNvPr id="33802" name="Text Box 9"/>
              <p:cNvSpPr txBox="1">
                <a:spLocks noChangeArrowheads="1"/>
              </p:cNvSpPr>
              <p:nvPr/>
            </p:nvSpPr>
            <p:spPr bwMode="auto">
              <a:xfrm>
                <a:off x="2448" y="663"/>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2V</a:t>
                </a:r>
              </a:p>
            </p:txBody>
          </p:sp>
          <p:grpSp>
            <p:nvGrpSpPr>
              <p:cNvPr id="33803" name="Group 10"/>
              <p:cNvGrpSpPr>
                <a:grpSpLocks/>
              </p:cNvGrpSpPr>
              <p:nvPr/>
            </p:nvGrpSpPr>
            <p:grpSpPr bwMode="auto">
              <a:xfrm>
                <a:off x="1632" y="855"/>
                <a:ext cx="2316" cy="1262"/>
                <a:chOff x="1632" y="855"/>
                <a:chExt cx="2316" cy="1262"/>
              </a:xfrm>
            </p:grpSpPr>
            <p:sp>
              <p:nvSpPr>
                <p:cNvPr id="33816" name="Line 11"/>
                <p:cNvSpPr>
                  <a:spLocks noChangeShapeType="1"/>
                </p:cNvSpPr>
                <p:nvPr/>
              </p:nvSpPr>
              <p:spPr bwMode="auto">
                <a:xfrm flipH="1">
                  <a:off x="1962" y="1022"/>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3817" name="Group 12"/>
                <p:cNvGrpSpPr>
                  <a:grpSpLocks/>
                </p:cNvGrpSpPr>
                <p:nvPr/>
              </p:nvGrpSpPr>
              <p:grpSpPr bwMode="auto">
                <a:xfrm>
                  <a:off x="1632" y="1208"/>
                  <a:ext cx="286" cy="438"/>
                  <a:chOff x="651" y="1308"/>
                  <a:chExt cx="332" cy="477"/>
                </a:xfrm>
              </p:grpSpPr>
              <p:grpSp>
                <p:nvGrpSpPr>
                  <p:cNvPr id="33862" name="Group 13"/>
                  <p:cNvGrpSpPr>
                    <a:grpSpLocks/>
                  </p:cNvGrpSpPr>
                  <p:nvPr/>
                </p:nvGrpSpPr>
                <p:grpSpPr bwMode="auto">
                  <a:xfrm>
                    <a:off x="871" y="1308"/>
                    <a:ext cx="112" cy="420"/>
                    <a:chOff x="2863" y="624"/>
                    <a:chExt cx="112" cy="420"/>
                  </a:xfrm>
                </p:grpSpPr>
                <p:sp>
                  <p:nvSpPr>
                    <p:cNvPr id="33865" name="Line 14"/>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66" name="Line 15"/>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67" name="Line 16"/>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63" name="Oval 17"/>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64" name="Line 18"/>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3818" name="Group 19"/>
                <p:cNvGrpSpPr>
                  <a:grpSpLocks/>
                </p:cNvGrpSpPr>
                <p:nvPr/>
              </p:nvGrpSpPr>
              <p:grpSpPr bwMode="auto">
                <a:xfrm>
                  <a:off x="3850" y="1431"/>
                  <a:ext cx="98" cy="471"/>
                  <a:chOff x="795" y="567"/>
                  <a:chExt cx="114" cy="513"/>
                </a:xfrm>
              </p:grpSpPr>
              <p:sp>
                <p:nvSpPr>
                  <p:cNvPr id="33860" name="Line 20"/>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61" name="Rectangle 21"/>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3819" name="Group 22"/>
                <p:cNvGrpSpPr>
                  <a:grpSpLocks/>
                </p:cNvGrpSpPr>
                <p:nvPr/>
              </p:nvGrpSpPr>
              <p:grpSpPr bwMode="auto">
                <a:xfrm rot="-5400000">
                  <a:off x="3125" y="790"/>
                  <a:ext cx="99" cy="471"/>
                  <a:chOff x="795" y="567"/>
                  <a:chExt cx="114" cy="513"/>
                </a:xfrm>
              </p:grpSpPr>
              <p:sp>
                <p:nvSpPr>
                  <p:cNvPr id="33858" name="Line 23"/>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59" name="Rectangle 24"/>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20" name="Line 25"/>
                <p:cNvSpPr>
                  <a:spLocks noChangeShapeType="1"/>
                </p:cNvSpPr>
                <p:nvPr/>
              </p:nvSpPr>
              <p:spPr bwMode="auto">
                <a:xfrm>
                  <a:off x="1729" y="1022"/>
                  <a:ext cx="4" cy="2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1" name="Line 26"/>
                <p:cNvSpPr>
                  <a:spLocks noChangeShapeType="1"/>
                </p:cNvSpPr>
                <p:nvPr/>
              </p:nvSpPr>
              <p:spPr bwMode="auto">
                <a:xfrm flipV="1">
                  <a:off x="1729" y="1022"/>
                  <a:ext cx="542" cy="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2" name="Line 27"/>
                <p:cNvSpPr>
                  <a:spLocks noChangeShapeType="1"/>
                </p:cNvSpPr>
                <p:nvPr/>
              </p:nvSpPr>
              <p:spPr bwMode="auto">
                <a:xfrm>
                  <a:off x="1733" y="1632"/>
                  <a:ext cx="0" cy="2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3" name="Line 28"/>
                <p:cNvSpPr>
                  <a:spLocks noChangeShapeType="1"/>
                </p:cNvSpPr>
                <p:nvPr/>
              </p:nvSpPr>
              <p:spPr bwMode="auto">
                <a:xfrm>
                  <a:off x="3897" y="1017"/>
                  <a:ext cx="1" cy="42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4" name="Line 29"/>
                <p:cNvSpPr>
                  <a:spLocks noChangeShapeType="1"/>
                </p:cNvSpPr>
                <p:nvPr/>
              </p:nvSpPr>
              <p:spPr bwMode="auto">
                <a:xfrm flipH="1">
                  <a:off x="2363" y="1726"/>
                  <a:ext cx="4" cy="39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5" name="Line 30"/>
                <p:cNvSpPr>
                  <a:spLocks noChangeShapeType="1"/>
                </p:cNvSpPr>
                <p:nvPr/>
              </p:nvSpPr>
              <p:spPr bwMode="auto">
                <a:xfrm>
                  <a:off x="2253" y="1026"/>
                  <a:ext cx="40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6" name="Line 31"/>
                <p:cNvSpPr>
                  <a:spLocks noChangeShapeType="1"/>
                </p:cNvSpPr>
                <p:nvPr/>
              </p:nvSpPr>
              <p:spPr bwMode="auto">
                <a:xfrm>
                  <a:off x="3335" y="1022"/>
                  <a:ext cx="563"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7" name="Line 32"/>
                <p:cNvSpPr>
                  <a:spLocks noChangeShapeType="1"/>
                </p:cNvSpPr>
                <p:nvPr/>
              </p:nvSpPr>
              <p:spPr bwMode="auto">
                <a:xfrm flipV="1">
                  <a:off x="1733" y="2108"/>
                  <a:ext cx="2161"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8" name="Line 33"/>
                <p:cNvSpPr>
                  <a:spLocks noChangeShapeType="1"/>
                </p:cNvSpPr>
                <p:nvPr/>
              </p:nvSpPr>
              <p:spPr bwMode="auto">
                <a:xfrm>
                  <a:off x="3419" y="1734"/>
                  <a:ext cx="4" cy="3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9" name="Line 34"/>
                <p:cNvSpPr>
                  <a:spLocks noChangeShapeType="1"/>
                </p:cNvSpPr>
                <p:nvPr/>
              </p:nvSpPr>
              <p:spPr bwMode="auto">
                <a:xfrm>
                  <a:off x="3897" y="1849"/>
                  <a:ext cx="0" cy="2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0" name="Line 35"/>
                <p:cNvSpPr>
                  <a:spLocks noChangeShapeType="1"/>
                </p:cNvSpPr>
                <p:nvPr/>
              </p:nvSpPr>
              <p:spPr bwMode="auto">
                <a:xfrm>
                  <a:off x="2367" y="1017"/>
                  <a:ext cx="0" cy="4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3831" name="Group 36"/>
                <p:cNvGrpSpPr>
                  <a:grpSpLocks/>
                </p:cNvGrpSpPr>
                <p:nvPr/>
              </p:nvGrpSpPr>
              <p:grpSpPr bwMode="auto">
                <a:xfrm>
                  <a:off x="1685" y="1638"/>
                  <a:ext cx="98" cy="471"/>
                  <a:chOff x="795" y="567"/>
                  <a:chExt cx="114" cy="513"/>
                </a:xfrm>
              </p:grpSpPr>
              <p:sp>
                <p:nvSpPr>
                  <p:cNvPr id="33856" name="Line 37"/>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57" name="Rectangle 38"/>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3832" name="Group 39"/>
                <p:cNvGrpSpPr>
                  <a:grpSpLocks/>
                </p:cNvGrpSpPr>
                <p:nvPr/>
              </p:nvGrpSpPr>
              <p:grpSpPr bwMode="auto">
                <a:xfrm>
                  <a:off x="2317" y="1452"/>
                  <a:ext cx="98" cy="471"/>
                  <a:chOff x="795" y="567"/>
                  <a:chExt cx="114" cy="513"/>
                </a:xfrm>
              </p:grpSpPr>
              <p:sp>
                <p:nvSpPr>
                  <p:cNvPr id="33854" name="Line 40"/>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55" name="Rectangle 41"/>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3833" name="Group 42"/>
                <p:cNvGrpSpPr>
                  <a:grpSpLocks/>
                </p:cNvGrpSpPr>
                <p:nvPr/>
              </p:nvGrpSpPr>
              <p:grpSpPr bwMode="auto">
                <a:xfrm>
                  <a:off x="3344" y="1387"/>
                  <a:ext cx="163" cy="374"/>
                  <a:chOff x="5605" y="3812"/>
                  <a:chExt cx="407" cy="935"/>
                </a:xfrm>
              </p:grpSpPr>
              <p:sp>
                <p:nvSpPr>
                  <p:cNvPr id="33846" name="Oval 43"/>
                  <p:cNvSpPr>
                    <a:spLocks noChangeArrowheads="1"/>
                  </p:cNvSpPr>
                  <p:nvPr/>
                </p:nvSpPr>
                <p:spPr bwMode="auto">
                  <a:xfrm>
                    <a:off x="5605" y="4153"/>
                    <a:ext cx="407" cy="396"/>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7" name="Line 44"/>
                  <p:cNvSpPr>
                    <a:spLocks noChangeShapeType="1"/>
                  </p:cNvSpPr>
                  <p:nvPr/>
                </p:nvSpPr>
                <p:spPr bwMode="auto">
                  <a:xfrm>
                    <a:off x="5605" y="4351"/>
                    <a:ext cx="40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8" name="Line 45"/>
                  <p:cNvSpPr>
                    <a:spLocks noChangeShapeType="1"/>
                  </p:cNvSpPr>
                  <p:nvPr/>
                </p:nvSpPr>
                <p:spPr bwMode="auto">
                  <a:xfrm>
                    <a:off x="5809" y="3955"/>
                    <a:ext cx="0"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9" name="Line 46"/>
                  <p:cNvSpPr>
                    <a:spLocks noChangeShapeType="1"/>
                  </p:cNvSpPr>
                  <p:nvPr/>
                </p:nvSpPr>
                <p:spPr bwMode="auto">
                  <a:xfrm>
                    <a:off x="5809" y="4549"/>
                    <a:ext cx="0"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3850" name="Group 47"/>
                  <p:cNvGrpSpPr>
                    <a:grpSpLocks/>
                  </p:cNvGrpSpPr>
                  <p:nvPr/>
                </p:nvGrpSpPr>
                <p:grpSpPr bwMode="auto">
                  <a:xfrm>
                    <a:off x="5758" y="3812"/>
                    <a:ext cx="101" cy="198"/>
                    <a:chOff x="1379" y="738"/>
                    <a:chExt cx="56" cy="114"/>
                  </a:xfrm>
                </p:grpSpPr>
                <p:sp>
                  <p:nvSpPr>
                    <p:cNvPr id="33851" name="Line 48"/>
                    <p:cNvSpPr>
                      <a:spLocks noChangeShapeType="1"/>
                    </p:cNvSpPr>
                    <p:nvPr/>
                  </p:nvSpPr>
                  <p:spPr bwMode="auto">
                    <a:xfrm>
                      <a:off x="1407" y="738"/>
                      <a:ext cx="0"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52" name="Line 49"/>
                    <p:cNvSpPr>
                      <a:spLocks noChangeShapeType="1"/>
                    </p:cNvSpPr>
                    <p:nvPr/>
                  </p:nvSpPr>
                  <p:spPr bwMode="auto">
                    <a:xfrm flipH="1">
                      <a:off x="1379" y="738"/>
                      <a:ext cx="29"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53" name="Line 50"/>
                    <p:cNvSpPr>
                      <a:spLocks noChangeShapeType="1"/>
                    </p:cNvSpPr>
                    <p:nvPr/>
                  </p:nvSpPr>
                  <p:spPr bwMode="auto">
                    <a:xfrm>
                      <a:off x="1407" y="738"/>
                      <a:ext cx="28"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3834" name="Group 51"/>
                <p:cNvGrpSpPr>
                  <a:grpSpLocks/>
                </p:cNvGrpSpPr>
                <p:nvPr/>
              </p:nvGrpSpPr>
              <p:grpSpPr bwMode="auto">
                <a:xfrm>
                  <a:off x="2404" y="855"/>
                  <a:ext cx="438" cy="268"/>
                  <a:chOff x="3535" y="2482"/>
                  <a:chExt cx="1096" cy="669"/>
                </a:xfrm>
              </p:grpSpPr>
              <p:grpSp>
                <p:nvGrpSpPr>
                  <p:cNvPr id="33840" name="Group 52"/>
                  <p:cNvGrpSpPr>
                    <a:grpSpLocks/>
                  </p:cNvGrpSpPr>
                  <p:nvPr/>
                </p:nvGrpSpPr>
                <p:grpSpPr bwMode="auto">
                  <a:xfrm>
                    <a:off x="3535" y="2482"/>
                    <a:ext cx="1084" cy="241"/>
                    <a:chOff x="3535" y="2482"/>
                    <a:chExt cx="1084" cy="241"/>
                  </a:xfrm>
                </p:grpSpPr>
                <p:sp>
                  <p:nvSpPr>
                    <p:cNvPr id="33843" name="Line 53"/>
                    <p:cNvSpPr>
                      <a:spLocks noChangeShapeType="1"/>
                    </p:cNvSpPr>
                    <p:nvPr/>
                  </p:nvSpPr>
                  <p:spPr bwMode="auto">
                    <a:xfrm rot="-5400000">
                      <a:off x="3543" y="2603"/>
                      <a:ext cx="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4" name="Line 54"/>
                    <p:cNvSpPr>
                      <a:spLocks noChangeShapeType="1"/>
                    </p:cNvSpPr>
                    <p:nvPr/>
                  </p:nvSpPr>
                  <p:spPr bwMode="auto">
                    <a:xfrm>
                      <a:off x="4378" y="2602"/>
                      <a:ext cx="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5" name="Line 55"/>
                    <p:cNvSpPr>
                      <a:spLocks noChangeShapeType="1"/>
                    </p:cNvSpPr>
                    <p:nvPr/>
                  </p:nvSpPr>
                  <p:spPr bwMode="auto">
                    <a:xfrm>
                      <a:off x="3535" y="2602"/>
                      <a:ext cx="25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41" name="Oval 56"/>
                  <p:cNvSpPr>
                    <a:spLocks noChangeArrowheads="1"/>
                  </p:cNvSpPr>
                  <p:nvPr/>
                </p:nvSpPr>
                <p:spPr bwMode="auto">
                  <a:xfrm rot="-5400000">
                    <a:off x="3862" y="2644"/>
                    <a:ext cx="491" cy="52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2" name="Line 57"/>
                  <p:cNvSpPr>
                    <a:spLocks noChangeShapeType="1"/>
                  </p:cNvSpPr>
                  <p:nvPr/>
                </p:nvSpPr>
                <p:spPr bwMode="auto">
                  <a:xfrm rot="-5400000">
                    <a:off x="4108" y="2382"/>
                    <a:ext cx="0" cy="104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35" name="Line 58"/>
                <p:cNvSpPr>
                  <a:spLocks noChangeShapeType="1"/>
                </p:cNvSpPr>
                <p:nvPr/>
              </p:nvSpPr>
              <p:spPr bwMode="auto">
                <a:xfrm>
                  <a:off x="3423" y="1035"/>
                  <a:ext cx="0" cy="4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6" name="Line 59"/>
                <p:cNvSpPr>
                  <a:spLocks noChangeShapeType="1"/>
                </p:cNvSpPr>
                <p:nvPr/>
              </p:nvSpPr>
              <p:spPr bwMode="auto">
                <a:xfrm>
                  <a:off x="2798" y="1022"/>
                  <a:ext cx="163"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7" name="Line 60"/>
                <p:cNvSpPr>
                  <a:spLocks noChangeShapeType="1"/>
                </p:cNvSpPr>
                <p:nvPr/>
              </p:nvSpPr>
              <p:spPr bwMode="auto">
                <a:xfrm>
                  <a:off x="2855" y="1022"/>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8" name="Line 61"/>
                <p:cNvSpPr>
                  <a:spLocks noChangeShapeType="1"/>
                </p:cNvSpPr>
                <p:nvPr/>
              </p:nvSpPr>
              <p:spPr bwMode="auto">
                <a:xfrm rot="5400000">
                  <a:off x="2310" y="1251"/>
                  <a:ext cx="105"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9" name="Line 62"/>
                <p:cNvSpPr>
                  <a:spLocks noChangeShapeType="1"/>
                </p:cNvSpPr>
                <p:nvPr/>
              </p:nvSpPr>
              <p:spPr bwMode="auto">
                <a:xfrm rot="5400000">
                  <a:off x="3837" y="1268"/>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04" name="Text Box 63"/>
              <p:cNvSpPr txBox="1">
                <a:spLocks noChangeArrowheads="1"/>
              </p:cNvSpPr>
              <p:nvPr/>
            </p:nvSpPr>
            <p:spPr bwMode="auto">
              <a:xfrm>
                <a:off x="2880" y="1767"/>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1.6A</a:t>
                </a:r>
              </a:p>
            </p:txBody>
          </p:sp>
          <p:sp>
            <p:nvSpPr>
              <p:cNvPr id="546880" name="Text Box 64"/>
              <p:cNvSpPr txBox="1">
                <a:spLocks noChangeArrowheads="1"/>
              </p:cNvSpPr>
              <p:nvPr/>
            </p:nvSpPr>
            <p:spPr bwMode="auto">
              <a:xfrm>
                <a:off x="1776" y="1767"/>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2Ω</a:t>
                </a:r>
              </a:p>
            </p:txBody>
          </p:sp>
          <p:sp>
            <p:nvSpPr>
              <p:cNvPr id="546881" name="Text Box 65"/>
              <p:cNvSpPr txBox="1">
                <a:spLocks noChangeArrowheads="1"/>
              </p:cNvSpPr>
              <p:nvPr/>
            </p:nvSpPr>
            <p:spPr bwMode="auto">
              <a:xfrm>
                <a:off x="3936" y="1143"/>
                <a:ext cx="33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6882" name="Text Box 66"/>
              <p:cNvSpPr txBox="1">
                <a:spLocks noChangeArrowheads="1"/>
              </p:cNvSpPr>
              <p:nvPr/>
            </p:nvSpPr>
            <p:spPr bwMode="auto">
              <a:xfrm>
                <a:off x="2976" y="624"/>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3Ω</a:t>
                </a:r>
              </a:p>
            </p:txBody>
          </p:sp>
          <p:sp>
            <p:nvSpPr>
              <p:cNvPr id="546883" name="Text Box 67"/>
              <p:cNvSpPr txBox="1">
                <a:spLocks noChangeArrowheads="1"/>
              </p:cNvSpPr>
              <p:nvPr/>
            </p:nvSpPr>
            <p:spPr bwMode="auto">
              <a:xfrm>
                <a:off x="2400" y="1575"/>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4Ω</a:t>
                </a:r>
              </a:p>
            </p:txBody>
          </p:sp>
          <p:sp>
            <p:nvSpPr>
              <p:cNvPr id="546884" name="Text Box 68"/>
              <p:cNvSpPr txBox="1">
                <a:spLocks noChangeArrowheads="1"/>
              </p:cNvSpPr>
              <p:nvPr/>
            </p:nvSpPr>
            <p:spPr bwMode="auto">
              <a:xfrm>
                <a:off x="2832" y="999"/>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6885" name="Text Box 69"/>
              <p:cNvSpPr txBox="1">
                <a:spLocks noChangeArrowheads="1"/>
              </p:cNvSpPr>
              <p:nvPr/>
            </p:nvSpPr>
            <p:spPr bwMode="auto">
              <a:xfrm>
                <a:off x="2352" y="1191"/>
                <a:ext cx="432"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6886" name="Text Box 70"/>
              <p:cNvSpPr txBox="1">
                <a:spLocks noChangeArrowheads="1"/>
              </p:cNvSpPr>
              <p:nvPr/>
            </p:nvSpPr>
            <p:spPr bwMode="auto">
              <a:xfrm>
                <a:off x="1632" y="663"/>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2" name="Text Box 71"/>
              <p:cNvSpPr txBox="1">
                <a:spLocks noChangeArrowheads="1"/>
              </p:cNvSpPr>
              <p:nvPr/>
            </p:nvSpPr>
            <p:spPr bwMode="auto">
              <a:xfrm>
                <a:off x="3360" y="75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②</a:t>
                </a:r>
              </a:p>
            </p:txBody>
          </p:sp>
          <p:sp>
            <p:nvSpPr>
              <p:cNvPr id="33813" name="Text Box 72"/>
              <p:cNvSpPr txBox="1">
                <a:spLocks noChangeArrowheads="1"/>
              </p:cNvSpPr>
              <p:nvPr/>
            </p:nvSpPr>
            <p:spPr bwMode="auto">
              <a:xfrm>
                <a:off x="2064" y="75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①</a:t>
                </a:r>
              </a:p>
            </p:txBody>
          </p:sp>
          <p:sp>
            <p:nvSpPr>
              <p:cNvPr id="33814" name="Line 73"/>
              <p:cNvSpPr>
                <a:spLocks noChangeShapeType="1"/>
              </p:cNvSpPr>
              <p:nvPr/>
            </p:nvSpPr>
            <p:spPr bwMode="auto">
              <a:xfrm>
                <a:off x="2544" y="2103"/>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5" name="Line 74"/>
              <p:cNvSpPr>
                <a:spLocks noChangeShapeType="1"/>
              </p:cNvSpPr>
              <p:nvPr/>
            </p:nvSpPr>
            <p:spPr bwMode="auto">
              <a:xfrm>
                <a:off x="2448" y="2247"/>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46891" name="Text Box 75"/>
          <p:cNvSpPr txBox="1">
            <a:spLocks noChangeArrowheads="1"/>
          </p:cNvSpPr>
          <p:nvPr/>
        </p:nvSpPr>
        <p:spPr bwMode="auto">
          <a:xfrm>
            <a:off x="250825" y="620713"/>
            <a:ext cx="8137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2-7 】</a:t>
            </a:r>
            <a:r>
              <a:rPr lang="zh-CN" altLang="en-US">
                <a:latin typeface="Times New Roman" panose="02020603050405020304" pitchFamily="18" charset="0"/>
                <a:ea typeface="华文中宋" panose="02010600040101010101" pitchFamily="2" charset="-122"/>
                <a:cs typeface="Times New Roman" panose="02020603050405020304" pitchFamily="18" charset="0"/>
              </a:rPr>
              <a:t>试计算图中电路的节点电位</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a:latin typeface="Times New Roman" panose="02020603050405020304" pitchFamily="18" charset="0"/>
                <a:ea typeface="华文中宋" panose="02010600040101010101" pitchFamily="2" charset="-122"/>
                <a:cs typeface="Times New Roman" panose="02020603050405020304" pitchFamily="18" charset="0"/>
              </a:rPr>
              <a:t> </a:t>
            </a:r>
            <a:r>
              <a:rPr lang="zh-CN" altLang="en-US">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46892" name="Text Box 76"/>
          <p:cNvSpPr txBox="1">
            <a:spLocks noChangeArrowheads="1"/>
          </p:cNvSpPr>
          <p:nvPr/>
        </p:nvSpPr>
        <p:spPr bwMode="auto">
          <a:xfrm>
            <a:off x="395288" y="1557338"/>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将各支路电流表示为</a:t>
            </a:r>
          </a:p>
        </p:txBody>
      </p:sp>
      <p:graphicFrame>
        <p:nvGraphicFramePr>
          <p:cNvPr id="546895" name="Object 79"/>
          <p:cNvGraphicFramePr>
            <a:graphicFrameLocks noGrp="1" noChangeAspect="1"/>
          </p:cNvGraphicFramePr>
          <p:nvPr>
            <p:ph/>
            <p:extLst>
              <p:ext uri="{D42A27DB-BD31-4B8C-83A1-F6EECF244321}">
                <p14:modId xmlns:p14="http://schemas.microsoft.com/office/powerpoint/2010/main" val="2453570394"/>
              </p:ext>
            </p:extLst>
          </p:nvPr>
        </p:nvGraphicFramePr>
        <p:xfrm>
          <a:off x="971550" y="2420938"/>
          <a:ext cx="4319588" cy="3433762"/>
        </p:xfrm>
        <a:graphic>
          <a:graphicData uri="http://schemas.openxmlformats.org/presentationml/2006/ole">
            <mc:AlternateContent xmlns:mc="http://schemas.openxmlformats.org/markup-compatibility/2006">
              <mc:Choice xmlns:v="urn:schemas-microsoft-com:vml" Requires="v">
                <p:oleObj spid="_x0000_s81930" name="Equation" r:id="rId4" imgW="2044700" imgH="1625600" progId="Equation.3">
                  <p:embed/>
                </p:oleObj>
              </mc:Choice>
              <mc:Fallback>
                <p:oleObj name="Equation" r:id="rId4" imgW="2044700" imgH="16256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420938"/>
                        <a:ext cx="4319588" cy="343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pPr>
              <a:defRPr/>
            </a:pPr>
            <a:fld id="{57329A17-1EC1-483A-A006-6F2782D3D5E6}" type="slidenum">
              <a:rPr lang="en-US" altLang="zh-CN" smtClean="0"/>
              <a:pPr>
                <a:defRPr/>
              </a:pPr>
              <a:t>30</a:t>
            </a:fld>
            <a:endParaRPr lang="en-US" altLang="zh-CN"/>
          </a:p>
        </p:txBody>
      </p:sp>
    </p:spTree>
    <p:extLst>
      <p:ext uri="{BB962C8B-B14F-4D97-AF65-F5344CB8AC3E}">
        <p14:creationId xmlns:p14="http://schemas.microsoft.com/office/powerpoint/2010/main" val="1859776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6891"/>
                                        </p:tgtEl>
                                        <p:attrNameLst>
                                          <p:attrName>style.visibility</p:attrName>
                                        </p:attrNameLst>
                                      </p:cBhvr>
                                      <p:to>
                                        <p:strVal val="visible"/>
                                      </p:to>
                                    </p:set>
                                    <p:animEffect transition="in" filter="wipe(left)">
                                      <p:cBhvr>
                                        <p:cTn id="7" dur="500"/>
                                        <p:tgtEl>
                                          <p:spTgt spid="546891"/>
                                        </p:tgtEl>
                                      </p:cBhvr>
                                    </p:animEffect>
                                  </p:childTnLst>
                                </p:cTn>
                              </p:par>
                            </p:childTnLst>
                          </p:cTn>
                        </p:par>
                        <p:par>
                          <p:cTn id="8" fill="hold" nodeType="afterGroup">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6892"/>
                                        </p:tgtEl>
                                        <p:attrNameLst>
                                          <p:attrName>style.visibility</p:attrName>
                                        </p:attrNameLst>
                                      </p:cBhvr>
                                      <p:to>
                                        <p:strVal val="visible"/>
                                      </p:to>
                                    </p:set>
                                    <p:animEffect transition="in" filter="wipe(left)">
                                      <p:cBhvr>
                                        <p:cTn id="17" dur="500"/>
                                        <p:tgtEl>
                                          <p:spTgt spid="5468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546895"/>
                                        </p:tgtEl>
                                        <p:attrNameLst>
                                          <p:attrName>style.visibility</p:attrName>
                                        </p:attrNameLst>
                                      </p:cBhvr>
                                      <p:to>
                                        <p:strVal val="visible"/>
                                      </p:to>
                                    </p:set>
                                    <p:animEffect transition="in" filter="strips(downRight)">
                                      <p:cBhvr>
                                        <p:cTn id="22" dur="500"/>
                                        <p:tgtEl>
                                          <p:spTgt spid="546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91" grpId="0"/>
      <p:bldP spid="54689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3124200" y="4876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544771" name="Object 3"/>
          <p:cNvGraphicFramePr>
            <a:graphicFrameLocks noChangeAspect="1"/>
          </p:cNvGraphicFramePr>
          <p:nvPr>
            <p:extLst>
              <p:ext uri="{D42A27DB-BD31-4B8C-83A1-F6EECF244321}">
                <p14:modId xmlns:p14="http://schemas.microsoft.com/office/powerpoint/2010/main" val="4139868822"/>
              </p:ext>
            </p:extLst>
          </p:nvPr>
        </p:nvGraphicFramePr>
        <p:xfrm>
          <a:off x="1371600" y="1219200"/>
          <a:ext cx="2986088" cy="976313"/>
        </p:xfrm>
        <a:graphic>
          <a:graphicData uri="http://schemas.openxmlformats.org/presentationml/2006/ole">
            <mc:AlternateContent xmlns:mc="http://schemas.openxmlformats.org/markup-compatibility/2006">
              <mc:Choice xmlns:v="urn:schemas-microsoft-com:vml" Requires="v">
                <p:oleObj spid="_x0000_s82970" name="Equation" r:id="rId4" imgW="1117600" imgH="457200" progId="Equation.3">
                  <p:embed/>
                </p:oleObj>
              </mc:Choice>
              <mc:Fallback>
                <p:oleObj name="Equation" r:id="rId4" imgW="11176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1219200"/>
                        <a:ext cx="2986088"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4772" name="Text Box 4"/>
          <p:cNvSpPr txBox="1">
            <a:spLocks noChangeArrowheads="1"/>
          </p:cNvSpPr>
          <p:nvPr/>
        </p:nvSpPr>
        <p:spPr bwMode="auto">
          <a:xfrm>
            <a:off x="609600" y="6096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将各支路电流代入下列节点方程</a:t>
            </a:r>
          </a:p>
        </p:txBody>
      </p:sp>
      <p:sp>
        <p:nvSpPr>
          <p:cNvPr id="544773" name="Text Box 5"/>
          <p:cNvSpPr txBox="1">
            <a:spLocks noChangeArrowheads="1"/>
          </p:cNvSpPr>
          <p:nvPr/>
        </p:nvSpPr>
        <p:spPr bwMode="auto">
          <a:xfrm>
            <a:off x="609600" y="22860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经整理后得</a:t>
            </a:r>
          </a:p>
        </p:txBody>
      </p:sp>
      <p:graphicFrame>
        <p:nvGraphicFramePr>
          <p:cNvPr id="544774" name="Object 6"/>
          <p:cNvGraphicFramePr>
            <a:graphicFrameLocks noChangeAspect="1"/>
          </p:cNvGraphicFramePr>
          <p:nvPr>
            <p:extLst>
              <p:ext uri="{D42A27DB-BD31-4B8C-83A1-F6EECF244321}">
                <p14:modId xmlns:p14="http://schemas.microsoft.com/office/powerpoint/2010/main" val="2732964759"/>
              </p:ext>
            </p:extLst>
          </p:nvPr>
        </p:nvGraphicFramePr>
        <p:xfrm>
          <a:off x="1143000" y="2895600"/>
          <a:ext cx="3154363" cy="976313"/>
        </p:xfrm>
        <a:graphic>
          <a:graphicData uri="http://schemas.openxmlformats.org/presentationml/2006/ole">
            <mc:AlternateContent xmlns:mc="http://schemas.openxmlformats.org/markup-compatibility/2006">
              <mc:Choice xmlns:v="urn:schemas-microsoft-com:vml" Requires="v">
                <p:oleObj spid="_x0000_s82971" name="Equation" r:id="rId6" imgW="1181100" imgH="457200" progId="Equation.3">
                  <p:embed/>
                </p:oleObj>
              </mc:Choice>
              <mc:Fallback>
                <p:oleObj name="Equation" r:id="rId6" imgW="11811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2895600"/>
                        <a:ext cx="3154363"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4775" name="Text Box 7"/>
          <p:cNvSpPr txBox="1">
            <a:spLocks noChangeArrowheads="1"/>
          </p:cNvSpPr>
          <p:nvPr/>
        </p:nvSpPr>
        <p:spPr bwMode="auto">
          <a:xfrm>
            <a:off x="685800" y="38862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解得</a:t>
            </a:r>
          </a:p>
        </p:txBody>
      </p:sp>
      <p:graphicFrame>
        <p:nvGraphicFramePr>
          <p:cNvPr id="544776" name="Object 8"/>
          <p:cNvGraphicFramePr>
            <a:graphicFrameLocks noChangeAspect="1"/>
          </p:cNvGraphicFramePr>
          <p:nvPr>
            <p:extLst>
              <p:ext uri="{D42A27DB-BD31-4B8C-83A1-F6EECF244321}">
                <p14:modId xmlns:p14="http://schemas.microsoft.com/office/powerpoint/2010/main" val="3094605410"/>
              </p:ext>
            </p:extLst>
          </p:nvPr>
        </p:nvGraphicFramePr>
        <p:xfrm>
          <a:off x="1519238" y="4508500"/>
          <a:ext cx="1900237" cy="976313"/>
        </p:xfrm>
        <a:graphic>
          <a:graphicData uri="http://schemas.openxmlformats.org/presentationml/2006/ole">
            <mc:AlternateContent xmlns:mc="http://schemas.openxmlformats.org/markup-compatibility/2006">
              <mc:Choice xmlns:v="urn:schemas-microsoft-com:vml" Requires="v">
                <p:oleObj spid="_x0000_s82972" name="Equation" r:id="rId8" imgW="711200" imgH="457200" progId="Equation.3">
                  <p:embed/>
                </p:oleObj>
              </mc:Choice>
              <mc:Fallback>
                <p:oleObj name="Equation" r:id="rId8" imgW="71120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9238" y="4508500"/>
                        <a:ext cx="1900237"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825" name="Group 9"/>
          <p:cNvGrpSpPr>
            <a:grpSpLocks/>
          </p:cNvGrpSpPr>
          <p:nvPr/>
        </p:nvGrpSpPr>
        <p:grpSpPr bwMode="auto">
          <a:xfrm>
            <a:off x="4648200" y="2133600"/>
            <a:ext cx="4495800" cy="2576513"/>
            <a:chOff x="1488" y="144"/>
            <a:chExt cx="2832" cy="1623"/>
          </a:xfrm>
        </p:grpSpPr>
        <p:sp>
          <p:nvSpPr>
            <p:cNvPr id="544778" name="Text Box 10"/>
            <p:cNvSpPr txBox="1">
              <a:spLocks noChangeArrowheads="1"/>
            </p:cNvSpPr>
            <p:nvPr/>
          </p:nvSpPr>
          <p:spPr bwMode="auto">
            <a:xfrm>
              <a:off x="3744" y="1344"/>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10Ω</a:t>
              </a:r>
            </a:p>
          </p:txBody>
        </p:sp>
        <p:grpSp>
          <p:nvGrpSpPr>
            <p:cNvPr id="34827" name="Group 11"/>
            <p:cNvGrpSpPr>
              <a:grpSpLocks/>
            </p:cNvGrpSpPr>
            <p:nvPr/>
          </p:nvGrpSpPr>
          <p:grpSpPr bwMode="auto">
            <a:xfrm>
              <a:off x="1488" y="144"/>
              <a:ext cx="2640" cy="1623"/>
              <a:chOff x="1488" y="144"/>
              <a:chExt cx="2640" cy="1623"/>
            </a:xfrm>
          </p:grpSpPr>
          <p:sp>
            <p:nvSpPr>
              <p:cNvPr id="34828" name="Text Box 12"/>
              <p:cNvSpPr txBox="1">
                <a:spLocks noChangeArrowheads="1"/>
              </p:cNvSpPr>
              <p:nvPr/>
            </p:nvSpPr>
            <p:spPr bwMode="auto">
              <a:xfrm>
                <a:off x="1680" y="807"/>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70V</a:t>
                </a:r>
              </a:p>
            </p:txBody>
          </p:sp>
          <p:sp>
            <p:nvSpPr>
              <p:cNvPr id="34829" name="Text Box 13"/>
              <p:cNvSpPr txBox="1">
                <a:spLocks noChangeArrowheads="1"/>
              </p:cNvSpPr>
              <p:nvPr/>
            </p:nvSpPr>
            <p:spPr bwMode="auto">
              <a:xfrm>
                <a:off x="2304" y="183"/>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2V</a:t>
                </a:r>
              </a:p>
            </p:txBody>
          </p:sp>
          <p:grpSp>
            <p:nvGrpSpPr>
              <p:cNvPr id="34830" name="Group 14"/>
              <p:cNvGrpSpPr>
                <a:grpSpLocks/>
              </p:cNvGrpSpPr>
              <p:nvPr/>
            </p:nvGrpSpPr>
            <p:grpSpPr bwMode="auto">
              <a:xfrm>
                <a:off x="1488" y="375"/>
                <a:ext cx="2316" cy="1262"/>
                <a:chOff x="1488" y="375"/>
                <a:chExt cx="2316" cy="1262"/>
              </a:xfrm>
            </p:grpSpPr>
            <p:sp>
              <p:nvSpPr>
                <p:cNvPr id="34843" name="Line 15"/>
                <p:cNvSpPr>
                  <a:spLocks noChangeShapeType="1"/>
                </p:cNvSpPr>
                <p:nvPr/>
              </p:nvSpPr>
              <p:spPr bwMode="auto">
                <a:xfrm flipH="1">
                  <a:off x="1818" y="542"/>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4844" name="Group 16"/>
                <p:cNvGrpSpPr>
                  <a:grpSpLocks/>
                </p:cNvGrpSpPr>
                <p:nvPr/>
              </p:nvGrpSpPr>
              <p:grpSpPr bwMode="auto">
                <a:xfrm>
                  <a:off x="1488" y="728"/>
                  <a:ext cx="286" cy="438"/>
                  <a:chOff x="651" y="1308"/>
                  <a:chExt cx="332" cy="477"/>
                </a:xfrm>
              </p:grpSpPr>
              <p:grpSp>
                <p:nvGrpSpPr>
                  <p:cNvPr id="34889" name="Group 17"/>
                  <p:cNvGrpSpPr>
                    <a:grpSpLocks/>
                  </p:cNvGrpSpPr>
                  <p:nvPr/>
                </p:nvGrpSpPr>
                <p:grpSpPr bwMode="auto">
                  <a:xfrm>
                    <a:off x="871" y="1308"/>
                    <a:ext cx="112" cy="420"/>
                    <a:chOff x="2863" y="624"/>
                    <a:chExt cx="112" cy="420"/>
                  </a:xfrm>
                </p:grpSpPr>
                <p:sp>
                  <p:nvSpPr>
                    <p:cNvPr id="34892" name="Line 18"/>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93" name="Line 19"/>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94" name="Line 20"/>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4890" name="Oval 21"/>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91" name="Line 22"/>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4845" name="Group 23"/>
                <p:cNvGrpSpPr>
                  <a:grpSpLocks/>
                </p:cNvGrpSpPr>
                <p:nvPr/>
              </p:nvGrpSpPr>
              <p:grpSpPr bwMode="auto">
                <a:xfrm>
                  <a:off x="3706" y="951"/>
                  <a:ext cx="98" cy="471"/>
                  <a:chOff x="795" y="567"/>
                  <a:chExt cx="114" cy="513"/>
                </a:xfrm>
              </p:grpSpPr>
              <p:sp>
                <p:nvSpPr>
                  <p:cNvPr id="34887" name="Line 24"/>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88" name="Rectangle 25"/>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4846" name="Group 26"/>
                <p:cNvGrpSpPr>
                  <a:grpSpLocks/>
                </p:cNvGrpSpPr>
                <p:nvPr/>
              </p:nvGrpSpPr>
              <p:grpSpPr bwMode="auto">
                <a:xfrm rot="-5400000">
                  <a:off x="2981" y="310"/>
                  <a:ext cx="99" cy="471"/>
                  <a:chOff x="795" y="567"/>
                  <a:chExt cx="114" cy="513"/>
                </a:xfrm>
              </p:grpSpPr>
              <p:sp>
                <p:nvSpPr>
                  <p:cNvPr id="34885" name="Line 27"/>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86" name="Rectangle 28"/>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4847" name="Line 29"/>
                <p:cNvSpPr>
                  <a:spLocks noChangeShapeType="1"/>
                </p:cNvSpPr>
                <p:nvPr/>
              </p:nvSpPr>
              <p:spPr bwMode="auto">
                <a:xfrm>
                  <a:off x="1585" y="542"/>
                  <a:ext cx="4" cy="2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8" name="Line 30"/>
                <p:cNvSpPr>
                  <a:spLocks noChangeShapeType="1"/>
                </p:cNvSpPr>
                <p:nvPr/>
              </p:nvSpPr>
              <p:spPr bwMode="auto">
                <a:xfrm flipV="1">
                  <a:off x="1585" y="542"/>
                  <a:ext cx="542" cy="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9" name="Line 31"/>
                <p:cNvSpPr>
                  <a:spLocks noChangeShapeType="1"/>
                </p:cNvSpPr>
                <p:nvPr/>
              </p:nvSpPr>
              <p:spPr bwMode="auto">
                <a:xfrm>
                  <a:off x="1589" y="1152"/>
                  <a:ext cx="0" cy="2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0" name="Line 32"/>
                <p:cNvSpPr>
                  <a:spLocks noChangeShapeType="1"/>
                </p:cNvSpPr>
                <p:nvPr/>
              </p:nvSpPr>
              <p:spPr bwMode="auto">
                <a:xfrm>
                  <a:off x="3753" y="537"/>
                  <a:ext cx="1" cy="42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1" name="Line 33"/>
                <p:cNvSpPr>
                  <a:spLocks noChangeShapeType="1"/>
                </p:cNvSpPr>
                <p:nvPr/>
              </p:nvSpPr>
              <p:spPr bwMode="auto">
                <a:xfrm flipH="1">
                  <a:off x="2219" y="1246"/>
                  <a:ext cx="4" cy="39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2" name="Line 34"/>
                <p:cNvSpPr>
                  <a:spLocks noChangeShapeType="1"/>
                </p:cNvSpPr>
                <p:nvPr/>
              </p:nvSpPr>
              <p:spPr bwMode="auto">
                <a:xfrm>
                  <a:off x="2109" y="546"/>
                  <a:ext cx="40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3" name="Line 35"/>
                <p:cNvSpPr>
                  <a:spLocks noChangeShapeType="1"/>
                </p:cNvSpPr>
                <p:nvPr/>
              </p:nvSpPr>
              <p:spPr bwMode="auto">
                <a:xfrm>
                  <a:off x="3191" y="542"/>
                  <a:ext cx="563"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4" name="Line 36"/>
                <p:cNvSpPr>
                  <a:spLocks noChangeShapeType="1"/>
                </p:cNvSpPr>
                <p:nvPr/>
              </p:nvSpPr>
              <p:spPr bwMode="auto">
                <a:xfrm flipV="1">
                  <a:off x="1589" y="1628"/>
                  <a:ext cx="2161"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5" name="Line 37"/>
                <p:cNvSpPr>
                  <a:spLocks noChangeShapeType="1"/>
                </p:cNvSpPr>
                <p:nvPr/>
              </p:nvSpPr>
              <p:spPr bwMode="auto">
                <a:xfrm>
                  <a:off x="3275" y="1254"/>
                  <a:ext cx="4" cy="3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6" name="Line 38"/>
                <p:cNvSpPr>
                  <a:spLocks noChangeShapeType="1"/>
                </p:cNvSpPr>
                <p:nvPr/>
              </p:nvSpPr>
              <p:spPr bwMode="auto">
                <a:xfrm>
                  <a:off x="3753" y="1369"/>
                  <a:ext cx="0" cy="25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7" name="Line 39"/>
                <p:cNvSpPr>
                  <a:spLocks noChangeShapeType="1"/>
                </p:cNvSpPr>
                <p:nvPr/>
              </p:nvSpPr>
              <p:spPr bwMode="auto">
                <a:xfrm>
                  <a:off x="2223" y="537"/>
                  <a:ext cx="0" cy="4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4858" name="Group 40"/>
                <p:cNvGrpSpPr>
                  <a:grpSpLocks/>
                </p:cNvGrpSpPr>
                <p:nvPr/>
              </p:nvGrpSpPr>
              <p:grpSpPr bwMode="auto">
                <a:xfrm>
                  <a:off x="1541" y="1158"/>
                  <a:ext cx="98" cy="471"/>
                  <a:chOff x="795" y="567"/>
                  <a:chExt cx="114" cy="513"/>
                </a:xfrm>
              </p:grpSpPr>
              <p:sp>
                <p:nvSpPr>
                  <p:cNvPr id="34883" name="Line 41"/>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84" name="Rectangle 42"/>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4859" name="Group 43"/>
                <p:cNvGrpSpPr>
                  <a:grpSpLocks/>
                </p:cNvGrpSpPr>
                <p:nvPr/>
              </p:nvGrpSpPr>
              <p:grpSpPr bwMode="auto">
                <a:xfrm>
                  <a:off x="2173" y="972"/>
                  <a:ext cx="98" cy="471"/>
                  <a:chOff x="795" y="567"/>
                  <a:chExt cx="114" cy="513"/>
                </a:xfrm>
              </p:grpSpPr>
              <p:sp>
                <p:nvSpPr>
                  <p:cNvPr id="34881" name="Line 44"/>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82" name="Rectangle 45"/>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4860" name="Group 46"/>
                <p:cNvGrpSpPr>
                  <a:grpSpLocks/>
                </p:cNvGrpSpPr>
                <p:nvPr/>
              </p:nvGrpSpPr>
              <p:grpSpPr bwMode="auto">
                <a:xfrm>
                  <a:off x="3200" y="907"/>
                  <a:ext cx="163" cy="374"/>
                  <a:chOff x="5605" y="3812"/>
                  <a:chExt cx="407" cy="935"/>
                </a:xfrm>
              </p:grpSpPr>
              <p:sp>
                <p:nvSpPr>
                  <p:cNvPr id="34873" name="Oval 47"/>
                  <p:cNvSpPr>
                    <a:spLocks noChangeArrowheads="1"/>
                  </p:cNvSpPr>
                  <p:nvPr/>
                </p:nvSpPr>
                <p:spPr bwMode="auto">
                  <a:xfrm>
                    <a:off x="5605" y="4153"/>
                    <a:ext cx="407" cy="396"/>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4" name="Line 48"/>
                  <p:cNvSpPr>
                    <a:spLocks noChangeShapeType="1"/>
                  </p:cNvSpPr>
                  <p:nvPr/>
                </p:nvSpPr>
                <p:spPr bwMode="auto">
                  <a:xfrm>
                    <a:off x="5605" y="4351"/>
                    <a:ext cx="40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5" name="Line 49"/>
                  <p:cNvSpPr>
                    <a:spLocks noChangeShapeType="1"/>
                  </p:cNvSpPr>
                  <p:nvPr/>
                </p:nvSpPr>
                <p:spPr bwMode="auto">
                  <a:xfrm>
                    <a:off x="5809" y="3955"/>
                    <a:ext cx="0"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6" name="Line 50"/>
                  <p:cNvSpPr>
                    <a:spLocks noChangeShapeType="1"/>
                  </p:cNvSpPr>
                  <p:nvPr/>
                </p:nvSpPr>
                <p:spPr bwMode="auto">
                  <a:xfrm>
                    <a:off x="5809" y="4549"/>
                    <a:ext cx="0" cy="19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4877" name="Group 51"/>
                  <p:cNvGrpSpPr>
                    <a:grpSpLocks/>
                  </p:cNvGrpSpPr>
                  <p:nvPr/>
                </p:nvGrpSpPr>
                <p:grpSpPr bwMode="auto">
                  <a:xfrm>
                    <a:off x="5758" y="3812"/>
                    <a:ext cx="101" cy="198"/>
                    <a:chOff x="1379" y="738"/>
                    <a:chExt cx="56" cy="114"/>
                  </a:xfrm>
                </p:grpSpPr>
                <p:sp>
                  <p:nvSpPr>
                    <p:cNvPr id="34878" name="Line 52"/>
                    <p:cNvSpPr>
                      <a:spLocks noChangeShapeType="1"/>
                    </p:cNvSpPr>
                    <p:nvPr/>
                  </p:nvSpPr>
                  <p:spPr bwMode="auto">
                    <a:xfrm>
                      <a:off x="1407" y="738"/>
                      <a:ext cx="0"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9" name="Line 53"/>
                    <p:cNvSpPr>
                      <a:spLocks noChangeShapeType="1"/>
                    </p:cNvSpPr>
                    <p:nvPr/>
                  </p:nvSpPr>
                  <p:spPr bwMode="auto">
                    <a:xfrm flipH="1">
                      <a:off x="1379" y="738"/>
                      <a:ext cx="29"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80" name="Line 54"/>
                    <p:cNvSpPr>
                      <a:spLocks noChangeShapeType="1"/>
                    </p:cNvSpPr>
                    <p:nvPr/>
                  </p:nvSpPr>
                  <p:spPr bwMode="auto">
                    <a:xfrm>
                      <a:off x="1407" y="738"/>
                      <a:ext cx="28" cy="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4861" name="Group 55"/>
                <p:cNvGrpSpPr>
                  <a:grpSpLocks/>
                </p:cNvGrpSpPr>
                <p:nvPr/>
              </p:nvGrpSpPr>
              <p:grpSpPr bwMode="auto">
                <a:xfrm>
                  <a:off x="2260" y="375"/>
                  <a:ext cx="438" cy="268"/>
                  <a:chOff x="3535" y="2482"/>
                  <a:chExt cx="1096" cy="669"/>
                </a:xfrm>
              </p:grpSpPr>
              <p:grpSp>
                <p:nvGrpSpPr>
                  <p:cNvPr id="34867" name="Group 56"/>
                  <p:cNvGrpSpPr>
                    <a:grpSpLocks/>
                  </p:cNvGrpSpPr>
                  <p:nvPr/>
                </p:nvGrpSpPr>
                <p:grpSpPr bwMode="auto">
                  <a:xfrm>
                    <a:off x="3535" y="2482"/>
                    <a:ext cx="1084" cy="241"/>
                    <a:chOff x="3535" y="2482"/>
                    <a:chExt cx="1084" cy="241"/>
                  </a:xfrm>
                </p:grpSpPr>
                <p:sp>
                  <p:nvSpPr>
                    <p:cNvPr id="34870" name="Line 57"/>
                    <p:cNvSpPr>
                      <a:spLocks noChangeShapeType="1"/>
                    </p:cNvSpPr>
                    <p:nvPr/>
                  </p:nvSpPr>
                  <p:spPr bwMode="auto">
                    <a:xfrm rot="-5400000">
                      <a:off x="3543" y="2603"/>
                      <a:ext cx="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1" name="Line 58"/>
                    <p:cNvSpPr>
                      <a:spLocks noChangeShapeType="1"/>
                    </p:cNvSpPr>
                    <p:nvPr/>
                  </p:nvSpPr>
                  <p:spPr bwMode="auto">
                    <a:xfrm>
                      <a:off x="4378" y="2602"/>
                      <a:ext cx="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72" name="Line 59"/>
                    <p:cNvSpPr>
                      <a:spLocks noChangeShapeType="1"/>
                    </p:cNvSpPr>
                    <p:nvPr/>
                  </p:nvSpPr>
                  <p:spPr bwMode="auto">
                    <a:xfrm>
                      <a:off x="3535" y="2602"/>
                      <a:ext cx="25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4868" name="Oval 60"/>
                  <p:cNvSpPr>
                    <a:spLocks noChangeArrowheads="1"/>
                  </p:cNvSpPr>
                  <p:nvPr/>
                </p:nvSpPr>
                <p:spPr bwMode="auto">
                  <a:xfrm rot="-5400000">
                    <a:off x="3862" y="2644"/>
                    <a:ext cx="491" cy="52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69" name="Line 61"/>
                  <p:cNvSpPr>
                    <a:spLocks noChangeShapeType="1"/>
                  </p:cNvSpPr>
                  <p:nvPr/>
                </p:nvSpPr>
                <p:spPr bwMode="auto">
                  <a:xfrm rot="-5400000">
                    <a:off x="4108" y="2382"/>
                    <a:ext cx="0" cy="104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4862" name="Line 62"/>
                <p:cNvSpPr>
                  <a:spLocks noChangeShapeType="1"/>
                </p:cNvSpPr>
                <p:nvPr/>
              </p:nvSpPr>
              <p:spPr bwMode="auto">
                <a:xfrm>
                  <a:off x="3279" y="555"/>
                  <a:ext cx="0" cy="4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63" name="Line 63"/>
                <p:cNvSpPr>
                  <a:spLocks noChangeShapeType="1"/>
                </p:cNvSpPr>
                <p:nvPr/>
              </p:nvSpPr>
              <p:spPr bwMode="auto">
                <a:xfrm>
                  <a:off x="2654" y="542"/>
                  <a:ext cx="163"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64" name="Line 64"/>
                <p:cNvSpPr>
                  <a:spLocks noChangeShapeType="1"/>
                </p:cNvSpPr>
                <p:nvPr/>
              </p:nvSpPr>
              <p:spPr bwMode="auto">
                <a:xfrm>
                  <a:off x="2711" y="542"/>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65" name="Line 65"/>
                <p:cNvSpPr>
                  <a:spLocks noChangeShapeType="1"/>
                </p:cNvSpPr>
                <p:nvPr/>
              </p:nvSpPr>
              <p:spPr bwMode="auto">
                <a:xfrm rot="5400000">
                  <a:off x="2166" y="771"/>
                  <a:ext cx="105"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66" name="Line 66"/>
                <p:cNvSpPr>
                  <a:spLocks noChangeShapeType="1"/>
                </p:cNvSpPr>
                <p:nvPr/>
              </p:nvSpPr>
              <p:spPr bwMode="auto">
                <a:xfrm rot="5400000">
                  <a:off x="3693" y="788"/>
                  <a:ext cx="106"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4831" name="Text Box 67"/>
              <p:cNvSpPr txBox="1">
                <a:spLocks noChangeArrowheads="1"/>
              </p:cNvSpPr>
              <p:nvPr/>
            </p:nvSpPr>
            <p:spPr bwMode="auto">
              <a:xfrm>
                <a:off x="2736" y="1287"/>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1.6A</a:t>
                </a:r>
              </a:p>
            </p:txBody>
          </p:sp>
          <p:sp>
            <p:nvSpPr>
              <p:cNvPr id="544836" name="Text Box 68"/>
              <p:cNvSpPr txBox="1">
                <a:spLocks noChangeArrowheads="1"/>
              </p:cNvSpPr>
              <p:nvPr/>
            </p:nvSpPr>
            <p:spPr bwMode="auto">
              <a:xfrm>
                <a:off x="1632" y="1287"/>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2Ω</a:t>
                </a:r>
              </a:p>
            </p:txBody>
          </p:sp>
          <p:sp>
            <p:nvSpPr>
              <p:cNvPr id="544837" name="Text Box 69"/>
              <p:cNvSpPr txBox="1">
                <a:spLocks noChangeArrowheads="1"/>
              </p:cNvSpPr>
              <p:nvPr/>
            </p:nvSpPr>
            <p:spPr bwMode="auto">
              <a:xfrm>
                <a:off x="3792" y="663"/>
                <a:ext cx="33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4838" name="Text Box 70"/>
              <p:cNvSpPr txBox="1">
                <a:spLocks noChangeArrowheads="1"/>
              </p:cNvSpPr>
              <p:nvPr/>
            </p:nvSpPr>
            <p:spPr bwMode="auto">
              <a:xfrm>
                <a:off x="2832" y="144"/>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3Ω</a:t>
                </a:r>
              </a:p>
            </p:txBody>
          </p:sp>
          <p:sp>
            <p:nvSpPr>
              <p:cNvPr id="544839" name="Text Box 71"/>
              <p:cNvSpPr txBox="1">
                <a:spLocks noChangeArrowheads="1"/>
              </p:cNvSpPr>
              <p:nvPr/>
            </p:nvSpPr>
            <p:spPr bwMode="auto">
              <a:xfrm>
                <a:off x="2256" y="1095"/>
                <a:ext cx="576"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4Ω</a:t>
                </a:r>
              </a:p>
            </p:txBody>
          </p:sp>
          <p:sp>
            <p:nvSpPr>
              <p:cNvPr id="544840" name="Text Box 72"/>
              <p:cNvSpPr txBox="1">
                <a:spLocks noChangeArrowheads="1"/>
              </p:cNvSpPr>
              <p:nvPr/>
            </p:nvSpPr>
            <p:spPr bwMode="auto">
              <a:xfrm>
                <a:off x="2688" y="519"/>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4841" name="Text Box 73"/>
              <p:cNvSpPr txBox="1">
                <a:spLocks noChangeArrowheads="1"/>
              </p:cNvSpPr>
              <p:nvPr/>
            </p:nvSpPr>
            <p:spPr bwMode="auto">
              <a:xfrm>
                <a:off x="2208" y="711"/>
                <a:ext cx="432"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4842" name="Text Box 74"/>
              <p:cNvSpPr txBox="1">
                <a:spLocks noChangeArrowheads="1"/>
              </p:cNvSpPr>
              <p:nvPr/>
            </p:nvSpPr>
            <p:spPr bwMode="auto">
              <a:xfrm>
                <a:off x="1488" y="183"/>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9" name="Text Box 75"/>
              <p:cNvSpPr txBox="1">
                <a:spLocks noChangeArrowheads="1"/>
              </p:cNvSpPr>
              <p:nvPr/>
            </p:nvSpPr>
            <p:spPr bwMode="auto">
              <a:xfrm>
                <a:off x="3216" y="27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②</a:t>
                </a:r>
              </a:p>
            </p:txBody>
          </p:sp>
          <p:sp>
            <p:nvSpPr>
              <p:cNvPr id="34840" name="Text Box 76"/>
              <p:cNvSpPr txBox="1">
                <a:spLocks noChangeArrowheads="1"/>
              </p:cNvSpPr>
              <p:nvPr/>
            </p:nvSpPr>
            <p:spPr bwMode="auto">
              <a:xfrm>
                <a:off x="1920" y="27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①</a:t>
                </a:r>
              </a:p>
            </p:txBody>
          </p:sp>
          <p:sp>
            <p:nvSpPr>
              <p:cNvPr id="34841" name="Line 77"/>
              <p:cNvSpPr>
                <a:spLocks noChangeShapeType="1"/>
              </p:cNvSpPr>
              <p:nvPr/>
            </p:nvSpPr>
            <p:spPr bwMode="auto">
              <a:xfrm>
                <a:off x="2400" y="1623"/>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2" name="Line 78"/>
              <p:cNvSpPr>
                <a:spLocks noChangeShapeType="1"/>
              </p:cNvSpPr>
              <p:nvPr/>
            </p:nvSpPr>
            <p:spPr bwMode="auto">
              <a:xfrm>
                <a:off x="2304" y="1767"/>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31</a:t>
            </a:fld>
            <a:endParaRPr lang="en-US" altLang="zh-CN"/>
          </a:p>
        </p:txBody>
      </p:sp>
    </p:spTree>
    <p:extLst>
      <p:ext uri="{BB962C8B-B14F-4D97-AF65-F5344CB8AC3E}">
        <p14:creationId xmlns:p14="http://schemas.microsoft.com/office/powerpoint/2010/main" val="15610692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4772"/>
                                        </p:tgtEl>
                                        <p:attrNameLst>
                                          <p:attrName>style.visibility</p:attrName>
                                        </p:attrNameLst>
                                      </p:cBhvr>
                                      <p:to>
                                        <p:strVal val="visible"/>
                                      </p:to>
                                    </p:set>
                                    <p:animEffect transition="in" filter="wipe(left)">
                                      <p:cBhvr>
                                        <p:cTn id="7" dur="500"/>
                                        <p:tgtEl>
                                          <p:spTgt spid="544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44771"/>
                                        </p:tgtEl>
                                        <p:attrNameLst>
                                          <p:attrName>style.visibility</p:attrName>
                                        </p:attrNameLst>
                                      </p:cBhvr>
                                      <p:to>
                                        <p:strVal val="visible"/>
                                      </p:to>
                                    </p:set>
                                    <p:animEffect transition="in" filter="strips(downRight)">
                                      <p:cBhvr>
                                        <p:cTn id="12" dur="500"/>
                                        <p:tgtEl>
                                          <p:spTgt spid="5447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4773"/>
                                        </p:tgtEl>
                                        <p:attrNameLst>
                                          <p:attrName>style.visibility</p:attrName>
                                        </p:attrNameLst>
                                      </p:cBhvr>
                                      <p:to>
                                        <p:strVal val="visible"/>
                                      </p:to>
                                    </p:set>
                                    <p:animEffect transition="in" filter="wipe(left)">
                                      <p:cBhvr>
                                        <p:cTn id="17" dur="500"/>
                                        <p:tgtEl>
                                          <p:spTgt spid="5447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544774"/>
                                        </p:tgtEl>
                                        <p:attrNameLst>
                                          <p:attrName>style.visibility</p:attrName>
                                        </p:attrNameLst>
                                      </p:cBhvr>
                                      <p:to>
                                        <p:strVal val="visible"/>
                                      </p:to>
                                    </p:set>
                                    <p:animEffect transition="in" filter="strips(downRight)">
                                      <p:cBhvr>
                                        <p:cTn id="22" dur="500"/>
                                        <p:tgtEl>
                                          <p:spTgt spid="5447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44775"/>
                                        </p:tgtEl>
                                        <p:attrNameLst>
                                          <p:attrName>style.visibility</p:attrName>
                                        </p:attrNameLst>
                                      </p:cBhvr>
                                      <p:to>
                                        <p:strVal val="visible"/>
                                      </p:to>
                                    </p:set>
                                    <p:animEffect transition="in" filter="wipe(left)">
                                      <p:cBhvr>
                                        <p:cTn id="27" dur="500"/>
                                        <p:tgtEl>
                                          <p:spTgt spid="5447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544776"/>
                                        </p:tgtEl>
                                        <p:attrNameLst>
                                          <p:attrName>style.visibility</p:attrName>
                                        </p:attrNameLst>
                                      </p:cBhvr>
                                      <p:to>
                                        <p:strVal val="visible"/>
                                      </p:to>
                                    </p:set>
                                    <p:animEffect transition="in" filter="strips(downRight)">
                                      <p:cBhvr>
                                        <p:cTn id="32" dur="500"/>
                                        <p:tgtEl>
                                          <p:spTgt spid="544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2" grpId="0"/>
      <p:bldP spid="544773" grpId="0"/>
      <p:bldP spid="54477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A1D44675-D713-4306-8471-588FFC333BC7}"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32</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5122" name="Rectangle 2"/>
          <p:cNvSpPr>
            <a:spLocks noGrp="1" noChangeArrowheads="1"/>
          </p:cNvSpPr>
          <p:nvPr>
            <p:ph type="body" idx="1"/>
          </p:nvPr>
        </p:nvSpPr>
        <p:spPr bwMode="auto">
          <a:xfrm>
            <a:off x="457200" y="836712"/>
            <a:ext cx="8229600" cy="4852988"/>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a:lnSpc>
                <a:spcPct val="150000"/>
              </a:lnSpc>
              <a:spcBef>
                <a:spcPct val="0"/>
              </a:spcBef>
              <a:buClrTx/>
              <a:buSzTx/>
              <a:buFontTx/>
              <a:buNone/>
              <a:defRPr/>
            </a:pPr>
            <a:r>
              <a:rPr lang="zh-CN" altLang="en-US" b="1" dirty="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叠加原理：</a:t>
            </a:r>
          </a:p>
          <a:p>
            <a:pPr>
              <a:lnSpc>
                <a:spcPct val="150000"/>
              </a:lnSpc>
              <a:spcBef>
                <a:spcPct val="0"/>
              </a:spcBef>
              <a:buClrTx/>
              <a:buSzTx/>
              <a:buFontTx/>
              <a:buNone/>
              <a:defRPr/>
            </a:pPr>
            <a:r>
              <a:rPr lang="zh-CN" altLang="en-US" b="1" dirty="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在</a:t>
            </a:r>
            <a:r>
              <a:rPr kumimoji="1"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线性电路中</a:t>
            </a:r>
            <a:r>
              <a:rPr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有多个电源共同作用时，电路中任何一条支路的电流（或电压） </a:t>
            </a:r>
            <a:r>
              <a:rPr lang="en-US" altLang="zh-CN"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都等于电路中各个电源单独作用时，在此支路中所产生的电流（或电压）的代数和。</a:t>
            </a:r>
            <a:endParaRPr lang="zh-CN" altLang="en-US" sz="2800" dirty="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 name="Rectangle 4"/>
          <p:cNvSpPr>
            <a:spLocks noChangeArrowheads="1"/>
          </p:cNvSpPr>
          <p:nvPr/>
        </p:nvSpPr>
        <p:spPr bwMode="auto">
          <a:xfrm>
            <a:off x="327025" y="89126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 name="Rectangle 2"/>
          <p:cNvSpPr>
            <a:spLocks noGrp="1" noChangeArrowheads="1"/>
          </p:cNvSpPr>
          <p:nvPr>
            <p:ph type="title"/>
          </p:nvPr>
        </p:nvSpPr>
        <p:spPr bwMode="auto">
          <a:xfrm>
            <a:off x="654705" y="157050"/>
            <a:ext cx="8229600" cy="7254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eaLnBrk="1" hangingPunct="1"/>
            <a:r>
              <a:rPr lang="en-US" altLang="zh-CN" sz="3200"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2.4   </a:t>
            </a:r>
            <a:r>
              <a:rPr lang="zh-CN" altLang="en-US" sz="32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叠加原理</a:t>
            </a:r>
          </a:p>
        </p:txBody>
      </p:sp>
    </p:spTree>
    <p:extLst>
      <p:ext uri="{BB962C8B-B14F-4D97-AF65-F5344CB8AC3E}">
        <p14:creationId xmlns:p14="http://schemas.microsoft.com/office/powerpoint/2010/main" val="35366229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5122">
                                            <p:bg/>
                                          </p:spTgt>
                                        </p:tgtEl>
                                        <p:attrNameLst>
                                          <p:attrName>style.visibility</p:attrName>
                                        </p:attrNameLst>
                                      </p:cBhvr>
                                      <p:to>
                                        <p:strVal val="visible"/>
                                      </p:to>
                                    </p:set>
                                    <p:animEffect transition="in" filter="wipe(left)">
                                      <p:cBhvr>
                                        <p:cTn id="7" dur="500"/>
                                        <p:tgtEl>
                                          <p:spTgt spid="645122">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122">
                                            <p:txEl>
                                              <p:pRg st="0" end="0"/>
                                            </p:txEl>
                                          </p:spTgt>
                                        </p:tgtEl>
                                        <p:attrNameLst>
                                          <p:attrName>style.visibility</p:attrName>
                                        </p:attrNameLst>
                                      </p:cBhvr>
                                      <p:to>
                                        <p:strVal val="visible"/>
                                      </p:to>
                                    </p:set>
                                    <p:animEffect transition="in" filter="wipe(left)">
                                      <p:cBhvr>
                                        <p:cTn id="12" dur="500"/>
                                        <p:tgtEl>
                                          <p:spTgt spid="64512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5122">
                                            <p:txEl>
                                              <p:pRg st="1" end="1"/>
                                            </p:txEl>
                                          </p:spTgt>
                                        </p:tgtEl>
                                        <p:attrNameLst>
                                          <p:attrName>style.visibility</p:attrName>
                                        </p:attrNameLst>
                                      </p:cBhvr>
                                      <p:to>
                                        <p:strVal val="visible"/>
                                      </p:to>
                                    </p:set>
                                    <p:animEffect transition="in" filter="blinds(horizontal)">
                                      <p:cBhvr>
                                        <p:cTn id="17" dur="500"/>
                                        <p:tgtEl>
                                          <p:spTgt spid="6451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2" grpId="0" build="p"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AA8A53CF-8CA9-4B18-ACF6-2CF999679197}"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33</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75" name="Rectangle 3"/>
          <p:cNvSpPr>
            <a:spLocks noChangeArrowheads="1"/>
          </p:cNvSpPr>
          <p:nvPr/>
        </p:nvSpPr>
        <p:spPr bwMode="auto">
          <a:xfrm>
            <a:off x="3330921" y="842963"/>
            <a:ext cx="51133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lnSpc>
                <a:spcPct val="125000"/>
              </a:lnSpc>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分析左图所示电路图，已知</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，求出</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3076" name="Rectangle 4"/>
          <p:cNvSpPr>
            <a:spLocks noChangeArrowheads="1"/>
          </p:cNvSpPr>
          <p:nvPr/>
        </p:nvSpPr>
        <p:spPr bwMode="auto">
          <a:xfrm>
            <a:off x="3778440" y="1797843"/>
            <a:ext cx="5113338" cy="2170113"/>
          </a:xfrm>
          <a:prstGeom prst="rect">
            <a:avLst/>
          </a:prstGeom>
          <a:noFill/>
          <a:ln w="9525">
            <a:noFill/>
            <a:miter lim="800000"/>
            <a:headEnd/>
            <a:tailEnd/>
          </a:ln>
          <a:effectLst/>
        </p:spPr>
        <p:txBody>
          <a:bodyPr anchor="b"/>
          <a:lstStyle/>
          <a:p>
            <a:pPr eaLnBrk="1" hangingPunct="1">
              <a:lnSpc>
                <a:spcPct val="125000"/>
              </a:lnSpc>
              <a:defRPr/>
            </a:pPr>
            <a:r>
              <a:rPr lang="zh-CN" altLang="en-US">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a:latin typeface="Times New Roman" panose="02020603050405020304" pitchFamily="18" charset="0"/>
                <a:ea typeface="华文中宋" panose="02010600040101010101" pitchFamily="2" charset="-122"/>
                <a:cs typeface="Times New Roman" panose="02020603050405020304" pitchFamily="18" charset="0"/>
              </a:rPr>
              <a:t>对节点</a:t>
            </a:r>
            <a:r>
              <a:rPr lang="en-US" altLang="zh-CN">
                <a:latin typeface="Times New Roman" panose="02020603050405020304" pitchFamily="18" charset="0"/>
                <a:ea typeface="华文中宋" panose="02010600040101010101" pitchFamily="2" charset="-122"/>
                <a:cs typeface="Times New Roman" panose="02020603050405020304" pitchFamily="18" charset="0"/>
              </a:rPr>
              <a:t>a</a:t>
            </a:r>
            <a:r>
              <a:rPr lang="zh-CN" altLang="en-US">
                <a:latin typeface="Times New Roman" panose="02020603050405020304" pitchFamily="18" charset="0"/>
                <a:ea typeface="华文中宋" panose="02010600040101010101" pitchFamily="2" charset="-122"/>
                <a:cs typeface="Times New Roman" panose="02020603050405020304" pitchFamily="18" charset="0"/>
              </a:rPr>
              <a:t>列</a:t>
            </a:r>
            <a:r>
              <a:rPr lang="en-US" altLang="zh-CN">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a:latin typeface="Times New Roman" panose="02020603050405020304" pitchFamily="18" charset="0"/>
                <a:ea typeface="华文中宋" panose="02010600040101010101" pitchFamily="2" charset="-122"/>
                <a:cs typeface="Times New Roman" panose="02020603050405020304" pitchFamily="18" charset="0"/>
              </a:rPr>
              <a:t>方程：</a:t>
            </a:r>
            <a:br>
              <a:rPr lang="zh-CN" altLang="en-US">
                <a:latin typeface="Times New Roman" panose="02020603050405020304" pitchFamily="18" charset="0"/>
                <a:ea typeface="华文中宋" panose="02010600040101010101" pitchFamily="2" charset="-122"/>
                <a:cs typeface="Times New Roman" panose="02020603050405020304" pitchFamily="18" charset="0"/>
              </a:rPr>
            </a:br>
            <a:r>
              <a:rPr lang="zh-CN" altLang="en-US">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a:latin typeface="Times New Roman" panose="02020603050405020304" pitchFamily="18" charset="0"/>
                <a:ea typeface="华文中宋" panose="02010600040101010101" pitchFamily="2" charset="-122"/>
                <a:cs typeface="Times New Roman" panose="02020603050405020304" pitchFamily="18" charset="0"/>
              </a:rPr>
              <a:t>+ I</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S </a:t>
            </a:r>
            <a:r>
              <a:rPr kumimoji="1" lang="en-US" altLang="zh-CN" b="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b="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2 </a:t>
            </a:r>
            <a:r>
              <a:rPr lang="en-US" altLang="zh-CN">
                <a:latin typeface="Times New Roman" panose="02020603050405020304" pitchFamily="18" charset="0"/>
                <a:ea typeface="华文中宋" panose="02010600040101010101" pitchFamily="2" charset="-122"/>
                <a:cs typeface="Times New Roman" panose="02020603050405020304" pitchFamily="18" charset="0"/>
              </a:rPr>
              <a:t>= 0</a:t>
            </a:r>
            <a:br>
              <a:rPr lang="en-US" altLang="zh-CN">
                <a:latin typeface="Times New Roman" panose="02020603050405020304" pitchFamily="18" charset="0"/>
                <a:ea typeface="华文中宋" panose="02010600040101010101" pitchFamily="2" charset="-122"/>
                <a:cs typeface="Times New Roman" panose="02020603050405020304" pitchFamily="18" charset="0"/>
              </a:rPr>
            </a:br>
            <a:r>
              <a:rPr lang="en-US" altLang="zh-CN">
                <a:latin typeface="Times New Roman" panose="02020603050405020304" pitchFamily="18" charset="0"/>
                <a:ea typeface="华文中宋" panose="02010600040101010101" pitchFamily="2" charset="-122"/>
                <a:cs typeface="Times New Roman" panose="02020603050405020304" pitchFamily="18" charset="0"/>
              </a:rPr>
              <a:t>      </a:t>
            </a:r>
            <a:r>
              <a:rPr lang="zh-CN" altLang="en-US">
                <a:latin typeface="Times New Roman" panose="02020603050405020304" pitchFamily="18" charset="0"/>
                <a:ea typeface="华文中宋" panose="02010600040101010101" pitchFamily="2" charset="-122"/>
                <a:cs typeface="Times New Roman" panose="02020603050405020304" pitchFamily="18" charset="0"/>
              </a:rPr>
              <a:t>对回路列</a:t>
            </a:r>
            <a:r>
              <a:rPr lang="en-US" altLang="zh-CN">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a:latin typeface="Times New Roman" panose="02020603050405020304" pitchFamily="18" charset="0"/>
                <a:ea typeface="华文中宋" panose="02010600040101010101" pitchFamily="2" charset="-122"/>
                <a:cs typeface="Times New Roman" panose="02020603050405020304" pitchFamily="18" charset="0"/>
              </a:rPr>
              <a:t>方程：</a:t>
            </a:r>
            <a:br>
              <a:rPr lang="zh-CN" altLang="en-US">
                <a:latin typeface="Times New Roman" panose="02020603050405020304" pitchFamily="18" charset="0"/>
                <a:ea typeface="华文中宋" panose="02010600040101010101" pitchFamily="2" charset="-122"/>
                <a:cs typeface="Times New Roman" panose="02020603050405020304" pitchFamily="18" charset="0"/>
              </a:rPr>
            </a:br>
            <a:r>
              <a:rPr lang="zh-CN" altLang="en-US">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a:latin typeface="Times New Roman" panose="02020603050405020304" pitchFamily="18" charset="0"/>
                <a:ea typeface="华文中宋" panose="02010600040101010101" pitchFamily="2" charset="-122"/>
                <a:cs typeface="Times New Roman" panose="02020603050405020304" pitchFamily="18" charset="0"/>
              </a:rPr>
              <a:t>－Ｕ</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S </a:t>
            </a:r>
            <a:r>
              <a:rPr lang="en-US" altLang="zh-CN">
                <a:latin typeface="Times New Roman" panose="02020603050405020304" pitchFamily="18" charset="0"/>
                <a:ea typeface="华文中宋" panose="02010600040101010101" pitchFamily="2" charset="-122"/>
                <a:cs typeface="Times New Roman" panose="02020603050405020304" pitchFamily="18" charset="0"/>
              </a:rPr>
              <a:t>+ I</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a:latin typeface="Times New Roman" panose="02020603050405020304" pitchFamily="18" charset="0"/>
                <a:ea typeface="华文中宋" panose="02010600040101010101" pitchFamily="2" charset="-122"/>
                <a:cs typeface="Times New Roman" panose="02020603050405020304" pitchFamily="18" charset="0"/>
              </a:rPr>
              <a:t> = 0</a:t>
            </a:r>
          </a:p>
        </p:txBody>
      </p:sp>
      <p:grpSp>
        <p:nvGrpSpPr>
          <p:cNvPr id="2" name="Group 5"/>
          <p:cNvGrpSpPr>
            <a:grpSpLocks/>
          </p:cNvGrpSpPr>
          <p:nvPr/>
        </p:nvGrpSpPr>
        <p:grpSpPr bwMode="auto">
          <a:xfrm>
            <a:off x="307330" y="1628775"/>
            <a:ext cx="2969270" cy="2990850"/>
            <a:chOff x="190" y="1026"/>
            <a:chExt cx="1701" cy="1884"/>
          </a:xfrm>
        </p:grpSpPr>
        <p:grpSp>
          <p:nvGrpSpPr>
            <p:cNvPr id="36874" name="Group 6"/>
            <p:cNvGrpSpPr>
              <a:grpSpLocks/>
            </p:cNvGrpSpPr>
            <p:nvPr/>
          </p:nvGrpSpPr>
          <p:grpSpPr bwMode="auto">
            <a:xfrm>
              <a:off x="190" y="1249"/>
              <a:ext cx="1701" cy="1661"/>
              <a:chOff x="32" y="2106"/>
              <a:chExt cx="1701" cy="1661"/>
            </a:xfrm>
          </p:grpSpPr>
          <p:sp>
            <p:nvSpPr>
              <p:cNvPr id="643079" name="Text Box 7"/>
              <p:cNvSpPr txBox="1">
                <a:spLocks noChangeArrowheads="1"/>
              </p:cNvSpPr>
              <p:nvPr/>
            </p:nvSpPr>
            <p:spPr bwMode="auto">
              <a:xfrm>
                <a:off x="689" y="3360"/>
                <a:ext cx="635" cy="407"/>
              </a:xfrm>
              <a:prstGeom prst="rect">
                <a:avLst/>
              </a:prstGeom>
              <a:noFill/>
              <a:ln w="9525">
                <a:noFill/>
                <a:miter lim="800000"/>
                <a:headEnd/>
                <a:tailEnd/>
              </a:ln>
              <a:effectLst/>
            </p:spPr>
            <p:txBody>
              <a:bodyPr wrap="none">
                <a:spAutoFit/>
              </a:bodyPr>
              <a:lstStyle/>
              <a:p>
                <a:pPr>
                  <a:lnSpc>
                    <a:spcPct val="150000"/>
                  </a:lnSpc>
                  <a:defRPr/>
                </a:pP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原电路</a:t>
                </a:r>
              </a:p>
            </p:txBody>
          </p:sp>
          <p:sp>
            <p:nvSpPr>
              <p:cNvPr id="36877" name="Line 8"/>
              <p:cNvSpPr>
                <a:spLocks noChangeShapeType="1"/>
              </p:cNvSpPr>
              <p:nvPr/>
            </p:nvSpPr>
            <p:spPr bwMode="auto">
              <a:xfrm>
                <a:off x="274" y="2561"/>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78" name="Oval 9"/>
              <p:cNvSpPr>
                <a:spLocks noChangeArrowheads="1"/>
              </p:cNvSpPr>
              <p:nvPr/>
            </p:nvSpPr>
            <p:spPr bwMode="auto">
              <a:xfrm>
                <a:off x="335" y="2339"/>
                <a:ext cx="243"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79" name="Line 10"/>
              <p:cNvSpPr>
                <a:spLocks noChangeShapeType="1"/>
              </p:cNvSpPr>
              <p:nvPr/>
            </p:nvSpPr>
            <p:spPr bwMode="auto">
              <a:xfrm>
                <a:off x="457" y="2172"/>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83" name="Rectangle 11"/>
              <p:cNvSpPr>
                <a:spLocks noChangeArrowheads="1"/>
              </p:cNvSpPr>
              <p:nvPr/>
            </p:nvSpPr>
            <p:spPr bwMode="auto">
              <a:xfrm>
                <a:off x="395" y="2729"/>
                <a:ext cx="123" cy="223"/>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81" name="Line 12"/>
              <p:cNvSpPr>
                <a:spLocks noChangeShapeType="1"/>
              </p:cNvSpPr>
              <p:nvPr/>
            </p:nvSpPr>
            <p:spPr bwMode="auto">
              <a:xfrm>
                <a:off x="457" y="2952"/>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85" name="Text Box 13"/>
              <p:cNvSpPr txBox="1">
                <a:spLocks noChangeArrowheads="1"/>
              </p:cNvSpPr>
              <p:nvPr/>
            </p:nvSpPr>
            <p:spPr bwMode="auto">
              <a:xfrm>
                <a:off x="231" y="2106"/>
                <a:ext cx="246" cy="593"/>
              </a:xfrm>
              <a:prstGeom prst="rect">
                <a:avLst/>
              </a:prstGeom>
              <a:noFill/>
              <a:ln w="9525">
                <a:noFill/>
                <a:miter lim="800000"/>
                <a:headEnd/>
                <a:tailEnd/>
              </a:ln>
              <a:effectLst/>
            </p:spPr>
            <p:txBody>
              <a:bodyPr anchor="ctr">
                <a:spAutoFit/>
              </a:bodyPr>
              <a:lstStyle/>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6883" name="Group 14"/>
              <p:cNvGrpSpPr>
                <a:grpSpLocks/>
              </p:cNvGrpSpPr>
              <p:nvPr/>
            </p:nvGrpSpPr>
            <p:grpSpPr bwMode="auto">
              <a:xfrm>
                <a:off x="1004" y="2544"/>
                <a:ext cx="242" cy="222"/>
                <a:chOff x="902" y="2502"/>
                <a:chExt cx="242" cy="222"/>
              </a:xfrm>
            </p:grpSpPr>
            <p:sp>
              <p:nvSpPr>
                <p:cNvPr id="36901" name="Oval 15"/>
                <p:cNvSpPr>
                  <a:spLocks noChangeArrowheads="1"/>
                </p:cNvSpPr>
                <p:nvPr/>
              </p:nvSpPr>
              <p:spPr bwMode="auto">
                <a:xfrm flipV="1">
                  <a:off x="902" y="2502"/>
                  <a:ext cx="242"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902" name="Line 16"/>
                <p:cNvSpPr>
                  <a:spLocks noChangeShapeType="1"/>
                </p:cNvSpPr>
                <p:nvPr/>
              </p:nvSpPr>
              <p:spPr bwMode="auto">
                <a:xfrm flipV="1">
                  <a:off x="902" y="2613"/>
                  <a:ext cx="242"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6884" name="Line 17"/>
              <p:cNvSpPr>
                <a:spLocks noChangeShapeType="1"/>
              </p:cNvSpPr>
              <p:nvPr/>
            </p:nvSpPr>
            <p:spPr bwMode="auto">
              <a:xfrm>
                <a:off x="1125"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85" name="Line 18"/>
              <p:cNvSpPr>
                <a:spLocks noChangeShapeType="1"/>
              </p:cNvSpPr>
              <p:nvPr/>
            </p:nvSpPr>
            <p:spPr bwMode="auto">
              <a:xfrm>
                <a:off x="1125"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86" name="Line 19"/>
              <p:cNvSpPr>
                <a:spLocks noChangeShapeType="1"/>
              </p:cNvSpPr>
              <p:nvPr/>
            </p:nvSpPr>
            <p:spPr bwMode="auto">
              <a:xfrm>
                <a:off x="456" y="2172"/>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92" name="Rectangle 20"/>
              <p:cNvSpPr>
                <a:spLocks noChangeArrowheads="1"/>
              </p:cNvSpPr>
              <p:nvPr/>
            </p:nvSpPr>
            <p:spPr bwMode="auto">
              <a:xfrm>
                <a:off x="1611" y="2562"/>
                <a:ext cx="122"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88" name="Line 21"/>
              <p:cNvSpPr>
                <a:spLocks noChangeShapeType="1"/>
              </p:cNvSpPr>
              <p:nvPr/>
            </p:nvSpPr>
            <p:spPr bwMode="auto">
              <a:xfrm>
                <a:off x="1672"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89" name="Line 22"/>
              <p:cNvSpPr>
                <a:spLocks noChangeShapeType="1"/>
              </p:cNvSpPr>
              <p:nvPr/>
            </p:nvSpPr>
            <p:spPr bwMode="auto">
              <a:xfrm flipV="1">
                <a:off x="1672"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90" name="Line 23"/>
              <p:cNvSpPr>
                <a:spLocks noChangeShapeType="1"/>
              </p:cNvSpPr>
              <p:nvPr/>
            </p:nvSpPr>
            <p:spPr bwMode="auto">
              <a:xfrm>
                <a:off x="456" y="3174"/>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96" name="Text Box 24"/>
              <p:cNvSpPr txBox="1">
                <a:spLocks noChangeArrowheads="1"/>
              </p:cNvSpPr>
              <p:nvPr/>
            </p:nvSpPr>
            <p:spPr bwMode="auto">
              <a:xfrm>
                <a:off x="32" y="227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3097" name="Text Box 25"/>
              <p:cNvSpPr txBox="1">
                <a:spLocks noChangeArrowheads="1"/>
              </p:cNvSpPr>
              <p:nvPr/>
            </p:nvSpPr>
            <p:spPr bwMode="auto">
              <a:xfrm>
                <a:off x="124" y="2718"/>
                <a:ext cx="27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098" name="Text Box 26"/>
              <p:cNvSpPr txBox="1">
                <a:spLocks noChangeArrowheads="1"/>
              </p:cNvSpPr>
              <p:nvPr/>
            </p:nvSpPr>
            <p:spPr bwMode="auto">
              <a:xfrm>
                <a:off x="1377" y="2754"/>
                <a:ext cx="27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94" name="Line 27"/>
              <p:cNvSpPr>
                <a:spLocks noChangeShapeType="1"/>
              </p:cNvSpPr>
              <p:nvPr/>
            </p:nvSpPr>
            <p:spPr bwMode="auto">
              <a:xfrm flipV="1">
                <a:off x="942" y="2496"/>
                <a:ext cx="0" cy="2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95" name="Line 28"/>
              <p:cNvSpPr>
                <a:spLocks noChangeShapeType="1"/>
              </p:cNvSpPr>
              <p:nvPr/>
            </p:nvSpPr>
            <p:spPr bwMode="auto">
              <a:xfrm>
                <a:off x="1531" y="2256"/>
                <a:ext cx="0" cy="29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101" name="Text Box 29"/>
              <p:cNvSpPr txBox="1">
                <a:spLocks noChangeArrowheads="1"/>
              </p:cNvSpPr>
              <p:nvPr/>
            </p:nvSpPr>
            <p:spPr bwMode="auto">
              <a:xfrm>
                <a:off x="896" y="3195"/>
                <a:ext cx="30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36897" name="Line 30"/>
              <p:cNvSpPr>
                <a:spLocks noChangeShapeType="1"/>
              </p:cNvSpPr>
              <p:nvPr/>
            </p:nvSpPr>
            <p:spPr bwMode="auto">
              <a:xfrm flipV="1">
                <a:off x="578" y="2688"/>
                <a:ext cx="0" cy="2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103" name="Text Box 31"/>
              <p:cNvSpPr txBox="1">
                <a:spLocks noChangeArrowheads="1"/>
              </p:cNvSpPr>
              <p:nvPr/>
            </p:nvSpPr>
            <p:spPr bwMode="auto">
              <a:xfrm>
                <a:off x="697" y="2466"/>
                <a:ext cx="230"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104" name="Text Box 32"/>
              <p:cNvSpPr txBox="1">
                <a:spLocks noChangeArrowheads="1"/>
              </p:cNvSpPr>
              <p:nvPr/>
            </p:nvSpPr>
            <p:spPr bwMode="auto">
              <a:xfrm>
                <a:off x="609" y="2754"/>
                <a:ext cx="22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3105" name="Text Box 33"/>
              <p:cNvSpPr txBox="1">
                <a:spLocks noChangeArrowheads="1"/>
              </p:cNvSpPr>
              <p:nvPr/>
            </p:nvSpPr>
            <p:spPr bwMode="auto">
              <a:xfrm>
                <a:off x="1275" y="2178"/>
                <a:ext cx="22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6875" name="Text Box 34"/>
            <p:cNvSpPr txBox="1">
              <a:spLocks noChangeArrowheads="1"/>
            </p:cNvSpPr>
            <p:nvPr/>
          </p:nvSpPr>
          <p:spPr bwMode="auto">
            <a:xfrm>
              <a:off x="1084" y="1026"/>
              <a:ext cx="4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p>
          </p:txBody>
        </p:sp>
      </p:grpSp>
      <p:sp>
        <p:nvSpPr>
          <p:cNvPr id="643107" name="Rectangle 35"/>
          <p:cNvSpPr>
            <a:spLocks noChangeArrowheads="1"/>
          </p:cNvSpPr>
          <p:nvPr/>
        </p:nvSpPr>
        <p:spPr bwMode="auto">
          <a:xfrm>
            <a:off x="666750" y="4854575"/>
            <a:ext cx="3257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方程联立，可求得</a:t>
            </a:r>
          </a:p>
        </p:txBody>
      </p:sp>
      <p:graphicFrame>
        <p:nvGraphicFramePr>
          <p:cNvPr id="643108" name="Object 36"/>
          <p:cNvGraphicFramePr>
            <a:graphicFrameLocks noGrp="1" noChangeAspect="1"/>
          </p:cNvGraphicFramePr>
          <p:nvPr>
            <p:ph sz="half" idx="2"/>
            <p:extLst>
              <p:ext uri="{D42A27DB-BD31-4B8C-83A1-F6EECF244321}">
                <p14:modId xmlns:p14="http://schemas.microsoft.com/office/powerpoint/2010/main" val="1124044595"/>
              </p:ext>
            </p:extLst>
          </p:nvPr>
        </p:nvGraphicFramePr>
        <p:xfrm>
          <a:off x="4048471" y="4203115"/>
          <a:ext cx="3678237" cy="1892300"/>
        </p:xfrm>
        <a:graphic>
          <a:graphicData uri="http://schemas.openxmlformats.org/presentationml/2006/ole">
            <mc:AlternateContent xmlns:mc="http://schemas.openxmlformats.org/markup-compatibility/2006">
              <mc:Choice xmlns:v="urn:schemas-microsoft-com:vml" Requires="v">
                <p:oleObj spid="_x0000_s83980" name="公式" r:id="rId3" imgW="1727200" imgH="889000" progId="Equation.3">
                  <p:embed/>
                </p:oleObj>
              </mc:Choice>
              <mc:Fallback>
                <p:oleObj name="公式" r:id="rId3" imgW="1727200" imgH="889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8471" y="4203115"/>
                        <a:ext cx="3678237" cy="189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42245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43075"/>
                                        </p:tgtEl>
                                        <p:attrNameLst>
                                          <p:attrName>style.visibility</p:attrName>
                                        </p:attrNameLst>
                                      </p:cBhvr>
                                      <p:to>
                                        <p:strVal val="visible"/>
                                      </p:to>
                                    </p:set>
                                    <p:animEffect transition="in" filter="blinds(horizontal)">
                                      <p:cBhvr>
                                        <p:cTn id="13" dur="500"/>
                                        <p:tgtEl>
                                          <p:spTgt spid="64307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3076">
                                            <p:txEl>
                                              <p:pRg st="0" end="0"/>
                                            </p:txEl>
                                          </p:spTgt>
                                        </p:tgtEl>
                                        <p:attrNameLst>
                                          <p:attrName>style.visibility</p:attrName>
                                        </p:attrNameLst>
                                      </p:cBhvr>
                                      <p:to>
                                        <p:strVal val="visible"/>
                                      </p:to>
                                    </p:set>
                                    <p:animEffect transition="in" filter="wipe(left)">
                                      <p:cBhvr>
                                        <p:cTn id="18" dur="500"/>
                                        <p:tgtEl>
                                          <p:spTgt spid="643076">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43107"/>
                                        </p:tgtEl>
                                        <p:attrNameLst>
                                          <p:attrName>style.visibility</p:attrName>
                                        </p:attrNameLst>
                                      </p:cBhvr>
                                      <p:to>
                                        <p:strVal val="visible"/>
                                      </p:to>
                                    </p:set>
                                    <p:animEffect transition="in" filter="wipe(left)">
                                      <p:cBhvr>
                                        <p:cTn id="23" dur="500"/>
                                        <p:tgtEl>
                                          <p:spTgt spid="643107"/>
                                        </p:tgtEl>
                                      </p:cBhvr>
                                    </p:animEffect>
                                  </p:childTnLst>
                                </p:cTn>
                              </p:par>
                            </p:childTnLst>
                          </p:cTn>
                        </p:par>
                        <p:par>
                          <p:cTn id="24" fill="hold" nodeType="afterGroup">
                            <p:stCondLst>
                              <p:cond delay="500"/>
                            </p:stCondLst>
                            <p:childTnLst>
                              <p:par>
                                <p:cTn id="25" presetID="5" presetClass="entr" presetSubtype="10" fill="hold" nodeType="afterEffect">
                                  <p:stCondLst>
                                    <p:cond delay="0"/>
                                  </p:stCondLst>
                                  <p:childTnLst>
                                    <p:set>
                                      <p:cBhvr>
                                        <p:cTn id="26" dur="1" fill="hold">
                                          <p:stCondLst>
                                            <p:cond delay="0"/>
                                          </p:stCondLst>
                                        </p:cTn>
                                        <p:tgtEl>
                                          <p:spTgt spid="643108"/>
                                        </p:tgtEl>
                                        <p:attrNameLst>
                                          <p:attrName>style.visibility</p:attrName>
                                        </p:attrNameLst>
                                      </p:cBhvr>
                                      <p:to>
                                        <p:strVal val="visible"/>
                                      </p:to>
                                    </p:set>
                                    <p:animEffect transition="in" filter="checkerboard(across)">
                                      <p:cBhvr>
                                        <p:cTn id="27" dur="500"/>
                                        <p:tgtEl>
                                          <p:spTgt spid="643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5" grpId="0"/>
      <p:bldP spid="643076" grpId="0" build="p"/>
      <p:bldP spid="64310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9FD0F844-3182-4947-89AB-1BDBF2C46B46}"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34</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46146" name="Object 2"/>
          <p:cNvGraphicFramePr>
            <a:graphicFrameLocks noChangeAspect="1"/>
          </p:cNvGraphicFramePr>
          <p:nvPr/>
        </p:nvGraphicFramePr>
        <p:xfrm>
          <a:off x="5435600" y="3141663"/>
          <a:ext cx="1574800" cy="942975"/>
        </p:xfrm>
        <a:graphic>
          <a:graphicData uri="http://schemas.openxmlformats.org/presentationml/2006/ole">
            <mc:AlternateContent xmlns:mc="http://schemas.openxmlformats.org/markup-compatibility/2006">
              <mc:Choice xmlns:v="urn:schemas-microsoft-com:vml" Requires="v">
                <p:oleObj spid="_x0000_s99345" name="Equation" r:id="rId3" imgW="685868" imgH="400140" progId="Equation.DSMT4">
                  <p:embed/>
                </p:oleObj>
              </mc:Choice>
              <mc:Fallback>
                <p:oleObj name="Equation" r:id="rId3" imgW="685868" imgH="4001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3141663"/>
                        <a:ext cx="1574800" cy="9429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6147" name="Text Box 3"/>
          <p:cNvSpPr txBox="1">
            <a:spLocks noChangeArrowheads="1"/>
          </p:cNvSpPr>
          <p:nvPr/>
        </p:nvSpPr>
        <p:spPr bwMode="auto">
          <a:xfrm>
            <a:off x="533400" y="3962400"/>
            <a:ext cx="4595813" cy="461665"/>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由图 </a:t>
            </a:r>
            <a:r>
              <a:rPr kumimoji="1" lang="en-US" altLang="zh-CN">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，当 </a:t>
            </a:r>
            <a:r>
              <a:rPr kumimoji="1" lang="en-US" altLang="zh-CN" i="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 </a:t>
            </a: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单独作用时</a:t>
            </a:r>
            <a:endParaRPr kumimoji="1" lang="zh-CN" altLang="zh-CN">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46148" name="Object 4"/>
          <p:cNvGraphicFramePr>
            <a:graphicFrameLocks noChangeAspect="1"/>
          </p:cNvGraphicFramePr>
          <p:nvPr/>
        </p:nvGraphicFramePr>
        <p:xfrm>
          <a:off x="5089525" y="4437063"/>
          <a:ext cx="2138363" cy="939800"/>
        </p:xfrm>
        <a:graphic>
          <a:graphicData uri="http://schemas.openxmlformats.org/presentationml/2006/ole">
            <mc:AlternateContent xmlns:mc="http://schemas.openxmlformats.org/markup-compatibility/2006">
              <mc:Choice xmlns:v="urn:schemas-microsoft-com:vml" Requires="v">
                <p:oleObj spid="_x0000_s99346" name="Equation" r:id="rId5" imgW="923855" imgH="400140" progId="Equation.DSMT4">
                  <p:embed/>
                </p:oleObj>
              </mc:Choice>
              <mc:Fallback>
                <p:oleObj name="Equation" r:id="rId5" imgW="923855" imgH="4001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9525" y="4437063"/>
                        <a:ext cx="21383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6149" name="Object 5"/>
          <p:cNvGraphicFramePr>
            <a:graphicFrameLocks noChangeAspect="1"/>
          </p:cNvGraphicFramePr>
          <p:nvPr/>
        </p:nvGraphicFramePr>
        <p:xfrm>
          <a:off x="2947988" y="5461000"/>
          <a:ext cx="4010025" cy="1000125"/>
        </p:xfrm>
        <a:graphic>
          <a:graphicData uri="http://schemas.openxmlformats.org/presentationml/2006/ole">
            <mc:AlternateContent xmlns:mc="http://schemas.openxmlformats.org/markup-compatibility/2006">
              <mc:Choice xmlns:v="urn:schemas-microsoft-com:vml" Requires="v">
                <p:oleObj spid="_x0000_s99347" name="Equation" r:id="rId7" imgW="1952521" imgH="400140" progId="Equation.DSMT4">
                  <p:embed/>
                </p:oleObj>
              </mc:Choice>
              <mc:Fallback>
                <p:oleObj name="Equation" r:id="rId7" imgW="1952521" imgH="4001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7988" y="5461000"/>
                        <a:ext cx="4010025"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6150" name="Rectangle 6"/>
          <p:cNvSpPr>
            <a:spLocks noChangeArrowheads="1"/>
          </p:cNvSpPr>
          <p:nvPr/>
        </p:nvSpPr>
        <p:spPr bwMode="auto">
          <a:xfrm>
            <a:off x="533400" y="2971800"/>
            <a:ext cx="5029200" cy="461665"/>
          </a:xfrm>
          <a:prstGeom prst="rect">
            <a:avLst/>
          </a:prstGeom>
          <a:noFill/>
          <a:ln w="38100">
            <a:noFill/>
            <a:miter lim="800000"/>
            <a:headEnd/>
            <a:tailEnd/>
          </a:ln>
          <a:effectLst/>
        </p:spPr>
        <p:txBody>
          <a:bodyPr>
            <a:spAutoFit/>
          </a:bodyPr>
          <a:lstStyle/>
          <a:p>
            <a:pPr>
              <a:defRPr/>
            </a:pP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由图 </a:t>
            </a:r>
            <a:r>
              <a:rPr kumimoji="1" lang="en-US" altLang="zh-CN">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，当</a:t>
            </a:r>
            <a:r>
              <a:rPr kumimoji="1" lang="en-US" altLang="zh-CN" i="1">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aseline="-2500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单独作用时</a:t>
            </a:r>
          </a:p>
        </p:txBody>
      </p:sp>
      <p:sp>
        <p:nvSpPr>
          <p:cNvPr id="646151" name="Text Box 7"/>
          <p:cNvSpPr txBox="1">
            <a:spLocks noChangeArrowheads="1"/>
          </p:cNvSpPr>
          <p:nvPr/>
        </p:nvSpPr>
        <p:spPr bwMode="auto">
          <a:xfrm>
            <a:off x="685800" y="4953000"/>
            <a:ext cx="2362200"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根据叠加原理</a:t>
            </a:r>
            <a:endParaRPr kumimoji="1" lang="zh-CN" altLang="en-US">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8"/>
          <p:cNvGrpSpPr>
            <a:grpSpLocks/>
          </p:cNvGrpSpPr>
          <p:nvPr/>
        </p:nvGrpSpPr>
        <p:grpSpPr bwMode="auto">
          <a:xfrm>
            <a:off x="263411" y="142876"/>
            <a:ext cx="2868727" cy="2636838"/>
            <a:chOff x="25" y="2106"/>
            <a:chExt cx="1708" cy="1661"/>
          </a:xfrm>
        </p:grpSpPr>
        <p:sp>
          <p:nvSpPr>
            <p:cNvPr id="646153" name="Text Box 9"/>
            <p:cNvSpPr txBox="1">
              <a:spLocks noChangeArrowheads="1"/>
            </p:cNvSpPr>
            <p:nvPr/>
          </p:nvSpPr>
          <p:spPr bwMode="auto">
            <a:xfrm>
              <a:off x="689" y="3360"/>
              <a:ext cx="791" cy="407"/>
            </a:xfrm>
            <a:prstGeom prst="rect">
              <a:avLst/>
            </a:prstGeom>
            <a:noFill/>
            <a:ln w="9525">
              <a:noFill/>
              <a:miter lim="800000"/>
              <a:headEnd/>
              <a:tailEnd/>
            </a:ln>
            <a:effectLst/>
          </p:spPr>
          <p:txBody>
            <a:bodyPr>
              <a:spAutoFit/>
            </a:bodyPr>
            <a:lstStyle/>
            <a:p>
              <a:pPr>
                <a:lnSpc>
                  <a:spcPct val="150000"/>
                </a:lnSpc>
                <a:defRPr/>
              </a:pP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原电路</a:t>
              </a:r>
            </a:p>
          </p:txBody>
        </p:sp>
        <p:sp>
          <p:nvSpPr>
            <p:cNvPr id="39998" name="Line 10"/>
            <p:cNvSpPr>
              <a:spLocks noChangeShapeType="1"/>
            </p:cNvSpPr>
            <p:nvPr/>
          </p:nvSpPr>
          <p:spPr bwMode="auto">
            <a:xfrm>
              <a:off x="274" y="2561"/>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9" name="Oval 11"/>
            <p:cNvSpPr>
              <a:spLocks noChangeArrowheads="1"/>
            </p:cNvSpPr>
            <p:nvPr/>
          </p:nvSpPr>
          <p:spPr bwMode="auto">
            <a:xfrm>
              <a:off x="335" y="2339"/>
              <a:ext cx="243"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00" name="Line 12"/>
            <p:cNvSpPr>
              <a:spLocks noChangeShapeType="1"/>
            </p:cNvSpPr>
            <p:nvPr/>
          </p:nvSpPr>
          <p:spPr bwMode="auto">
            <a:xfrm>
              <a:off x="457" y="2172"/>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57" name="Rectangle 13"/>
            <p:cNvSpPr>
              <a:spLocks noChangeArrowheads="1"/>
            </p:cNvSpPr>
            <p:nvPr/>
          </p:nvSpPr>
          <p:spPr bwMode="auto">
            <a:xfrm>
              <a:off x="395" y="2729"/>
              <a:ext cx="127" cy="223"/>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02" name="Line 14"/>
            <p:cNvSpPr>
              <a:spLocks noChangeShapeType="1"/>
            </p:cNvSpPr>
            <p:nvPr/>
          </p:nvSpPr>
          <p:spPr bwMode="auto">
            <a:xfrm>
              <a:off x="457" y="2952"/>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59" name="Text Box 15"/>
            <p:cNvSpPr txBox="1">
              <a:spLocks noChangeArrowheads="1"/>
            </p:cNvSpPr>
            <p:nvPr/>
          </p:nvSpPr>
          <p:spPr bwMode="auto">
            <a:xfrm>
              <a:off x="231" y="2106"/>
              <a:ext cx="244" cy="593"/>
            </a:xfrm>
            <a:prstGeom prst="rect">
              <a:avLst/>
            </a:prstGeom>
            <a:noFill/>
            <a:ln w="9525">
              <a:noFill/>
              <a:miter lim="800000"/>
              <a:headEnd/>
              <a:tailEnd/>
            </a:ln>
            <a:effectLst/>
          </p:spPr>
          <p:txBody>
            <a:bodyPr anchor="ctr">
              <a:spAutoFit/>
            </a:bodyPr>
            <a:lstStyle/>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40004" name="Group 16"/>
            <p:cNvGrpSpPr>
              <a:grpSpLocks/>
            </p:cNvGrpSpPr>
            <p:nvPr/>
          </p:nvGrpSpPr>
          <p:grpSpPr bwMode="auto">
            <a:xfrm>
              <a:off x="1004" y="2544"/>
              <a:ext cx="242" cy="222"/>
              <a:chOff x="902" y="2502"/>
              <a:chExt cx="242" cy="222"/>
            </a:xfrm>
          </p:grpSpPr>
          <p:sp>
            <p:nvSpPr>
              <p:cNvPr id="40022" name="Oval 17"/>
              <p:cNvSpPr>
                <a:spLocks noChangeArrowheads="1"/>
              </p:cNvSpPr>
              <p:nvPr/>
            </p:nvSpPr>
            <p:spPr bwMode="auto">
              <a:xfrm flipV="1">
                <a:off x="902" y="2502"/>
                <a:ext cx="242"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23" name="Line 18"/>
              <p:cNvSpPr>
                <a:spLocks noChangeShapeType="1"/>
              </p:cNvSpPr>
              <p:nvPr/>
            </p:nvSpPr>
            <p:spPr bwMode="auto">
              <a:xfrm flipV="1">
                <a:off x="902" y="2613"/>
                <a:ext cx="242"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0005" name="Line 19"/>
            <p:cNvSpPr>
              <a:spLocks noChangeShapeType="1"/>
            </p:cNvSpPr>
            <p:nvPr/>
          </p:nvSpPr>
          <p:spPr bwMode="auto">
            <a:xfrm>
              <a:off x="1125"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06" name="Line 20"/>
            <p:cNvSpPr>
              <a:spLocks noChangeShapeType="1"/>
            </p:cNvSpPr>
            <p:nvPr/>
          </p:nvSpPr>
          <p:spPr bwMode="auto">
            <a:xfrm>
              <a:off x="1125"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07" name="Line 21"/>
            <p:cNvSpPr>
              <a:spLocks noChangeShapeType="1"/>
            </p:cNvSpPr>
            <p:nvPr/>
          </p:nvSpPr>
          <p:spPr bwMode="auto">
            <a:xfrm>
              <a:off x="456" y="2172"/>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66" name="Rectangle 22"/>
            <p:cNvSpPr>
              <a:spLocks noChangeArrowheads="1"/>
            </p:cNvSpPr>
            <p:nvPr/>
          </p:nvSpPr>
          <p:spPr bwMode="auto">
            <a:xfrm>
              <a:off x="1611" y="2562"/>
              <a:ext cx="122"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09" name="Line 23"/>
            <p:cNvSpPr>
              <a:spLocks noChangeShapeType="1"/>
            </p:cNvSpPr>
            <p:nvPr/>
          </p:nvSpPr>
          <p:spPr bwMode="auto">
            <a:xfrm>
              <a:off x="1672"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10" name="Line 24"/>
            <p:cNvSpPr>
              <a:spLocks noChangeShapeType="1"/>
            </p:cNvSpPr>
            <p:nvPr/>
          </p:nvSpPr>
          <p:spPr bwMode="auto">
            <a:xfrm flipV="1">
              <a:off x="1672"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11" name="Line 25"/>
            <p:cNvSpPr>
              <a:spLocks noChangeShapeType="1"/>
            </p:cNvSpPr>
            <p:nvPr/>
          </p:nvSpPr>
          <p:spPr bwMode="auto">
            <a:xfrm>
              <a:off x="456" y="3174"/>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0" name="Text Box 26"/>
            <p:cNvSpPr txBox="1">
              <a:spLocks noChangeArrowheads="1"/>
            </p:cNvSpPr>
            <p:nvPr/>
          </p:nvSpPr>
          <p:spPr bwMode="auto">
            <a:xfrm>
              <a:off x="25" y="2274"/>
              <a:ext cx="310"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6171" name="Text Box 27"/>
            <p:cNvSpPr txBox="1">
              <a:spLocks noChangeArrowheads="1"/>
            </p:cNvSpPr>
            <p:nvPr/>
          </p:nvSpPr>
          <p:spPr bwMode="auto">
            <a:xfrm>
              <a:off x="119" y="2718"/>
              <a:ext cx="28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2" name="Text Box 28"/>
            <p:cNvSpPr txBox="1">
              <a:spLocks noChangeArrowheads="1"/>
            </p:cNvSpPr>
            <p:nvPr/>
          </p:nvSpPr>
          <p:spPr bwMode="auto">
            <a:xfrm>
              <a:off x="1372" y="2754"/>
              <a:ext cx="28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15" name="Line 29"/>
            <p:cNvSpPr>
              <a:spLocks noChangeShapeType="1"/>
            </p:cNvSpPr>
            <p:nvPr/>
          </p:nvSpPr>
          <p:spPr bwMode="auto">
            <a:xfrm flipV="1">
              <a:off x="942" y="2496"/>
              <a:ext cx="0" cy="2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016" name="Line 30"/>
            <p:cNvSpPr>
              <a:spLocks noChangeShapeType="1"/>
            </p:cNvSpPr>
            <p:nvPr/>
          </p:nvSpPr>
          <p:spPr bwMode="auto">
            <a:xfrm>
              <a:off x="1531" y="2256"/>
              <a:ext cx="0" cy="29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5" name="Text Box 31"/>
            <p:cNvSpPr txBox="1">
              <a:spLocks noChangeArrowheads="1"/>
            </p:cNvSpPr>
            <p:nvPr/>
          </p:nvSpPr>
          <p:spPr bwMode="auto">
            <a:xfrm>
              <a:off x="892" y="3195"/>
              <a:ext cx="31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40018" name="Line 32"/>
            <p:cNvSpPr>
              <a:spLocks noChangeShapeType="1"/>
            </p:cNvSpPr>
            <p:nvPr/>
          </p:nvSpPr>
          <p:spPr bwMode="auto">
            <a:xfrm flipV="1">
              <a:off x="578" y="2688"/>
              <a:ext cx="0" cy="2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7" name="Text Box 33"/>
            <p:cNvSpPr txBox="1">
              <a:spLocks noChangeArrowheads="1"/>
            </p:cNvSpPr>
            <p:nvPr/>
          </p:nvSpPr>
          <p:spPr bwMode="auto">
            <a:xfrm>
              <a:off x="690" y="2466"/>
              <a:ext cx="23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8" name="Text Box 34"/>
            <p:cNvSpPr txBox="1">
              <a:spLocks noChangeArrowheads="1"/>
            </p:cNvSpPr>
            <p:nvPr/>
          </p:nvSpPr>
          <p:spPr bwMode="auto">
            <a:xfrm>
              <a:off x="603" y="2754"/>
              <a:ext cx="23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79" name="Text Box 35"/>
            <p:cNvSpPr txBox="1">
              <a:spLocks noChangeArrowheads="1"/>
            </p:cNvSpPr>
            <p:nvPr/>
          </p:nvSpPr>
          <p:spPr bwMode="auto">
            <a:xfrm>
              <a:off x="1273" y="2178"/>
              <a:ext cx="232"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 name="Group 36"/>
          <p:cNvGrpSpPr>
            <a:grpSpLocks/>
          </p:cNvGrpSpPr>
          <p:nvPr/>
        </p:nvGrpSpPr>
        <p:grpSpPr bwMode="auto">
          <a:xfrm>
            <a:off x="6056314" y="228600"/>
            <a:ext cx="2706688" cy="2514600"/>
            <a:chOff x="3815" y="2160"/>
            <a:chExt cx="1705" cy="1584"/>
          </a:xfrm>
        </p:grpSpPr>
        <p:sp>
          <p:nvSpPr>
            <p:cNvPr id="646181" name="Text Box 37"/>
            <p:cNvSpPr txBox="1">
              <a:spLocks noChangeArrowheads="1"/>
            </p:cNvSpPr>
            <p:nvPr/>
          </p:nvSpPr>
          <p:spPr bwMode="auto">
            <a:xfrm>
              <a:off x="4263" y="3453"/>
              <a:ext cx="1257"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a:t>
              </a:r>
              <a:endParaRPr lang="zh-CN"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9973" name="Group 38"/>
            <p:cNvGrpSpPr>
              <a:grpSpLocks/>
            </p:cNvGrpSpPr>
            <p:nvPr/>
          </p:nvGrpSpPr>
          <p:grpSpPr bwMode="auto">
            <a:xfrm>
              <a:off x="4711" y="2550"/>
              <a:ext cx="241" cy="222"/>
              <a:chOff x="4849" y="2502"/>
              <a:chExt cx="241" cy="222"/>
            </a:xfrm>
          </p:grpSpPr>
          <p:sp>
            <p:nvSpPr>
              <p:cNvPr id="39995" name="Oval 39"/>
              <p:cNvSpPr>
                <a:spLocks noChangeArrowheads="1"/>
              </p:cNvSpPr>
              <p:nvPr/>
            </p:nvSpPr>
            <p:spPr bwMode="auto">
              <a:xfrm flipV="1">
                <a:off x="4849" y="2502"/>
                <a:ext cx="241"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6" name="Line 40"/>
              <p:cNvSpPr>
                <a:spLocks noChangeShapeType="1"/>
              </p:cNvSpPr>
              <p:nvPr/>
            </p:nvSpPr>
            <p:spPr bwMode="auto">
              <a:xfrm flipV="1">
                <a:off x="4849" y="2613"/>
                <a:ext cx="241"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9974" name="Line 41"/>
            <p:cNvSpPr>
              <a:spLocks noChangeShapeType="1"/>
            </p:cNvSpPr>
            <p:nvPr/>
          </p:nvSpPr>
          <p:spPr bwMode="auto">
            <a:xfrm>
              <a:off x="4832" y="27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75" name="Line 42"/>
            <p:cNvSpPr>
              <a:spLocks noChangeShapeType="1"/>
            </p:cNvSpPr>
            <p:nvPr/>
          </p:nvSpPr>
          <p:spPr bwMode="auto">
            <a:xfrm>
              <a:off x="4832" y="216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76" name="Line 43"/>
            <p:cNvSpPr>
              <a:spLocks noChangeShapeType="1"/>
            </p:cNvSpPr>
            <p:nvPr/>
          </p:nvSpPr>
          <p:spPr bwMode="auto">
            <a:xfrm>
              <a:off x="4169" y="2160"/>
              <a:ext cx="12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88" name="Rectangle 44"/>
            <p:cNvSpPr>
              <a:spLocks noChangeArrowheads="1"/>
            </p:cNvSpPr>
            <p:nvPr/>
          </p:nvSpPr>
          <p:spPr bwMode="auto">
            <a:xfrm>
              <a:off x="5313" y="2532"/>
              <a:ext cx="120"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78" name="Line 45"/>
            <p:cNvSpPr>
              <a:spLocks noChangeShapeType="1"/>
            </p:cNvSpPr>
            <p:nvPr/>
          </p:nvSpPr>
          <p:spPr bwMode="auto">
            <a:xfrm>
              <a:off x="5373" y="27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79" name="Line 46"/>
            <p:cNvSpPr>
              <a:spLocks noChangeShapeType="1"/>
            </p:cNvSpPr>
            <p:nvPr/>
          </p:nvSpPr>
          <p:spPr bwMode="auto">
            <a:xfrm flipV="1">
              <a:off x="5373" y="216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80" name="Line 47"/>
            <p:cNvSpPr>
              <a:spLocks noChangeShapeType="1"/>
            </p:cNvSpPr>
            <p:nvPr/>
          </p:nvSpPr>
          <p:spPr bwMode="auto">
            <a:xfrm>
              <a:off x="4169" y="3162"/>
              <a:ext cx="12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92" name="Text Box 48"/>
            <p:cNvSpPr txBox="1">
              <a:spLocks noChangeArrowheads="1"/>
            </p:cNvSpPr>
            <p:nvPr/>
          </p:nvSpPr>
          <p:spPr bwMode="auto">
            <a:xfrm>
              <a:off x="3815" y="269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93" name="Text Box 49"/>
            <p:cNvSpPr txBox="1">
              <a:spLocks noChangeArrowheads="1"/>
            </p:cNvSpPr>
            <p:nvPr/>
          </p:nvSpPr>
          <p:spPr bwMode="auto">
            <a:xfrm>
              <a:off x="5104" y="275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94" name="Text Box 50"/>
            <p:cNvSpPr txBox="1">
              <a:spLocks noChangeArrowheads="1"/>
            </p:cNvSpPr>
            <p:nvPr/>
          </p:nvSpPr>
          <p:spPr bwMode="auto">
            <a:xfrm>
              <a:off x="4690" y="3126"/>
              <a:ext cx="33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646195" name="Rectangle 51"/>
            <p:cNvSpPr>
              <a:spLocks noChangeArrowheads="1"/>
            </p:cNvSpPr>
            <p:nvPr/>
          </p:nvSpPr>
          <p:spPr bwMode="auto">
            <a:xfrm>
              <a:off x="4267" y="2781"/>
              <a:ext cx="300" cy="291"/>
            </a:xfrm>
            <a:prstGeom prst="rect">
              <a:avLst/>
            </a:prstGeom>
            <a:noFill/>
            <a:ln w="9525">
              <a:noFill/>
              <a:miter lim="800000"/>
              <a:headEnd/>
              <a:tailEnd/>
            </a:ln>
            <a:effectLst/>
          </p:spPr>
          <p:txBody>
            <a:bodyPr wrap="none">
              <a:spAutoFit/>
            </a:bodyPr>
            <a:lstStyle/>
            <a:p>
              <a:pPr>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lang="en-US" altLang="zh-CN" i="1" baseline="30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6196" name="Rectangle 52"/>
            <p:cNvSpPr>
              <a:spLocks noChangeArrowheads="1"/>
            </p:cNvSpPr>
            <p:nvPr/>
          </p:nvSpPr>
          <p:spPr bwMode="auto">
            <a:xfrm>
              <a:off x="4939" y="2160"/>
              <a:ext cx="300" cy="291"/>
            </a:xfrm>
            <a:prstGeom prst="rect">
              <a:avLst/>
            </a:prstGeom>
            <a:noFill/>
            <a:ln w="9525">
              <a:noFill/>
              <a:miter lim="800000"/>
              <a:headEnd/>
              <a:tailEnd/>
            </a:ln>
            <a:effectLst/>
          </p:spPr>
          <p:txBody>
            <a:bodyPr wrap="none">
              <a:spAutoFit/>
            </a:bodyPr>
            <a:lstStyle/>
            <a:p>
              <a:pPr>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i="1" baseline="30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6197" name="Text Box 53"/>
            <p:cNvSpPr txBox="1">
              <a:spLocks noChangeArrowheads="1"/>
            </p:cNvSpPr>
            <p:nvPr/>
          </p:nvSpPr>
          <p:spPr bwMode="auto">
            <a:xfrm>
              <a:off x="3832" y="2388"/>
              <a:ext cx="253" cy="330"/>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defRPr/>
              </a:pPr>
              <a:r>
                <a:rPr kumimoji="1" lang="en-US" altLang="zh-CN"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987" name="Line 54"/>
            <p:cNvSpPr>
              <a:spLocks noChangeShapeType="1"/>
            </p:cNvSpPr>
            <p:nvPr/>
          </p:nvSpPr>
          <p:spPr bwMode="auto">
            <a:xfrm>
              <a:off x="4160" y="2167"/>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199" name="Rectangle 55"/>
            <p:cNvSpPr>
              <a:spLocks noChangeArrowheads="1"/>
            </p:cNvSpPr>
            <p:nvPr/>
          </p:nvSpPr>
          <p:spPr bwMode="auto">
            <a:xfrm>
              <a:off x="4102" y="2724"/>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89" name="Line 56"/>
            <p:cNvSpPr>
              <a:spLocks noChangeShapeType="1"/>
            </p:cNvSpPr>
            <p:nvPr/>
          </p:nvSpPr>
          <p:spPr bwMode="auto">
            <a:xfrm>
              <a:off x="4160" y="2946"/>
              <a:ext cx="0" cy="22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0" name="Line 57"/>
            <p:cNvSpPr>
              <a:spLocks noChangeShapeType="1"/>
            </p:cNvSpPr>
            <p:nvPr/>
          </p:nvSpPr>
          <p:spPr bwMode="auto">
            <a:xfrm flipV="1">
              <a:off x="4267" y="2676"/>
              <a:ext cx="0" cy="286"/>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1" name="Line 58"/>
            <p:cNvSpPr>
              <a:spLocks noChangeShapeType="1"/>
            </p:cNvSpPr>
            <p:nvPr/>
          </p:nvSpPr>
          <p:spPr bwMode="auto">
            <a:xfrm>
              <a:off x="5275" y="2208"/>
              <a:ext cx="0" cy="274"/>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2" name="Line 59"/>
            <p:cNvSpPr>
              <a:spLocks noChangeShapeType="1"/>
            </p:cNvSpPr>
            <p:nvPr/>
          </p:nvSpPr>
          <p:spPr bwMode="auto">
            <a:xfrm flipV="1">
              <a:off x="4686" y="2532"/>
              <a:ext cx="0" cy="2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04" name="Text Box 60"/>
            <p:cNvSpPr txBox="1">
              <a:spLocks noChangeArrowheads="1"/>
            </p:cNvSpPr>
            <p:nvPr/>
          </p:nvSpPr>
          <p:spPr bwMode="auto">
            <a:xfrm>
              <a:off x="4429" y="2502"/>
              <a:ext cx="25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94" name="Line 61"/>
            <p:cNvSpPr>
              <a:spLocks noChangeShapeType="1"/>
            </p:cNvSpPr>
            <p:nvPr/>
          </p:nvSpPr>
          <p:spPr bwMode="auto">
            <a:xfrm>
              <a:off x="4164" y="2220"/>
              <a:ext cx="0" cy="3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 name="Group 62"/>
          <p:cNvGrpSpPr>
            <a:grpSpLocks/>
          </p:cNvGrpSpPr>
          <p:nvPr/>
        </p:nvGrpSpPr>
        <p:grpSpPr bwMode="auto">
          <a:xfrm>
            <a:off x="3260725" y="185738"/>
            <a:ext cx="3063875" cy="2709862"/>
            <a:chOff x="1820" y="2133"/>
            <a:chExt cx="1930" cy="1707"/>
          </a:xfrm>
        </p:grpSpPr>
        <p:sp>
          <p:nvSpPr>
            <p:cNvPr id="646207" name="Rectangle 63"/>
            <p:cNvSpPr>
              <a:spLocks noChangeArrowheads="1"/>
            </p:cNvSpPr>
            <p:nvPr/>
          </p:nvSpPr>
          <p:spPr bwMode="auto">
            <a:xfrm>
              <a:off x="2208" y="3457"/>
              <a:ext cx="1542" cy="383"/>
            </a:xfrm>
            <a:prstGeom prst="rect">
              <a:avLst/>
            </a:prstGeom>
            <a:noFill/>
            <a:ln w="9525">
              <a:noFill/>
              <a:miter lim="800000"/>
              <a:headEnd/>
              <a:tailEnd/>
            </a:ln>
            <a:effectLst/>
          </p:spPr>
          <p:txBody>
            <a:bodyPr/>
            <a:lstStyle/>
            <a:p>
              <a:pPr eaLnBrk="1" hangingPunct="1">
                <a:spcBef>
                  <a:spcPct val="20000"/>
                </a:spcBef>
                <a:buClr>
                  <a:schemeClr val="hlink"/>
                </a:buClr>
                <a:buSzPct val="70000"/>
                <a:buFont typeface="Wingdings" pitchFamily="2" charset="2"/>
                <a:buNone/>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a:t>
              </a:r>
              <a:endParaRPr lang="zh-CN" altLang="en-US"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08" name="Text Box 64"/>
            <p:cNvSpPr txBox="1">
              <a:spLocks noChangeArrowheads="1"/>
            </p:cNvSpPr>
            <p:nvPr/>
          </p:nvSpPr>
          <p:spPr bwMode="auto">
            <a:xfrm>
              <a:off x="1820" y="2401"/>
              <a:ext cx="253" cy="465"/>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nSpc>
                  <a:spcPct val="150000"/>
                </a:lnSpc>
                <a:defRPr/>
              </a:pPr>
              <a:r>
                <a:rPr lang="en-US" altLang="zh-CN"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951" name="Line 65"/>
            <p:cNvSpPr>
              <a:spLocks noChangeShapeType="1"/>
            </p:cNvSpPr>
            <p:nvPr/>
          </p:nvSpPr>
          <p:spPr bwMode="auto">
            <a:xfrm>
              <a:off x="2149" y="2563"/>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52" name="Oval 66"/>
            <p:cNvSpPr>
              <a:spLocks noChangeArrowheads="1"/>
            </p:cNvSpPr>
            <p:nvPr/>
          </p:nvSpPr>
          <p:spPr bwMode="auto">
            <a:xfrm>
              <a:off x="2207" y="2340"/>
              <a:ext cx="234" cy="223"/>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53" name="Line 67"/>
            <p:cNvSpPr>
              <a:spLocks noChangeShapeType="1"/>
            </p:cNvSpPr>
            <p:nvPr/>
          </p:nvSpPr>
          <p:spPr bwMode="auto">
            <a:xfrm>
              <a:off x="2324" y="2173"/>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12" name="Rectangle 68"/>
            <p:cNvSpPr>
              <a:spLocks noChangeArrowheads="1"/>
            </p:cNvSpPr>
            <p:nvPr/>
          </p:nvSpPr>
          <p:spPr bwMode="auto">
            <a:xfrm>
              <a:off x="2266" y="2730"/>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55" name="Line 69"/>
            <p:cNvSpPr>
              <a:spLocks noChangeShapeType="1"/>
            </p:cNvSpPr>
            <p:nvPr/>
          </p:nvSpPr>
          <p:spPr bwMode="auto">
            <a:xfrm>
              <a:off x="2324" y="2952"/>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14" name="Text Box 70"/>
            <p:cNvSpPr txBox="1">
              <a:spLocks noChangeArrowheads="1"/>
            </p:cNvSpPr>
            <p:nvPr/>
          </p:nvSpPr>
          <p:spPr bwMode="auto">
            <a:xfrm>
              <a:off x="2089" y="2133"/>
              <a:ext cx="235" cy="593"/>
            </a:xfrm>
            <a:prstGeom prst="rect">
              <a:avLst/>
            </a:prstGeom>
            <a:noFill/>
            <a:ln w="9525">
              <a:noFill/>
              <a:miter lim="800000"/>
              <a:headEnd/>
              <a:tailEnd/>
            </a:ln>
            <a:effectLst/>
          </p:spPr>
          <p:txBody>
            <a:bodyPr anchor="ctr">
              <a:spAutoFit/>
            </a:bodyPr>
            <a:lstStyle/>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957" name="Line 71"/>
            <p:cNvSpPr>
              <a:spLocks noChangeShapeType="1"/>
            </p:cNvSpPr>
            <p:nvPr/>
          </p:nvSpPr>
          <p:spPr bwMode="auto">
            <a:xfrm>
              <a:off x="2324" y="2173"/>
              <a:ext cx="11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16" name="Rectangle 72"/>
            <p:cNvSpPr>
              <a:spLocks noChangeArrowheads="1"/>
            </p:cNvSpPr>
            <p:nvPr/>
          </p:nvSpPr>
          <p:spPr bwMode="auto">
            <a:xfrm>
              <a:off x="3435" y="2563"/>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59" name="Line 73"/>
            <p:cNvSpPr>
              <a:spLocks noChangeShapeType="1"/>
            </p:cNvSpPr>
            <p:nvPr/>
          </p:nvSpPr>
          <p:spPr bwMode="auto">
            <a:xfrm>
              <a:off x="3494" y="2785"/>
              <a:ext cx="0" cy="3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60" name="Line 74"/>
            <p:cNvSpPr>
              <a:spLocks noChangeShapeType="1"/>
            </p:cNvSpPr>
            <p:nvPr/>
          </p:nvSpPr>
          <p:spPr bwMode="auto">
            <a:xfrm flipV="1">
              <a:off x="3494" y="2173"/>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61" name="Line 75"/>
            <p:cNvSpPr>
              <a:spLocks noChangeShapeType="1"/>
            </p:cNvSpPr>
            <p:nvPr/>
          </p:nvSpPr>
          <p:spPr bwMode="auto">
            <a:xfrm>
              <a:off x="2324" y="3174"/>
              <a:ext cx="11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20" name="Text Box 76"/>
            <p:cNvSpPr txBox="1">
              <a:spLocks noChangeArrowheads="1"/>
            </p:cNvSpPr>
            <p:nvPr/>
          </p:nvSpPr>
          <p:spPr bwMode="auto">
            <a:xfrm>
              <a:off x="1889" y="2275"/>
              <a:ext cx="328"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6221" name="Text Box 77"/>
            <p:cNvSpPr txBox="1">
              <a:spLocks noChangeArrowheads="1"/>
            </p:cNvSpPr>
            <p:nvPr/>
          </p:nvSpPr>
          <p:spPr bwMode="auto">
            <a:xfrm>
              <a:off x="1989" y="2669"/>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22" name="Text Box 78"/>
            <p:cNvSpPr txBox="1">
              <a:spLocks noChangeArrowheads="1"/>
            </p:cNvSpPr>
            <p:nvPr/>
          </p:nvSpPr>
          <p:spPr bwMode="auto">
            <a:xfrm>
              <a:off x="3184" y="275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65" name="Line 79"/>
            <p:cNvSpPr>
              <a:spLocks noChangeShapeType="1"/>
            </p:cNvSpPr>
            <p:nvPr/>
          </p:nvSpPr>
          <p:spPr bwMode="auto">
            <a:xfrm flipV="1">
              <a:off x="2447" y="2691"/>
              <a:ext cx="0" cy="285"/>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24" name="Text Box 80"/>
            <p:cNvSpPr txBox="1">
              <a:spLocks noChangeArrowheads="1"/>
            </p:cNvSpPr>
            <p:nvPr/>
          </p:nvSpPr>
          <p:spPr bwMode="auto">
            <a:xfrm>
              <a:off x="2770" y="3186"/>
              <a:ext cx="35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39967" name="Line 81"/>
            <p:cNvSpPr>
              <a:spLocks noChangeShapeType="1"/>
            </p:cNvSpPr>
            <p:nvPr/>
          </p:nvSpPr>
          <p:spPr bwMode="auto">
            <a:xfrm>
              <a:off x="3408" y="2208"/>
              <a:ext cx="0" cy="274"/>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6226" name="Text Box 82"/>
            <p:cNvSpPr txBox="1">
              <a:spLocks noChangeArrowheads="1"/>
            </p:cNvSpPr>
            <p:nvPr/>
          </p:nvSpPr>
          <p:spPr bwMode="auto">
            <a:xfrm>
              <a:off x="2472" y="2715"/>
              <a:ext cx="28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6227" name="Text Box 83"/>
            <p:cNvSpPr txBox="1">
              <a:spLocks noChangeArrowheads="1"/>
            </p:cNvSpPr>
            <p:nvPr/>
          </p:nvSpPr>
          <p:spPr bwMode="auto">
            <a:xfrm>
              <a:off x="3096" y="2235"/>
              <a:ext cx="28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970" name="Line 84"/>
            <p:cNvSpPr>
              <a:spLocks noChangeShapeType="1"/>
            </p:cNvSpPr>
            <p:nvPr/>
          </p:nvSpPr>
          <p:spPr bwMode="auto">
            <a:xfrm>
              <a:off x="2880" y="2794"/>
              <a:ext cx="0" cy="3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971" name="Line 85"/>
            <p:cNvSpPr>
              <a:spLocks noChangeShapeType="1"/>
            </p:cNvSpPr>
            <p:nvPr/>
          </p:nvSpPr>
          <p:spPr bwMode="auto">
            <a:xfrm>
              <a:off x="2880" y="218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3284211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46150"/>
                                        </p:tgtEl>
                                        <p:attrNameLst>
                                          <p:attrName>style.visibility</p:attrName>
                                        </p:attrNameLst>
                                      </p:cBhvr>
                                      <p:to>
                                        <p:strVal val="visible"/>
                                      </p:to>
                                    </p:set>
                                    <p:animEffect transition="in" filter="wipe(left)">
                                      <p:cBhvr>
                                        <p:cTn id="18" dur="500"/>
                                        <p:tgtEl>
                                          <p:spTgt spid="646150"/>
                                        </p:tgtEl>
                                      </p:cBhvr>
                                    </p:animEffect>
                                  </p:childTnLst>
                                </p:cTn>
                              </p:par>
                            </p:childTnLst>
                          </p:cTn>
                        </p:par>
                        <p:par>
                          <p:cTn id="19" fill="hold" nodeType="afterGroup">
                            <p:stCondLst>
                              <p:cond delay="500"/>
                            </p:stCondLst>
                            <p:childTnLst>
                              <p:par>
                                <p:cTn id="20" presetID="4" presetClass="entr" presetSubtype="32" fill="hold" nodeType="afterEffect">
                                  <p:stCondLst>
                                    <p:cond delay="0"/>
                                  </p:stCondLst>
                                  <p:childTnLst>
                                    <p:set>
                                      <p:cBhvr>
                                        <p:cTn id="21" dur="1" fill="hold">
                                          <p:stCondLst>
                                            <p:cond delay="0"/>
                                          </p:stCondLst>
                                        </p:cTn>
                                        <p:tgtEl>
                                          <p:spTgt spid="646146"/>
                                        </p:tgtEl>
                                        <p:attrNameLst>
                                          <p:attrName>style.visibility</p:attrName>
                                        </p:attrNameLst>
                                      </p:cBhvr>
                                      <p:to>
                                        <p:strVal val="visible"/>
                                      </p:to>
                                    </p:set>
                                    <p:animEffect transition="in" filter="box(out)">
                                      <p:cBhvr>
                                        <p:cTn id="22" dur="500"/>
                                        <p:tgtEl>
                                          <p:spTgt spid="6461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46147"/>
                                        </p:tgtEl>
                                        <p:attrNameLst>
                                          <p:attrName>style.visibility</p:attrName>
                                        </p:attrNameLst>
                                      </p:cBhvr>
                                      <p:to>
                                        <p:strVal val="visible"/>
                                      </p:to>
                                    </p:set>
                                    <p:animEffect transition="in" filter="wipe(left)">
                                      <p:cBhvr>
                                        <p:cTn id="32" dur="500"/>
                                        <p:tgtEl>
                                          <p:spTgt spid="646147"/>
                                        </p:tgtEl>
                                      </p:cBhvr>
                                    </p:animEffect>
                                  </p:childTnLst>
                                </p:cTn>
                              </p:par>
                            </p:childTnLst>
                          </p:cTn>
                        </p:par>
                        <p:par>
                          <p:cTn id="33" fill="hold" nodeType="afterGroup">
                            <p:stCondLst>
                              <p:cond delay="500"/>
                            </p:stCondLst>
                            <p:childTnLst>
                              <p:par>
                                <p:cTn id="34" presetID="4" presetClass="entr" presetSubtype="32" fill="hold" nodeType="afterEffect">
                                  <p:stCondLst>
                                    <p:cond delay="0"/>
                                  </p:stCondLst>
                                  <p:childTnLst>
                                    <p:set>
                                      <p:cBhvr>
                                        <p:cTn id="35" dur="1" fill="hold">
                                          <p:stCondLst>
                                            <p:cond delay="0"/>
                                          </p:stCondLst>
                                        </p:cTn>
                                        <p:tgtEl>
                                          <p:spTgt spid="646148"/>
                                        </p:tgtEl>
                                        <p:attrNameLst>
                                          <p:attrName>style.visibility</p:attrName>
                                        </p:attrNameLst>
                                      </p:cBhvr>
                                      <p:to>
                                        <p:strVal val="visible"/>
                                      </p:to>
                                    </p:set>
                                    <p:animEffect transition="in" filter="box(out)">
                                      <p:cBhvr>
                                        <p:cTn id="36" dur="500"/>
                                        <p:tgtEl>
                                          <p:spTgt spid="64614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46151"/>
                                        </p:tgtEl>
                                        <p:attrNameLst>
                                          <p:attrName>style.visibility</p:attrName>
                                        </p:attrNameLst>
                                      </p:cBhvr>
                                      <p:to>
                                        <p:strVal val="visible"/>
                                      </p:to>
                                    </p:set>
                                    <p:animEffect transition="in" filter="wipe(left)">
                                      <p:cBhvr>
                                        <p:cTn id="41" dur="500"/>
                                        <p:tgtEl>
                                          <p:spTgt spid="64615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46149"/>
                                        </p:tgtEl>
                                        <p:attrNameLst>
                                          <p:attrName>style.visibility</p:attrName>
                                        </p:attrNameLst>
                                      </p:cBhvr>
                                      <p:to>
                                        <p:strVal val="visible"/>
                                      </p:to>
                                    </p:set>
                                    <p:animEffect transition="in" filter="wipe(left)">
                                      <p:cBhvr>
                                        <p:cTn id="46" dur="500"/>
                                        <p:tgtEl>
                                          <p:spTgt spid="64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7" grpId="0" autoUpdateAnimBg="0"/>
      <p:bldP spid="646150" grpId="0" autoUpdateAnimBg="0"/>
      <p:bldP spid="64615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6B52E6E2-8939-4DE1-85C6-CEAC9140D83D}"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35</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2"/>
          <p:cNvGrpSpPr>
            <a:grpSpLocks/>
          </p:cNvGrpSpPr>
          <p:nvPr/>
        </p:nvGrpSpPr>
        <p:grpSpPr bwMode="auto">
          <a:xfrm>
            <a:off x="75896" y="1036639"/>
            <a:ext cx="2840342" cy="2636838"/>
            <a:chOff x="25" y="2106"/>
            <a:chExt cx="1708" cy="1661"/>
          </a:xfrm>
        </p:grpSpPr>
        <p:sp>
          <p:nvSpPr>
            <p:cNvPr id="644099" name="Text Box 3"/>
            <p:cNvSpPr txBox="1">
              <a:spLocks noChangeArrowheads="1"/>
            </p:cNvSpPr>
            <p:nvPr/>
          </p:nvSpPr>
          <p:spPr bwMode="auto">
            <a:xfrm>
              <a:off x="689" y="3360"/>
              <a:ext cx="791" cy="407"/>
            </a:xfrm>
            <a:prstGeom prst="rect">
              <a:avLst/>
            </a:prstGeom>
            <a:noFill/>
            <a:ln w="9525">
              <a:noFill/>
              <a:miter lim="800000"/>
              <a:headEnd/>
              <a:tailEnd/>
            </a:ln>
            <a:effectLst/>
          </p:spPr>
          <p:txBody>
            <a:bodyPr>
              <a:spAutoFit/>
            </a:bodyPr>
            <a:lstStyle/>
            <a:p>
              <a:pPr>
                <a:lnSpc>
                  <a:spcPct val="150000"/>
                </a:lnSpc>
                <a:defRPr/>
              </a:pP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原电路</a:t>
              </a:r>
            </a:p>
          </p:txBody>
        </p:sp>
        <p:sp>
          <p:nvSpPr>
            <p:cNvPr id="37945" name="Line 4"/>
            <p:cNvSpPr>
              <a:spLocks noChangeShapeType="1"/>
            </p:cNvSpPr>
            <p:nvPr/>
          </p:nvSpPr>
          <p:spPr bwMode="auto">
            <a:xfrm>
              <a:off x="274" y="2561"/>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46" name="Oval 5"/>
            <p:cNvSpPr>
              <a:spLocks noChangeArrowheads="1"/>
            </p:cNvSpPr>
            <p:nvPr/>
          </p:nvSpPr>
          <p:spPr bwMode="auto">
            <a:xfrm>
              <a:off x="335" y="2339"/>
              <a:ext cx="243"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47" name="Line 6"/>
            <p:cNvSpPr>
              <a:spLocks noChangeShapeType="1"/>
            </p:cNvSpPr>
            <p:nvPr/>
          </p:nvSpPr>
          <p:spPr bwMode="auto">
            <a:xfrm>
              <a:off x="457" y="2172"/>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03" name="Rectangle 7"/>
            <p:cNvSpPr>
              <a:spLocks noChangeArrowheads="1"/>
            </p:cNvSpPr>
            <p:nvPr/>
          </p:nvSpPr>
          <p:spPr bwMode="auto">
            <a:xfrm>
              <a:off x="395" y="2729"/>
              <a:ext cx="123" cy="223"/>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49" name="Line 8"/>
            <p:cNvSpPr>
              <a:spLocks noChangeShapeType="1"/>
            </p:cNvSpPr>
            <p:nvPr/>
          </p:nvSpPr>
          <p:spPr bwMode="auto">
            <a:xfrm>
              <a:off x="457" y="2952"/>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05" name="Text Box 9"/>
            <p:cNvSpPr txBox="1">
              <a:spLocks noChangeArrowheads="1"/>
            </p:cNvSpPr>
            <p:nvPr/>
          </p:nvSpPr>
          <p:spPr bwMode="auto">
            <a:xfrm>
              <a:off x="231" y="2106"/>
              <a:ext cx="242" cy="593"/>
            </a:xfrm>
            <a:prstGeom prst="rect">
              <a:avLst/>
            </a:prstGeom>
            <a:noFill/>
            <a:ln w="9525">
              <a:noFill/>
              <a:miter lim="800000"/>
              <a:headEnd/>
              <a:tailEnd/>
            </a:ln>
            <a:effectLst/>
          </p:spPr>
          <p:txBody>
            <a:bodyPr anchor="ctr">
              <a:spAutoFit/>
            </a:bodyPr>
            <a:lstStyle/>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7951" name="Group 10"/>
            <p:cNvGrpSpPr>
              <a:grpSpLocks/>
            </p:cNvGrpSpPr>
            <p:nvPr/>
          </p:nvGrpSpPr>
          <p:grpSpPr bwMode="auto">
            <a:xfrm>
              <a:off x="1004" y="2544"/>
              <a:ext cx="242" cy="222"/>
              <a:chOff x="902" y="2502"/>
              <a:chExt cx="242" cy="222"/>
            </a:xfrm>
          </p:grpSpPr>
          <p:sp>
            <p:nvSpPr>
              <p:cNvPr id="37969" name="Oval 11"/>
              <p:cNvSpPr>
                <a:spLocks noChangeArrowheads="1"/>
              </p:cNvSpPr>
              <p:nvPr/>
            </p:nvSpPr>
            <p:spPr bwMode="auto">
              <a:xfrm flipV="1">
                <a:off x="902" y="2502"/>
                <a:ext cx="242"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70" name="Line 12"/>
              <p:cNvSpPr>
                <a:spLocks noChangeShapeType="1"/>
              </p:cNvSpPr>
              <p:nvPr/>
            </p:nvSpPr>
            <p:spPr bwMode="auto">
              <a:xfrm flipV="1">
                <a:off x="902" y="2613"/>
                <a:ext cx="242"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7952" name="Line 13"/>
            <p:cNvSpPr>
              <a:spLocks noChangeShapeType="1"/>
            </p:cNvSpPr>
            <p:nvPr/>
          </p:nvSpPr>
          <p:spPr bwMode="auto">
            <a:xfrm>
              <a:off x="1125"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53" name="Line 14"/>
            <p:cNvSpPr>
              <a:spLocks noChangeShapeType="1"/>
            </p:cNvSpPr>
            <p:nvPr/>
          </p:nvSpPr>
          <p:spPr bwMode="auto">
            <a:xfrm>
              <a:off x="1125"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54" name="Line 15"/>
            <p:cNvSpPr>
              <a:spLocks noChangeShapeType="1"/>
            </p:cNvSpPr>
            <p:nvPr/>
          </p:nvSpPr>
          <p:spPr bwMode="auto">
            <a:xfrm>
              <a:off x="456" y="2172"/>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12" name="Rectangle 16"/>
            <p:cNvSpPr>
              <a:spLocks noChangeArrowheads="1"/>
            </p:cNvSpPr>
            <p:nvPr/>
          </p:nvSpPr>
          <p:spPr bwMode="auto">
            <a:xfrm>
              <a:off x="1611" y="2562"/>
              <a:ext cx="122"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56" name="Line 17"/>
            <p:cNvSpPr>
              <a:spLocks noChangeShapeType="1"/>
            </p:cNvSpPr>
            <p:nvPr/>
          </p:nvSpPr>
          <p:spPr bwMode="auto">
            <a:xfrm>
              <a:off x="1672" y="2784"/>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57" name="Line 18"/>
            <p:cNvSpPr>
              <a:spLocks noChangeShapeType="1"/>
            </p:cNvSpPr>
            <p:nvPr/>
          </p:nvSpPr>
          <p:spPr bwMode="auto">
            <a:xfrm flipV="1">
              <a:off x="1672" y="21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58" name="Line 19"/>
            <p:cNvSpPr>
              <a:spLocks noChangeShapeType="1"/>
            </p:cNvSpPr>
            <p:nvPr/>
          </p:nvSpPr>
          <p:spPr bwMode="auto">
            <a:xfrm>
              <a:off x="456" y="3174"/>
              <a:ext cx="12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16" name="Text Box 20"/>
            <p:cNvSpPr txBox="1">
              <a:spLocks noChangeArrowheads="1"/>
            </p:cNvSpPr>
            <p:nvPr/>
          </p:nvSpPr>
          <p:spPr bwMode="auto">
            <a:xfrm>
              <a:off x="25" y="2274"/>
              <a:ext cx="31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4117" name="Text Box 21"/>
            <p:cNvSpPr txBox="1">
              <a:spLocks noChangeArrowheads="1"/>
            </p:cNvSpPr>
            <p:nvPr/>
          </p:nvSpPr>
          <p:spPr bwMode="auto">
            <a:xfrm>
              <a:off x="118" y="2718"/>
              <a:ext cx="286"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18" name="Text Box 22"/>
            <p:cNvSpPr txBox="1">
              <a:spLocks noChangeArrowheads="1"/>
            </p:cNvSpPr>
            <p:nvPr/>
          </p:nvSpPr>
          <p:spPr bwMode="auto">
            <a:xfrm>
              <a:off x="1372" y="2754"/>
              <a:ext cx="286"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62" name="Line 23"/>
            <p:cNvSpPr>
              <a:spLocks noChangeShapeType="1"/>
            </p:cNvSpPr>
            <p:nvPr/>
          </p:nvSpPr>
          <p:spPr bwMode="auto">
            <a:xfrm flipV="1">
              <a:off x="942" y="2496"/>
              <a:ext cx="0" cy="2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63" name="Line 24"/>
            <p:cNvSpPr>
              <a:spLocks noChangeShapeType="1"/>
            </p:cNvSpPr>
            <p:nvPr/>
          </p:nvSpPr>
          <p:spPr bwMode="auto">
            <a:xfrm>
              <a:off x="1531" y="2256"/>
              <a:ext cx="0" cy="29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21" name="Text Box 25"/>
            <p:cNvSpPr txBox="1">
              <a:spLocks noChangeArrowheads="1"/>
            </p:cNvSpPr>
            <p:nvPr/>
          </p:nvSpPr>
          <p:spPr bwMode="auto">
            <a:xfrm>
              <a:off x="891" y="3195"/>
              <a:ext cx="316"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37965" name="Line 26"/>
            <p:cNvSpPr>
              <a:spLocks noChangeShapeType="1"/>
            </p:cNvSpPr>
            <p:nvPr/>
          </p:nvSpPr>
          <p:spPr bwMode="auto">
            <a:xfrm flipV="1">
              <a:off x="578" y="2688"/>
              <a:ext cx="0" cy="2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23" name="Text Box 27"/>
            <p:cNvSpPr txBox="1">
              <a:spLocks noChangeArrowheads="1"/>
            </p:cNvSpPr>
            <p:nvPr/>
          </p:nvSpPr>
          <p:spPr bwMode="auto">
            <a:xfrm>
              <a:off x="690" y="2466"/>
              <a:ext cx="24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24" name="Text Box 28"/>
            <p:cNvSpPr txBox="1">
              <a:spLocks noChangeArrowheads="1"/>
            </p:cNvSpPr>
            <p:nvPr/>
          </p:nvSpPr>
          <p:spPr bwMode="auto">
            <a:xfrm>
              <a:off x="603" y="2754"/>
              <a:ext cx="23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25" name="Text Box 29"/>
            <p:cNvSpPr txBox="1">
              <a:spLocks noChangeArrowheads="1"/>
            </p:cNvSpPr>
            <p:nvPr/>
          </p:nvSpPr>
          <p:spPr bwMode="auto">
            <a:xfrm>
              <a:off x="1270" y="2178"/>
              <a:ext cx="23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 name="Group 30"/>
          <p:cNvGrpSpPr>
            <a:grpSpLocks/>
          </p:cNvGrpSpPr>
          <p:nvPr/>
        </p:nvGrpSpPr>
        <p:grpSpPr bwMode="auto">
          <a:xfrm>
            <a:off x="5870577" y="1122363"/>
            <a:ext cx="2706688" cy="2514600"/>
            <a:chOff x="3815" y="2160"/>
            <a:chExt cx="1705" cy="1584"/>
          </a:xfrm>
        </p:grpSpPr>
        <p:sp>
          <p:nvSpPr>
            <p:cNvPr id="644127" name="Text Box 31"/>
            <p:cNvSpPr txBox="1">
              <a:spLocks noChangeArrowheads="1"/>
            </p:cNvSpPr>
            <p:nvPr/>
          </p:nvSpPr>
          <p:spPr bwMode="auto">
            <a:xfrm>
              <a:off x="4263" y="3453"/>
              <a:ext cx="1257"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a:t>
              </a:r>
              <a:endParaRPr lang="zh-CN"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7920" name="Group 32"/>
            <p:cNvGrpSpPr>
              <a:grpSpLocks/>
            </p:cNvGrpSpPr>
            <p:nvPr/>
          </p:nvGrpSpPr>
          <p:grpSpPr bwMode="auto">
            <a:xfrm>
              <a:off x="4711" y="2550"/>
              <a:ext cx="241" cy="222"/>
              <a:chOff x="4849" y="2502"/>
              <a:chExt cx="241" cy="222"/>
            </a:xfrm>
          </p:grpSpPr>
          <p:sp>
            <p:nvSpPr>
              <p:cNvPr id="37942" name="Oval 33"/>
              <p:cNvSpPr>
                <a:spLocks noChangeArrowheads="1"/>
              </p:cNvSpPr>
              <p:nvPr/>
            </p:nvSpPr>
            <p:spPr bwMode="auto">
              <a:xfrm flipV="1">
                <a:off x="4849" y="2502"/>
                <a:ext cx="241"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43" name="Line 34"/>
              <p:cNvSpPr>
                <a:spLocks noChangeShapeType="1"/>
              </p:cNvSpPr>
              <p:nvPr/>
            </p:nvSpPr>
            <p:spPr bwMode="auto">
              <a:xfrm flipV="1">
                <a:off x="4849" y="2613"/>
                <a:ext cx="241"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7921" name="Line 35"/>
            <p:cNvSpPr>
              <a:spLocks noChangeShapeType="1"/>
            </p:cNvSpPr>
            <p:nvPr/>
          </p:nvSpPr>
          <p:spPr bwMode="auto">
            <a:xfrm>
              <a:off x="4832" y="27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2" name="Line 36"/>
            <p:cNvSpPr>
              <a:spLocks noChangeShapeType="1"/>
            </p:cNvSpPr>
            <p:nvPr/>
          </p:nvSpPr>
          <p:spPr bwMode="auto">
            <a:xfrm>
              <a:off x="4832" y="216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3" name="Line 37"/>
            <p:cNvSpPr>
              <a:spLocks noChangeShapeType="1"/>
            </p:cNvSpPr>
            <p:nvPr/>
          </p:nvSpPr>
          <p:spPr bwMode="auto">
            <a:xfrm>
              <a:off x="4169" y="2160"/>
              <a:ext cx="12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34" name="Rectangle 38"/>
            <p:cNvSpPr>
              <a:spLocks noChangeArrowheads="1"/>
            </p:cNvSpPr>
            <p:nvPr/>
          </p:nvSpPr>
          <p:spPr bwMode="auto">
            <a:xfrm>
              <a:off x="5313" y="2532"/>
              <a:ext cx="120"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5" name="Line 39"/>
            <p:cNvSpPr>
              <a:spLocks noChangeShapeType="1"/>
            </p:cNvSpPr>
            <p:nvPr/>
          </p:nvSpPr>
          <p:spPr bwMode="auto">
            <a:xfrm>
              <a:off x="5373" y="2772"/>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6" name="Line 40"/>
            <p:cNvSpPr>
              <a:spLocks noChangeShapeType="1"/>
            </p:cNvSpPr>
            <p:nvPr/>
          </p:nvSpPr>
          <p:spPr bwMode="auto">
            <a:xfrm flipV="1">
              <a:off x="5373" y="216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7" name="Line 41"/>
            <p:cNvSpPr>
              <a:spLocks noChangeShapeType="1"/>
            </p:cNvSpPr>
            <p:nvPr/>
          </p:nvSpPr>
          <p:spPr bwMode="auto">
            <a:xfrm>
              <a:off x="4169" y="3162"/>
              <a:ext cx="12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38" name="Text Box 42"/>
            <p:cNvSpPr txBox="1">
              <a:spLocks noChangeArrowheads="1"/>
            </p:cNvSpPr>
            <p:nvPr/>
          </p:nvSpPr>
          <p:spPr bwMode="auto">
            <a:xfrm>
              <a:off x="3815" y="269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39" name="Text Box 43"/>
            <p:cNvSpPr txBox="1">
              <a:spLocks noChangeArrowheads="1"/>
            </p:cNvSpPr>
            <p:nvPr/>
          </p:nvSpPr>
          <p:spPr bwMode="auto">
            <a:xfrm>
              <a:off x="5104" y="275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40" name="Text Box 44"/>
            <p:cNvSpPr txBox="1">
              <a:spLocks noChangeArrowheads="1"/>
            </p:cNvSpPr>
            <p:nvPr/>
          </p:nvSpPr>
          <p:spPr bwMode="auto">
            <a:xfrm>
              <a:off x="4690" y="3126"/>
              <a:ext cx="33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644141" name="Rectangle 45"/>
            <p:cNvSpPr>
              <a:spLocks noChangeArrowheads="1"/>
            </p:cNvSpPr>
            <p:nvPr/>
          </p:nvSpPr>
          <p:spPr bwMode="auto">
            <a:xfrm>
              <a:off x="4267" y="2781"/>
              <a:ext cx="300" cy="291"/>
            </a:xfrm>
            <a:prstGeom prst="rect">
              <a:avLst/>
            </a:prstGeom>
            <a:noFill/>
            <a:ln w="9525">
              <a:noFill/>
              <a:miter lim="800000"/>
              <a:headEnd/>
              <a:tailEnd/>
            </a:ln>
            <a:effectLst/>
          </p:spPr>
          <p:txBody>
            <a:bodyPr wrap="none">
              <a:spAutoFit/>
            </a:bodyPr>
            <a:lstStyle/>
            <a:p>
              <a:pPr>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lang="en-US" altLang="zh-CN" i="1" baseline="30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4142" name="Rectangle 46"/>
            <p:cNvSpPr>
              <a:spLocks noChangeArrowheads="1"/>
            </p:cNvSpPr>
            <p:nvPr/>
          </p:nvSpPr>
          <p:spPr bwMode="auto">
            <a:xfrm>
              <a:off x="4939" y="2160"/>
              <a:ext cx="300" cy="291"/>
            </a:xfrm>
            <a:prstGeom prst="rect">
              <a:avLst/>
            </a:prstGeom>
            <a:noFill/>
            <a:ln w="9525">
              <a:noFill/>
              <a:miter lim="800000"/>
              <a:headEnd/>
              <a:tailEnd/>
            </a:ln>
            <a:effectLst/>
          </p:spPr>
          <p:txBody>
            <a:bodyPr wrap="none">
              <a:spAutoFit/>
            </a:bodyPr>
            <a:lstStyle/>
            <a:p>
              <a:pPr>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i="1" baseline="30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4143" name="Text Box 47"/>
            <p:cNvSpPr txBox="1">
              <a:spLocks noChangeArrowheads="1"/>
            </p:cNvSpPr>
            <p:nvPr/>
          </p:nvSpPr>
          <p:spPr bwMode="auto">
            <a:xfrm>
              <a:off x="3832" y="2388"/>
              <a:ext cx="253" cy="330"/>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defRPr/>
              </a:pPr>
              <a:r>
                <a:rPr kumimoji="1" lang="en-US" altLang="zh-CN"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7934" name="Line 48"/>
            <p:cNvSpPr>
              <a:spLocks noChangeShapeType="1"/>
            </p:cNvSpPr>
            <p:nvPr/>
          </p:nvSpPr>
          <p:spPr bwMode="auto">
            <a:xfrm>
              <a:off x="4160" y="2167"/>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45" name="Rectangle 49"/>
            <p:cNvSpPr>
              <a:spLocks noChangeArrowheads="1"/>
            </p:cNvSpPr>
            <p:nvPr/>
          </p:nvSpPr>
          <p:spPr bwMode="auto">
            <a:xfrm>
              <a:off x="4102" y="2724"/>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36" name="Line 50"/>
            <p:cNvSpPr>
              <a:spLocks noChangeShapeType="1"/>
            </p:cNvSpPr>
            <p:nvPr/>
          </p:nvSpPr>
          <p:spPr bwMode="auto">
            <a:xfrm>
              <a:off x="4160" y="2946"/>
              <a:ext cx="0" cy="22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37" name="Line 51"/>
            <p:cNvSpPr>
              <a:spLocks noChangeShapeType="1"/>
            </p:cNvSpPr>
            <p:nvPr/>
          </p:nvSpPr>
          <p:spPr bwMode="auto">
            <a:xfrm flipV="1">
              <a:off x="4267" y="2676"/>
              <a:ext cx="0" cy="286"/>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38" name="Line 52"/>
            <p:cNvSpPr>
              <a:spLocks noChangeShapeType="1"/>
            </p:cNvSpPr>
            <p:nvPr/>
          </p:nvSpPr>
          <p:spPr bwMode="auto">
            <a:xfrm>
              <a:off x="5275" y="2208"/>
              <a:ext cx="0" cy="274"/>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39" name="Line 53"/>
            <p:cNvSpPr>
              <a:spLocks noChangeShapeType="1"/>
            </p:cNvSpPr>
            <p:nvPr/>
          </p:nvSpPr>
          <p:spPr bwMode="auto">
            <a:xfrm flipV="1">
              <a:off x="4686" y="2532"/>
              <a:ext cx="0" cy="2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50" name="Text Box 54"/>
            <p:cNvSpPr txBox="1">
              <a:spLocks noChangeArrowheads="1"/>
            </p:cNvSpPr>
            <p:nvPr/>
          </p:nvSpPr>
          <p:spPr bwMode="auto">
            <a:xfrm>
              <a:off x="4429" y="2502"/>
              <a:ext cx="253"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41" name="Line 55"/>
            <p:cNvSpPr>
              <a:spLocks noChangeShapeType="1"/>
            </p:cNvSpPr>
            <p:nvPr/>
          </p:nvSpPr>
          <p:spPr bwMode="auto">
            <a:xfrm>
              <a:off x="4164" y="2220"/>
              <a:ext cx="0" cy="3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 name="Group 56"/>
          <p:cNvGrpSpPr>
            <a:grpSpLocks/>
          </p:cNvGrpSpPr>
          <p:nvPr/>
        </p:nvGrpSpPr>
        <p:grpSpPr bwMode="auto">
          <a:xfrm>
            <a:off x="3074988" y="1079500"/>
            <a:ext cx="3063875" cy="2709863"/>
            <a:chOff x="1820" y="2133"/>
            <a:chExt cx="1930" cy="1707"/>
          </a:xfrm>
        </p:grpSpPr>
        <p:sp>
          <p:nvSpPr>
            <p:cNvPr id="644153" name="Rectangle 57"/>
            <p:cNvSpPr>
              <a:spLocks noChangeArrowheads="1"/>
            </p:cNvSpPr>
            <p:nvPr/>
          </p:nvSpPr>
          <p:spPr bwMode="auto">
            <a:xfrm>
              <a:off x="2208" y="3457"/>
              <a:ext cx="1542" cy="383"/>
            </a:xfrm>
            <a:prstGeom prst="rect">
              <a:avLst/>
            </a:prstGeom>
            <a:noFill/>
            <a:ln w="9525">
              <a:noFill/>
              <a:miter lim="800000"/>
              <a:headEnd/>
              <a:tailEnd/>
            </a:ln>
            <a:effectLst/>
          </p:spPr>
          <p:txBody>
            <a:bodyPr/>
            <a:lstStyle/>
            <a:p>
              <a:pPr eaLnBrk="1" hangingPunct="1">
                <a:spcBef>
                  <a:spcPct val="20000"/>
                </a:spcBef>
                <a:buClr>
                  <a:schemeClr val="hlink"/>
                </a:buClr>
                <a:buSzPct val="70000"/>
                <a:buFont typeface="Wingdings" pitchFamily="2" charset="2"/>
                <a:buNone/>
                <a:defRPr/>
              </a:pPr>
              <a:r>
                <a:rPr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zh-CN" alt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a:t>
              </a:r>
              <a:endParaRPr lang="zh-CN" altLang="en-US"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54" name="Text Box 58"/>
            <p:cNvSpPr txBox="1">
              <a:spLocks noChangeArrowheads="1"/>
            </p:cNvSpPr>
            <p:nvPr/>
          </p:nvSpPr>
          <p:spPr bwMode="auto">
            <a:xfrm>
              <a:off x="1820" y="2401"/>
              <a:ext cx="253" cy="465"/>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nSpc>
                  <a:spcPct val="150000"/>
                </a:lnSpc>
                <a:defRPr/>
              </a:pPr>
              <a:r>
                <a:rPr lang="en-US" altLang="zh-CN"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7898" name="Line 59"/>
            <p:cNvSpPr>
              <a:spLocks noChangeShapeType="1"/>
            </p:cNvSpPr>
            <p:nvPr/>
          </p:nvSpPr>
          <p:spPr bwMode="auto">
            <a:xfrm>
              <a:off x="2149" y="2563"/>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899" name="Oval 60"/>
            <p:cNvSpPr>
              <a:spLocks noChangeArrowheads="1"/>
            </p:cNvSpPr>
            <p:nvPr/>
          </p:nvSpPr>
          <p:spPr bwMode="auto">
            <a:xfrm>
              <a:off x="2207" y="2340"/>
              <a:ext cx="234" cy="223"/>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0" name="Line 61"/>
            <p:cNvSpPr>
              <a:spLocks noChangeShapeType="1"/>
            </p:cNvSpPr>
            <p:nvPr/>
          </p:nvSpPr>
          <p:spPr bwMode="auto">
            <a:xfrm>
              <a:off x="2324" y="2173"/>
              <a:ext cx="0" cy="55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58" name="Rectangle 62"/>
            <p:cNvSpPr>
              <a:spLocks noChangeArrowheads="1"/>
            </p:cNvSpPr>
            <p:nvPr/>
          </p:nvSpPr>
          <p:spPr bwMode="auto">
            <a:xfrm>
              <a:off x="2266" y="2730"/>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2" name="Line 63"/>
            <p:cNvSpPr>
              <a:spLocks noChangeShapeType="1"/>
            </p:cNvSpPr>
            <p:nvPr/>
          </p:nvSpPr>
          <p:spPr bwMode="auto">
            <a:xfrm>
              <a:off x="2324" y="2952"/>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60" name="Text Box 64"/>
            <p:cNvSpPr txBox="1">
              <a:spLocks noChangeArrowheads="1"/>
            </p:cNvSpPr>
            <p:nvPr/>
          </p:nvSpPr>
          <p:spPr bwMode="auto">
            <a:xfrm>
              <a:off x="2089" y="2133"/>
              <a:ext cx="235" cy="593"/>
            </a:xfrm>
            <a:prstGeom prst="rect">
              <a:avLst/>
            </a:prstGeom>
            <a:noFill/>
            <a:ln w="9525">
              <a:noFill/>
              <a:miter lim="800000"/>
              <a:headEnd/>
              <a:tailEnd/>
            </a:ln>
            <a:effectLst/>
          </p:spPr>
          <p:txBody>
            <a:bodyPr anchor="ctr">
              <a:spAutoFit/>
            </a:bodyPr>
            <a:lstStyle/>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3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7904" name="Line 65"/>
            <p:cNvSpPr>
              <a:spLocks noChangeShapeType="1"/>
            </p:cNvSpPr>
            <p:nvPr/>
          </p:nvSpPr>
          <p:spPr bwMode="auto">
            <a:xfrm>
              <a:off x="2324" y="2173"/>
              <a:ext cx="11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62" name="Rectangle 66"/>
            <p:cNvSpPr>
              <a:spLocks noChangeArrowheads="1"/>
            </p:cNvSpPr>
            <p:nvPr/>
          </p:nvSpPr>
          <p:spPr bwMode="auto">
            <a:xfrm>
              <a:off x="3435" y="2563"/>
              <a:ext cx="117" cy="22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6" name="Line 67"/>
            <p:cNvSpPr>
              <a:spLocks noChangeShapeType="1"/>
            </p:cNvSpPr>
            <p:nvPr/>
          </p:nvSpPr>
          <p:spPr bwMode="auto">
            <a:xfrm>
              <a:off x="3494" y="2785"/>
              <a:ext cx="0" cy="3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7" name="Line 68"/>
            <p:cNvSpPr>
              <a:spLocks noChangeShapeType="1"/>
            </p:cNvSpPr>
            <p:nvPr/>
          </p:nvSpPr>
          <p:spPr bwMode="auto">
            <a:xfrm flipV="1">
              <a:off x="3494" y="2173"/>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8" name="Line 69"/>
            <p:cNvSpPr>
              <a:spLocks noChangeShapeType="1"/>
            </p:cNvSpPr>
            <p:nvPr/>
          </p:nvSpPr>
          <p:spPr bwMode="auto">
            <a:xfrm>
              <a:off x="2324" y="3174"/>
              <a:ext cx="116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66" name="Text Box 70"/>
            <p:cNvSpPr txBox="1">
              <a:spLocks noChangeArrowheads="1"/>
            </p:cNvSpPr>
            <p:nvPr/>
          </p:nvSpPr>
          <p:spPr bwMode="auto">
            <a:xfrm>
              <a:off x="1889" y="2275"/>
              <a:ext cx="328"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4167" name="Text Box 71"/>
            <p:cNvSpPr txBox="1">
              <a:spLocks noChangeArrowheads="1"/>
            </p:cNvSpPr>
            <p:nvPr/>
          </p:nvSpPr>
          <p:spPr bwMode="auto">
            <a:xfrm>
              <a:off x="1989" y="2669"/>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68" name="Text Box 72"/>
            <p:cNvSpPr txBox="1">
              <a:spLocks noChangeArrowheads="1"/>
            </p:cNvSpPr>
            <p:nvPr/>
          </p:nvSpPr>
          <p:spPr bwMode="auto">
            <a:xfrm>
              <a:off x="3184" y="2754"/>
              <a:ext cx="299"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2" name="Line 73"/>
            <p:cNvSpPr>
              <a:spLocks noChangeShapeType="1"/>
            </p:cNvSpPr>
            <p:nvPr/>
          </p:nvSpPr>
          <p:spPr bwMode="auto">
            <a:xfrm flipV="1">
              <a:off x="2447" y="2691"/>
              <a:ext cx="0" cy="285"/>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70" name="Text Box 74"/>
            <p:cNvSpPr txBox="1">
              <a:spLocks noChangeArrowheads="1"/>
            </p:cNvSpPr>
            <p:nvPr/>
          </p:nvSpPr>
          <p:spPr bwMode="auto">
            <a:xfrm>
              <a:off x="2770" y="3186"/>
              <a:ext cx="354"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37914" name="Line 75"/>
            <p:cNvSpPr>
              <a:spLocks noChangeShapeType="1"/>
            </p:cNvSpPr>
            <p:nvPr/>
          </p:nvSpPr>
          <p:spPr bwMode="auto">
            <a:xfrm>
              <a:off x="3408" y="2208"/>
              <a:ext cx="0" cy="274"/>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4172" name="Text Box 76"/>
            <p:cNvSpPr txBox="1">
              <a:spLocks noChangeArrowheads="1"/>
            </p:cNvSpPr>
            <p:nvPr/>
          </p:nvSpPr>
          <p:spPr bwMode="auto">
            <a:xfrm>
              <a:off x="2472" y="2715"/>
              <a:ext cx="28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4173" name="Text Box 77"/>
            <p:cNvSpPr txBox="1">
              <a:spLocks noChangeArrowheads="1"/>
            </p:cNvSpPr>
            <p:nvPr/>
          </p:nvSpPr>
          <p:spPr bwMode="auto">
            <a:xfrm>
              <a:off x="3096" y="2235"/>
              <a:ext cx="28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7917" name="Line 78"/>
            <p:cNvSpPr>
              <a:spLocks noChangeShapeType="1"/>
            </p:cNvSpPr>
            <p:nvPr/>
          </p:nvSpPr>
          <p:spPr bwMode="auto">
            <a:xfrm>
              <a:off x="2880" y="2794"/>
              <a:ext cx="0" cy="38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8" name="Line 79"/>
            <p:cNvSpPr>
              <a:spLocks noChangeShapeType="1"/>
            </p:cNvSpPr>
            <p:nvPr/>
          </p:nvSpPr>
          <p:spPr bwMode="auto">
            <a:xfrm>
              <a:off x="2880" y="2180"/>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644176" name="Object 80"/>
          <p:cNvGraphicFramePr>
            <a:graphicFrameLocks noGrp="1" noChangeAspect="1"/>
          </p:cNvGraphicFramePr>
          <p:nvPr>
            <p:ph sz="half" idx="2"/>
            <p:extLst>
              <p:ext uri="{D42A27DB-BD31-4B8C-83A1-F6EECF244321}">
                <p14:modId xmlns:p14="http://schemas.microsoft.com/office/powerpoint/2010/main" val="1527457637"/>
              </p:ext>
            </p:extLst>
          </p:nvPr>
        </p:nvGraphicFramePr>
        <p:xfrm>
          <a:off x="2719388" y="3959225"/>
          <a:ext cx="3673475" cy="1890713"/>
        </p:xfrm>
        <a:graphic>
          <a:graphicData uri="http://schemas.openxmlformats.org/presentationml/2006/ole">
            <mc:AlternateContent xmlns:mc="http://schemas.openxmlformats.org/markup-compatibility/2006">
              <mc:Choice xmlns:v="urn:schemas-microsoft-com:vml" Requires="v">
                <p:oleObj spid="_x0000_s85003" name="公式" r:id="rId3" imgW="1695354" imgH="857250" progId="Equation.3">
                  <p:embed/>
                </p:oleObj>
              </mc:Choice>
              <mc:Fallback>
                <p:oleObj name="公式" r:id="rId3" imgW="1695354" imgH="85725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9388" y="3959225"/>
                        <a:ext cx="3673475" cy="189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54025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5" presetClass="entr" presetSubtype="10" fill="hold" nodeType="afterEffect">
                                  <p:stCondLst>
                                    <p:cond delay="0"/>
                                  </p:stCondLst>
                                  <p:childTnLst>
                                    <p:set>
                                      <p:cBhvr>
                                        <p:cTn id="11" dur="1" fill="hold">
                                          <p:stCondLst>
                                            <p:cond delay="0"/>
                                          </p:stCondLst>
                                        </p:cTn>
                                        <p:tgtEl>
                                          <p:spTgt spid="644176"/>
                                        </p:tgtEl>
                                        <p:attrNameLst>
                                          <p:attrName>style.visibility</p:attrName>
                                        </p:attrNameLst>
                                      </p:cBhvr>
                                      <p:to>
                                        <p:strVal val="visible"/>
                                      </p:to>
                                    </p:set>
                                    <p:animEffect transition="in" filter="checkerboard(across)">
                                      <p:cBhvr>
                                        <p:cTn id="12" dur="500"/>
                                        <p:tgtEl>
                                          <p:spTgt spid="6441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E020DCCB-3FD9-4572-87A6-7C27039F1B5F}"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36</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7170" name="Text Box 2"/>
          <p:cNvSpPr txBox="1">
            <a:spLocks noChangeArrowheads="1"/>
          </p:cNvSpPr>
          <p:nvPr/>
        </p:nvSpPr>
        <p:spPr bwMode="auto">
          <a:xfrm>
            <a:off x="533400" y="1422400"/>
            <a:ext cx="5562600" cy="461665"/>
          </a:xfrm>
          <a:prstGeom prst="rect">
            <a:avLst/>
          </a:prstGeom>
          <a:noFill/>
          <a:ln w="9525">
            <a:noFill/>
            <a:miter lim="800000"/>
            <a:headEnd/>
            <a:tailEnd/>
          </a:ln>
          <a:effectLst/>
        </p:spPr>
        <p:txBody>
          <a:bodyPr>
            <a:spAutoFit/>
          </a:bodyPr>
          <a:lstStyle/>
          <a:p>
            <a:pPr>
              <a:defRPr/>
            </a:pP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①  </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叠加原理只适用于线性电路。</a:t>
            </a:r>
          </a:p>
        </p:txBody>
      </p:sp>
      <p:sp>
        <p:nvSpPr>
          <p:cNvPr id="647171" name="Text Box 3"/>
          <p:cNvSpPr txBox="1">
            <a:spLocks noChangeArrowheads="1"/>
          </p:cNvSpPr>
          <p:nvPr/>
        </p:nvSpPr>
        <p:spPr bwMode="auto">
          <a:xfrm>
            <a:off x="533400" y="3311525"/>
            <a:ext cx="8305800" cy="1421928"/>
          </a:xfrm>
          <a:prstGeom prst="rect">
            <a:avLst/>
          </a:prstGeom>
          <a:noFill/>
          <a:ln w="9525">
            <a:noFill/>
            <a:miter lim="800000"/>
            <a:headEnd/>
            <a:tailEnd/>
          </a:ln>
          <a:effectLst/>
        </p:spPr>
        <p:txBody>
          <a:bodyPr>
            <a:spAutoFit/>
          </a:bodyPr>
          <a:lstStyle/>
          <a:p>
            <a:pPr marL="342900" indent="-342900">
              <a:lnSpc>
                <a:spcPct val="120000"/>
              </a:lnSpc>
              <a:buFontTx/>
              <a:buAutoNum type="circleNumDbPlain" startAt="3"/>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不作用电源</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的处理</a:t>
            </a:r>
          </a:p>
          <a:p>
            <a:pPr marL="342900" indent="-342900">
              <a:lnSpc>
                <a:spcPct val="120000"/>
              </a:lnSpc>
              <a:defRPr/>
            </a:pP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电压源不作用，即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0</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，相当于</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短路线；</a:t>
            </a:r>
          </a:p>
          <a:p>
            <a:pPr marL="342900" indent="-342900">
              <a:lnSpc>
                <a:spcPct val="120000"/>
              </a:lnSpc>
              <a:defRPr/>
            </a:pP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电流源不作用，即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，相当于断</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路</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47172" name="Text Box 4"/>
          <p:cNvSpPr txBox="1">
            <a:spLocks noChangeArrowheads="1"/>
          </p:cNvSpPr>
          <p:nvPr/>
        </p:nvSpPr>
        <p:spPr bwMode="auto">
          <a:xfrm>
            <a:off x="519113" y="2100263"/>
            <a:ext cx="6801862" cy="978729"/>
          </a:xfrm>
          <a:prstGeom prst="rect">
            <a:avLst/>
          </a:prstGeom>
          <a:noFill/>
          <a:ln w="9525">
            <a:noFill/>
            <a:miter lim="800000"/>
            <a:headEnd/>
            <a:tailEnd/>
          </a:ln>
          <a:effectLst/>
        </p:spPr>
        <p:txBody>
          <a:bodyPr wrap="none">
            <a:spAutoFit/>
          </a:bodyPr>
          <a:lstStyle/>
          <a:p>
            <a:pPr marL="457200" indent="-457200">
              <a:lnSpc>
                <a:spcPct val="120000"/>
              </a:lnSpc>
              <a:buAutoNum type="circleNumDbPlain" startAt="2"/>
              <a:defRPr/>
            </a:pPr>
            <a:r>
              <a:rPr lang="zh-CN" altLang="en-US"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线性电路</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的电流或电压均可用叠加原理计算</a:t>
            </a:r>
            <a:r>
              <a:rPr lang="zh-CN" altLang="en-US"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nSpc>
                <a:spcPct val="120000"/>
              </a:lnSpc>
              <a:defRPr/>
            </a:pPr>
            <a:r>
              <a:rPr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en-US" altLang="zh-CN"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但功率</a:t>
            </a:r>
            <a:r>
              <a:rPr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P</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不能用叠加原理计算。</a:t>
            </a:r>
          </a:p>
        </p:txBody>
      </p:sp>
      <p:sp>
        <p:nvSpPr>
          <p:cNvPr id="647173" name="Text Box 5"/>
          <p:cNvSpPr txBox="1">
            <a:spLocks noChangeArrowheads="1"/>
          </p:cNvSpPr>
          <p:nvPr/>
        </p:nvSpPr>
        <p:spPr bwMode="auto">
          <a:xfrm>
            <a:off x="685800" y="609600"/>
            <a:ext cx="2301875" cy="461665"/>
          </a:xfrm>
          <a:prstGeom prst="rect">
            <a:avLst/>
          </a:prstGeom>
          <a:noFill/>
          <a:ln w="9525">
            <a:noFill/>
            <a:miter lim="800000"/>
            <a:headEnd/>
            <a:tailEnd/>
          </a:ln>
          <a:effectLst/>
        </p:spPr>
        <p:txBody>
          <a:bodyPr>
            <a:spAutoFit/>
          </a:bodyPr>
          <a:lstStyle/>
          <a:p>
            <a:pPr eaLnBrk="1" hangingPunct="1">
              <a:spcBef>
                <a:spcPct val="50000"/>
              </a:spcBef>
              <a:defRPr/>
            </a:pPr>
            <a:r>
              <a:rPr lang="zh-CN" altLang="en-US">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注意事项：</a:t>
            </a:r>
          </a:p>
        </p:txBody>
      </p:sp>
    </p:spTree>
    <p:extLst>
      <p:ext uri="{BB962C8B-B14F-4D97-AF65-F5344CB8AC3E}">
        <p14:creationId xmlns:p14="http://schemas.microsoft.com/office/powerpoint/2010/main" val="2785003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47170"/>
                                        </p:tgtEl>
                                        <p:attrNameLst>
                                          <p:attrName>style.visibility</p:attrName>
                                        </p:attrNameLst>
                                      </p:cBhvr>
                                      <p:to>
                                        <p:strVal val="visible"/>
                                      </p:to>
                                    </p:set>
                                    <p:animEffect transition="in" filter="box(out)">
                                      <p:cBhvr>
                                        <p:cTn id="7" dur="500"/>
                                        <p:tgtEl>
                                          <p:spTgt spid="647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47172"/>
                                        </p:tgtEl>
                                        <p:attrNameLst>
                                          <p:attrName>style.visibility</p:attrName>
                                        </p:attrNameLst>
                                      </p:cBhvr>
                                      <p:to>
                                        <p:strVal val="visible"/>
                                      </p:to>
                                    </p:set>
                                    <p:animEffect transition="in" filter="wipe(up)">
                                      <p:cBhvr>
                                        <p:cTn id="12" dur="500"/>
                                        <p:tgtEl>
                                          <p:spTgt spid="6471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7171"/>
                                        </p:tgtEl>
                                        <p:attrNameLst>
                                          <p:attrName>style.visibility</p:attrName>
                                        </p:attrNameLst>
                                      </p:cBhvr>
                                      <p:to>
                                        <p:strVal val="visible"/>
                                      </p:to>
                                    </p:set>
                                    <p:animEffect transition="in" filter="blinds(horizontal)">
                                      <p:cBhvr>
                                        <p:cTn id="17" dur="500"/>
                                        <p:tgtEl>
                                          <p:spTgt spid="64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0" grpId="0" autoUpdateAnimBg="0"/>
      <p:bldP spid="647171" grpId="0" autoUpdateAnimBg="0"/>
      <p:bldP spid="64717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961767EB-B164-4531-89E2-5B677377E181}"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37</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194" name="Text Box 2"/>
          <p:cNvSpPr txBox="1">
            <a:spLocks noChangeArrowheads="1"/>
          </p:cNvSpPr>
          <p:nvPr/>
        </p:nvSpPr>
        <p:spPr bwMode="auto">
          <a:xfrm>
            <a:off x="4097338" y="541338"/>
            <a:ext cx="4903787" cy="646331"/>
          </a:xfrm>
          <a:prstGeom prst="rect">
            <a:avLst/>
          </a:prstGeom>
          <a:noFill/>
          <a:ln w="38100">
            <a:noFill/>
            <a:miter lim="800000"/>
            <a:headEnd/>
            <a:tailEnd/>
          </a:ln>
          <a:effectLst/>
        </p:spPr>
        <p:txBody>
          <a:bodyPr>
            <a:spAutoFit/>
          </a:bodyPr>
          <a:lstStyle/>
          <a:p>
            <a:pPr>
              <a:lnSpc>
                <a:spcPct val="150000"/>
              </a:lnSpc>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lang="zh-CN"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195" name="Text Box 3"/>
          <p:cNvSpPr txBox="1">
            <a:spLocks noChangeArrowheads="1"/>
          </p:cNvSpPr>
          <p:nvPr/>
        </p:nvSpPr>
        <p:spPr bwMode="auto">
          <a:xfrm>
            <a:off x="533400" y="425450"/>
            <a:ext cx="8229600" cy="830997"/>
          </a:xfrm>
          <a:prstGeom prst="rect">
            <a:avLst/>
          </a:prstGeom>
          <a:noFill/>
          <a:ln w="38100">
            <a:noFill/>
            <a:miter lim="800000"/>
            <a:headEnd/>
            <a:tailEnd/>
          </a:ln>
          <a:effectLst/>
        </p:spPr>
        <p:txBody>
          <a:bodyPr>
            <a:spAutoFit/>
          </a:bodyPr>
          <a:lstStyle/>
          <a:p>
            <a:pPr>
              <a:defRPr/>
            </a:pPr>
            <a:r>
              <a:rPr kumimoji="1" lang="en-US" altLang="zh-CN">
                <a:solidFill>
                  <a:srgbClr val="33CC33"/>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a:solidFill>
                  <a:srgbClr val="33CC33"/>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a:solidFill>
                  <a:srgbClr val="33CC33"/>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a:solidFill>
                  <a:srgbClr val="33CC33"/>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电路如图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，已知</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10V</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 </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10</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 </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，试用叠加原理求电流 </a:t>
            </a: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r>
              <a:rPr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48196" name="Text Box 4"/>
          <p:cNvSpPr txBox="1">
            <a:spLocks noChangeArrowheads="1"/>
          </p:cNvSpPr>
          <p:nvPr/>
        </p:nvSpPr>
        <p:spPr bwMode="auto">
          <a:xfrm>
            <a:off x="711747" y="5105400"/>
            <a:ext cx="1988044" cy="461665"/>
          </a:xfrm>
          <a:prstGeom prst="rect">
            <a:avLst/>
          </a:prstGeom>
          <a:noFill/>
          <a:ln w="9525">
            <a:noFill/>
            <a:miter lim="800000"/>
            <a:headEnd/>
            <a:tailEnd/>
          </a:ln>
          <a:effectLst/>
        </p:spPr>
        <p:txBody>
          <a:bodyPr wrap="none">
            <a:spAutoFit/>
          </a:bodyPr>
          <a:lstStyle/>
          <a:p>
            <a:pPr algn="ctr" eaLnBrk="1" hangingPunct="1">
              <a:defRPr/>
            </a:pPr>
            <a:r>
              <a:rPr kumimoji="1" lang="zh-CN" altLang="en-US">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解：</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b)</a:t>
            </a:r>
            <a:r>
              <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graphicFrame>
        <p:nvGraphicFramePr>
          <p:cNvPr id="648197" name="Object 5"/>
          <p:cNvGraphicFramePr>
            <a:graphicFrameLocks noChangeAspect="1"/>
          </p:cNvGraphicFramePr>
          <p:nvPr>
            <p:extLst>
              <p:ext uri="{D42A27DB-BD31-4B8C-83A1-F6EECF244321}">
                <p14:modId xmlns:p14="http://schemas.microsoft.com/office/powerpoint/2010/main" val="1128288018"/>
              </p:ext>
            </p:extLst>
          </p:nvPr>
        </p:nvGraphicFramePr>
        <p:xfrm>
          <a:off x="3122613" y="5184775"/>
          <a:ext cx="4267200" cy="973138"/>
        </p:xfrm>
        <a:graphic>
          <a:graphicData uri="http://schemas.openxmlformats.org/presentationml/2006/ole">
            <mc:AlternateContent xmlns:mc="http://schemas.openxmlformats.org/markup-compatibility/2006">
              <mc:Choice xmlns:v="urn:schemas-microsoft-com:vml" Requires="v">
                <p:oleObj spid="_x0000_s87050" name="Equation" r:id="rId3" imgW="1762077" imgH="400140" progId="Equation.DSMT4">
                  <p:embed/>
                </p:oleObj>
              </mc:Choice>
              <mc:Fallback>
                <p:oleObj name="Equation" r:id="rId3" imgW="1762077" imgH="4001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2613" y="5184775"/>
                        <a:ext cx="4267200" cy="973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992" name="Group 6"/>
          <p:cNvGrpSpPr>
            <a:grpSpLocks/>
          </p:cNvGrpSpPr>
          <p:nvPr/>
        </p:nvGrpSpPr>
        <p:grpSpPr bwMode="auto">
          <a:xfrm>
            <a:off x="11113" y="1585913"/>
            <a:ext cx="3048000" cy="2595562"/>
            <a:chOff x="0" y="1026"/>
            <a:chExt cx="1920" cy="1635"/>
          </a:xfrm>
        </p:grpSpPr>
        <p:sp>
          <p:nvSpPr>
            <p:cNvPr id="648199" name="Text Box 7"/>
            <p:cNvSpPr txBox="1">
              <a:spLocks noChangeArrowheads="1"/>
            </p:cNvSpPr>
            <p:nvPr/>
          </p:nvSpPr>
          <p:spPr bwMode="auto">
            <a:xfrm>
              <a:off x="915" y="2370"/>
              <a:ext cx="331" cy="291"/>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42016" name="Line 8"/>
            <p:cNvSpPr>
              <a:spLocks noChangeShapeType="1"/>
            </p:cNvSpPr>
            <p:nvPr/>
          </p:nvSpPr>
          <p:spPr bwMode="auto">
            <a:xfrm>
              <a:off x="296" y="1944"/>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7" name="Oval 9"/>
            <p:cNvSpPr>
              <a:spLocks noChangeArrowheads="1"/>
            </p:cNvSpPr>
            <p:nvPr/>
          </p:nvSpPr>
          <p:spPr bwMode="auto">
            <a:xfrm>
              <a:off x="351" y="1722"/>
              <a:ext cx="227" cy="227"/>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8" name="Line 10"/>
            <p:cNvSpPr>
              <a:spLocks noChangeShapeType="1"/>
            </p:cNvSpPr>
            <p:nvPr/>
          </p:nvSpPr>
          <p:spPr bwMode="auto">
            <a:xfrm flipH="1">
              <a:off x="460" y="1356"/>
              <a:ext cx="0" cy="100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03" name="Text Box 11"/>
            <p:cNvSpPr txBox="1">
              <a:spLocks noChangeArrowheads="1"/>
            </p:cNvSpPr>
            <p:nvPr/>
          </p:nvSpPr>
          <p:spPr bwMode="auto">
            <a:xfrm>
              <a:off x="243" y="1514"/>
              <a:ext cx="219" cy="640"/>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42020" name="Group 12"/>
            <p:cNvGrpSpPr>
              <a:grpSpLocks/>
            </p:cNvGrpSpPr>
            <p:nvPr/>
          </p:nvGrpSpPr>
          <p:grpSpPr bwMode="auto">
            <a:xfrm>
              <a:off x="1702" y="1756"/>
              <a:ext cx="218" cy="222"/>
              <a:chOff x="1702" y="1756"/>
              <a:chExt cx="218" cy="222"/>
            </a:xfrm>
          </p:grpSpPr>
          <p:sp>
            <p:nvSpPr>
              <p:cNvPr id="42041" name="Oval 13"/>
              <p:cNvSpPr>
                <a:spLocks noChangeArrowheads="1"/>
              </p:cNvSpPr>
              <p:nvPr/>
            </p:nvSpPr>
            <p:spPr bwMode="auto">
              <a:xfrm flipV="1">
                <a:off x="1702" y="1756"/>
                <a:ext cx="218"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42" name="Line 14"/>
              <p:cNvSpPr>
                <a:spLocks noChangeShapeType="1"/>
              </p:cNvSpPr>
              <p:nvPr/>
            </p:nvSpPr>
            <p:spPr bwMode="auto">
              <a:xfrm flipV="1">
                <a:off x="1702" y="1867"/>
                <a:ext cx="218"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2021" name="Line 15"/>
            <p:cNvSpPr>
              <a:spLocks noChangeShapeType="1"/>
            </p:cNvSpPr>
            <p:nvPr/>
          </p:nvSpPr>
          <p:spPr bwMode="auto">
            <a:xfrm>
              <a:off x="1811" y="1978"/>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2" name="Line 16"/>
            <p:cNvSpPr>
              <a:spLocks noChangeShapeType="1"/>
            </p:cNvSpPr>
            <p:nvPr/>
          </p:nvSpPr>
          <p:spPr bwMode="auto">
            <a:xfrm>
              <a:off x="1811" y="1366"/>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3" name="Line 17"/>
            <p:cNvSpPr>
              <a:spLocks noChangeShapeType="1"/>
            </p:cNvSpPr>
            <p:nvPr/>
          </p:nvSpPr>
          <p:spPr bwMode="auto">
            <a:xfrm flipV="1">
              <a:off x="459" y="1359"/>
              <a:ext cx="55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10" name="Rectangle 18"/>
            <p:cNvSpPr>
              <a:spLocks noChangeArrowheads="1"/>
            </p:cNvSpPr>
            <p:nvPr/>
          </p:nvSpPr>
          <p:spPr bwMode="auto">
            <a:xfrm>
              <a:off x="823" y="1735"/>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5" name="Line 19"/>
            <p:cNvSpPr>
              <a:spLocks noChangeShapeType="1"/>
            </p:cNvSpPr>
            <p:nvPr/>
          </p:nvSpPr>
          <p:spPr bwMode="auto">
            <a:xfrm>
              <a:off x="872" y="2007"/>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6" name="Line 20"/>
            <p:cNvSpPr>
              <a:spLocks noChangeShapeType="1"/>
            </p:cNvSpPr>
            <p:nvPr/>
          </p:nvSpPr>
          <p:spPr bwMode="auto">
            <a:xfrm flipV="1">
              <a:off x="878" y="1345"/>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7" name="Line 21"/>
            <p:cNvSpPr>
              <a:spLocks noChangeShapeType="1"/>
            </p:cNvSpPr>
            <p:nvPr/>
          </p:nvSpPr>
          <p:spPr bwMode="auto">
            <a:xfrm flipV="1">
              <a:off x="460" y="2343"/>
              <a:ext cx="1363"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14" name="Text Box 22"/>
            <p:cNvSpPr txBox="1">
              <a:spLocks noChangeArrowheads="1"/>
            </p:cNvSpPr>
            <p:nvPr/>
          </p:nvSpPr>
          <p:spPr bwMode="auto">
            <a:xfrm>
              <a:off x="0" y="1730"/>
              <a:ext cx="378"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8215" name="Text Box 23"/>
            <p:cNvSpPr txBox="1">
              <a:spLocks noChangeArrowheads="1"/>
            </p:cNvSpPr>
            <p:nvPr/>
          </p:nvSpPr>
          <p:spPr bwMode="auto">
            <a:xfrm>
              <a:off x="987" y="1931"/>
              <a:ext cx="41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0" name="Line 24"/>
            <p:cNvSpPr>
              <a:spLocks noChangeShapeType="1"/>
            </p:cNvSpPr>
            <p:nvPr/>
          </p:nvSpPr>
          <p:spPr bwMode="auto">
            <a:xfrm rot="5400000" flipV="1">
              <a:off x="1128" y="1345"/>
              <a:ext cx="0" cy="267"/>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17" name="Text Box 25"/>
            <p:cNvSpPr txBox="1">
              <a:spLocks noChangeArrowheads="1"/>
            </p:cNvSpPr>
            <p:nvPr/>
          </p:nvSpPr>
          <p:spPr bwMode="auto">
            <a:xfrm>
              <a:off x="892" y="1026"/>
              <a:ext cx="542"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18" name="Text Box 26"/>
            <p:cNvSpPr txBox="1">
              <a:spLocks noChangeArrowheads="1"/>
            </p:cNvSpPr>
            <p:nvPr/>
          </p:nvSpPr>
          <p:spPr bwMode="auto">
            <a:xfrm>
              <a:off x="397" y="1755"/>
              <a:ext cx="605"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3" name="Line 27"/>
            <p:cNvSpPr>
              <a:spLocks noChangeShapeType="1"/>
            </p:cNvSpPr>
            <p:nvPr/>
          </p:nvSpPr>
          <p:spPr bwMode="auto">
            <a:xfrm flipV="1">
              <a:off x="1673" y="1719"/>
              <a:ext cx="0" cy="322"/>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20" name="Rectangle 28"/>
            <p:cNvSpPr>
              <a:spLocks noChangeArrowheads="1"/>
            </p:cNvSpPr>
            <p:nvPr/>
          </p:nvSpPr>
          <p:spPr bwMode="auto">
            <a:xfrm>
              <a:off x="1304" y="1735"/>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5" name="Line 29"/>
            <p:cNvSpPr>
              <a:spLocks noChangeShapeType="1"/>
            </p:cNvSpPr>
            <p:nvPr/>
          </p:nvSpPr>
          <p:spPr bwMode="auto">
            <a:xfrm>
              <a:off x="1353" y="2007"/>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6" name="Line 30"/>
            <p:cNvSpPr>
              <a:spLocks noChangeShapeType="1"/>
            </p:cNvSpPr>
            <p:nvPr/>
          </p:nvSpPr>
          <p:spPr bwMode="auto">
            <a:xfrm flipV="1">
              <a:off x="1359" y="1345"/>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23" name="Rectangle 31"/>
            <p:cNvSpPr>
              <a:spLocks noChangeArrowheads="1"/>
            </p:cNvSpPr>
            <p:nvPr/>
          </p:nvSpPr>
          <p:spPr bwMode="auto">
            <a:xfrm rot="-5400000">
              <a:off x="1084" y="1243"/>
              <a:ext cx="102" cy="245"/>
            </a:xfrm>
            <a:prstGeom prst="rect">
              <a:avLst/>
            </a:prstGeom>
            <a:noFill/>
            <a:ln w="38100">
              <a:solidFill>
                <a:schemeClr val="tx1"/>
              </a:solidFill>
              <a:miter lim="800000"/>
              <a:headEnd/>
              <a:tailEnd/>
            </a:ln>
            <a:effectLst/>
          </p:spPr>
          <p:txBody>
            <a:bodyPr vert="eaVert"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8" name="Line 32"/>
            <p:cNvSpPr>
              <a:spLocks noChangeShapeType="1"/>
            </p:cNvSpPr>
            <p:nvPr/>
          </p:nvSpPr>
          <p:spPr bwMode="auto">
            <a:xfrm>
              <a:off x="1280" y="1359"/>
              <a:ext cx="55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25" name="Rectangle 33"/>
            <p:cNvSpPr>
              <a:spLocks noChangeArrowheads="1"/>
            </p:cNvSpPr>
            <p:nvPr/>
          </p:nvSpPr>
          <p:spPr bwMode="auto">
            <a:xfrm>
              <a:off x="1438" y="1746"/>
              <a:ext cx="253" cy="291"/>
            </a:xfrm>
            <a:prstGeom prst="rect">
              <a:avLst/>
            </a:prstGeom>
            <a:noFill/>
            <a:ln w="9525">
              <a:noFill/>
              <a:miter lim="800000"/>
              <a:headEnd/>
              <a:tailEnd/>
            </a:ln>
            <a:effectLst/>
          </p:spPr>
          <p:txBody>
            <a:bodyPr wrap="none"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8226" name="Rectangle 34"/>
            <p:cNvSpPr>
              <a:spLocks noChangeArrowheads="1"/>
            </p:cNvSpPr>
            <p:nvPr/>
          </p:nvSpPr>
          <p:spPr bwMode="auto">
            <a:xfrm>
              <a:off x="1019" y="1458"/>
              <a:ext cx="246" cy="291"/>
            </a:xfrm>
            <a:prstGeom prst="rect">
              <a:avLst/>
            </a:prstGeom>
            <a:noFill/>
            <a:ln w="9525">
              <a:noFill/>
              <a:miter lim="800000"/>
              <a:headEnd/>
              <a:tailEnd/>
            </a:ln>
            <a:effectLst/>
          </p:spPr>
          <p:txBody>
            <a:bodyPr wrap="none"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p>
          </p:txBody>
        </p:sp>
      </p:grpSp>
      <p:grpSp>
        <p:nvGrpSpPr>
          <p:cNvPr id="4" name="Group 35"/>
          <p:cNvGrpSpPr>
            <a:grpSpLocks/>
          </p:cNvGrpSpPr>
          <p:nvPr/>
        </p:nvGrpSpPr>
        <p:grpSpPr bwMode="auto">
          <a:xfrm>
            <a:off x="4716463" y="1512888"/>
            <a:ext cx="2706687" cy="3036888"/>
            <a:chOff x="2173" y="978"/>
            <a:chExt cx="1705" cy="1913"/>
          </a:xfrm>
        </p:grpSpPr>
        <p:sp>
          <p:nvSpPr>
            <p:cNvPr id="648228" name="Rectangle 36"/>
            <p:cNvSpPr>
              <a:spLocks noChangeArrowheads="1"/>
            </p:cNvSpPr>
            <p:nvPr/>
          </p:nvSpPr>
          <p:spPr bwMode="auto">
            <a:xfrm>
              <a:off x="2400" y="2368"/>
              <a:ext cx="1478" cy="523"/>
            </a:xfrm>
            <a:prstGeom prst="rect">
              <a:avLst/>
            </a:prstGeom>
            <a:noFill/>
            <a:ln w="9525">
              <a:noFill/>
              <a:miter lim="800000"/>
              <a:headEnd/>
              <a:tailEnd/>
            </a:ln>
            <a:effectLst/>
          </p:spPr>
          <p:txBody>
            <a:bodyPr>
              <a:spAutoFit/>
            </a:bodyPr>
            <a:lstStyle/>
            <a:p>
              <a:pPr algn="ctr">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单独作用</a:t>
              </a:r>
            </a:p>
            <a:p>
              <a:pPr algn="ctr">
                <a:defRPr/>
              </a:pPr>
              <a:r>
                <a:rPr lang="zh-CN" altLang="zh-CN" sz="24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将 </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断掉</a:t>
              </a:r>
              <a:endParaRPr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995" name="Line 37"/>
            <p:cNvSpPr>
              <a:spLocks noChangeShapeType="1"/>
            </p:cNvSpPr>
            <p:nvPr/>
          </p:nvSpPr>
          <p:spPr bwMode="auto">
            <a:xfrm>
              <a:off x="2453" y="1912"/>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996" name="Oval 38"/>
            <p:cNvSpPr>
              <a:spLocks noChangeArrowheads="1"/>
            </p:cNvSpPr>
            <p:nvPr/>
          </p:nvSpPr>
          <p:spPr bwMode="auto">
            <a:xfrm>
              <a:off x="2508" y="1690"/>
              <a:ext cx="226" cy="227"/>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997" name="Line 39"/>
            <p:cNvSpPr>
              <a:spLocks noChangeShapeType="1"/>
            </p:cNvSpPr>
            <p:nvPr/>
          </p:nvSpPr>
          <p:spPr bwMode="auto">
            <a:xfrm>
              <a:off x="2617" y="1313"/>
              <a:ext cx="7" cy="998"/>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32" name="Text Box 40"/>
            <p:cNvSpPr txBox="1">
              <a:spLocks noChangeArrowheads="1"/>
            </p:cNvSpPr>
            <p:nvPr/>
          </p:nvSpPr>
          <p:spPr bwMode="auto">
            <a:xfrm>
              <a:off x="2400" y="1482"/>
              <a:ext cx="219" cy="640"/>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1999" name="Line 41"/>
            <p:cNvSpPr>
              <a:spLocks noChangeShapeType="1"/>
            </p:cNvSpPr>
            <p:nvPr/>
          </p:nvSpPr>
          <p:spPr bwMode="auto">
            <a:xfrm flipV="1">
              <a:off x="2615" y="1327"/>
              <a:ext cx="55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34" name="Rectangle 42"/>
            <p:cNvSpPr>
              <a:spLocks noChangeArrowheads="1"/>
            </p:cNvSpPr>
            <p:nvPr/>
          </p:nvSpPr>
          <p:spPr bwMode="auto">
            <a:xfrm>
              <a:off x="2980" y="1703"/>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1" name="Line 43"/>
            <p:cNvSpPr>
              <a:spLocks noChangeShapeType="1"/>
            </p:cNvSpPr>
            <p:nvPr/>
          </p:nvSpPr>
          <p:spPr bwMode="auto">
            <a:xfrm>
              <a:off x="3028" y="1975"/>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2" name="Line 44"/>
            <p:cNvSpPr>
              <a:spLocks noChangeShapeType="1"/>
            </p:cNvSpPr>
            <p:nvPr/>
          </p:nvSpPr>
          <p:spPr bwMode="auto">
            <a:xfrm flipV="1">
              <a:off x="3035" y="1313"/>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3" name="Line 45"/>
            <p:cNvSpPr>
              <a:spLocks noChangeShapeType="1"/>
            </p:cNvSpPr>
            <p:nvPr/>
          </p:nvSpPr>
          <p:spPr bwMode="auto">
            <a:xfrm flipV="1">
              <a:off x="2616" y="2311"/>
              <a:ext cx="1098"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38" name="Text Box 46"/>
            <p:cNvSpPr txBox="1">
              <a:spLocks noChangeArrowheads="1"/>
            </p:cNvSpPr>
            <p:nvPr/>
          </p:nvSpPr>
          <p:spPr bwMode="auto">
            <a:xfrm>
              <a:off x="2173" y="1657"/>
              <a:ext cx="431" cy="291"/>
            </a:xfrm>
            <a:prstGeom prst="rect">
              <a:avLst/>
            </a:prstGeom>
            <a:noFill/>
            <a:ln w="9525">
              <a:noFill/>
              <a:miter lim="800000"/>
              <a:headEnd/>
              <a:tailEnd/>
            </a:ln>
            <a:effectLst/>
          </p:spPr>
          <p:txBody>
            <a:bodyPr anchor="ctr">
              <a:spAutoFit/>
            </a:bodyPr>
            <a:lstStyle/>
            <a:p>
              <a:pP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48239" name="Text Box 47"/>
            <p:cNvSpPr txBox="1">
              <a:spLocks noChangeArrowheads="1"/>
            </p:cNvSpPr>
            <p:nvPr/>
          </p:nvSpPr>
          <p:spPr bwMode="auto">
            <a:xfrm>
              <a:off x="3136" y="1899"/>
              <a:ext cx="410"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6" name="Line 48"/>
            <p:cNvSpPr>
              <a:spLocks noChangeShapeType="1"/>
            </p:cNvSpPr>
            <p:nvPr/>
          </p:nvSpPr>
          <p:spPr bwMode="auto">
            <a:xfrm rot="5400000" flipV="1">
              <a:off x="3284" y="1314"/>
              <a:ext cx="0" cy="266"/>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41" name="Text Box 49"/>
            <p:cNvSpPr txBox="1">
              <a:spLocks noChangeArrowheads="1"/>
            </p:cNvSpPr>
            <p:nvPr/>
          </p:nvSpPr>
          <p:spPr bwMode="auto">
            <a:xfrm>
              <a:off x="3132" y="978"/>
              <a:ext cx="54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42" name="Text Box 50"/>
            <p:cNvSpPr txBox="1">
              <a:spLocks noChangeArrowheads="1"/>
            </p:cNvSpPr>
            <p:nvPr/>
          </p:nvSpPr>
          <p:spPr bwMode="auto">
            <a:xfrm>
              <a:off x="2554" y="1723"/>
              <a:ext cx="604"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solidFill>
                  <a:schemeClr val="bg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43" name="Rectangle 51"/>
            <p:cNvSpPr>
              <a:spLocks noChangeArrowheads="1"/>
            </p:cNvSpPr>
            <p:nvPr/>
          </p:nvSpPr>
          <p:spPr bwMode="auto">
            <a:xfrm>
              <a:off x="3460" y="1703"/>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0" name="Line 52"/>
            <p:cNvSpPr>
              <a:spLocks noChangeShapeType="1"/>
            </p:cNvSpPr>
            <p:nvPr/>
          </p:nvSpPr>
          <p:spPr bwMode="auto">
            <a:xfrm>
              <a:off x="3509" y="1975"/>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1" name="Line 53"/>
            <p:cNvSpPr>
              <a:spLocks noChangeShapeType="1"/>
            </p:cNvSpPr>
            <p:nvPr/>
          </p:nvSpPr>
          <p:spPr bwMode="auto">
            <a:xfrm flipV="1">
              <a:off x="3515" y="1313"/>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46" name="Rectangle 54"/>
            <p:cNvSpPr>
              <a:spLocks noChangeArrowheads="1"/>
            </p:cNvSpPr>
            <p:nvPr/>
          </p:nvSpPr>
          <p:spPr bwMode="auto">
            <a:xfrm rot="-5400000">
              <a:off x="3244" y="1212"/>
              <a:ext cx="102" cy="244"/>
            </a:xfrm>
            <a:prstGeom prst="rect">
              <a:avLst/>
            </a:prstGeom>
            <a:noFill/>
            <a:ln w="38100">
              <a:solidFill>
                <a:schemeClr val="tx1"/>
              </a:solidFill>
              <a:miter lim="800000"/>
              <a:headEnd/>
              <a:tailEnd/>
            </a:ln>
            <a:effectLst/>
          </p:spPr>
          <p:txBody>
            <a:bodyPr vert="eaVert"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3" name="Line 55"/>
            <p:cNvSpPr>
              <a:spLocks noChangeShapeType="1"/>
            </p:cNvSpPr>
            <p:nvPr/>
          </p:nvSpPr>
          <p:spPr bwMode="auto">
            <a:xfrm>
              <a:off x="3436" y="1327"/>
              <a:ext cx="306"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48248" name="Rectangle 56"/>
            <p:cNvSpPr>
              <a:spLocks noChangeArrowheads="1"/>
            </p:cNvSpPr>
            <p:nvPr/>
          </p:nvSpPr>
          <p:spPr bwMode="auto">
            <a:xfrm>
              <a:off x="3139" y="1450"/>
              <a:ext cx="467" cy="291"/>
            </a:xfrm>
            <a:prstGeom prst="rect">
              <a:avLst/>
            </a:prstGeom>
            <a:noFill/>
            <a:ln w="9525">
              <a:noFill/>
              <a:miter lim="800000"/>
              <a:headEnd/>
              <a:tailEnd/>
            </a:ln>
            <a:effectLst/>
          </p:spPr>
          <p:txBody>
            <a:bodyPr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b="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baseline="-2500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1131890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48196"/>
                                        </p:tgtEl>
                                        <p:attrNameLst>
                                          <p:attrName>style.visibility</p:attrName>
                                        </p:attrNameLst>
                                      </p:cBhvr>
                                      <p:to>
                                        <p:strVal val="visible"/>
                                      </p:to>
                                    </p:set>
                                    <p:animEffect transition="in" filter="wipe(left)">
                                      <p:cBhvr>
                                        <p:cTn id="13" dur="500"/>
                                        <p:tgtEl>
                                          <p:spTgt spid="64819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648197"/>
                                        </p:tgtEl>
                                        <p:attrNameLst>
                                          <p:attrName>style.visibility</p:attrName>
                                        </p:attrNameLst>
                                      </p:cBhvr>
                                      <p:to>
                                        <p:strVal val="visible"/>
                                      </p:to>
                                    </p:set>
                                    <p:animEffect transition="in" filter="wipe(left)">
                                      <p:cBhvr>
                                        <p:cTn id="18" dur="500"/>
                                        <p:tgtEl>
                                          <p:spTgt spid="648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276E1CCC-24A1-40D8-9929-7647217AE3B4}" type="slidenum">
              <a:rPr lang="en-US" altLang="zh-CN" sz="1400" b="0">
                <a:latin typeface="Times New Roman" panose="02020603050405020304" pitchFamily="18" charset="0"/>
                <a:cs typeface="Times New Roman" panose="02020603050405020304" pitchFamily="18" charset="0"/>
              </a:rPr>
              <a:pPr algn="r"/>
              <a:t>38</a:t>
            </a:fld>
            <a:endParaRPr lang="en-US" altLang="zh-CN" sz="1400" b="0">
              <a:latin typeface="Times New Roman" panose="02020603050405020304" pitchFamily="18" charset="0"/>
              <a:cs typeface="Times New Roman" panose="02020603050405020304" pitchFamily="18" charset="0"/>
            </a:endParaRPr>
          </a:p>
        </p:txBody>
      </p:sp>
      <p:sp>
        <p:nvSpPr>
          <p:cNvPr id="649218" name="Text Box 2"/>
          <p:cNvSpPr txBox="1">
            <a:spLocks noChangeArrowheads="1"/>
          </p:cNvSpPr>
          <p:nvPr/>
        </p:nvSpPr>
        <p:spPr bwMode="auto">
          <a:xfrm>
            <a:off x="4097338" y="414338"/>
            <a:ext cx="4903787" cy="646331"/>
          </a:xfrm>
          <a:prstGeom prst="rect">
            <a:avLst/>
          </a:prstGeom>
          <a:noFill/>
          <a:ln w="38100">
            <a:noFill/>
            <a:miter lim="800000"/>
            <a:headEnd/>
            <a:tailEnd/>
          </a:ln>
          <a:effectLst/>
        </p:spPr>
        <p:txBody>
          <a:bodyPr>
            <a:spAutoFit/>
          </a:bodyPr>
          <a:lstStyle/>
          <a:p>
            <a:pPr>
              <a:lnSpc>
                <a:spcPct val="150000"/>
              </a:lnSpc>
              <a:defRPr/>
            </a:pPr>
            <a:r>
              <a:rPr lang="en-US" altLang="zh-CN" i="1">
                <a:effectLst>
                  <a:outerShdw blurRad="38100" dist="38100" dir="2700000" algn="tl">
                    <a:srgbClr val="C0C0C0"/>
                  </a:outerShdw>
                </a:effectLst>
                <a:latin typeface="Times New Roman" pitchFamily="18" charset="0"/>
                <a:cs typeface="Times New Roman" panose="02020603050405020304" pitchFamily="18" charset="0"/>
              </a:rPr>
              <a:t> </a:t>
            </a:r>
            <a:endParaRPr lang="zh-CN" altLang="zh-CN" i="1">
              <a:effectLst>
                <a:outerShdw blurRad="38100" dist="38100" dir="2700000" algn="tl">
                  <a:srgbClr val="C0C0C0"/>
                </a:outerShdw>
              </a:effectLst>
              <a:latin typeface="Times New Roman" pitchFamily="18" charset="0"/>
              <a:cs typeface="Times New Roman" panose="02020603050405020304" pitchFamily="18" charset="0"/>
            </a:endParaRPr>
          </a:p>
        </p:txBody>
      </p:sp>
      <p:graphicFrame>
        <p:nvGraphicFramePr>
          <p:cNvPr id="649219" name="Object 3"/>
          <p:cNvGraphicFramePr>
            <a:graphicFrameLocks noChangeAspect="1"/>
          </p:cNvGraphicFramePr>
          <p:nvPr>
            <p:extLst>
              <p:ext uri="{D42A27DB-BD31-4B8C-83A1-F6EECF244321}">
                <p14:modId xmlns:p14="http://schemas.microsoft.com/office/powerpoint/2010/main" val="3296318753"/>
              </p:ext>
            </p:extLst>
          </p:nvPr>
        </p:nvGraphicFramePr>
        <p:xfrm>
          <a:off x="2033588" y="5705475"/>
          <a:ext cx="5006975" cy="620713"/>
        </p:xfrm>
        <a:graphic>
          <a:graphicData uri="http://schemas.openxmlformats.org/presentationml/2006/ole">
            <mc:AlternateContent xmlns:mc="http://schemas.openxmlformats.org/markup-compatibility/2006">
              <mc:Choice xmlns:v="urn:schemas-microsoft-com:vml" Requires="v">
                <p:oleObj spid="_x0000_s88084" name="Equation" r:id="rId3" imgW="1723988" imgH="200070" progId="Equation.DSMT4">
                  <p:embed/>
                </p:oleObj>
              </mc:Choice>
              <mc:Fallback>
                <p:oleObj name="Equation" r:id="rId3" imgW="1723988" imgH="20007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3588" y="5705475"/>
                        <a:ext cx="5006975"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9220" name="Text Box 4"/>
          <p:cNvSpPr txBox="1">
            <a:spLocks noChangeArrowheads="1"/>
          </p:cNvSpPr>
          <p:nvPr/>
        </p:nvSpPr>
        <p:spPr bwMode="auto">
          <a:xfrm>
            <a:off x="877392" y="3505200"/>
            <a:ext cx="1218603" cy="461665"/>
          </a:xfrm>
          <a:prstGeom prst="rect">
            <a:avLst/>
          </a:prstGeom>
          <a:noFill/>
          <a:ln w="9525">
            <a:noFill/>
            <a:miter lim="800000"/>
            <a:headEnd/>
            <a:tailEnd/>
          </a:ln>
          <a:effectLst/>
        </p:spPr>
        <p:txBody>
          <a:bodyPr wrap="none">
            <a:spAutoFit/>
          </a:bodyPr>
          <a:lstStyle/>
          <a:p>
            <a:pPr algn="ctr" eaLnBrk="1" hangingPunct="1">
              <a:defRPr/>
            </a:pPr>
            <a:r>
              <a:rPr kumimoji="1" lang="zh-CN" altLang="en-US">
                <a:effectLst>
                  <a:outerShdw blurRad="38100" dist="38100" dir="2700000" algn="tl">
                    <a:srgbClr val="C0C0C0"/>
                  </a:outerShdw>
                </a:effectLst>
                <a:latin typeface="Times New Roman" pitchFamily="18" charset="0"/>
                <a:cs typeface="Times New Roman" panose="02020603050405020304" pitchFamily="18" charset="0"/>
              </a:rPr>
              <a:t>由图</a:t>
            </a:r>
            <a:r>
              <a:rPr kumimoji="1" lang="en-US" altLang="zh-CN">
                <a:effectLst>
                  <a:outerShdw blurRad="38100" dist="38100" dir="2700000" algn="tl">
                    <a:srgbClr val="C0C0C0"/>
                  </a:outerShdw>
                </a:effectLst>
                <a:latin typeface="Times New Roman" pitchFamily="18" charset="0"/>
                <a:cs typeface="Times New Roman" panose="02020603050405020304" pitchFamily="18" charset="0"/>
              </a:rPr>
              <a:t>(c)</a:t>
            </a:r>
            <a:r>
              <a:rPr lang="en-US" altLang="zh-CN">
                <a:effectLst>
                  <a:outerShdw blurRad="38100" dist="38100" dir="2700000" algn="tl">
                    <a:srgbClr val="C0C0C0"/>
                  </a:outerShdw>
                </a:effectLst>
                <a:latin typeface="Times New Roman" pitchFamily="18" charset="0"/>
                <a:cs typeface="Times New Roman" panose="02020603050405020304" pitchFamily="18" charset="0"/>
              </a:rPr>
              <a:t> </a:t>
            </a:r>
          </a:p>
        </p:txBody>
      </p:sp>
      <p:graphicFrame>
        <p:nvGraphicFramePr>
          <p:cNvPr id="649221" name="Object 5"/>
          <p:cNvGraphicFramePr>
            <a:graphicFrameLocks noChangeAspect="1"/>
          </p:cNvGraphicFramePr>
          <p:nvPr>
            <p:extLst>
              <p:ext uri="{D42A27DB-BD31-4B8C-83A1-F6EECF244321}">
                <p14:modId xmlns:p14="http://schemas.microsoft.com/office/powerpoint/2010/main" val="2793085476"/>
              </p:ext>
            </p:extLst>
          </p:nvPr>
        </p:nvGraphicFramePr>
        <p:xfrm>
          <a:off x="2708275" y="3595688"/>
          <a:ext cx="5608638" cy="976312"/>
        </p:xfrm>
        <a:graphic>
          <a:graphicData uri="http://schemas.openxmlformats.org/presentationml/2006/ole">
            <mc:AlternateContent xmlns:mc="http://schemas.openxmlformats.org/markup-compatibility/2006">
              <mc:Choice xmlns:v="urn:schemas-microsoft-com:vml" Requires="v">
                <p:oleObj spid="_x0000_s88085" name="Equation" r:id="rId5" imgW="1904977" imgH="400140" progId="Equation.DSMT4">
                  <p:embed/>
                </p:oleObj>
              </mc:Choice>
              <mc:Fallback>
                <p:oleObj name="Equation" r:id="rId5" imgW="1904977" imgH="4001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8275" y="3595688"/>
                        <a:ext cx="5608638" cy="97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016" name="Group 6"/>
          <p:cNvGrpSpPr>
            <a:grpSpLocks/>
          </p:cNvGrpSpPr>
          <p:nvPr/>
        </p:nvGrpSpPr>
        <p:grpSpPr bwMode="auto">
          <a:xfrm>
            <a:off x="1125539" y="124811"/>
            <a:ext cx="3048000" cy="2592387"/>
            <a:chOff x="0" y="1026"/>
            <a:chExt cx="1920" cy="1633"/>
          </a:xfrm>
        </p:grpSpPr>
        <p:sp>
          <p:nvSpPr>
            <p:cNvPr id="649223" name="Text Box 7"/>
            <p:cNvSpPr txBox="1">
              <a:spLocks noChangeArrowheads="1"/>
            </p:cNvSpPr>
            <p:nvPr/>
          </p:nvSpPr>
          <p:spPr bwMode="auto">
            <a:xfrm>
              <a:off x="911" y="2371"/>
              <a:ext cx="340" cy="288"/>
            </a:xfrm>
            <a:prstGeom prst="rect">
              <a:avLst/>
            </a:prstGeom>
            <a:noFill/>
            <a:ln w="9525">
              <a:noFill/>
              <a:miter lim="800000"/>
              <a:headEnd/>
              <a:tailEnd/>
            </a:ln>
            <a:effectLst/>
          </p:spPr>
          <p:txBody>
            <a:bodyPr wrap="none" anchor="ctr">
              <a:spAutoFit/>
            </a:bodyPr>
            <a:lstStyle/>
            <a:p>
              <a:pPr algn="ct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cs typeface="Times New Roman" panose="02020603050405020304" pitchFamily="18" charset="0"/>
                </a:rPr>
                <a:t>(a)</a:t>
              </a:r>
            </a:p>
          </p:txBody>
        </p:sp>
        <p:sp>
          <p:nvSpPr>
            <p:cNvPr id="43070" name="Line 8"/>
            <p:cNvSpPr>
              <a:spLocks noChangeShapeType="1"/>
            </p:cNvSpPr>
            <p:nvPr/>
          </p:nvSpPr>
          <p:spPr bwMode="auto">
            <a:xfrm>
              <a:off x="296" y="1944"/>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71" name="Oval 9"/>
            <p:cNvSpPr>
              <a:spLocks noChangeArrowheads="1"/>
            </p:cNvSpPr>
            <p:nvPr/>
          </p:nvSpPr>
          <p:spPr bwMode="auto">
            <a:xfrm>
              <a:off x="351" y="1722"/>
              <a:ext cx="227" cy="227"/>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43072" name="Line 10"/>
            <p:cNvSpPr>
              <a:spLocks noChangeShapeType="1"/>
            </p:cNvSpPr>
            <p:nvPr/>
          </p:nvSpPr>
          <p:spPr bwMode="auto">
            <a:xfrm flipH="1">
              <a:off x="460" y="1356"/>
              <a:ext cx="0" cy="1007"/>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27" name="Text Box 11"/>
            <p:cNvSpPr txBox="1">
              <a:spLocks noChangeArrowheads="1"/>
            </p:cNvSpPr>
            <p:nvPr/>
          </p:nvSpPr>
          <p:spPr bwMode="auto">
            <a:xfrm>
              <a:off x="243" y="1514"/>
              <a:ext cx="219" cy="640"/>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cs typeface="Times New Roman" panose="02020603050405020304" pitchFamily="18" charset="0"/>
                </a:rPr>
                <a:t>+</a:t>
              </a:r>
              <a:endParaRPr kumimoji="1" lang="en-US" altLang="zh-CN" b="0">
                <a:effectLst>
                  <a:outerShdw blurRad="38100" dist="38100" dir="2700000" algn="tl">
                    <a:srgbClr val="C0C0C0"/>
                  </a:outerShdw>
                </a:effectLst>
                <a:latin typeface="Times New Roman" pitchFamily="18" charset="0"/>
                <a:cs typeface="Times New Roman" panose="02020603050405020304" pitchFamily="18" charset="0"/>
              </a:endParaRPr>
            </a:p>
            <a:p>
              <a:pPr algn="ctr" eaLnBrk="1" hangingPunct="1">
                <a:spcBef>
                  <a:spcPct val="50000"/>
                </a:spcBef>
                <a:defRPr/>
              </a:pPr>
              <a:r>
                <a:rPr kumimoji="1" lang="en-US" altLang="zh-CN">
                  <a:effectLst>
                    <a:outerShdw blurRad="38100" dist="38100" dir="2700000" algn="tl">
                      <a:srgbClr val="C0C0C0"/>
                    </a:outerShdw>
                  </a:effectLst>
                  <a:latin typeface="Times New Roman" pitchFamily="18" charset="0"/>
                  <a:cs typeface="Times New Roman" panose="02020603050405020304" pitchFamily="18" charset="0"/>
                </a:rPr>
                <a:t>–</a:t>
              </a:r>
            </a:p>
          </p:txBody>
        </p:sp>
        <p:grpSp>
          <p:nvGrpSpPr>
            <p:cNvPr id="43074" name="Group 12"/>
            <p:cNvGrpSpPr>
              <a:grpSpLocks/>
            </p:cNvGrpSpPr>
            <p:nvPr/>
          </p:nvGrpSpPr>
          <p:grpSpPr bwMode="auto">
            <a:xfrm>
              <a:off x="1702" y="1756"/>
              <a:ext cx="218" cy="222"/>
              <a:chOff x="1702" y="1756"/>
              <a:chExt cx="218" cy="222"/>
            </a:xfrm>
          </p:grpSpPr>
          <p:sp>
            <p:nvSpPr>
              <p:cNvPr id="43095" name="Oval 13"/>
              <p:cNvSpPr>
                <a:spLocks noChangeArrowheads="1"/>
              </p:cNvSpPr>
              <p:nvPr/>
            </p:nvSpPr>
            <p:spPr bwMode="auto">
              <a:xfrm flipV="1">
                <a:off x="1702" y="1756"/>
                <a:ext cx="218" cy="22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43096" name="Line 14"/>
              <p:cNvSpPr>
                <a:spLocks noChangeShapeType="1"/>
              </p:cNvSpPr>
              <p:nvPr/>
            </p:nvSpPr>
            <p:spPr bwMode="auto">
              <a:xfrm flipV="1">
                <a:off x="1702" y="1867"/>
                <a:ext cx="218"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43075" name="Line 15"/>
            <p:cNvSpPr>
              <a:spLocks noChangeShapeType="1"/>
            </p:cNvSpPr>
            <p:nvPr/>
          </p:nvSpPr>
          <p:spPr bwMode="auto">
            <a:xfrm>
              <a:off x="1811" y="1978"/>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76" name="Line 16"/>
            <p:cNvSpPr>
              <a:spLocks noChangeShapeType="1"/>
            </p:cNvSpPr>
            <p:nvPr/>
          </p:nvSpPr>
          <p:spPr bwMode="auto">
            <a:xfrm>
              <a:off x="1811" y="1366"/>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77" name="Line 17"/>
            <p:cNvSpPr>
              <a:spLocks noChangeShapeType="1"/>
            </p:cNvSpPr>
            <p:nvPr/>
          </p:nvSpPr>
          <p:spPr bwMode="auto">
            <a:xfrm flipV="1">
              <a:off x="459" y="1359"/>
              <a:ext cx="55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34" name="Rectangle 18"/>
            <p:cNvSpPr>
              <a:spLocks noChangeArrowheads="1"/>
            </p:cNvSpPr>
            <p:nvPr/>
          </p:nvSpPr>
          <p:spPr bwMode="auto">
            <a:xfrm>
              <a:off x="823" y="1735"/>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79" name="Line 19"/>
            <p:cNvSpPr>
              <a:spLocks noChangeShapeType="1"/>
            </p:cNvSpPr>
            <p:nvPr/>
          </p:nvSpPr>
          <p:spPr bwMode="auto">
            <a:xfrm>
              <a:off x="872" y="2007"/>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80" name="Line 20"/>
            <p:cNvSpPr>
              <a:spLocks noChangeShapeType="1"/>
            </p:cNvSpPr>
            <p:nvPr/>
          </p:nvSpPr>
          <p:spPr bwMode="auto">
            <a:xfrm flipV="1">
              <a:off x="878" y="1345"/>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81" name="Line 21"/>
            <p:cNvSpPr>
              <a:spLocks noChangeShapeType="1"/>
            </p:cNvSpPr>
            <p:nvPr/>
          </p:nvSpPr>
          <p:spPr bwMode="auto">
            <a:xfrm flipV="1">
              <a:off x="460" y="2343"/>
              <a:ext cx="1363"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38" name="Text Box 22"/>
            <p:cNvSpPr txBox="1">
              <a:spLocks noChangeArrowheads="1"/>
            </p:cNvSpPr>
            <p:nvPr/>
          </p:nvSpPr>
          <p:spPr bwMode="auto">
            <a:xfrm>
              <a:off x="0" y="1730"/>
              <a:ext cx="378"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S</a:t>
              </a:r>
            </a:p>
          </p:txBody>
        </p:sp>
        <p:sp>
          <p:nvSpPr>
            <p:cNvPr id="649239" name="Text Box 23"/>
            <p:cNvSpPr txBox="1">
              <a:spLocks noChangeArrowheads="1"/>
            </p:cNvSpPr>
            <p:nvPr/>
          </p:nvSpPr>
          <p:spPr bwMode="auto">
            <a:xfrm>
              <a:off x="987" y="1931"/>
              <a:ext cx="41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3</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43084" name="Line 24"/>
            <p:cNvSpPr>
              <a:spLocks noChangeShapeType="1"/>
            </p:cNvSpPr>
            <p:nvPr/>
          </p:nvSpPr>
          <p:spPr bwMode="auto">
            <a:xfrm rot="5400000" flipV="1">
              <a:off x="1128" y="1345"/>
              <a:ext cx="0" cy="267"/>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41" name="Text Box 25"/>
            <p:cNvSpPr txBox="1">
              <a:spLocks noChangeArrowheads="1"/>
            </p:cNvSpPr>
            <p:nvPr/>
          </p:nvSpPr>
          <p:spPr bwMode="auto">
            <a:xfrm>
              <a:off x="892" y="1026"/>
              <a:ext cx="542"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2</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649242" name="Text Box 26"/>
            <p:cNvSpPr txBox="1">
              <a:spLocks noChangeArrowheads="1"/>
            </p:cNvSpPr>
            <p:nvPr/>
          </p:nvSpPr>
          <p:spPr bwMode="auto">
            <a:xfrm>
              <a:off x="397" y="1755"/>
              <a:ext cx="605"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1</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43087" name="Line 27"/>
            <p:cNvSpPr>
              <a:spLocks noChangeShapeType="1"/>
            </p:cNvSpPr>
            <p:nvPr/>
          </p:nvSpPr>
          <p:spPr bwMode="auto">
            <a:xfrm flipV="1">
              <a:off x="1673" y="1719"/>
              <a:ext cx="0" cy="322"/>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44" name="Rectangle 28"/>
            <p:cNvSpPr>
              <a:spLocks noChangeArrowheads="1"/>
            </p:cNvSpPr>
            <p:nvPr/>
          </p:nvSpPr>
          <p:spPr bwMode="auto">
            <a:xfrm>
              <a:off x="1304" y="1735"/>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89" name="Line 29"/>
            <p:cNvSpPr>
              <a:spLocks noChangeShapeType="1"/>
            </p:cNvSpPr>
            <p:nvPr/>
          </p:nvSpPr>
          <p:spPr bwMode="auto">
            <a:xfrm>
              <a:off x="1353" y="2007"/>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90" name="Line 30"/>
            <p:cNvSpPr>
              <a:spLocks noChangeShapeType="1"/>
            </p:cNvSpPr>
            <p:nvPr/>
          </p:nvSpPr>
          <p:spPr bwMode="auto">
            <a:xfrm flipV="1">
              <a:off x="1359" y="1345"/>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47" name="Rectangle 31"/>
            <p:cNvSpPr>
              <a:spLocks noChangeArrowheads="1"/>
            </p:cNvSpPr>
            <p:nvPr/>
          </p:nvSpPr>
          <p:spPr bwMode="auto">
            <a:xfrm rot="-5400000">
              <a:off x="1084" y="1243"/>
              <a:ext cx="102" cy="245"/>
            </a:xfrm>
            <a:prstGeom prst="rect">
              <a:avLst/>
            </a:prstGeom>
            <a:noFill/>
            <a:ln w="38100">
              <a:solidFill>
                <a:schemeClr val="tx1"/>
              </a:solidFill>
              <a:miter lim="800000"/>
              <a:headEnd/>
              <a:tailEnd/>
            </a:ln>
            <a:effectLst/>
          </p:spPr>
          <p:txBody>
            <a:bodyPr vert="eaVert"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92" name="Line 32"/>
            <p:cNvSpPr>
              <a:spLocks noChangeShapeType="1"/>
            </p:cNvSpPr>
            <p:nvPr/>
          </p:nvSpPr>
          <p:spPr bwMode="auto">
            <a:xfrm>
              <a:off x="1280" y="1359"/>
              <a:ext cx="55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49" name="Rectangle 33"/>
            <p:cNvSpPr>
              <a:spLocks noChangeArrowheads="1"/>
            </p:cNvSpPr>
            <p:nvPr/>
          </p:nvSpPr>
          <p:spPr bwMode="auto">
            <a:xfrm>
              <a:off x="1438" y="1746"/>
              <a:ext cx="253" cy="291"/>
            </a:xfrm>
            <a:prstGeom prst="rect">
              <a:avLst/>
            </a:prstGeom>
            <a:noFill/>
            <a:ln w="9525">
              <a:noFill/>
              <a:miter lim="800000"/>
              <a:headEnd/>
              <a:tailEnd/>
            </a:ln>
            <a:effectLst/>
          </p:spPr>
          <p:txBody>
            <a:bodyPr wrap="none"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itchFamily="18" charset="0"/>
                  <a:cs typeface="Times New Roman" panose="02020603050405020304" pitchFamily="18" charset="0"/>
                </a:rPr>
                <a:t>S</a:t>
              </a:r>
            </a:p>
          </p:txBody>
        </p:sp>
        <p:sp>
          <p:nvSpPr>
            <p:cNvPr id="649250" name="Rectangle 34"/>
            <p:cNvSpPr>
              <a:spLocks noChangeArrowheads="1"/>
            </p:cNvSpPr>
            <p:nvPr/>
          </p:nvSpPr>
          <p:spPr bwMode="auto">
            <a:xfrm>
              <a:off x="1019" y="1458"/>
              <a:ext cx="246" cy="291"/>
            </a:xfrm>
            <a:prstGeom prst="rect">
              <a:avLst/>
            </a:prstGeom>
            <a:noFill/>
            <a:ln w="9525">
              <a:noFill/>
              <a:miter lim="800000"/>
              <a:headEnd/>
              <a:tailEnd/>
            </a:ln>
            <a:effectLst/>
          </p:spPr>
          <p:txBody>
            <a:bodyPr wrap="none"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itchFamily="18" charset="0"/>
                  <a:cs typeface="Times New Roman" panose="02020603050405020304" pitchFamily="18" charset="0"/>
                </a:rPr>
                <a:t>2</a:t>
              </a:r>
            </a:p>
          </p:txBody>
        </p:sp>
      </p:grpSp>
      <p:sp>
        <p:nvSpPr>
          <p:cNvPr id="649274" name="Text Box 58"/>
          <p:cNvSpPr txBox="1">
            <a:spLocks noChangeArrowheads="1"/>
          </p:cNvSpPr>
          <p:nvPr/>
        </p:nvSpPr>
        <p:spPr bwMode="auto">
          <a:xfrm>
            <a:off x="762000" y="4495800"/>
            <a:ext cx="7620000" cy="978729"/>
          </a:xfrm>
          <a:prstGeom prst="rect">
            <a:avLst/>
          </a:prstGeom>
          <a:noFill/>
          <a:ln w="9525">
            <a:noFill/>
            <a:miter lim="800000"/>
            <a:headEnd/>
            <a:tailEnd/>
          </a:ln>
          <a:effectLst/>
        </p:spPr>
        <p:txBody>
          <a:bodyPr>
            <a:spAutoFit/>
          </a:bodyPr>
          <a:lstStyle/>
          <a:p>
            <a:pPr eaLnBrk="1" hangingPunct="1">
              <a:lnSpc>
                <a:spcPct val="120000"/>
              </a:lnSpc>
              <a:spcBef>
                <a:spcPct val="50000"/>
              </a:spcBef>
              <a:defRPr/>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注意</a:t>
            </a:r>
            <a:r>
              <a:rPr kumimoji="1" lang="en-US" altLang="zh-CN" i="1"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I</a:t>
            </a:r>
            <a:r>
              <a:rPr kumimoji="1" lang="en-US" altLang="zh-CN" baseline="-2500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2 </a:t>
            </a:r>
            <a:r>
              <a:rPr kumimoji="1" lang="en-US" altLang="zh-CN" b="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a:t>
            </a:r>
            <a:r>
              <a:rPr kumimoji="1" lang="en-US" altLang="zh-CN"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 </a:t>
            </a:r>
            <a:r>
              <a:rPr kumimoji="1" lang="zh-CN" altLang="en-US"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与原电路中</a:t>
            </a:r>
            <a:r>
              <a:rPr kumimoji="1" lang="en-US" altLang="zh-CN" i="1"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I</a:t>
            </a:r>
            <a:r>
              <a:rPr kumimoji="1" lang="en-US" altLang="zh-CN" baseline="-2500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2</a:t>
            </a:r>
            <a:r>
              <a:rPr kumimoji="1" lang="en-US" altLang="zh-CN"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 </a:t>
            </a:r>
            <a:r>
              <a:rPr kumimoji="1" lang="zh-CN" altLang="en-US"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方向相同，</a:t>
            </a:r>
            <a:r>
              <a:rPr kumimoji="1" lang="en-US" altLang="zh-CN" i="1"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I</a:t>
            </a:r>
            <a:r>
              <a:rPr kumimoji="1" lang="en-US" altLang="zh-CN" baseline="-2500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2 </a:t>
            </a:r>
            <a:r>
              <a:rPr kumimoji="1" lang="en-US" altLang="zh-CN" b="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sym typeface="Symbol" pitchFamily="18" charset="2"/>
              </a:rPr>
              <a:t></a:t>
            </a:r>
            <a:r>
              <a:rPr kumimoji="1" lang="en-US" altLang="zh-CN" baseline="-2500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 </a:t>
            </a:r>
            <a:r>
              <a:rPr kumimoji="1" lang="zh-CN" altLang="en-US"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与原电路中</a:t>
            </a:r>
            <a:r>
              <a:rPr kumimoji="1" lang="en-US" altLang="zh-CN" i="1"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I</a:t>
            </a:r>
            <a:r>
              <a:rPr kumimoji="1" lang="en-US" altLang="zh-CN" baseline="-25000"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2</a:t>
            </a:r>
            <a:r>
              <a:rPr kumimoji="1" lang="en-US" altLang="zh-CN"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 </a:t>
            </a:r>
            <a:r>
              <a:rPr kumimoji="1" lang="zh-CN" altLang="en-US" dirty="0">
                <a:solidFill>
                  <a:srgbClr val="FF0000"/>
                </a:solidFill>
                <a:effectLst>
                  <a:outerShdw blurRad="38100" dist="38100" dir="2700000" algn="tl">
                    <a:srgbClr val="C0C0C0"/>
                  </a:outerShdw>
                </a:effectLst>
                <a:latin typeface="Times New Roman" pitchFamily="18" charset="0"/>
                <a:cs typeface="Times New Roman" panose="02020603050405020304" pitchFamily="18" charset="0"/>
              </a:rPr>
              <a:t>方向相反，</a:t>
            </a:r>
            <a:r>
              <a:rPr kumimoji="1" lang="zh-CN" altLang="en-US" dirty="0">
                <a:solidFill>
                  <a:schemeClr val="tx2"/>
                </a:solidFill>
                <a:effectLst>
                  <a:outerShdw blurRad="38100" dist="38100" dir="2700000" algn="tl">
                    <a:srgbClr val="C0C0C0"/>
                  </a:outerShdw>
                </a:effectLst>
                <a:latin typeface="Times New Roman" pitchFamily="18" charset="0"/>
                <a:cs typeface="Times New Roman" panose="02020603050405020304" pitchFamily="18" charset="0"/>
              </a:rPr>
              <a:t>得</a:t>
            </a:r>
          </a:p>
        </p:txBody>
      </p:sp>
      <p:grpSp>
        <p:nvGrpSpPr>
          <p:cNvPr id="6" name="Group 59"/>
          <p:cNvGrpSpPr>
            <a:grpSpLocks/>
          </p:cNvGrpSpPr>
          <p:nvPr/>
        </p:nvGrpSpPr>
        <p:grpSpPr bwMode="auto">
          <a:xfrm>
            <a:off x="4976020" y="133294"/>
            <a:ext cx="2579687" cy="3451225"/>
            <a:chOff x="3895" y="162"/>
            <a:chExt cx="1625" cy="2174"/>
          </a:xfrm>
        </p:grpSpPr>
        <p:grpSp>
          <p:nvGrpSpPr>
            <p:cNvPr id="43020" name="Group 60"/>
            <p:cNvGrpSpPr>
              <a:grpSpLocks/>
            </p:cNvGrpSpPr>
            <p:nvPr/>
          </p:nvGrpSpPr>
          <p:grpSpPr bwMode="auto">
            <a:xfrm>
              <a:off x="3895" y="162"/>
              <a:ext cx="1625" cy="1342"/>
              <a:chOff x="3696" y="978"/>
              <a:chExt cx="1625" cy="1342"/>
            </a:xfrm>
          </p:grpSpPr>
          <p:sp>
            <p:nvSpPr>
              <p:cNvPr id="43022" name="Line 61"/>
              <p:cNvSpPr>
                <a:spLocks noChangeShapeType="1"/>
              </p:cNvSpPr>
              <p:nvPr/>
            </p:nvSpPr>
            <p:spPr bwMode="auto">
              <a:xfrm>
                <a:off x="3696" y="1896"/>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23" name="Line 62"/>
              <p:cNvSpPr>
                <a:spLocks noChangeShapeType="1"/>
              </p:cNvSpPr>
              <p:nvPr/>
            </p:nvSpPr>
            <p:spPr bwMode="auto">
              <a:xfrm flipH="1">
                <a:off x="3860" y="1297"/>
                <a:ext cx="1" cy="856"/>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24" name="Line 63"/>
              <p:cNvSpPr>
                <a:spLocks noChangeShapeType="1"/>
              </p:cNvSpPr>
              <p:nvPr/>
            </p:nvSpPr>
            <p:spPr bwMode="auto">
              <a:xfrm>
                <a:off x="3861" y="2077"/>
                <a:ext cx="0" cy="22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nvGrpSpPr>
              <p:cNvPr id="43025" name="Group 64"/>
              <p:cNvGrpSpPr>
                <a:grpSpLocks/>
              </p:cNvGrpSpPr>
              <p:nvPr/>
            </p:nvGrpSpPr>
            <p:grpSpPr bwMode="auto">
              <a:xfrm flipV="1">
                <a:off x="5103" y="1708"/>
                <a:ext cx="218" cy="222"/>
                <a:chOff x="1344" y="1872"/>
                <a:chExt cx="192" cy="192"/>
              </a:xfrm>
            </p:grpSpPr>
            <p:sp>
              <p:nvSpPr>
                <p:cNvPr id="43045" name="Oval 65"/>
                <p:cNvSpPr>
                  <a:spLocks noChangeArrowheads="1"/>
                </p:cNvSpPr>
                <p:nvPr/>
              </p:nvSpPr>
              <p:spPr bwMode="auto">
                <a:xfrm>
                  <a:off x="1344" y="1872"/>
                  <a:ext cx="192" cy="192"/>
                </a:xfrm>
                <a:prstGeom prst="ellipse">
                  <a:avLst/>
                </a:prstGeom>
                <a:noFill/>
                <a:ln w="381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cs typeface="Times New Roman" panose="02020603050405020304" pitchFamily="18" charset="0"/>
                  </a:endParaRPr>
                </a:p>
              </p:txBody>
            </p:sp>
            <p:sp>
              <p:nvSpPr>
                <p:cNvPr id="43046" name="Line 66"/>
                <p:cNvSpPr>
                  <a:spLocks noChangeShapeType="1"/>
                </p:cNvSpPr>
                <p:nvPr/>
              </p:nvSpPr>
              <p:spPr bwMode="auto">
                <a:xfrm>
                  <a:off x="1344" y="1968"/>
                  <a:ext cx="192" cy="0"/>
                </a:xfrm>
                <a:prstGeom prst="line">
                  <a:avLst/>
                </a:prstGeom>
                <a:noFill/>
                <a:ln w="38100">
                  <a:solidFill>
                    <a:schemeClr val="tx2"/>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43026" name="Line 67"/>
              <p:cNvSpPr>
                <a:spLocks noChangeShapeType="1"/>
              </p:cNvSpPr>
              <p:nvPr/>
            </p:nvSpPr>
            <p:spPr bwMode="auto">
              <a:xfrm>
                <a:off x="5212" y="1930"/>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27" name="Line 68"/>
              <p:cNvSpPr>
                <a:spLocks noChangeShapeType="1"/>
              </p:cNvSpPr>
              <p:nvPr/>
            </p:nvSpPr>
            <p:spPr bwMode="auto">
              <a:xfrm>
                <a:off x="5212" y="1318"/>
                <a:ext cx="0" cy="39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28" name="Line 69"/>
              <p:cNvSpPr>
                <a:spLocks noChangeShapeType="1"/>
              </p:cNvSpPr>
              <p:nvPr/>
            </p:nvSpPr>
            <p:spPr bwMode="auto">
              <a:xfrm flipV="1">
                <a:off x="3859" y="1311"/>
                <a:ext cx="55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86" name="Rectangle 70"/>
              <p:cNvSpPr>
                <a:spLocks noChangeArrowheads="1"/>
              </p:cNvSpPr>
              <p:nvPr/>
            </p:nvSpPr>
            <p:spPr bwMode="auto">
              <a:xfrm>
                <a:off x="4224" y="1687"/>
                <a:ext cx="92"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30" name="Line 71"/>
              <p:cNvSpPr>
                <a:spLocks noChangeShapeType="1"/>
              </p:cNvSpPr>
              <p:nvPr/>
            </p:nvSpPr>
            <p:spPr bwMode="auto">
              <a:xfrm>
                <a:off x="4272" y="1959"/>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31" name="Line 72"/>
              <p:cNvSpPr>
                <a:spLocks noChangeShapeType="1"/>
              </p:cNvSpPr>
              <p:nvPr/>
            </p:nvSpPr>
            <p:spPr bwMode="auto">
              <a:xfrm flipV="1">
                <a:off x="4279" y="1297"/>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32" name="Line 73"/>
              <p:cNvSpPr>
                <a:spLocks noChangeShapeType="1"/>
              </p:cNvSpPr>
              <p:nvPr/>
            </p:nvSpPr>
            <p:spPr bwMode="auto">
              <a:xfrm flipV="1">
                <a:off x="3860" y="2295"/>
                <a:ext cx="1363"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90" name="Text Box 74"/>
              <p:cNvSpPr txBox="1">
                <a:spLocks noChangeArrowheads="1"/>
              </p:cNvSpPr>
              <p:nvPr/>
            </p:nvSpPr>
            <p:spPr bwMode="auto">
              <a:xfrm>
                <a:off x="4380" y="1707"/>
                <a:ext cx="41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3</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43034" name="Line 75"/>
              <p:cNvSpPr>
                <a:spLocks noChangeShapeType="1"/>
              </p:cNvSpPr>
              <p:nvPr/>
            </p:nvSpPr>
            <p:spPr bwMode="auto">
              <a:xfrm rot="-5400000" flipH="1" flipV="1">
                <a:off x="4528" y="1298"/>
                <a:ext cx="0" cy="266"/>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92" name="Text Box 76"/>
              <p:cNvSpPr txBox="1">
                <a:spLocks noChangeArrowheads="1"/>
              </p:cNvSpPr>
              <p:nvPr/>
            </p:nvSpPr>
            <p:spPr bwMode="auto">
              <a:xfrm>
                <a:off x="4292" y="978"/>
                <a:ext cx="542"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2</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649293" name="Text Box 77"/>
              <p:cNvSpPr txBox="1">
                <a:spLocks noChangeArrowheads="1"/>
              </p:cNvSpPr>
              <p:nvPr/>
            </p:nvSpPr>
            <p:spPr bwMode="auto">
              <a:xfrm>
                <a:off x="3797" y="1707"/>
                <a:ext cx="605"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itchFamily="18" charset="0"/>
                    <a:cs typeface="Times New Roman" panose="02020603050405020304" pitchFamily="18" charset="0"/>
                  </a:rPr>
                  <a:t>1</a:t>
                </a:r>
                <a:endParaRPr kumimoji="1" lang="en-US" altLang="zh-CN">
                  <a:solidFill>
                    <a:schemeClr val="bg2"/>
                  </a:solidFill>
                  <a:effectLst>
                    <a:outerShdw blurRad="38100" dist="38100" dir="2700000" algn="tl">
                      <a:srgbClr val="C0C0C0"/>
                    </a:outerShdw>
                  </a:effectLst>
                  <a:latin typeface="Times New Roman" pitchFamily="18" charset="0"/>
                  <a:cs typeface="Times New Roman" panose="02020603050405020304" pitchFamily="18" charset="0"/>
                </a:endParaRPr>
              </a:p>
            </p:txBody>
          </p:sp>
          <p:sp>
            <p:nvSpPr>
              <p:cNvPr id="43037" name="Line 78"/>
              <p:cNvSpPr>
                <a:spLocks noChangeShapeType="1"/>
              </p:cNvSpPr>
              <p:nvPr/>
            </p:nvSpPr>
            <p:spPr bwMode="auto">
              <a:xfrm flipV="1">
                <a:off x="5072" y="1671"/>
                <a:ext cx="0" cy="322"/>
              </a:xfrm>
              <a:prstGeom prst="line">
                <a:avLst/>
              </a:prstGeom>
              <a:noFill/>
              <a:ln w="2857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95" name="Rectangle 79"/>
              <p:cNvSpPr>
                <a:spLocks noChangeArrowheads="1"/>
              </p:cNvSpPr>
              <p:nvPr/>
            </p:nvSpPr>
            <p:spPr bwMode="auto">
              <a:xfrm>
                <a:off x="4705" y="1687"/>
                <a:ext cx="91" cy="272"/>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39" name="Line 80"/>
              <p:cNvSpPr>
                <a:spLocks noChangeShapeType="1"/>
              </p:cNvSpPr>
              <p:nvPr/>
            </p:nvSpPr>
            <p:spPr bwMode="auto">
              <a:xfrm>
                <a:off x="4753" y="1959"/>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3040" name="Line 81"/>
              <p:cNvSpPr>
                <a:spLocks noChangeShapeType="1"/>
              </p:cNvSpPr>
              <p:nvPr/>
            </p:nvSpPr>
            <p:spPr bwMode="auto">
              <a:xfrm flipV="1">
                <a:off x="4760" y="1297"/>
                <a:ext cx="0" cy="3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298" name="Rectangle 82"/>
              <p:cNvSpPr>
                <a:spLocks noChangeArrowheads="1"/>
              </p:cNvSpPr>
              <p:nvPr/>
            </p:nvSpPr>
            <p:spPr bwMode="auto">
              <a:xfrm rot="-5400000">
                <a:off x="4488" y="1199"/>
                <a:ext cx="102" cy="245"/>
              </a:xfrm>
              <a:prstGeom prst="rect">
                <a:avLst/>
              </a:prstGeom>
              <a:noFill/>
              <a:ln w="38100">
                <a:solidFill>
                  <a:schemeClr val="tx1"/>
                </a:solidFill>
                <a:miter lim="800000"/>
                <a:headEnd/>
                <a:tailEnd/>
              </a:ln>
              <a:effectLst/>
            </p:spPr>
            <p:txBody>
              <a:bodyPr vert="eaVert"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43042" name="Line 83"/>
              <p:cNvSpPr>
                <a:spLocks noChangeShapeType="1"/>
              </p:cNvSpPr>
              <p:nvPr/>
            </p:nvSpPr>
            <p:spPr bwMode="auto">
              <a:xfrm>
                <a:off x="4680" y="1311"/>
                <a:ext cx="551"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49300" name="Rectangle 84"/>
              <p:cNvSpPr>
                <a:spLocks noChangeArrowheads="1"/>
              </p:cNvSpPr>
              <p:nvPr/>
            </p:nvSpPr>
            <p:spPr bwMode="auto">
              <a:xfrm>
                <a:off x="4838" y="1698"/>
                <a:ext cx="253" cy="291"/>
              </a:xfrm>
              <a:prstGeom prst="rect">
                <a:avLst/>
              </a:prstGeom>
              <a:noFill/>
              <a:ln w="9525">
                <a:noFill/>
                <a:miter lim="800000"/>
                <a:headEnd/>
                <a:tailEnd/>
              </a:ln>
              <a:effectLst/>
            </p:spPr>
            <p:txBody>
              <a:bodyPr wrap="none"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itchFamily="18" charset="0"/>
                    <a:cs typeface="Times New Roman" panose="02020603050405020304" pitchFamily="18" charset="0"/>
                  </a:rPr>
                  <a:t>S</a:t>
                </a:r>
              </a:p>
            </p:txBody>
          </p:sp>
          <p:sp>
            <p:nvSpPr>
              <p:cNvPr id="649301" name="Rectangle 85"/>
              <p:cNvSpPr>
                <a:spLocks noChangeArrowheads="1"/>
              </p:cNvSpPr>
              <p:nvPr/>
            </p:nvSpPr>
            <p:spPr bwMode="auto">
              <a:xfrm>
                <a:off x="4381" y="1426"/>
                <a:ext cx="371" cy="291"/>
              </a:xfrm>
              <a:prstGeom prst="rect">
                <a:avLst/>
              </a:prstGeom>
              <a:noFill/>
              <a:ln w="9525">
                <a:noFill/>
                <a:miter lim="800000"/>
                <a:headEnd/>
                <a:tailEnd/>
              </a:ln>
              <a:effectLst/>
            </p:spPr>
            <p:txBody>
              <a:bodyPr anchor="ctr">
                <a:spAutoFit/>
              </a:bodyPr>
              <a:lstStyle/>
              <a:p>
                <a:pPr algn="ctr">
                  <a:defRPr/>
                </a:pPr>
                <a:r>
                  <a:rPr kumimoji="1" lang="en-US" altLang="zh-CN" i="1">
                    <a:solidFill>
                      <a:schemeClr val="tx2"/>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a:t>
                </a:r>
                <a:r>
                  <a:rPr kumimoji="1" lang="en-US" altLang="zh-CN" baseline="-25000">
                    <a:solidFill>
                      <a:schemeClr val="tx2"/>
                    </a:solidFill>
                    <a:effectLst>
                      <a:outerShdw blurRad="38100" dist="38100" dir="2700000" algn="tl">
                        <a:srgbClr val="C0C0C0"/>
                      </a:outerShdw>
                    </a:effectLst>
                    <a:latin typeface="Times New Roman" pitchFamily="18" charset="0"/>
                    <a:cs typeface="Times New Roman" panose="02020603050405020304" pitchFamily="18" charset="0"/>
                  </a:rPr>
                  <a:t>2</a:t>
                </a:r>
                <a:r>
                  <a:rPr kumimoji="1" lang="en-US" altLang="zh-CN" b="0">
                    <a:solidFill>
                      <a:schemeClr val="tx2"/>
                    </a:solidFill>
                    <a:effectLst>
                      <a:outerShdw blurRad="38100" dist="38100" dir="2700000" algn="tl">
                        <a:srgbClr val="C0C0C0"/>
                      </a:outerShdw>
                    </a:effectLst>
                    <a:latin typeface="Times New Roman" pitchFamily="18" charset="0"/>
                    <a:cs typeface="Times New Roman" panose="02020603050405020304" pitchFamily="18" charset="0"/>
                    <a:sym typeface="Symbol" pitchFamily="18" charset="2"/>
                  </a:rPr>
                  <a:t></a:t>
                </a:r>
                <a:endParaRPr kumimoji="1" lang="en-US" altLang="zh-CN" baseline="-25000">
                  <a:solidFill>
                    <a:schemeClr val="tx2"/>
                  </a:solidFill>
                  <a:effectLst>
                    <a:outerShdw blurRad="38100" dist="38100" dir="2700000" algn="tl">
                      <a:srgbClr val="C0C0C0"/>
                    </a:outerShdw>
                  </a:effectLst>
                  <a:latin typeface="Times New Roman" pitchFamily="18" charset="0"/>
                  <a:cs typeface="Times New Roman" panose="02020603050405020304" pitchFamily="18" charset="0"/>
                </a:endParaRPr>
              </a:p>
            </p:txBody>
          </p:sp>
        </p:grpSp>
        <p:sp>
          <p:nvSpPr>
            <p:cNvPr id="649302" name="Text Box 86"/>
            <p:cNvSpPr txBox="1">
              <a:spLocks noChangeArrowheads="1"/>
            </p:cNvSpPr>
            <p:nvPr/>
          </p:nvSpPr>
          <p:spPr bwMode="auto">
            <a:xfrm>
              <a:off x="4080" y="1580"/>
              <a:ext cx="1385" cy="756"/>
            </a:xfrm>
            <a:prstGeom prst="rect">
              <a:avLst/>
            </a:prstGeom>
            <a:noFill/>
            <a:ln w="9525">
              <a:noFill/>
              <a:miter lim="800000"/>
              <a:headEnd/>
              <a:tailEnd/>
            </a:ln>
            <a:effectLst/>
          </p:spPr>
          <p:txBody>
            <a:bodyPr anchor="ctr">
              <a:spAutoFit/>
            </a:bodyPr>
            <a:lstStyle/>
            <a:p>
              <a:pPr algn="ctr" eaLnBrk="1" hangingPunct="1">
                <a:defRPr/>
              </a:pPr>
              <a:r>
                <a:rPr kumimoji="1" lang="en-US" altLang="zh-CN" sz="2400">
                  <a:effectLst>
                    <a:outerShdw blurRad="38100" dist="38100" dir="2700000" algn="tl">
                      <a:srgbClr val="C0C0C0"/>
                    </a:outerShdw>
                  </a:effectLst>
                  <a:latin typeface="Times New Roman" pitchFamily="18" charset="0"/>
                  <a:cs typeface="Times New Roman" panose="02020603050405020304" pitchFamily="18" charset="0"/>
                </a:rPr>
                <a:t>(c) </a:t>
              </a:r>
              <a:r>
                <a:rPr kumimoji="1" lang="en-US" altLang="zh-CN" sz="2400" i="1">
                  <a:effectLst>
                    <a:outerShdw blurRad="38100" dist="38100" dir="2700000" algn="tl">
                      <a:srgbClr val="C0C0C0"/>
                    </a:outerShdw>
                  </a:effectLst>
                  <a:latin typeface="Times New Roman" pitchFamily="18" charset="0"/>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itchFamily="18" charset="0"/>
                  <a:cs typeface="Times New Roman" panose="02020603050405020304" pitchFamily="18" charset="0"/>
                </a:rPr>
                <a:t>S</a:t>
              </a:r>
              <a:r>
                <a:rPr lang="zh-CN" altLang="en-US" sz="2400">
                  <a:effectLst>
                    <a:outerShdw blurRad="38100" dist="38100" dir="2700000" algn="tl">
                      <a:srgbClr val="C0C0C0"/>
                    </a:outerShdw>
                  </a:effectLst>
                  <a:latin typeface="Times New Roman" pitchFamily="18" charset="0"/>
                  <a:cs typeface="Times New Roman" panose="02020603050405020304" pitchFamily="18" charset="0"/>
                </a:rPr>
                <a:t>单独作用</a:t>
              </a:r>
            </a:p>
            <a:p>
              <a:pPr algn="ctr" eaLnBrk="1" hangingPunct="1">
                <a:defRPr/>
              </a:pPr>
              <a:r>
                <a:rPr lang="zh-CN" altLang="zh-CN" sz="2400">
                  <a:effectLst>
                    <a:outerShdw blurRad="38100" dist="38100" dir="2700000" algn="tl">
                      <a:srgbClr val="C0C0C0"/>
                    </a:outerShdw>
                  </a:effectLst>
                  <a:latin typeface="Times New Roman" pitchFamily="18" charset="0"/>
                  <a:cs typeface="Times New Roman" panose="02020603050405020304" pitchFamily="18" charset="0"/>
                </a:rPr>
                <a:t>    将 </a:t>
              </a:r>
              <a:r>
                <a:rPr kumimoji="1" lang="en-US" altLang="zh-CN" sz="2400" i="1">
                  <a:effectLst>
                    <a:outerShdw blurRad="38100" dist="38100" dir="2700000" algn="tl">
                      <a:srgbClr val="C0C0C0"/>
                    </a:outerShdw>
                  </a:effectLst>
                  <a:latin typeface="Times New Roman" pitchFamily="18" charset="0"/>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itchFamily="18" charset="0"/>
                  <a:cs typeface="Times New Roman" panose="02020603050405020304" pitchFamily="18" charset="0"/>
                </a:rPr>
                <a:t>S</a:t>
              </a:r>
              <a:r>
                <a:rPr lang="zh-CN" altLang="zh-CN" sz="2400">
                  <a:effectLst>
                    <a:outerShdw blurRad="38100" dist="38100" dir="2700000" algn="tl">
                      <a:srgbClr val="C0C0C0"/>
                    </a:outerShdw>
                  </a:effectLst>
                  <a:latin typeface="Times New Roman" pitchFamily="18" charset="0"/>
                  <a:cs typeface="Times New Roman" panose="02020603050405020304" pitchFamily="18" charset="0"/>
                </a:rPr>
                <a:t> </a:t>
              </a:r>
              <a:r>
                <a:rPr lang="en-US" altLang="zh-CN" sz="2400" i="1">
                  <a:effectLst>
                    <a:outerShdw blurRad="38100" dist="38100" dir="2700000" algn="tl">
                      <a:srgbClr val="C0C0C0"/>
                    </a:outerShdw>
                  </a:effectLst>
                  <a:latin typeface="Times New Roman" pitchFamily="18" charset="0"/>
                  <a:cs typeface="Times New Roman" panose="02020603050405020304" pitchFamily="18" charset="0"/>
                </a:rPr>
                <a:t> </a:t>
              </a:r>
              <a:r>
                <a:rPr lang="zh-CN" altLang="en-US" sz="2400">
                  <a:effectLst>
                    <a:outerShdw blurRad="38100" dist="38100" dir="2700000" algn="tl">
                      <a:srgbClr val="C0C0C0"/>
                    </a:outerShdw>
                  </a:effectLst>
                  <a:latin typeface="Times New Roman" pitchFamily="18" charset="0"/>
                  <a:cs typeface="Times New Roman" panose="02020603050405020304" pitchFamily="18" charset="0"/>
                </a:rPr>
                <a:t>换成</a:t>
              </a:r>
              <a:r>
                <a:rPr lang="zh-CN" altLang="zh-CN" sz="2400">
                  <a:effectLst>
                    <a:outerShdw blurRad="38100" dist="38100" dir="2700000" algn="tl">
                      <a:srgbClr val="C0C0C0"/>
                    </a:outerShdw>
                  </a:effectLst>
                  <a:latin typeface="Times New Roman" pitchFamily="18" charset="0"/>
                  <a:cs typeface="Times New Roman" panose="02020603050405020304" pitchFamily="18" charset="0"/>
                </a:rPr>
                <a:t>短路线</a:t>
              </a:r>
            </a:p>
          </p:txBody>
        </p:sp>
      </p:grpSp>
    </p:spTree>
    <p:extLst>
      <p:ext uri="{BB962C8B-B14F-4D97-AF65-F5344CB8AC3E}">
        <p14:creationId xmlns:p14="http://schemas.microsoft.com/office/powerpoint/2010/main" val="731692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9220"/>
                                        </p:tgtEl>
                                        <p:attrNameLst>
                                          <p:attrName>style.visibility</p:attrName>
                                        </p:attrNameLst>
                                      </p:cBhvr>
                                      <p:to>
                                        <p:strVal val="visible"/>
                                      </p:to>
                                    </p:set>
                                    <p:animEffect transition="in" filter="wipe(left)">
                                      <p:cBhvr>
                                        <p:cTn id="12" dur="500"/>
                                        <p:tgtEl>
                                          <p:spTgt spid="64922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649221"/>
                                        </p:tgtEl>
                                        <p:attrNameLst>
                                          <p:attrName>style.visibility</p:attrName>
                                        </p:attrNameLst>
                                      </p:cBhvr>
                                      <p:to>
                                        <p:strVal val="visible"/>
                                      </p:to>
                                    </p:set>
                                    <p:animEffect transition="in" filter="wipe(left)">
                                      <p:cBhvr>
                                        <p:cTn id="16" dur="500"/>
                                        <p:tgtEl>
                                          <p:spTgt spid="64922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49274"/>
                                        </p:tgtEl>
                                        <p:attrNameLst>
                                          <p:attrName>style.visibility</p:attrName>
                                        </p:attrNameLst>
                                      </p:cBhvr>
                                      <p:to>
                                        <p:strVal val="visible"/>
                                      </p:to>
                                    </p:set>
                                    <p:animEffect transition="in" filter="wipe(left)">
                                      <p:cBhvr>
                                        <p:cTn id="21" dur="500"/>
                                        <p:tgtEl>
                                          <p:spTgt spid="64927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649219"/>
                                        </p:tgtEl>
                                        <p:attrNameLst>
                                          <p:attrName>style.visibility</p:attrName>
                                        </p:attrNameLst>
                                      </p:cBhvr>
                                      <p:to>
                                        <p:strVal val="visible"/>
                                      </p:to>
                                    </p:set>
                                    <p:animEffect transition="in" filter="wipe(left)">
                                      <p:cBhvr>
                                        <p:cTn id="26" dur="500"/>
                                        <p:tgtEl>
                                          <p:spTgt spid="64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20" grpId="0" autoUpdateAnimBg="0"/>
      <p:bldP spid="64927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7C8D8D96-DD5C-418C-B816-095AC88FEB26}"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39</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242" name="Text Box 2"/>
          <p:cNvSpPr txBox="1">
            <a:spLocks noChangeArrowheads="1"/>
          </p:cNvSpPr>
          <p:nvPr/>
        </p:nvSpPr>
        <p:spPr bwMode="auto">
          <a:xfrm>
            <a:off x="755650" y="5373688"/>
            <a:ext cx="8001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中电路有</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个电源，首先计算电流源单独作用时的响应</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30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，电路如图</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所示</a:t>
            </a:r>
          </a:p>
        </p:txBody>
      </p:sp>
      <p:sp>
        <p:nvSpPr>
          <p:cNvPr id="650243" name="Text Box 3"/>
          <p:cNvSpPr txBox="1">
            <a:spLocks noChangeArrowheads="1"/>
          </p:cNvSpPr>
          <p:nvPr/>
        </p:nvSpPr>
        <p:spPr bwMode="auto">
          <a:xfrm>
            <a:off x="539750" y="476250"/>
            <a:ext cx="8305800" cy="830997"/>
          </a:xfrm>
          <a:prstGeom prst="rect">
            <a:avLst/>
          </a:prstGeom>
          <a:noFill/>
          <a:ln w="9525">
            <a:noFill/>
            <a:miter lim="800000"/>
            <a:headEnd/>
            <a:tailEnd/>
          </a:ln>
          <a:effectLst/>
        </p:spPr>
        <p:txBody>
          <a:bodyPr>
            <a:spAutoFit/>
          </a:bodyPr>
          <a:lstStyle/>
          <a:p>
            <a:pPr eaLnBrk="1" hangingPunct="1">
              <a:spcBef>
                <a:spcPct val="20000"/>
              </a:spcBef>
              <a:buClr>
                <a:schemeClr val="hlink"/>
              </a:buClr>
              <a:buSzPct val="70000"/>
              <a:buFont typeface="Wingdings" pitchFamily="2" charset="2"/>
              <a:buNone/>
              <a:defRPr/>
            </a:pPr>
            <a:r>
              <a:rPr lang="en-US" altLang="zh-CN"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中电路，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=3Ω</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 Ω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 Ω</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=30V </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。试用叠加原理计算电流源的端电压</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2" name="Group 4"/>
          <p:cNvGrpSpPr>
            <a:grpSpLocks/>
          </p:cNvGrpSpPr>
          <p:nvPr/>
        </p:nvGrpSpPr>
        <p:grpSpPr bwMode="auto">
          <a:xfrm>
            <a:off x="762000" y="1828800"/>
            <a:ext cx="2133600" cy="3281363"/>
            <a:chOff x="480" y="1152"/>
            <a:chExt cx="1344" cy="2067"/>
          </a:xfrm>
        </p:grpSpPr>
        <p:grpSp>
          <p:nvGrpSpPr>
            <p:cNvPr id="44073" name="Group 5"/>
            <p:cNvGrpSpPr>
              <a:grpSpLocks/>
            </p:cNvGrpSpPr>
            <p:nvPr/>
          </p:nvGrpSpPr>
          <p:grpSpPr bwMode="auto">
            <a:xfrm>
              <a:off x="480" y="1152"/>
              <a:ext cx="1344" cy="1824"/>
              <a:chOff x="480" y="1296"/>
              <a:chExt cx="1344" cy="1824"/>
            </a:xfrm>
          </p:grpSpPr>
          <p:sp>
            <p:nvSpPr>
              <p:cNvPr id="44075" name="Text Box 6"/>
              <p:cNvSpPr txBox="1">
                <a:spLocks noChangeArrowheads="1"/>
              </p:cNvSpPr>
              <p:nvPr/>
            </p:nvSpPr>
            <p:spPr bwMode="auto">
              <a:xfrm>
                <a:off x="912" y="2496"/>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 -</a:t>
                </a:r>
              </a:p>
            </p:txBody>
          </p:sp>
          <p:sp>
            <p:nvSpPr>
              <p:cNvPr id="650247" name="Text Box 7"/>
              <p:cNvSpPr txBox="1">
                <a:spLocks noChangeArrowheads="1"/>
              </p:cNvSpPr>
              <p:nvPr/>
            </p:nvSpPr>
            <p:spPr bwMode="auto">
              <a:xfrm>
                <a:off x="1200"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50248" name="Text Box 8"/>
              <p:cNvSpPr txBox="1">
                <a:spLocks noChangeArrowheads="1"/>
              </p:cNvSpPr>
              <p:nvPr/>
            </p:nvSpPr>
            <p:spPr bwMode="auto">
              <a:xfrm>
                <a:off x="864" y="2832"/>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249" name="Text Box 9"/>
              <p:cNvSpPr txBox="1">
                <a:spLocks noChangeArrowheads="1"/>
              </p:cNvSpPr>
              <p:nvPr/>
            </p:nvSpPr>
            <p:spPr bwMode="auto">
              <a:xfrm>
                <a:off x="57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4079" name="Group 10"/>
              <p:cNvGrpSpPr>
                <a:grpSpLocks/>
              </p:cNvGrpSpPr>
              <p:nvPr/>
            </p:nvGrpSpPr>
            <p:grpSpPr bwMode="auto">
              <a:xfrm>
                <a:off x="480" y="1584"/>
                <a:ext cx="1325" cy="1360"/>
                <a:chOff x="4736" y="3482"/>
                <a:chExt cx="3311" cy="3400"/>
              </a:xfrm>
            </p:grpSpPr>
            <p:grpSp>
              <p:nvGrpSpPr>
                <p:cNvPr id="44083" name="Group 11"/>
                <p:cNvGrpSpPr>
                  <a:grpSpLocks/>
                </p:cNvGrpSpPr>
                <p:nvPr/>
              </p:nvGrpSpPr>
              <p:grpSpPr bwMode="auto">
                <a:xfrm rot="5400000">
                  <a:off x="5462" y="2767"/>
                  <a:ext cx="187" cy="1639"/>
                  <a:chOff x="743" y="567"/>
                  <a:chExt cx="187" cy="1639"/>
                </a:xfrm>
              </p:grpSpPr>
              <p:sp>
                <p:nvSpPr>
                  <p:cNvPr id="44113" name="Line 1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14" name="Rectangle 1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84" name="Group 14"/>
                <p:cNvGrpSpPr>
                  <a:grpSpLocks/>
                </p:cNvGrpSpPr>
                <p:nvPr/>
              </p:nvGrpSpPr>
              <p:grpSpPr bwMode="auto">
                <a:xfrm rot="5400000">
                  <a:off x="7101" y="2756"/>
                  <a:ext cx="187" cy="1639"/>
                  <a:chOff x="743" y="567"/>
                  <a:chExt cx="187" cy="1639"/>
                </a:xfrm>
              </p:grpSpPr>
              <p:sp>
                <p:nvSpPr>
                  <p:cNvPr id="44111" name="Line 1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12" name="Rectangle 1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85" name="Group 17"/>
                <p:cNvGrpSpPr>
                  <a:grpSpLocks/>
                </p:cNvGrpSpPr>
                <p:nvPr/>
              </p:nvGrpSpPr>
              <p:grpSpPr bwMode="auto">
                <a:xfrm rot="5400000">
                  <a:off x="5517" y="4373"/>
                  <a:ext cx="187" cy="1639"/>
                  <a:chOff x="743" y="567"/>
                  <a:chExt cx="187" cy="1639"/>
                </a:xfrm>
              </p:grpSpPr>
              <p:sp>
                <p:nvSpPr>
                  <p:cNvPr id="44109" name="Line 1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10" name="Rectangle 1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86" name="Group 20"/>
                <p:cNvGrpSpPr>
                  <a:grpSpLocks/>
                </p:cNvGrpSpPr>
                <p:nvPr/>
              </p:nvGrpSpPr>
              <p:grpSpPr bwMode="auto">
                <a:xfrm rot="5400000">
                  <a:off x="7134" y="4373"/>
                  <a:ext cx="187" cy="1639"/>
                  <a:chOff x="743" y="567"/>
                  <a:chExt cx="187" cy="1639"/>
                </a:xfrm>
              </p:grpSpPr>
              <p:sp>
                <p:nvSpPr>
                  <p:cNvPr id="44107" name="Line 2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08" name="Rectangle 2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87" name="Group 23"/>
                <p:cNvGrpSpPr>
                  <a:grpSpLocks/>
                </p:cNvGrpSpPr>
                <p:nvPr/>
              </p:nvGrpSpPr>
              <p:grpSpPr bwMode="auto">
                <a:xfrm>
                  <a:off x="6034" y="3570"/>
                  <a:ext cx="694" cy="1650"/>
                  <a:chOff x="4417" y="567"/>
                  <a:chExt cx="693" cy="1650"/>
                </a:xfrm>
              </p:grpSpPr>
              <p:grpSp>
                <p:nvGrpSpPr>
                  <p:cNvPr id="44100" name="Group 24"/>
                  <p:cNvGrpSpPr>
                    <a:grpSpLocks/>
                  </p:cNvGrpSpPr>
                  <p:nvPr/>
                </p:nvGrpSpPr>
                <p:grpSpPr bwMode="auto">
                  <a:xfrm>
                    <a:off x="4417" y="567"/>
                    <a:ext cx="550" cy="1650"/>
                    <a:chOff x="4417" y="567"/>
                    <a:chExt cx="550" cy="1650"/>
                  </a:xfrm>
                </p:grpSpPr>
                <p:sp>
                  <p:nvSpPr>
                    <p:cNvPr id="44105" name="Oval 2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06" name="Line 26"/>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101" name="Group 27"/>
                  <p:cNvGrpSpPr>
                    <a:grpSpLocks/>
                  </p:cNvGrpSpPr>
                  <p:nvPr/>
                </p:nvGrpSpPr>
                <p:grpSpPr bwMode="auto">
                  <a:xfrm>
                    <a:off x="4956" y="853"/>
                    <a:ext cx="154" cy="979"/>
                    <a:chOff x="4956" y="853"/>
                    <a:chExt cx="154" cy="979"/>
                  </a:xfrm>
                </p:grpSpPr>
                <p:sp>
                  <p:nvSpPr>
                    <p:cNvPr id="44102" name="Line 2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03" name="Line 2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104" name="Line 3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44088" name="Group 31"/>
                <p:cNvGrpSpPr>
                  <a:grpSpLocks/>
                </p:cNvGrpSpPr>
                <p:nvPr/>
              </p:nvGrpSpPr>
              <p:grpSpPr bwMode="auto">
                <a:xfrm rot="-5400000">
                  <a:off x="6330" y="5782"/>
                  <a:ext cx="551" cy="1650"/>
                  <a:chOff x="3591" y="567"/>
                  <a:chExt cx="301" cy="907"/>
                </a:xfrm>
              </p:grpSpPr>
              <p:sp>
                <p:nvSpPr>
                  <p:cNvPr id="44093" name="Line 32"/>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4" name="Oval 33"/>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5" name="Line 34"/>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4096" name="Group 35"/>
                  <p:cNvGrpSpPr>
                    <a:grpSpLocks/>
                  </p:cNvGrpSpPr>
                  <p:nvPr/>
                </p:nvGrpSpPr>
                <p:grpSpPr bwMode="auto">
                  <a:xfrm>
                    <a:off x="3715" y="591"/>
                    <a:ext cx="56" cy="222"/>
                    <a:chOff x="4507" y="645"/>
                    <a:chExt cx="56" cy="222"/>
                  </a:xfrm>
                </p:grpSpPr>
                <p:sp>
                  <p:nvSpPr>
                    <p:cNvPr id="44097" name="Line 36"/>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8" name="Line 37"/>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9" name="Line 38"/>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4089" name="Line 39"/>
                <p:cNvSpPr>
                  <a:spLocks noChangeShapeType="1"/>
                </p:cNvSpPr>
                <p:nvPr/>
              </p:nvSpPr>
              <p:spPr bwMode="auto">
                <a:xfrm>
                  <a:off x="4769" y="3581"/>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0" name="Line 40"/>
                <p:cNvSpPr>
                  <a:spLocks noChangeShapeType="1"/>
                </p:cNvSpPr>
                <p:nvPr/>
              </p:nvSpPr>
              <p:spPr bwMode="auto">
                <a:xfrm>
                  <a:off x="7255" y="6595"/>
                  <a:ext cx="7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1" name="Line 41"/>
                <p:cNvSpPr>
                  <a:spLocks noChangeShapeType="1"/>
                </p:cNvSpPr>
                <p:nvPr/>
              </p:nvSpPr>
              <p:spPr bwMode="auto">
                <a:xfrm>
                  <a:off x="4802" y="6617"/>
                  <a:ext cx="108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92" name="Line 42"/>
                <p:cNvSpPr>
                  <a:spLocks noChangeShapeType="1"/>
                </p:cNvSpPr>
                <p:nvPr/>
              </p:nvSpPr>
              <p:spPr bwMode="auto">
                <a:xfrm>
                  <a:off x="8025" y="3559"/>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0283" name="Text Box 43"/>
              <p:cNvSpPr txBox="1">
                <a:spLocks noChangeArrowheads="1"/>
              </p:cNvSpPr>
              <p:nvPr/>
            </p:nvSpPr>
            <p:spPr bwMode="auto">
              <a:xfrm>
                <a:off x="1440" y="196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284" name="Text Box 44"/>
              <p:cNvSpPr txBox="1">
                <a:spLocks noChangeArrowheads="1"/>
              </p:cNvSpPr>
              <p:nvPr/>
            </p:nvSpPr>
            <p:spPr bwMode="auto">
              <a:xfrm>
                <a:off x="576" y="1920"/>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285" name="Text Box 45"/>
              <p:cNvSpPr txBox="1">
                <a:spLocks noChangeArrowheads="1"/>
              </p:cNvSpPr>
              <p:nvPr/>
            </p:nvSpPr>
            <p:spPr bwMode="auto">
              <a:xfrm>
                <a:off x="129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4074" name="Text Box 46"/>
            <p:cNvSpPr txBox="1">
              <a:spLocks noChangeArrowheads="1"/>
            </p:cNvSpPr>
            <p:nvPr/>
          </p:nvSpPr>
          <p:spPr bwMode="auto">
            <a:xfrm>
              <a:off x="657" y="2931"/>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grpSp>
      <p:grpSp>
        <p:nvGrpSpPr>
          <p:cNvPr id="14" name="Group 47"/>
          <p:cNvGrpSpPr>
            <a:grpSpLocks/>
          </p:cNvGrpSpPr>
          <p:nvPr/>
        </p:nvGrpSpPr>
        <p:grpSpPr bwMode="auto">
          <a:xfrm>
            <a:off x="5076825" y="1757363"/>
            <a:ext cx="2133600" cy="3281362"/>
            <a:chOff x="3198" y="1107"/>
            <a:chExt cx="1344" cy="2067"/>
          </a:xfrm>
        </p:grpSpPr>
        <p:grpSp>
          <p:nvGrpSpPr>
            <p:cNvPr id="44040" name="Group 48"/>
            <p:cNvGrpSpPr>
              <a:grpSpLocks/>
            </p:cNvGrpSpPr>
            <p:nvPr/>
          </p:nvGrpSpPr>
          <p:grpSpPr bwMode="auto">
            <a:xfrm>
              <a:off x="3198" y="1107"/>
              <a:ext cx="1344" cy="1824"/>
              <a:chOff x="2352" y="1152"/>
              <a:chExt cx="1344" cy="1824"/>
            </a:xfrm>
          </p:grpSpPr>
          <p:sp>
            <p:nvSpPr>
              <p:cNvPr id="44042" name="Text Box 49"/>
              <p:cNvSpPr txBox="1">
                <a:spLocks noChangeArrowheads="1"/>
              </p:cNvSpPr>
              <p:nvPr/>
            </p:nvSpPr>
            <p:spPr bwMode="auto">
              <a:xfrm>
                <a:off x="2784" y="2352"/>
                <a:ext cx="6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0290" name="Text Box 50"/>
              <p:cNvSpPr txBox="1">
                <a:spLocks noChangeArrowheads="1"/>
              </p:cNvSpPr>
              <p:nvPr/>
            </p:nvSpPr>
            <p:spPr bwMode="auto">
              <a:xfrm>
                <a:off x="2736" y="268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291" name="Text Box 51"/>
              <p:cNvSpPr txBox="1">
                <a:spLocks noChangeArrowheads="1"/>
              </p:cNvSpPr>
              <p:nvPr/>
            </p:nvSpPr>
            <p:spPr bwMode="auto">
              <a:xfrm>
                <a:off x="244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4045" name="Group 52"/>
              <p:cNvGrpSpPr>
                <a:grpSpLocks/>
              </p:cNvGrpSpPr>
              <p:nvPr/>
            </p:nvGrpSpPr>
            <p:grpSpPr bwMode="auto">
              <a:xfrm rot="5400000">
                <a:off x="2642" y="1154"/>
                <a:ext cx="75" cy="656"/>
                <a:chOff x="743" y="567"/>
                <a:chExt cx="187" cy="1639"/>
              </a:xfrm>
            </p:grpSpPr>
            <p:sp>
              <p:nvSpPr>
                <p:cNvPr id="44071" name="Line 5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2" name="Rectangle 5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46" name="Group 55"/>
              <p:cNvGrpSpPr>
                <a:grpSpLocks/>
              </p:cNvGrpSpPr>
              <p:nvPr/>
            </p:nvGrpSpPr>
            <p:grpSpPr bwMode="auto">
              <a:xfrm rot="5400000">
                <a:off x="3298" y="1150"/>
                <a:ext cx="75" cy="656"/>
                <a:chOff x="743" y="567"/>
                <a:chExt cx="187" cy="1639"/>
              </a:xfrm>
            </p:grpSpPr>
            <p:sp>
              <p:nvSpPr>
                <p:cNvPr id="44069" name="Line 5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0" name="Rectangle 5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47" name="Group 58"/>
              <p:cNvGrpSpPr>
                <a:grpSpLocks/>
              </p:cNvGrpSpPr>
              <p:nvPr/>
            </p:nvGrpSpPr>
            <p:grpSpPr bwMode="auto">
              <a:xfrm rot="5400000">
                <a:off x="2664" y="1797"/>
                <a:ext cx="75" cy="656"/>
                <a:chOff x="743" y="567"/>
                <a:chExt cx="187" cy="1639"/>
              </a:xfrm>
            </p:grpSpPr>
            <p:sp>
              <p:nvSpPr>
                <p:cNvPr id="44067" name="Line 5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8" name="Rectangle 6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48" name="Group 61"/>
              <p:cNvGrpSpPr>
                <a:grpSpLocks/>
              </p:cNvGrpSpPr>
              <p:nvPr/>
            </p:nvGrpSpPr>
            <p:grpSpPr bwMode="auto">
              <a:xfrm rot="5400000">
                <a:off x="3311" y="1797"/>
                <a:ext cx="75" cy="656"/>
                <a:chOff x="743" y="567"/>
                <a:chExt cx="187" cy="1639"/>
              </a:xfrm>
            </p:grpSpPr>
            <p:sp>
              <p:nvSpPr>
                <p:cNvPr id="44065" name="Line 6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6" name="Rectangle 6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4049" name="Group 64"/>
              <p:cNvGrpSpPr>
                <a:grpSpLocks/>
              </p:cNvGrpSpPr>
              <p:nvPr/>
            </p:nvGrpSpPr>
            <p:grpSpPr bwMode="auto">
              <a:xfrm rot="-5400000">
                <a:off x="2990" y="2360"/>
                <a:ext cx="220" cy="660"/>
                <a:chOff x="3591" y="567"/>
                <a:chExt cx="301" cy="907"/>
              </a:xfrm>
            </p:grpSpPr>
            <p:sp>
              <p:nvSpPr>
                <p:cNvPr id="44058" name="Line 65"/>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9" name="Oval 66"/>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0" name="Line 67"/>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4061" name="Group 68"/>
                <p:cNvGrpSpPr>
                  <a:grpSpLocks/>
                </p:cNvGrpSpPr>
                <p:nvPr/>
              </p:nvGrpSpPr>
              <p:grpSpPr bwMode="auto">
                <a:xfrm>
                  <a:off x="3715" y="591"/>
                  <a:ext cx="56" cy="222"/>
                  <a:chOff x="4507" y="645"/>
                  <a:chExt cx="56" cy="222"/>
                </a:xfrm>
              </p:grpSpPr>
              <p:sp>
                <p:nvSpPr>
                  <p:cNvPr id="44062" name="Line 69"/>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3" name="Line 70"/>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4" name="Line 71"/>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4050" name="Line 72"/>
              <p:cNvSpPr>
                <a:spLocks noChangeShapeType="1"/>
              </p:cNvSpPr>
              <p:nvPr/>
            </p:nvSpPr>
            <p:spPr bwMode="auto">
              <a:xfrm>
                <a:off x="2365" y="1480"/>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1" name="Line 73"/>
              <p:cNvSpPr>
                <a:spLocks noChangeShapeType="1"/>
              </p:cNvSpPr>
              <p:nvPr/>
            </p:nvSpPr>
            <p:spPr bwMode="auto">
              <a:xfrm>
                <a:off x="3360" y="2685"/>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2" name="Line 74"/>
              <p:cNvSpPr>
                <a:spLocks noChangeShapeType="1"/>
              </p:cNvSpPr>
              <p:nvPr/>
            </p:nvSpPr>
            <p:spPr bwMode="auto">
              <a:xfrm>
                <a:off x="2378" y="2694"/>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3" name="Line 75"/>
              <p:cNvSpPr>
                <a:spLocks noChangeShapeType="1"/>
              </p:cNvSpPr>
              <p:nvPr/>
            </p:nvSpPr>
            <p:spPr bwMode="auto">
              <a:xfrm>
                <a:off x="3668" y="147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316" name="Text Box 76"/>
              <p:cNvSpPr txBox="1">
                <a:spLocks noChangeArrowheads="1"/>
              </p:cNvSpPr>
              <p:nvPr/>
            </p:nvSpPr>
            <p:spPr bwMode="auto">
              <a:xfrm>
                <a:off x="3312" y="1824"/>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317" name="Text Box 77"/>
              <p:cNvSpPr txBox="1">
                <a:spLocks noChangeArrowheads="1"/>
              </p:cNvSpPr>
              <p:nvPr/>
            </p:nvSpPr>
            <p:spPr bwMode="auto">
              <a:xfrm>
                <a:off x="2448"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0318" name="Text Box 78"/>
              <p:cNvSpPr txBox="1">
                <a:spLocks noChangeArrowheads="1"/>
              </p:cNvSpPr>
              <p:nvPr/>
            </p:nvSpPr>
            <p:spPr bwMode="auto">
              <a:xfrm>
                <a:off x="316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7" name="Line 79"/>
              <p:cNvSpPr>
                <a:spLocks noChangeShapeType="1"/>
              </p:cNvSpPr>
              <p:nvPr/>
            </p:nvSpPr>
            <p:spPr bwMode="auto">
              <a:xfrm>
                <a:off x="3024" y="1488"/>
                <a:ext cx="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4041" name="Text Box 80"/>
            <p:cNvSpPr txBox="1">
              <a:spLocks noChangeArrowheads="1"/>
            </p:cNvSpPr>
            <p:nvPr/>
          </p:nvSpPr>
          <p:spPr bwMode="auto">
            <a:xfrm>
              <a:off x="3424" y="2886"/>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Tree>
    <p:extLst>
      <p:ext uri="{BB962C8B-B14F-4D97-AF65-F5344CB8AC3E}">
        <p14:creationId xmlns:p14="http://schemas.microsoft.com/office/powerpoint/2010/main" val="3547766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50243"/>
                                        </p:tgtEl>
                                        <p:attrNameLst>
                                          <p:attrName>style.visibility</p:attrName>
                                        </p:attrNameLst>
                                      </p:cBhvr>
                                      <p:to>
                                        <p:strVal val="visible"/>
                                      </p:to>
                                    </p:set>
                                    <p:animEffect transition="in" filter="blinds(horizontal)">
                                      <p:cBhvr>
                                        <p:cTn id="7" dur="500"/>
                                        <p:tgtEl>
                                          <p:spTgt spid="650243"/>
                                        </p:tgtEl>
                                      </p:cBhvr>
                                    </p:animEffect>
                                  </p:childTnLst>
                                </p:cTn>
                              </p:par>
                            </p:childTnLst>
                          </p:cTn>
                        </p:par>
                        <p:par>
                          <p:cTn id="8" fill="hold" nodeType="afterGroup">
                            <p:stCondLst>
                              <p:cond delay="500"/>
                            </p:stCondLst>
                            <p:childTnLst>
                              <p:par>
                                <p:cTn id="9" presetID="17"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0242"/>
                                        </p:tgtEl>
                                        <p:attrNameLst>
                                          <p:attrName>style.visibility</p:attrName>
                                        </p:attrNameLst>
                                      </p:cBhvr>
                                      <p:to>
                                        <p:strVal val="visible"/>
                                      </p:to>
                                    </p:set>
                                    <p:animEffect transition="in" filter="wipe(left)">
                                      <p:cBhvr>
                                        <p:cTn id="17" dur="500"/>
                                        <p:tgtEl>
                                          <p:spTgt spid="650242"/>
                                        </p:tgtEl>
                                      </p:cBhvr>
                                    </p:animEffect>
                                  </p:childTnLst>
                                </p:cTn>
                              </p:par>
                            </p:childTnLst>
                          </p:cTn>
                        </p:par>
                        <p:par>
                          <p:cTn id="18" fill="hold" nodeType="afterGroup">
                            <p:stCondLst>
                              <p:cond delay="500"/>
                            </p:stCondLst>
                            <p:childTnLst>
                              <p:par>
                                <p:cTn id="19" presetID="17" presetClass="entr" presetSubtype="8"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500" fill="hold"/>
                                        <p:tgtEl>
                                          <p:spTgt spid="14"/>
                                        </p:tgtEl>
                                        <p:attrNameLst>
                                          <p:attrName>ppt_x</p:attrName>
                                        </p:attrNameLst>
                                      </p:cBhvr>
                                      <p:tavLst>
                                        <p:tav tm="0">
                                          <p:val>
                                            <p:strVal val="#ppt_x-#ppt_w/2"/>
                                          </p:val>
                                        </p:tav>
                                        <p:tav tm="100000">
                                          <p:val>
                                            <p:strVal val="#ppt_x"/>
                                          </p:val>
                                        </p:tav>
                                      </p:tavLst>
                                    </p:anim>
                                    <p:anim calcmode="lin" valueType="num">
                                      <p:cBhvr>
                                        <p:cTn id="22" dur="500" fill="hold"/>
                                        <p:tgtEl>
                                          <p:spTgt spid="14"/>
                                        </p:tgtEl>
                                        <p:attrNameLst>
                                          <p:attrName>ppt_y</p:attrName>
                                        </p:attrNameLst>
                                      </p:cBhvr>
                                      <p:tavLst>
                                        <p:tav tm="0">
                                          <p:val>
                                            <p:strVal val="#ppt_y"/>
                                          </p:val>
                                        </p:tav>
                                        <p:tav tm="100000">
                                          <p:val>
                                            <p:strVal val="#ppt_y"/>
                                          </p:val>
                                        </p:tav>
                                      </p:tavLst>
                                    </p:anim>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2" grpId="0"/>
      <p:bldP spid="65024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012320A3-7C77-4CFB-AC8E-6F4B61E28132}"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40</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2"/>
          <p:cNvGrpSpPr>
            <a:grpSpLocks/>
          </p:cNvGrpSpPr>
          <p:nvPr/>
        </p:nvGrpSpPr>
        <p:grpSpPr bwMode="auto">
          <a:xfrm>
            <a:off x="1285875" y="476250"/>
            <a:ext cx="2133600" cy="3297238"/>
            <a:chOff x="431" y="300"/>
            <a:chExt cx="1344" cy="2077"/>
          </a:xfrm>
        </p:grpSpPr>
        <p:grpSp>
          <p:nvGrpSpPr>
            <p:cNvPr id="45096" name="Group 3"/>
            <p:cNvGrpSpPr>
              <a:grpSpLocks/>
            </p:cNvGrpSpPr>
            <p:nvPr/>
          </p:nvGrpSpPr>
          <p:grpSpPr bwMode="auto">
            <a:xfrm>
              <a:off x="431" y="300"/>
              <a:ext cx="1344" cy="1824"/>
              <a:chOff x="480" y="1296"/>
              <a:chExt cx="1344" cy="1824"/>
            </a:xfrm>
          </p:grpSpPr>
          <p:sp>
            <p:nvSpPr>
              <p:cNvPr id="45098" name="Text Box 4"/>
              <p:cNvSpPr txBox="1">
                <a:spLocks noChangeArrowheads="1"/>
              </p:cNvSpPr>
              <p:nvPr/>
            </p:nvSpPr>
            <p:spPr bwMode="auto">
              <a:xfrm>
                <a:off x="912" y="2496"/>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 -</a:t>
                </a:r>
              </a:p>
            </p:txBody>
          </p:sp>
          <p:sp>
            <p:nvSpPr>
              <p:cNvPr id="651269" name="Text Box 5"/>
              <p:cNvSpPr txBox="1">
                <a:spLocks noChangeArrowheads="1"/>
              </p:cNvSpPr>
              <p:nvPr/>
            </p:nvSpPr>
            <p:spPr bwMode="auto">
              <a:xfrm>
                <a:off x="1200"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51270" name="Text Box 6"/>
              <p:cNvSpPr txBox="1">
                <a:spLocks noChangeArrowheads="1"/>
              </p:cNvSpPr>
              <p:nvPr/>
            </p:nvSpPr>
            <p:spPr bwMode="auto">
              <a:xfrm>
                <a:off x="864" y="2832"/>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271" name="Text Box 7"/>
              <p:cNvSpPr txBox="1">
                <a:spLocks noChangeArrowheads="1"/>
              </p:cNvSpPr>
              <p:nvPr/>
            </p:nvSpPr>
            <p:spPr bwMode="auto">
              <a:xfrm>
                <a:off x="57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5102" name="Group 8"/>
              <p:cNvGrpSpPr>
                <a:grpSpLocks/>
              </p:cNvGrpSpPr>
              <p:nvPr/>
            </p:nvGrpSpPr>
            <p:grpSpPr bwMode="auto">
              <a:xfrm>
                <a:off x="480" y="1584"/>
                <a:ext cx="1325" cy="1360"/>
                <a:chOff x="4736" y="3482"/>
                <a:chExt cx="3311" cy="3400"/>
              </a:xfrm>
            </p:grpSpPr>
            <p:grpSp>
              <p:nvGrpSpPr>
                <p:cNvPr id="45106" name="Group 9"/>
                <p:cNvGrpSpPr>
                  <a:grpSpLocks/>
                </p:cNvGrpSpPr>
                <p:nvPr/>
              </p:nvGrpSpPr>
              <p:grpSpPr bwMode="auto">
                <a:xfrm rot="5400000">
                  <a:off x="5462" y="2767"/>
                  <a:ext cx="187" cy="1639"/>
                  <a:chOff x="743" y="567"/>
                  <a:chExt cx="187" cy="1639"/>
                </a:xfrm>
              </p:grpSpPr>
              <p:sp>
                <p:nvSpPr>
                  <p:cNvPr id="45136" name="Line 1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37" name="Rectangle 1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107" name="Group 12"/>
                <p:cNvGrpSpPr>
                  <a:grpSpLocks/>
                </p:cNvGrpSpPr>
                <p:nvPr/>
              </p:nvGrpSpPr>
              <p:grpSpPr bwMode="auto">
                <a:xfrm rot="5400000">
                  <a:off x="7101" y="2756"/>
                  <a:ext cx="187" cy="1639"/>
                  <a:chOff x="743" y="567"/>
                  <a:chExt cx="187" cy="1639"/>
                </a:xfrm>
              </p:grpSpPr>
              <p:sp>
                <p:nvSpPr>
                  <p:cNvPr id="45134" name="Line 1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35" name="Rectangle 1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108" name="Group 15"/>
                <p:cNvGrpSpPr>
                  <a:grpSpLocks/>
                </p:cNvGrpSpPr>
                <p:nvPr/>
              </p:nvGrpSpPr>
              <p:grpSpPr bwMode="auto">
                <a:xfrm rot="5400000">
                  <a:off x="5517" y="4373"/>
                  <a:ext cx="187" cy="1639"/>
                  <a:chOff x="743" y="567"/>
                  <a:chExt cx="187" cy="1639"/>
                </a:xfrm>
              </p:grpSpPr>
              <p:sp>
                <p:nvSpPr>
                  <p:cNvPr id="45132" name="Line 1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33" name="Rectangle 1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109" name="Group 18"/>
                <p:cNvGrpSpPr>
                  <a:grpSpLocks/>
                </p:cNvGrpSpPr>
                <p:nvPr/>
              </p:nvGrpSpPr>
              <p:grpSpPr bwMode="auto">
                <a:xfrm rot="5400000">
                  <a:off x="7134" y="4373"/>
                  <a:ext cx="187" cy="1639"/>
                  <a:chOff x="743" y="567"/>
                  <a:chExt cx="187" cy="1639"/>
                </a:xfrm>
              </p:grpSpPr>
              <p:sp>
                <p:nvSpPr>
                  <p:cNvPr id="45130" name="Line 1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31" name="Rectangle 2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110" name="Group 21"/>
                <p:cNvGrpSpPr>
                  <a:grpSpLocks/>
                </p:cNvGrpSpPr>
                <p:nvPr/>
              </p:nvGrpSpPr>
              <p:grpSpPr bwMode="auto">
                <a:xfrm>
                  <a:off x="6034" y="3570"/>
                  <a:ext cx="694" cy="1650"/>
                  <a:chOff x="4417" y="567"/>
                  <a:chExt cx="693" cy="1650"/>
                </a:xfrm>
              </p:grpSpPr>
              <p:grpSp>
                <p:nvGrpSpPr>
                  <p:cNvPr id="45123" name="Group 22"/>
                  <p:cNvGrpSpPr>
                    <a:grpSpLocks/>
                  </p:cNvGrpSpPr>
                  <p:nvPr/>
                </p:nvGrpSpPr>
                <p:grpSpPr bwMode="auto">
                  <a:xfrm>
                    <a:off x="4417" y="567"/>
                    <a:ext cx="550" cy="1650"/>
                    <a:chOff x="4417" y="567"/>
                    <a:chExt cx="550" cy="1650"/>
                  </a:xfrm>
                </p:grpSpPr>
                <p:sp>
                  <p:nvSpPr>
                    <p:cNvPr id="45128" name="Oval 23"/>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29" name="Line 24"/>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124" name="Group 25"/>
                  <p:cNvGrpSpPr>
                    <a:grpSpLocks/>
                  </p:cNvGrpSpPr>
                  <p:nvPr/>
                </p:nvGrpSpPr>
                <p:grpSpPr bwMode="auto">
                  <a:xfrm>
                    <a:off x="4956" y="853"/>
                    <a:ext cx="154" cy="979"/>
                    <a:chOff x="4956" y="853"/>
                    <a:chExt cx="154" cy="979"/>
                  </a:xfrm>
                </p:grpSpPr>
                <p:sp>
                  <p:nvSpPr>
                    <p:cNvPr id="45125" name="Line 26"/>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26" name="Line 27"/>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27" name="Line 28"/>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45111" name="Group 29"/>
                <p:cNvGrpSpPr>
                  <a:grpSpLocks/>
                </p:cNvGrpSpPr>
                <p:nvPr/>
              </p:nvGrpSpPr>
              <p:grpSpPr bwMode="auto">
                <a:xfrm rot="-5400000">
                  <a:off x="6330" y="5782"/>
                  <a:ext cx="551" cy="1650"/>
                  <a:chOff x="3591" y="567"/>
                  <a:chExt cx="301" cy="907"/>
                </a:xfrm>
              </p:grpSpPr>
              <p:sp>
                <p:nvSpPr>
                  <p:cNvPr id="45116" name="Line 30"/>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17" name="Oval 31"/>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18" name="Line 32"/>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5119" name="Group 33"/>
                  <p:cNvGrpSpPr>
                    <a:grpSpLocks/>
                  </p:cNvGrpSpPr>
                  <p:nvPr/>
                </p:nvGrpSpPr>
                <p:grpSpPr bwMode="auto">
                  <a:xfrm>
                    <a:off x="3715" y="591"/>
                    <a:ext cx="56" cy="222"/>
                    <a:chOff x="4507" y="645"/>
                    <a:chExt cx="56" cy="222"/>
                  </a:xfrm>
                </p:grpSpPr>
                <p:sp>
                  <p:nvSpPr>
                    <p:cNvPr id="45120" name="Line 34"/>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21" name="Line 35"/>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22" name="Line 36"/>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5112" name="Line 37"/>
                <p:cNvSpPr>
                  <a:spLocks noChangeShapeType="1"/>
                </p:cNvSpPr>
                <p:nvPr/>
              </p:nvSpPr>
              <p:spPr bwMode="auto">
                <a:xfrm>
                  <a:off x="4769" y="3581"/>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13" name="Line 38"/>
                <p:cNvSpPr>
                  <a:spLocks noChangeShapeType="1"/>
                </p:cNvSpPr>
                <p:nvPr/>
              </p:nvSpPr>
              <p:spPr bwMode="auto">
                <a:xfrm>
                  <a:off x="7255" y="6595"/>
                  <a:ext cx="7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14" name="Line 39"/>
                <p:cNvSpPr>
                  <a:spLocks noChangeShapeType="1"/>
                </p:cNvSpPr>
                <p:nvPr/>
              </p:nvSpPr>
              <p:spPr bwMode="auto">
                <a:xfrm>
                  <a:off x="4802" y="6617"/>
                  <a:ext cx="108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115" name="Line 40"/>
                <p:cNvSpPr>
                  <a:spLocks noChangeShapeType="1"/>
                </p:cNvSpPr>
                <p:nvPr/>
              </p:nvSpPr>
              <p:spPr bwMode="auto">
                <a:xfrm>
                  <a:off x="8025" y="3559"/>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1305" name="Text Box 41"/>
              <p:cNvSpPr txBox="1">
                <a:spLocks noChangeArrowheads="1"/>
              </p:cNvSpPr>
              <p:nvPr/>
            </p:nvSpPr>
            <p:spPr bwMode="auto">
              <a:xfrm>
                <a:off x="1440" y="196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06" name="Text Box 42"/>
              <p:cNvSpPr txBox="1">
                <a:spLocks noChangeArrowheads="1"/>
              </p:cNvSpPr>
              <p:nvPr/>
            </p:nvSpPr>
            <p:spPr bwMode="auto">
              <a:xfrm>
                <a:off x="576" y="1920"/>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07" name="Text Box 43"/>
              <p:cNvSpPr txBox="1">
                <a:spLocks noChangeArrowheads="1"/>
              </p:cNvSpPr>
              <p:nvPr/>
            </p:nvSpPr>
            <p:spPr bwMode="auto">
              <a:xfrm>
                <a:off x="129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5097" name="Text Box 44"/>
            <p:cNvSpPr txBox="1">
              <a:spLocks noChangeArrowheads="1"/>
            </p:cNvSpPr>
            <p:nvPr/>
          </p:nvSpPr>
          <p:spPr bwMode="auto">
            <a:xfrm>
              <a:off x="826" y="2089"/>
              <a:ext cx="6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grpSp>
      <p:grpSp>
        <p:nvGrpSpPr>
          <p:cNvPr id="14" name="Group 45"/>
          <p:cNvGrpSpPr>
            <a:grpSpLocks/>
          </p:cNvGrpSpPr>
          <p:nvPr/>
        </p:nvGrpSpPr>
        <p:grpSpPr bwMode="auto">
          <a:xfrm>
            <a:off x="5076825" y="476250"/>
            <a:ext cx="2133600" cy="3240088"/>
            <a:chOff x="2200" y="300"/>
            <a:chExt cx="1344" cy="2041"/>
          </a:xfrm>
        </p:grpSpPr>
        <p:grpSp>
          <p:nvGrpSpPr>
            <p:cNvPr id="45063" name="Group 46"/>
            <p:cNvGrpSpPr>
              <a:grpSpLocks/>
            </p:cNvGrpSpPr>
            <p:nvPr/>
          </p:nvGrpSpPr>
          <p:grpSpPr bwMode="auto">
            <a:xfrm>
              <a:off x="2200" y="300"/>
              <a:ext cx="1344" cy="1824"/>
              <a:chOff x="2352" y="1152"/>
              <a:chExt cx="1344" cy="1824"/>
            </a:xfrm>
          </p:grpSpPr>
          <p:sp>
            <p:nvSpPr>
              <p:cNvPr id="45065" name="Text Box 47"/>
              <p:cNvSpPr txBox="1">
                <a:spLocks noChangeArrowheads="1"/>
              </p:cNvSpPr>
              <p:nvPr/>
            </p:nvSpPr>
            <p:spPr bwMode="auto">
              <a:xfrm>
                <a:off x="2784" y="2352"/>
                <a:ext cx="6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1312" name="Text Box 48"/>
              <p:cNvSpPr txBox="1">
                <a:spLocks noChangeArrowheads="1"/>
              </p:cNvSpPr>
              <p:nvPr/>
            </p:nvSpPr>
            <p:spPr bwMode="auto">
              <a:xfrm>
                <a:off x="2736" y="268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13" name="Text Box 49"/>
              <p:cNvSpPr txBox="1">
                <a:spLocks noChangeArrowheads="1"/>
              </p:cNvSpPr>
              <p:nvPr/>
            </p:nvSpPr>
            <p:spPr bwMode="auto">
              <a:xfrm>
                <a:off x="244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5068" name="Group 50"/>
              <p:cNvGrpSpPr>
                <a:grpSpLocks/>
              </p:cNvGrpSpPr>
              <p:nvPr/>
            </p:nvGrpSpPr>
            <p:grpSpPr bwMode="auto">
              <a:xfrm rot="5400000">
                <a:off x="2642" y="1154"/>
                <a:ext cx="75" cy="656"/>
                <a:chOff x="743" y="567"/>
                <a:chExt cx="187" cy="1639"/>
              </a:xfrm>
            </p:grpSpPr>
            <p:sp>
              <p:nvSpPr>
                <p:cNvPr id="45094" name="Line 5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95" name="Rectangle 5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069" name="Group 53"/>
              <p:cNvGrpSpPr>
                <a:grpSpLocks/>
              </p:cNvGrpSpPr>
              <p:nvPr/>
            </p:nvGrpSpPr>
            <p:grpSpPr bwMode="auto">
              <a:xfrm rot="5400000">
                <a:off x="3298" y="1150"/>
                <a:ext cx="75" cy="656"/>
                <a:chOff x="743" y="567"/>
                <a:chExt cx="187" cy="1639"/>
              </a:xfrm>
            </p:grpSpPr>
            <p:sp>
              <p:nvSpPr>
                <p:cNvPr id="45092" name="Line 5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93" name="Rectangle 5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070" name="Group 56"/>
              <p:cNvGrpSpPr>
                <a:grpSpLocks/>
              </p:cNvGrpSpPr>
              <p:nvPr/>
            </p:nvGrpSpPr>
            <p:grpSpPr bwMode="auto">
              <a:xfrm rot="5400000">
                <a:off x="2664" y="1797"/>
                <a:ext cx="75" cy="656"/>
                <a:chOff x="743" y="567"/>
                <a:chExt cx="187" cy="1639"/>
              </a:xfrm>
            </p:grpSpPr>
            <p:sp>
              <p:nvSpPr>
                <p:cNvPr id="45090" name="Line 5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91" name="Rectangle 5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071" name="Group 59"/>
              <p:cNvGrpSpPr>
                <a:grpSpLocks/>
              </p:cNvGrpSpPr>
              <p:nvPr/>
            </p:nvGrpSpPr>
            <p:grpSpPr bwMode="auto">
              <a:xfrm rot="5400000">
                <a:off x="3311" y="1797"/>
                <a:ext cx="75" cy="656"/>
                <a:chOff x="743" y="567"/>
                <a:chExt cx="187" cy="1639"/>
              </a:xfrm>
            </p:grpSpPr>
            <p:sp>
              <p:nvSpPr>
                <p:cNvPr id="45088" name="Line 6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9" name="Rectangle 6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5072" name="Group 62"/>
              <p:cNvGrpSpPr>
                <a:grpSpLocks/>
              </p:cNvGrpSpPr>
              <p:nvPr/>
            </p:nvGrpSpPr>
            <p:grpSpPr bwMode="auto">
              <a:xfrm rot="-5400000">
                <a:off x="2990" y="2360"/>
                <a:ext cx="220" cy="660"/>
                <a:chOff x="3591" y="567"/>
                <a:chExt cx="301" cy="907"/>
              </a:xfrm>
            </p:grpSpPr>
            <p:sp>
              <p:nvSpPr>
                <p:cNvPr id="45081" name="Line 63"/>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2" name="Oval 64"/>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3" name="Line 65"/>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5084" name="Group 66"/>
                <p:cNvGrpSpPr>
                  <a:grpSpLocks/>
                </p:cNvGrpSpPr>
                <p:nvPr/>
              </p:nvGrpSpPr>
              <p:grpSpPr bwMode="auto">
                <a:xfrm>
                  <a:off x="3715" y="591"/>
                  <a:ext cx="56" cy="222"/>
                  <a:chOff x="4507" y="645"/>
                  <a:chExt cx="56" cy="222"/>
                </a:xfrm>
              </p:grpSpPr>
              <p:sp>
                <p:nvSpPr>
                  <p:cNvPr id="45085" name="Line 67"/>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6" name="Line 68"/>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7" name="Line 69"/>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5073" name="Line 70"/>
              <p:cNvSpPr>
                <a:spLocks noChangeShapeType="1"/>
              </p:cNvSpPr>
              <p:nvPr/>
            </p:nvSpPr>
            <p:spPr bwMode="auto">
              <a:xfrm>
                <a:off x="2365" y="1480"/>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74" name="Line 71"/>
              <p:cNvSpPr>
                <a:spLocks noChangeShapeType="1"/>
              </p:cNvSpPr>
              <p:nvPr/>
            </p:nvSpPr>
            <p:spPr bwMode="auto">
              <a:xfrm>
                <a:off x="3360" y="2685"/>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75" name="Line 72"/>
              <p:cNvSpPr>
                <a:spLocks noChangeShapeType="1"/>
              </p:cNvSpPr>
              <p:nvPr/>
            </p:nvSpPr>
            <p:spPr bwMode="auto">
              <a:xfrm>
                <a:off x="2378" y="2694"/>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76" name="Line 73"/>
              <p:cNvSpPr>
                <a:spLocks noChangeShapeType="1"/>
              </p:cNvSpPr>
              <p:nvPr/>
            </p:nvSpPr>
            <p:spPr bwMode="auto">
              <a:xfrm>
                <a:off x="3668" y="147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38" name="Text Box 74"/>
              <p:cNvSpPr txBox="1">
                <a:spLocks noChangeArrowheads="1"/>
              </p:cNvSpPr>
              <p:nvPr/>
            </p:nvSpPr>
            <p:spPr bwMode="auto">
              <a:xfrm>
                <a:off x="3312" y="1824"/>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39" name="Text Box 75"/>
              <p:cNvSpPr txBox="1">
                <a:spLocks noChangeArrowheads="1"/>
              </p:cNvSpPr>
              <p:nvPr/>
            </p:nvSpPr>
            <p:spPr bwMode="auto">
              <a:xfrm>
                <a:off x="2448"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1340" name="Text Box 76"/>
              <p:cNvSpPr txBox="1">
                <a:spLocks noChangeArrowheads="1"/>
              </p:cNvSpPr>
              <p:nvPr/>
            </p:nvSpPr>
            <p:spPr bwMode="auto">
              <a:xfrm>
                <a:off x="316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080" name="Line 77"/>
              <p:cNvSpPr>
                <a:spLocks noChangeShapeType="1"/>
              </p:cNvSpPr>
              <p:nvPr/>
            </p:nvSpPr>
            <p:spPr bwMode="auto">
              <a:xfrm>
                <a:off x="3024" y="1488"/>
                <a:ext cx="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5064" name="Text Box 78"/>
            <p:cNvSpPr txBox="1">
              <a:spLocks noChangeArrowheads="1"/>
            </p:cNvSpPr>
            <p:nvPr/>
          </p:nvSpPr>
          <p:spPr bwMode="auto">
            <a:xfrm>
              <a:off x="2536" y="2053"/>
              <a:ext cx="6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graphicFrame>
        <p:nvGraphicFramePr>
          <p:cNvPr id="651343" name="Object 79"/>
          <p:cNvGraphicFramePr>
            <a:graphicFrameLocks noChangeAspect="1"/>
          </p:cNvGraphicFramePr>
          <p:nvPr>
            <p:extLst>
              <p:ext uri="{D42A27DB-BD31-4B8C-83A1-F6EECF244321}">
                <p14:modId xmlns:p14="http://schemas.microsoft.com/office/powerpoint/2010/main" val="1257581144"/>
              </p:ext>
            </p:extLst>
          </p:nvPr>
        </p:nvGraphicFramePr>
        <p:xfrm>
          <a:off x="2422525" y="3892550"/>
          <a:ext cx="4237038" cy="2632075"/>
        </p:xfrm>
        <a:graphic>
          <a:graphicData uri="http://schemas.openxmlformats.org/presentationml/2006/ole">
            <mc:AlternateContent xmlns:mc="http://schemas.openxmlformats.org/markup-compatibility/2006">
              <mc:Choice xmlns:v="urn:schemas-microsoft-com:vml" Requires="v">
                <p:oleObj spid="_x0000_s89098" name="Equation" r:id="rId3" imgW="1752623" imgH="1142910" progId="Equation.DSMT4">
                  <p:embed/>
                </p:oleObj>
              </mc:Choice>
              <mc:Fallback>
                <p:oleObj name="Equation" r:id="rId3" imgW="1752623" imgH="114291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2525" y="3892550"/>
                        <a:ext cx="4237038" cy="263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5307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nodeType="afterGroup">
                            <p:stCondLst>
                              <p:cond delay="500"/>
                            </p:stCondLst>
                            <p:childTnLst>
                              <p:par>
                                <p:cTn id="9" presetID="3" presetClass="entr" presetSubtype="5"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vertical)">
                                      <p:cBhvr>
                                        <p:cTn id="11" dur="500"/>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51343"/>
                                        </p:tgtEl>
                                        <p:attrNameLst>
                                          <p:attrName>style.visibility</p:attrName>
                                        </p:attrNameLst>
                                      </p:cBhvr>
                                      <p:to>
                                        <p:strVal val="visible"/>
                                      </p:to>
                                    </p:set>
                                    <p:animEffect transition="in" filter="wipe(left)">
                                      <p:cBhvr>
                                        <p:cTn id="16" dur="500"/>
                                        <p:tgtEl>
                                          <p:spTgt spid="651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3E9C5C9D-D587-46AB-A788-8ADB00983AB8}"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41</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290" name="Text Box 2"/>
          <p:cNvSpPr txBox="1">
            <a:spLocks noChangeArrowheads="1"/>
          </p:cNvSpPr>
          <p:nvPr/>
        </p:nvSpPr>
        <p:spPr bwMode="auto">
          <a:xfrm>
            <a:off x="684213" y="3933825"/>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再计算电压源单独作用时的响应</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 </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，电路见图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所示</a:t>
            </a:r>
          </a:p>
        </p:txBody>
      </p:sp>
      <p:grpSp>
        <p:nvGrpSpPr>
          <p:cNvPr id="2" name="Group 3"/>
          <p:cNvGrpSpPr>
            <a:grpSpLocks/>
          </p:cNvGrpSpPr>
          <p:nvPr/>
        </p:nvGrpSpPr>
        <p:grpSpPr bwMode="auto">
          <a:xfrm>
            <a:off x="6692900" y="496888"/>
            <a:ext cx="2209800" cy="3148012"/>
            <a:chOff x="4216" y="313"/>
            <a:chExt cx="1392" cy="1983"/>
          </a:xfrm>
        </p:grpSpPr>
        <p:sp>
          <p:nvSpPr>
            <p:cNvPr id="46170" name="Text Box 4"/>
            <p:cNvSpPr txBox="1">
              <a:spLocks noChangeArrowheads="1"/>
            </p:cNvSpPr>
            <p:nvPr/>
          </p:nvSpPr>
          <p:spPr bwMode="auto">
            <a:xfrm>
              <a:off x="4364" y="2008"/>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46171" name="Text Box 5"/>
            <p:cNvSpPr txBox="1">
              <a:spLocks noChangeArrowheads="1"/>
            </p:cNvSpPr>
            <p:nvPr/>
          </p:nvSpPr>
          <p:spPr bwMode="auto">
            <a:xfrm>
              <a:off x="4612" y="1570"/>
              <a:ext cx="6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 </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2294" name="Text Box 6"/>
            <p:cNvSpPr txBox="1">
              <a:spLocks noChangeArrowheads="1"/>
            </p:cNvSpPr>
            <p:nvPr/>
          </p:nvSpPr>
          <p:spPr bwMode="auto">
            <a:xfrm>
              <a:off x="4936" y="793"/>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52295" name="Text Box 7"/>
            <p:cNvSpPr txBox="1">
              <a:spLocks noChangeArrowheads="1"/>
            </p:cNvSpPr>
            <p:nvPr/>
          </p:nvSpPr>
          <p:spPr bwMode="auto">
            <a:xfrm>
              <a:off x="4312" y="313"/>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74" name="Group 8"/>
            <p:cNvGrpSpPr>
              <a:grpSpLocks/>
            </p:cNvGrpSpPr>
            <p:nvPr/>
          </p:nvGrpSpPr>
          <p:grpSpPr bwMode="auto">
            <a:xfrm rot="5400000">
              <a:off x="4506" y="311"/>
              <a:ext cx="75" cy="656"/>
              <a:chOff x="743" y="567"/>
              <a:chExt cx="187" cy="1639"/>
            </a:xfrm>
          </p:grpSpPr>
          <p:sp>
            <p:nvSpPr>
              <p:cNvPr id="46201" name="Line 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202" name="Rectangle 1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75" name="Group 11"/>
            <p:cNvGrpSpPr>
              <a:grpSpLocks/>
            </p:cNvGrpSpPr>
            <p:nvPr/>
          </p:nvGrpSpPr>
          <p:grpSpPr bwMode="auto">
            <a:xfrm rot="5400000">
              <a:off x="5162" y="311"/>
              <a:ext cx="75" cy="656"/>
              <a:chOff x="743" y="567"/>
              <a:chExt cx="187" cy="1639"/>
            </a:xfrm>
          </p:grpSpPr>
          <p:sp>
            <p:nvSpPr>
              <p:cNvPr id="46199" name="Line 1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200" name="Rectangle 1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76" name="Group 14"/>
            <p:cNvGrpSpPr>
              <a:grpSpLocks/>
            </p:cNvGrpSpPr>
            <p:nvPr/>
          </p:nvGrpSpPr>
          <p:grpSpPr bwMode="auto">
            <a:xfrm rot="5400000">
              <a:off x="4528" y="958"/>
              <a:ext cx="75" cy="656"/>
              <a:chOff x="743" y="567"/>
              <a:chExt cx="187" cy="1639"/>
            </a:xfrm>
          </p:grpSpPr>
          <p:sp>
            <p:nvSpPr>
              <p:cNvPr id="46197" name="Line 1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98" name="Rectangle 1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77" name="Group 17"/>
            <p:cNvGrpSpPr>
              <a:grpSpLocks/>
            </p:cNvGrpSpPr>
            <p:nvPr/>
          </p:nvGrpSpPr>
          <p:grpSpPr bwMode="auto">
            <a:xfrm rot="5400000">
              <a:off x="5175" y="958"/>
              <a:ext cx="75" cy="656"/>
              <a:chOff x="743" y="567"/>
              <a:chExt cx="187" cy="1639"/>
            </a:xfrm>
          </p:grpSpPr>
          <p:sp>
            <p:nvSpPr>
              <p:cNvPr id="46195" name="Line 1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96" name="Rectangle 1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78" name="Group 20"/>
            <p:cNvGrpSpPr>
              <a:grpSpLocks/>
            </p:cNvGrpSpPr>
            <p:nvPr/>
          </p:nvGrpSpPr>
          <p:grpSpPr bwMode="auto">
            <a:xfrm>
              <a:off x="4735" y="636"/>
              <a:ext cx="278" cy="660"/>
              <a:chOff x="4417" y="567"/>
              <a:chExt cx="693" cy="1650"/>
            </a:xfrm>
          </p:grpSpPr>
          <p:grpSp>
            <p:nvGrpSpPr>
              <p:cNvPr id="46188" name="Group 21"/>
              <p:cNvGrpSpPr>
                <a:grpSpLocks/>
              </p:cNvGrpSpPr>
              <p:nvPr/>
            </p:nvGrpSpPr>
            <p:grpSpPr bwMode="auto">
              <a:xfrm>
                <a:off x="4417" y="567"/>
                <a:ext cx="550" cy="1650"/>
                <a:chOff x="4417" y="567"/>
                <a:chExt cx="550" cy="1650"/>
              </a:xfrm>
            </p:grpSpPr>
            <p:sp>
              <p:nvSpPr>
                <p:cNvPr id="46193" name="Oval 22"/>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94" name="Line 23"/>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89" name="Group 24"/>
              <p:cNvGrpSpPr>
                <a:grpSpLocks/>
              </p:cNvGrpSpPr>
              <p:nvPr/>
            </p:nvGrpSpPr>
            <p:grpSpPr bwMode="auto">
              <a:xfrm>
                <a:off x="4956" y="853"/>
                <a:ext cx="154" cy="979"/>
                <a:chOff x="4956" y="853"/>
                <a:chExt cx="154" cy="979"/>
              </a:xfrm>
            </p:grpSpPr>
            <p:sp>
              <p:nvSpPr>
                <p:cNvPr id="46190" name="Line 25"/>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91" name="Line 26"/>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92" name="Line 27"/>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6179" name="Line 28"/>
            <p:cNvSpPr>
              <a:spLocks noChangeShapeType="1"/>
            </p:cNvSpPr>
            <p:nvPr/>
          </p:nvSpPr>
          <p:spPr bwMode="auto">
            <a:xfrm>
              <a:off x="4229" y="64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80" name="Line 29"/>
            <p:cNvSpPr>
              <a:spLocks noChangeShapeType="1"/>
            </p:cNvSpPr>
            <p:nvPr/>
          </p:nvSpPr>
          <p:spPr bwMode="auto">
            <a:xfrm>
              <a:off x="5224" y="184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81" name="Line 30"/>
            <p:cNvSpPr>
              <a:spLocks noChangeShapeType="1"/>
            </p:cNvSpPr>
            <p:nvPr/>
          </p:nvSpPr>
          <p:spPr bwMode="auto">
            <a:xfrm>
              <a:off x="4242" y="1855"/>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82" name="Line 31"/>
            <p:cNvSpPr>
              <a:spLocks noChangeShapeType="1"/>
            </p:cNvSpPr>
            <p:nvPr/>
          </p:nvSpPr>
          <p:spPr bwMode="auto">
            <a:xfrm>
              <a:off x="5532" y="632"/>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20" name="Text Box 32"/>
            <p:cNvSpPr txBox="1">
              <a:spLocks noChangeArrowheads="1"/>
            </p:cNvSpPr>
            <p:nvPr/>
          </p:nvSpPr>
          <p:spPr bwMode="auto">
            <a:xfrm>
              <a:off x="5176" y="985"/>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21" name="Text Box 33"/>
            <p:cNvSpPr txBox="1">
              <a:spLocks noChangeArrowheads="1"/>
            </p:cNvSpPr>
            <p:nvPr/>
          </p:nvSpPr>
          <p:spPr bwMode="auto">
            <a:xfrm>
              <a:off x="4312" y="937"/>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22" name="Text Box 34"/>
            <p:cNvSpPr txBox="1">
              <a:spLocks noChangeArrowheads="1"/>
            </p:cNvSpPr>
            <p:nvPr/>
          </p:nvSpPr>
          <p:spPr bwMode="auto">
            <a:xfrm>
              <a:off x="5032" y="313"/>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86" name="Text Box 35"/>
            <p:cNvSpPr txBox="1">
              <a:spLocks noChangeArrowheads="1"/>
            </p:cNvSpPr>
            <p:nvPr/>
          </p:nvSpPr>
          <p:spPr bwMode="auto">
            <a:xfrm>
              <a:off x="4936" y="133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6187" name="Text Box 36"/>
            <p:cNvSpPr txBox="1">
              <a:spLocks noChangeArrowheads="1"/>
            </p:cNvSpPr>
            <p:nvPr/>
          </p:nvSpPr>
          <p:spPr bwMode="auto">
            <a:xfrm>
              <a:off x="4216" y="133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25000">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a:t>
              </a:r>
            </a:p>
          </p:txBody>
        </p:sp>
      </p:grpSp>
      <p:graphicFrame>
        <p:nvGraphicFramePr>
          <p:cNvPr id="652325" name="Object 37"/>
          <p:cNvGraphicFramePr>
            <a:graphicFrameLocks noChangeAspect="1"/>
          </p:cNvGraphicFramePr>
          <p:nvPr>
            <p:extLst>
              <p:ext uri="{D42A27DB-BD31-4B8C-83A1-F6EECF244321}">
                <p14:modId xmlns:p14="http://schemas.microsoft.com/office/powerpoint/2010/main" val="3408816516"/>
              </p:ext>
            </p:extLst>
          </p:nvPr>
        </p:nvGraphicFramePr>
        <p:xfrm>
          <a:off x="539750" y="4437063"/>
          <a:ext cx="2414588" cy="1008062"/>
        </p:xfrm>
        <a:graphic>
          <a:graphicData uri="http://schemas.openxmlformats.org/presentationml/2006/ole">
            <mc:AlternateContent xmlns:mc="http://schemas.openxmlformats.org/markup-compatibility/2006">
              <mc:Choice xmlns:v="urn:schemas-microsoft-com:vml" Requires="v">
                <p:oleObj spid="_x0000_s90146" name="Equation" r:id="rId3" imgW="933579" imgH="400140" progId="Equation.DSMT4">
                  <p:embed/>
                </p:oleObj>
              </mc:Choice>
              <mc:Fallback>
                <p:oleObj name="Equation" r:id="rId3" imgW="933579" imgH="4001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437063"/>
                        <a:ext cx="2414588"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2326" name="Object 38"/>
          <p:cNvGraphicFramePr>
            <a:graphicFrameLocks noChangeAspect="1"/>
          </p:cNvGraphicFramePr>
          <p:nvPr>
            <p:extLst>
              <p:ext uri="{D42A27DB-BD31-4B8C-83A1-F6EECF244321}">
                <p14:modId xmlns:p14="http://schemas.microsoft.com/office/powerpoint/2010/main" val="2759777498"/>
              </p:ext>
            </p:extLst>
          </p:nvPr>
        </p:nvGraphicFramePr>
        <p:xfrm>
          <a:off x="573088" y="5503863"/>
          <a:ext cx="3368675" cy="1008062"/>
        </p:xfrm>
        <a:graphic>
          <a:graphicData uri="http://schemas.openxmlformats.org/presentationml/2006/ole">
            <mc:AlternateContent xmlns:mc="http://schemas.openxmlformats.org/markup-compatibility/2006">
              <mc:Choice xmlns:v="urn:schemas-microsoft-com:vml" Requires="v">
                <p:oleObj spid="_x0000_s90147" name="Equation" r:id="rId5" imgW="1314467" imgH="400140" progId="Equation.DSMT4">
                  <p:embed/>
                </p:oleObj>
              </mc:Choice>
              <mc:Fallback>
                <p:oleObj name="Equation" r:id="rId5" imgW="1314467" imgH="4001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088" y="5503863"/>
                        <a:ext cx="3368675"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39"/>
          <p:cNvGrpSpPr>
            <a:grpSpLocks/>
          </p:cNvGrpSpPr>
          <p:nvPr/>
        </p:nvGrpSpPr>
        <p:grpSpPr bwMode="auto">
          <a:xfrm>
            <a:off x="684213" y="476250"/>
            <a:ext cx="2133600" cy="3297238"/>
            <a:chOff x="431" y="300"/>
            <a:chExt cx="1344" cy="2077"/>
          </a:xfrm>
        </p:grpSpPr>
        <p:grpSp>
          <p:nvGrpSpPr>
            <p:cNvPr id="46128" name="Group 40"/>
            <p:cNvGrpSpPr>
              <a:grpSpLocks/>
            </p:cNvGrpSpPr>
            <p:nvPr/>
          </p:nvGrpSpPr>
          <p:grpSpPr bwMode="auto">
            <a:xfrm>
              <a:off x="431" y="300"/>
              <a:ext cx="1344" cy="1824"/>
              <a:chOff x="480" y="1296"/>
              <a:chExt cx="1344" cy="1824"/>
            </a:xfrm>
          </p:grpSpPr>
          <p:sp>
            <p:nvSpPr>
              <p:cNvPr id="46130" name="Text Box 41"/>
              <p:cNvSpPr txBox="1">
                <a:spLocks noChangeArrowheads="1"/>
              </p:cNvSpPr>
              <p:nvPr/>
            </p:nvSpPr>
            <p:spPr bwMode="auto">
              <a:xfrm>
                <a:off x="912" y="2496"/>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 -</a:t>
                </a:r>
              </a:p>
            </p:txBody>
          </p:sp>
          <p:sp>
            <p:nvSpPr>
              <p:cNvPr id="652330" name="Text Box 42"/>
              <p:cNvSpPr txBox="1">
                <a:spLocks noChangeArrowheads="1"/>
              </p:cNvSpPr>
              <p:nvPr/>
            </p:nvSpPr>
            <p:spPr bwMode="auto">
              <a:xfrm>
                <a:off x="1200"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52331" name="Text Box 43"/>
              <p:cNvSpPr txBox="1">
                <a:spLocks noChangeArrowheads="1"/>
              </p:cNvSpPr>
              <p:nvPr/>
            </p:nvSpPr>
            <p:spPr bwMode="auto">
              <a:xfrm>
                <a:off x="864" y="2832"/>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32" name="Text Box 44"/>
              <p:cNvSpPr txBox="1">
                <a:spLocks noChangeArrowheads="1"/>
              </p:cNvSpPr>
              <p:nvPr/>
            </p:nvSpPr>
            <p:spPr bwMode="auto">
              <a:xfrm>
                <a:off x="57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34" name="Group 45"/>
              <p:cNvGrpSpPr>
                <a:grpSpLocks/>
              </p:cNvGrpSpPr>
              <p:nvPr/>
            </p:nvGrpSpPr>
            <p:grpSpPr bwMode="auto">
              <a:xfrm>
                <a:off x="480" y="1584"/>
                <a:ext cx="1325" cy="1360"/>
                <a:chOff x="4736" y="3482"/>
                <a:chExt cx="3311" cy="3400"/>
              </a:xfrm>
            </p:grpSpPr>
            <p:grpSp>
              <p:nvGrpSpPr>
                <p:cNvPr id="46138" name="Group 46"/>
                <p:cNvGrpSpPr>
                  <a:grpSpLocks/>
                </p:cNvGrpSpPr>
                <p:nvPr/>
              </p:nvGrpSpPr>
              <p:grpSpPr bwMode="auto">
                <a:xfrm rot="5400000">
                  <a:off x="5462" y="2767"/>
                  <a:ext cx="187" cy="1639"/>
                  <a:chOff x="743" y="567"/>
                  <a:chExt cx="187" cy="1639"/>
                </a:xfrm>
              </p:grpSpPr>
              <p:sp>
                <p:nvSpPr>
                  <p:cNvPr id="46168" name="Line 4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69" name="Rectangle 4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39" name="Group 49"/>
                <p:cNvGrpSpPr>
                  <a:grpSpLocks/>
                </p:cNvGrpSpPr>
                <p:nvPr/>
              </p:nvGrpSpPr>
              <p:grpSpPr bwMode="auto">
                <a:xfrm rot="5400000">
                  <a:off x="7101" y="2756"/>
                  <a:ext cx="187" cy="1639"/>
                  <a:chOff x="743" y="567"/>
                  <a:chExt cx="187" cy="1639"/>
                </a:xfrm>
              </p:grpSpPr>
              <p:sp>
                <p:nvSpPr>
                  <p:cNvPr id="46166" name="Line 5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67" name="Rectangle 5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40" name="Group 52"/>
                <p:cNvGrpSpPr>
                  <a:grpSpLocks/>
                </p:cNvGrpSpPr>
                <p:nvPr/>
              </p:nvGrpSpPr>
              <p:grpSpPr bwMode="auto">
                <a:xfrm rot="5400000">
                  <a:off x="5517" y="4373"/>
                  <a:ext cx="187" cy="1639"/>
                  <a:chOff x="743" y="567"/>
                  <a:chExt cx="187" cy="1639"/>
                </a:xfrm>
              </p:grpSpPr>
              <p:sp>
                <p:nvSpPr>
                  <p:cNvPr id="46164" name="Line 5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65" name="Rectangle 5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41" name="Group 55"/>
                <p:cNvGrpSpPr>
                  <a:grpSpLocks/>
                </p:cNvGrpSpPr>
                <p:nvPr/>
              </p:nvGrpSpPr>
              <p:grpSpPr bwMode="auto">
                <a:xfrm rot="5400000">
                  <a:off x="7134" y="4373"/>
                  <a:ext cx="187" cy="1639"/>
                  <a:chOff x="743" y="567"/>
                  <a:chExt cx="187" cy="1639"/>
                </a:xfrm>
              </p:grpSpPr>
              <p:sp>
                <p:nvSpPr>
                  <p:cNvPr id="46162" name="Line 5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63" name="Rectangle 5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42" name="Group 58"/>
                <p:cNvGrpSpPr>
                  <a:grpSpLocks/>
                </p:cNvGrpSpPr>
                <p:nvPr/>
              </p:nvGrpSpPr>
              <p:grpSpPr bwMode="auto">
                <a:xfrm>
                  <a:off x="6034" y="3570"/>
                  <a:ext cx="694" cy="1650"/>
                  <a:chOff x="4417" y="567"/>
                  <a:chExt cx="693" cy="1650"/>
                </a:xfrm>
              </p:grpSpPr>
              <p:grpSp>
                <p:nvGrpSpPr>
                  <p:cNvPr id="46155" name="Group 59"/>
                  <p:cNvGrpSpPr>
                    <a:grpSpLocks/>
                  </p:cNvGrpSpPr>
                  <p:nvPr/>
                </p:nvGrpSpPr>
                <p:grpSpPr bwMode="auto">
                  <a:xfrm>
                    <a:off x="4417" y="567"/>
                    <a:ext cx="550" cy="1650"/>
                    <a:chOff x="4417" y="567"/>
                    <a:chExt cx="550" cy="1650"/>
                  </a:xfrm>
                </p:grpSpPr>
                <p:sp>
                  <p:nvSpPr>
                    <p:cNvPr id="46160" name="Oval 6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61" name="Line 61"/>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56" name="Group 62"/>
                  <p:cNvGrpSpPr>
                    <a:grpSpLocks/>
                  </p:cNvGrpSpPr>
                  <p:nvPr/>
                </p:nvGrpSpPr>
                <p:grpSpPr bwMode="auto">
                  <a:xfrm>
                    <a:off x="4956" y="853"/>
                    <a:ext cx="154" cy="979"/>
                    <a:chOff x="4956" y="853"/>
                    <a:chExt cx="154" cy="979"/>
                  </a:xfrm>
                </p:grpSpPr>
                <p:sp>
                  <p:nvSpPr>
                    <p:cNvPr id="46157" name="Line 63"/>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58" name="Line 64"/>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59" name="Line 65"/>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46143" name="Group 66"/>
                <p:cNvGrpSpPr>
                  <a:grpSpLocks/>
                </p:cNvGrpSpPr>
                <p:nvPr/>
              </p:nvGrpSpPr>
              <p:grpSpPr bwMode="auto">
                <a:xfrm rot="-5400000">
                  <a:off x="6330" y="5782"/>
                  <a:ext cx="551" cy="1650"/>
                  <a:chOff x="3591" y="567"/>
                  <a:chExt cx="301" cy="907"/>
                </a:xfrm>
              </p:grpSpPr>
              <p:sp>
                <p:nvSpPr>
                  <p:cNvPr id="46148" name="Line 67"/>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9" name="Oval 68"/>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50" name="Line 69"/>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51" name="Group 70"/>
                  <p:cNvGrpSpPr>
                    <a:grpSpLocks/>
                  </p:cNvGrpSpPr>
                  <p:nvPr/>
                </p:nvGrpSpPr>
                <p:grpSpPr bwMode="auto">
                  <a:xfrm>
                    <a:off x="3715" y="591"/>
                    <a:ext cx="56" cy="222"/>
                    <a:chOff x="4507" y="645"/>
                    <a:chExt cx="56" cy="222"/>
                  </a:xfrm>
                </p:grpSpPr>
                <p:sp>
                  <p:nvSpPr>
                    <p:cNvPr id="46152" name="Line 71"/>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53" name="Line 72"/>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54" name="Line 73"/>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6144" name="Line 74"/>
                <p:cNvSpPr>
                  <a:spLocks noChangeShapeType="1"/>
                </p:cNvSpPr>
                <p:nvPr/>
              </p:nvSpPr>
              <p:spPr bwMode="auto">
                <a:xfrm>
                  <a:off x="4769" y="3581"/>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5" name="Line 75"/>
                <p:cNvSpPr>
                  <a:spLocks noChangeShapeType="1"/>
                </p:cNvSpPr>
                <p:nvPr/>
              </p:nvSpPr>
              <p:spPr bwMode="auto">
                <a:xfrm>
                  <a:off x="7255" y="6595"/>
                  <a:ext cx="75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6" name="Line 76"/>
                <p:cNvSpPr>
                  <a:spLocks noChangeShapeType="1"/>
                </p:cNvSpPr>
                <p:nvPr/>
              </p:nvSpPr>
              <p:spPr bwMode="auto">
                <a:xfrm>
                  <a:off x="4802" y="6617"/>
                  <a:ext cx="108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7" name="Line 77"/>
                <p:cNvSpPr>
                  <a:spLocks noChangeShapeType="1"/>
                </p:cNvSpPr>
                <p:nvPr/>
              </p:nvSpPr>
              <p:spPr bwMode="auto">
                <a:xfrm>
                  <a:off x="8025" y="3559"/>
                  <a:ext cx="0" cy="305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2366" name="Text Box 78"/>
              <p:cNvSpPr txBox="1">
                <a:spLocks noChangeArrowheads="1"/>
              </p:cNvSpPr>
              <p:nvPr/>
            </p:nvSpPr>
            <p:spPr bwMode="auto">
              <a:xfrm>
                <a:off x="1440" y="196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67" name="Text Box 79"/>
              <p:cNvSpPr txBox="1">
                <a:spLocks noChangeArrowheads="1"/>
              </p:cNvSpPr>
              <p:nvPr/>
            </p:nvSpPr>
            <p:spPr bwMode="auto">
              <a:xfrm>
                <a:off x="576" y="1920"/>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68" name="Text Box 80"/>
              <p:cNvSpPr txBox="1">
                <a:spLocks noChangeArrowheads="1"/>
              </p:cNvSpPr>
              <p:nvPr/>
            </p:nvSpPr>
            <p:spPr bwMode="auto">
              <a:xfrm>
                <a:off x="1296" y="129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6129" name="Text Box 81"/>
            <p:cNvSpPr txBox="1">
              <a:spLocks noChangeArrowheads="1"/>
            </p:cNvSpPr>
            <p:nvPr/>
          </p:nvSpPr>
          <p:spPr bwMode="auto">
            <a:xfrm>
              <a:off x="826" y="2089"/>
              <a:ext cx="6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grpSp>
      <p:grpSp>
        <p:nvGrpSpPr>
          <p:cNvPr id="22" name="Group 82"/>
          <p:cNvGrpSpPr>
            <a:grpSpLocks/>
          </p:cNvGrpSpPr>
          <p:nvPr/>
        </p:nvGrpSpPr>
        <p:grpSpPr bwMode="auto">
          <a:xfrm>
            <a:off x="3563938" y="476250"/>
            <a:ext cx="2133600" cy="3240088"/>
            <a:chOff x="2200" y="300"/>
            <a:chExt cx="1344" cy="2041"/>
          </a:xfrm>
        </p:grpSpPr>
        <p:grpSp>
          <p:nvGrpSpPr>
            <p:cNvPr id="46095" name="Group 83"/>
            <p:cNvGrpSpPr>
              <a:grpSpLocks/>
            </p:cNvGrpSpPr>
            <p:nvPr/>
          </p:nvGrpSpPr>
          <p:grpSpPr bwMode="auto">
            <a:xfrm>
              <a:off x="2200" y="300"/>
              <a:ext cx="1344" cy="1824"/>
              <a:chOff x="2352" y="1152"/>
              <a:chExt cx="1344" cy="1824"/>
            </a:xfrm>
          </p:grpSpPr>
          <p:sp>
            <p:nvSpPr>
              <p:cNvPr id="46097" name="Text Box 84"/>
              <p:cNvSpPr txBox="1">
                <a:spLocks noChangeArrowheads="1"/>
              </p:cNvSpPr>
              <p:nvPr/>
            </p:nvSpPr>
            <p:spPr bwMode="auto">
              <a:xfrm>
                <a:off x="2784" y="2352"/>
                <a:ext cx="6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i="1" baseline="3000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2373" name="Text Box 85"/>
              <p:cNvSpPr txBox="1">
                <a:spLocks noChangeArrowheads="1"/>
              </p:cNvSpPr>
              <p:nvPr/>
            </p:nvSpPr>
            <p:spPr bwMode="auto">
              <a:xfrm>
                <a:off x="2736" y="2688"/>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74" name="Text Box 86"/>
              <p:cNvSpPr txBox="1">
                <a:spLocks noChangeArrowheads="1"/>
              </p:cNvSpPr>
              <p:nvPr/>
            </p:nvSpPr>
            <p:spPr bwMode="auto">
              <a:xfrm>
                <a:off x="244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00" name="Group 87"/>
              <p:cNvGrpSpPr>
                <a:grpSpLocks/>
              </p:cNvGrpSpPr>
              <p:nvPr/>
            </p:nvGrpSpPr>
            <p:grpSpPr bwMode="auto">
              <a:xfrm rot="5400000">
                <a:off x="2642" y="1154"/>
                <a:ext cx="75" cy="656"/>
                <a:chOff x="743" y="567"/>
                <a:chExt cx="187" cy="1639"/>
              </a:xfrm>
            </p:grpSpPr>
            <p:sp>
              <p:nvSpPr>
                <p:cNvPr id="46126" name="Line 8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7" name="Rectangle 8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01" name="Group 90"/>
              <p:cNvGrpSpPr>
                <a:grpSpLocks/>
              </p:cNvGrpSpPr>
              <p:nvPr/>
            </p:nvGrpSpPr>
            <p:grpSpPr bwMode="auto">
              <a:xfrm rot="5400000">
                <a:off x="3298" y="1150"/>
                <a:ext cx="75" cy="656"/>
                <a:chOff x="743" y="567"/>
                <a:chExt cx="187" cy="1639"/>
              </a:xfrm>
            </p:grpSpPr>
            <p:sp>
              <p:nvSpPr>
                <p:cNvPr id="46124" name="Line 9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5" name="Rectangle 9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02" name="Group 93"/>
              <p:cNvGrpSpPr>
                <a:grpSpLocks/>
              </p:cNvGrpSpPr>
              <p:nvPr/>
            </p:nvGrpSpPr>
            <p:grpSpPr bwMode="auto">
              <a:xfrm rot="5400000">
                <a:off x="2664" y="1797"/>
                <a:ext cx="75" cy="656"/>
                <a:chOff x="743" y="567"/>
                <a:chExt cx="187" cy="1639"/>
              </a:xfrm>
            </p:grpSpPr>
            <p:sp>
              <p:nvSpPr>
                <p:cNvPr id="46122" name="Line 9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3" name="Rectangle 9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03" name="Group 96"/>
              <p:cNvGrpSpPr>
                <a:grpSpLocks/>
              </p:cNvGrpSpPr>
              <p:nvPr/>
            </p:nvGrpSpPr>
            <p:grpSpPr bwMode="auto">
              <a:xfrm rot="5400000">
                <a:off x="3311" y="1797"/>
                <a:ext cx="75" cy="656"/>
                <a:chOff x="743" y="567"/>
                <a:chExt cx="187" cy="1639"/>
              </a:xfrm>
            </p:grpSpPr>
            <p:sp>
              <p:nvSpPr>
                <p:cNvPr id="46120" name="Line 9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1" name="Rectangle 9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04" name="Group 99"/>
              <p:cNvGrpSpPr>
                <a:grpSpLocks/>
              </p:cNvGrpSpPr>
              <p:nvPr/>
            </p:nvGrpSpPr>
            <p:grpSpPr bwMode="auto">
              <a:xfrm rot="-5400000">
                <a:off x="2990" y="2360"/>
                <a:ext cx="220" cy="660"/>
                <a:chOff x="3591" y="567"/>
                <a:chExt cx="301" cy="907"/>
              </a:xfrm>
            </p:grpSpPr>
            <p:sp>
              <p:nvSpPr>
                <p:cNvPr id="46113" name="Line 100"/>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4" name="Oval 101"/>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5" name="Line 102"/>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16" name="Group 103"/>
                <p:cNvGrpSpPr>
                  <a:grpSpLocks/>
                </p:cNvGrpSpPr>
                <p:nvPr/>
              </p:nvGrpSpPr>
              <p:grpSpPr bwMode="auto">
                <a:xfrm>
                  <a:off x="3715" y="591"/>
                  <a:ext cx="56" cy="222"/>
                  <a:chOff x="4507" y="645"/>
                  <a:chExt cx="56" cy="222"/>
                </a:xfrm>
              </p:grpSpPr>
              <p:sp>
                <p:nvSpPr>
                  <p:cNvPr id="46117" name="Line 104"/>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8" name="Line 105"/>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9" name="Line 106"/>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6105" name="Line 107"/>
              <p:cNvSpPr>
                <a:spLocks noChangeShapeType="1"/>
              </p:cNvSpPr>
              <p:nvPr/>
            </p:nvSpPr>
            <p:spPr bwMode="auto">
              <a:xfrm>
                <a:off x="2365" y="1480"/>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6" name="Line 108"/>
              <p:cNvSpPr>
                <a:spLocks noChangeShapeType="1"/>
              </p:cNvSpPr>
              <p:nvPr/>
            </p:nvSpPr>
            <p:spPr bwMode="auto">
              <a:xfrm>
                <a:off x="3360" y="2685"/>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7" name="Line 109"/>
              <p:cNvSpPr>
                <a:spLocks noChangeShapeType="1"/>
              </p:cNvSpPr>
              <p:nvPr/>
            </p:nvSpPr>
            <p:spPr bwMode="auto">
              <a:xfrm>
                <a:off x="2378" y="2694"/>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8" name="Line 110"/>
              <p:cNvSpPr>
                <a:spLocks noChangeShapeType="1"/>
              </p:cNvSpPr>
              <p:nvPr/>
            </p:nvSpPr>
            <p:spPr bwMode="auto">
              <a:xfrm>
                <a:off x="3668" y="147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399" name="Text Box 111"/>
              <p:cNvSpPr txBox="1">
                <a:spLocks noChangeArrowheads="1"/>
              </p:cNvSpPr>
              <p:nvPr/>
            </p:nvSpPr>
            <p:spPr bwMode="auto">
              <a:xfrm>
                <a:off x="3312" y="1824"/>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400" name="Text Box 112"/>
              <p:cNvSpPr txBox="1">
                <a:spLocks noChangeArrowheads="1"/>
              </p:cNvSpPr>
              <p:nvPr/>
            </p:nvSpPr>
            <p:spPr bwMode="auto">
              <a:xfrm>
                <a:off x="2448" y="1776"/>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2401" name="Text Box 113"/>
              <p:cNvSpPr txBox="1">
                <a:spLocks noChangeArrowheads="1"/>
              </p:cNvSpPr>
              <p:nvPr/>
            </p:nvSpPr>
            <p:spPr bwMode="auto">
              <a:xfrm>
                <a:off x="3168" y="1152"/>
                <a:ext cx="48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2" name="Line 114"/>
              <p:cNvSpPr>
                <a:spLocks noChangeShapeType="1"/>
              </p:cNvSpPr>
              <p:nvPr/>
            </p:nvSpPr>
            <p:spPr bwMode="auto">
              <a:xfrm>
                <a:off x="3024" y="1488"/>
                <a:ext cx="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6096" name="Text Box 115"/>
            <p:cNvSpPr txBox="1">
              <a:spLocks noChangeArrowheads="1"/>
            </p:cNvSpPr>
            <p:nvPr/>
          </p:nvSpPr>
          <p:spPr bwMode="auto">
            <a:xfrm>
              <a:off x="2536" y="2053"/>
              <a:ext cx="6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652404" name="AutoShape 116"/>
          <p:cNvSpPr>
            <a:spLocks/>
          </p:cNvSpPr>
          <p:nvPr/>
        </p:nvSpPr>
        <p:spPr bwMode="auto">
          <a:xfrm>
            <a:off x="4067175" y="4652963"/>
            <a:ext cx="358775" cy="1439862"/>
          </a:xfrm>
          <a:prstGeom prst="rightBrace">
            <a:avLst>
              <a:gd name="adj1" fmla="val 33444"/>
              <a:gd name="adj2" fmla="val 23926"/>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52405" name="Object 117"/>
          <p:cNvGraphicFramePr>
            <a:graphicFrameLocks noGrp="1" noChangeAspect="1"/>
          </p:cNvGraphicFramePr>
          <p:nvPr>
            <p:ph/>
            <p:extLst>
              <p:ext uri="{D42A27DB-BD31-4B8C-83A1-F6EECF244321}">
                <p14:modId xmlns:p14="http://schemas.microsoft.com/office/powerpoint/2010/main" val="2719931626"/>
              </p:ext>
            </p:extLst>
          </p:nvPr>
        </p:nvGraphicFramePr>
        <p:xfrm>
          <a:off x="4716463" y="4724400"/>
          <a:ext cx="2330450" cy="608013"/>
        </p:xfrm>
        <a:graphic>
          <a:graphicData uri="http://schemas.openxmlformats.org/presentationml/2006/ole">
            <mc:AlternateContent xmlns:mc="http://schemas.openxmlformats.org/markup-compatibility/2006">
              <mc:Choice xmlns:v="urn:schemas-microsoft-com:vml" Requires="v">
                <p:oleObj spid="_x0000_s90148" name="Equation" r:id="rId7" imgW="847677" imgH="200070" progId="Equation.DSMT4">
                  <p:embed/>
                </p:oleObj>
              </mc:Choice>
              <mc:Fallback>
                <p:oleObj name="Equation" r:id="rId7" imgW="847677" imgH="20007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6463" y="4724400"/>
                        <a:ext cx="2330450"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2406" name="AutoShape 118"/>
          <p:cNvSpPr>
            <a:spLocks noChangeArrowheads="1"/>
          </p:cNvSpPr>
          <p:nvPr/>
        </p:nvSpPr>
        <p:spPr bwMode="auto">
          <a:xfrm>
            <a:off x="4859338" y="5805488"/>
            <a:ext cx="863600" cy="144462"/>
          </a:xfrm>
          <a:prstGeom prst="rightArrow">
            <a:avLst>
              <a:gd name="adj1" fmla="val 50000"/>
              <a:gd name="adj2" fmla="val 149451"/>
            </a:avLst>
          </a:prstGeom>
          <a:solidFill>
            <a:schemeClr val="accent1"/>
          </a:solidFill>
          <a:ln w="28575" algn="ctr">
            <a:solidFill>
              <a:schemeClr val="accent2"/>
            </a:solidFill>
            <a:miter lim="800000"/>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52407" name="Object 119"/>
          <p:cNvGraphicFramePr>
            <a:graphicFrameLocks noChangeAspect="1"/>
          </p:cNvGraphicFramePr>
          <p:nvPr>
            <p:extLst>
              <p:ext uri="{D42A27DB-BD31-4B8C-83A1-F6EECF244321}">
                <p14:modId xmlns:p14="http://schemas.microsoft.com/office/powerpoint/2010/main" val="2976901569"/>
              </p:ext>
            </p:extLst>
          </p:nvPr>
        </p:nvGraphicFramePr>
        <p:xfrm>
          <a:off x="6227763" y="5589588"/>
          <a:ext cx="2060575" cy="471487"/>
        </p:xfrm>
        <a:graphic>
          <a:graphicData uri="http://schemas.openxmlformats.org/presentationml/2006/ole">
            <mc:AlternateContent xmlns:mc="http://schemas.openxmlformats.org/markup-compatibility/2006">
              <mc:Choice xmlns:v="urn:schemas-microsoft-com:vml" Requires="v">
                <p:oleObj spid="_x0000_s90149" name="Equation" r:id="rId9" imgW="742866" imgH="152280" progId="Equation.DSMT4">
                  <p:embed/>
                </p:oleObj>
              </mc:Choice>
              <mc:Fallback>
                <p:oleObj name="Equation" r:id="rId9" imgW="742866" imgH="1522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7763" y="5589588"/>
                        <a:ext cx="2060575"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42397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vertical)">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vertical)">
                                      <p:cBhvr>
                                        <p:cTn id="12" dur="500"/>
                                        <p:tgtEl>
                                          <p:spTgt spid="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2290"/>
                                        </p:tgtEl>
                                        <p:attrNameLst>
                                          <p:attrName>style.visibility</p:attrName>
                                        </p:attrNameLst>
                                      </p:cBhvr>
                                      <p:to>
                                        <p:strVal val="visible"/>
                                      </p:to>
                                    </p:set>
                                    <p:animEffect transition="in" filter="wipe(left)">
                                      <p:cBhvr>
                                        <p:cTn id="17" dur="500"/>
                                        <p:tgtEl>
                                          <p:spTgt spid="6522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ppt_x</p:attrName>
                                        </p:attrNameLst>
                                      </p:cBhvr>
                                      <p:tavLst>
                                        <p:tav tm="0">
                                          <p:val>
                                            <p:strVal val="#ppt_x-#ppt_w/2"/>
                                          </p:val>
                                        </p:tav>
                                        <p:tav tm="100000">
                                          <p:val>
                                            <p:strVal val="#ppt_x"/>
                                          </p:val>
                                        </p:tav>
                                      </p:tavLst>
                                    </p:anim>
                                    <p:anim calcmode="lin" valueType="num">
                                      <p:cBhvr>
                                        <p:cTn id="23" dur="500" fill="hold"/>
                                        <p:tgtEl>
                                          <p:spTgt spid="2"/>
                                        </p:tgtEl>
                                        <p:attrNameLst>
                                          <p:attrName>ppt_y</p:attrName>
                                        </p:attrNameLst>
                                      </p:cBhvr>
                                      <p:tavLst>
                                        <p:tav tm="0">
                                          <p:val>
                                            <p:strVal val="#ppt_y"/>
                                          </p:val>
                                        </p:tav>
                                        <p:tav tm="100000">
                                          <p:val>
                                            <p:strVal val="#ppt_y"/>
                                          </p:val>
                                        </p:tav>
                                      </p:tavLst>
                                    </p:anim>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52325"/>
                                        </p:tgtEl>
                                        <p:attrNameLst>
                                          <p:attrName>style.visibility</p:attrName>
                                        </p:attrNameLst>
                                      </p:cBhvr>
                                      <p:to>
                                        <p:strVal val="visible"/>
                                      </p:to>
                                    </p:set>
                                    <p:animEffect transition="in" filter="wipe(left)">
                                      <p:cBhvr>
                                        <p:cTn id="30" dur="500"/>
                                        <p:tgtEl>
                                          <p:spTgt spid="6523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52326"/>
                                        </p:tgtEl>
                                        <p:attrNameLst>
                                          <p:attrName>style.visibility</p:attrName>
                                        </p:attrNameLst>
                                      </p:cBhvr>
                                      <p:to>
                                        <p:strVal val="visible"/>
                                      </p:to>
                                    </p:set>
                                    <p:animEffect transition="in" filter="wipe(left)">
                                      <p:cBhvr>
                                        <p:cTn id="35" dur="500"/>
                                        <p:tgtEl>
                                          <p:spTgt spid="6523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652404"/>
                                        </p:tgtEl>
                                        <p:attrNameLst>
                                          <p:attrName>style.visibility</p:attrName>
                                        </p:attrNameLst>
                                      </p:cBhvr>
                                      <p:to>
                                        <p:strVal val="visible"/>
                                      </p:to>
                                    </p:set>
                                    <p:animEffect transition="in" filter="wipe(up)">
                                      <p:cBhvr>
                                        <p:cTn id="40" dur="500"/>
                                        <p:tgtEl>
                                          <p:spTgt spid="652404"/>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652405"/>
                                        </p:tgtEl>
                                        <p:attrNameLst>
                                          <p:attrName>style.visibility</p:attrName>
                                        </p:attrNameLst>
                                      </p:cBhvr>
                                      <p:to>
                                        <p:strVal val="visible"/>
                                      </p:to>
                                    </p:set>
                                    <p:animEffect transition="in" filter="wipe(left)">
                                      <p:cBhvr>
                                        <p:cTn id="44" dur="500"/>
                                        <p:tgtEl>
                                          <p:spTgt spid="65240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52406"/>
                                        </p:tgtEl>
                                        <p:attrNameLst>
                                          <p:attrName>style.visibility</p:attrName>
                                        </p:attrNameLst>
                                      </p:cBhvr>
                                      <p:to>
                                        <p:strVal val="visible"/>
                                      </p:to>
                                    </p:set>
                                    <p:animEffect transition="in" filter="wipe(left)">
                                      <p:cBhvr>
                                        <p:cTn id="49" dur="500"/>
                                        <p:tgtEl>
                                          <p:spTgt spid="652406"/>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652407"/>
                                        </p:tgtEl>
                                        <p:attrNameLst>
                                          <p:attrName>style.visibility</p:attrName>
                                        </p:attrNameLst>
                                      </p:cBhvr>
                                      <p:to>
                                        <p:strVal val="visible"/>
                                      </p:to>
                                    </p:set>
                                    <p:animEffect transition="in" filter="wipe(left)">
                                      <p:cBhvr>
                                        <p:cTn id="53" dur="500"/>
                                        <p:tgtEl>
                                          <p:spTgt spid="652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0" grpId="0"/>
      <p:bldP spid="652404" grpId="0" animBg="1"/>
      <p:bldP spid="65240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B0EA6AE2-A0D4-4E5D-9920-6855CAD0C36F}"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42</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08" name="Rectangle 2"/>
          <p:cNvSpPr>
            <a:spLocks noRot="1" noChangeArrowheads="1"/>
          </p:cNvSpPr>
          <p:nvPr/>
        </p:nvSpPr>
        <p:spPr bwMode="auto">
          <a:xfrm>
            <a:off x="795682" y="168505"/>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2.5  </a:t>
            </a:r>
            <a:r>
              <a:rPr lang="zh-CN" altLang="en-US" sz="3200" dirty="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等效电源定理</a:t>
            </a:r>
          </a:p>
        </p:txBody>
      </p:sp>
      <p:sp>
        <p:nvSpPr>
          <p:cNvPr id="653315" name="Text Box 3"/>
          <p:cNvSpPr txBox="1">
            <a:spLocks noChangeArrowheads="1"/>
          </p:cNvSpPr>
          <p:nvPr/>
        </p:nvSpPr>
        <p:spPr bwMode="auto">
          <a:xfrm>
            <a:off x="438150" y="1219200"/>
            <a:ext cx="8310563" cy="1463675"/>
          </a:xfrm>
          <a:prstGeom prst="rect">
            <a:avLst/>
          </a:prstGeom>
          <a:noFill/>
          <a:ln w="9525">
            <a:noFill/>
            <a:miter lim="800000"/>
            <a:headEnd/>
            <a:tailEnd/>
          </a:ln>
          <a:effectLst/>
        </p:spPr>
        <p:txBody>
          <a:bodyPr>
            <a:spAutoFit/>
          </a:bodyPr>
          <a:lstStyle/>
          <a:p>
            <a:pPr eaLnBrk="1" hangingPunct="1">
              <a:lnSpc>
                <a:spcPct val="125000"/>
              </a:lnSpc>
              <a:defRPr/>
            </a:pPr>
            <a:r>
              <a:rPr kumimoji="1"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a:t>
            </a:r>
            <a:r>
              <a:rPr kumimoji="1" lang="zh-CN" altLang="en-US" sz="2400"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网络：</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具有</a:t>
            </a:r>
            <a:r>
              <a:rPr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两个出线端的</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部分电路。</a:t>
            </a:r>
          </a:p>
          <a:p>
            <a:pPr>
              <a:lnSpc>
                <a:spcPct val="125000"/>
              </a:lnSpc>
              <a:defRPr/>
            </a:pPr>
            <a:r>
              <a:rPr kumimoji="1" lang="zh-CN" altLang="en-US" sz="2400"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线性</a:t>
            </a:r>
            <a:r>
              <a:rPr kumimoji="1"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无源</a:t>
            </a:r>
            <a:r>
              <a:rPr kumimoji="1" lang="zh-CN" altLang="en-US" sz="2400"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二端网络：</a:t>
            </a:r>
            <a:r>
              <a:rPr kumimoji="1"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线性二</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端网络中</a:t>
            </a:r>
            <a:r>
              <a:rPr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没有电源</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nSpc>
                <a:spcPct val="125000"/>
              </a:lnSpc>
              <a:defRPr/>
            </a:pPr>
            <a:r>
              <a:rPr kumimoji="1" lang="zh-CN" altLang="en-US" sz="2400"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线性</a:t>
            </a:r>
            <a:r>
              <a:rPr kumimoji="1"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有源</a:t>
            </a:r>
            <a:r>
              <a:rPr kumimoji="1" lang="zh-CN" altLang="en-US" sz="2400"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二端网络：</a:t>
            </a:r>
            <a:r>
              <a:rPr kumimoji="1"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线性</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二端网络中</a:t>
            </a:r>
            <a:r>
              <a:rPr lang="zh-CN" altLang="en-US" sz="24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含有电源</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lang="zh-CN" altLang="zh-CN"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4"/>
          <p:cNvGrpSpPr>
            <a:grpSpLocks/>
          </p:cNvGrpSpPr>
          <p:nvPr/>
        </p:nvGrpSpPr>
        <p:grpSpPr bwMode="auto">
          <a:xfrm>
            <a:off x="4419600" y="2743200"/>
            <a:ext cx="4400550" cy="2597150"/>
            <a:chOff x="2784" y="1728"/>
            <a:chExt cx="2655" cy="1636"/>
          </a:xfrm>
        </p:grpSpPr>
        <p:sp>
          <p:nvSpPr>
            <p:cNvPr id="653317" name="Text Box 5"/>
            <p:cNvSpPr txBox="1">
              <a:spLocks noChangeArrowheads="1"/>
            </p:cNvSpPr>
            <p:nvPr/>
          </p:nvSpPr>
          <p:spPr bwMode="auto">
            <a:xfrm>
              <a:off x="3867" y="3073"/>
              <a:ext cx="691"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7146" name="Oval 6"/>
            <p:cNvSpPr>
              <a:spLocks noChangeArrowheads="1"/>
            </p:cNvSpPr>
            <p:nvPr/>
          </p:nvSpPr>
          <p:spPr bwMode="auto">
            <a:xfrm flipV="1">
              <a:off x="4410" y="2328"/>
              <a:ext cx="274" cy="255"/>
            </a:xfrm>
            <a:prstGeom prst="ellipse">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47" name="Line 7"/>
            <p:cNvSpPr>
              <a:spLocks noChangeShapeType="1"/>
            </p:cNvSpPr>
            <p:nvPr/>
          </p:nvSpPr>
          <p:spPr bwMode="auto">
            <a:xfrm flipV="1">
              <a:off x="4410" y="2446"/>
              <a:ext cx="274" cy="3"/>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20" name="Rectangle 8"/>
            <p:cNvSpPr>
              <a:spLocks noChangeArrowheads="1"/>
            </p:cNvSpPr>
            <p:nvPr/>
          </p:nvSpPr>
          <p:spPr bwMode="auto">
            <a:xfrm>
              <a:off x="5275" y="2328"/>
              <a:ext cx="137" cy="255"/>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49" name="Line 9"/>
            <p:cNvSpPr>
              <a:spLocks noChangeShapeType="1"/>
            </p:cNvSpPr>
            <p:nvPr/>
          </p:nvSpPr>
          <p:spPr bwMode="auto">
            <a:xfrm>
              <a:off x="5333" y="2566"/>
              <a:ext cx="1" cy="4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0" name="Line 10"/>
            <p:cNvSpPr>
              <a:spLocks noChangeShapeType="1"/>
            </p:cNvSpPr>
            <p:nvPr/>
          </p:nvSpPr>
          <p:spPr bwMode="auto">
            <a:xfrm flipH="1" flipV="1">
              <a:off x="5328" y="1869"/>
              <a:ext cx="5" cy="4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1" name="Line 11"/>
            <p:cNvSpPr>
              <a:spLocks noChangeShapeType="1"/>
            </p:cNvSpPr>
            <p:nvPr/>
          </p:nvSpPr>
          <p:spPr bwMode="auto">
            <a:xfrm flipV="1">
              <a:off x="4368" y="2267"/>
              <a:ext cx="1" cy="39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2" name="Line 12"/>
            <p:cNvSpPr>
              <a:spLocks noChangeShapeType="1"/>
            </p:cNvSpPr>
            <p:nvPr/>
          </p:nvSpPr>
          <p:spPr bwMode="auto">
            <a:xfrm>
              <a:off x="4560" y="2566"/>
              <a:ext cx="1" cy="4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25" name="Rectangle 13"/>
            <p:cNvSpPr>
              <a:spLocks noChangeArrowheads="1"/>
            </p:cNvSpPr>
            <p:nvPr/>
          </p:nvSpPr>
          <p:spPr bwMode="auto">
            <a:xfrm>
              <a:off x="3888" y="2270"/>
              <a:ext cx="137" cy="254"/>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4" name="Line 14"/>
            <p:cNvSpPr>
              <a:spLocks noChangeShapeType="1"/>
            </p:cNvSpPr>
            <p:nvPr/>
          </p:nvSpPr>
          <p:spPr bwMode="auto">
            <a:xfrm>
              <a:off x="3952" y="2509"/>
              <a:ext cx="1" cy="53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5" name="Line 15"/>
            <p:cNvSpPr>
              <a:spLocks noChangeShapeType="1"/>
            </p:cNvSpPr>
            <p:nvPr/>
          </p:nvSpPr>
          <p:spPr bwMode="auto">
            <a:xfrm flipV="1">
              <a:off x="3952" y="1914"/>
              <a:ext cx="1" cy="3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6" name="Line 16"/>
            <p:cNvSpPr>
              <a:spLocks noChangeShapeType="1"/>
            </p:cNvSpPr>
            <p:nvPr/>
          </p:nvSpPr>
          <p:spPr bwMode="auto">
            <a:xfrm flipV="1">
              <a:off x="4554" y="1894"/>
              <a:ext cx="1" cy="46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7" name="Oval 17"/>
            <p:cNvSpPr>
              <a:spLocks noChangeArrowheads="1"/>
            </p:cNvSpPr>
            <p:nvPr/>
          </p:nvSpPr>
          <p:spPr bwMode="auto">
            <a:xfrm>
              <a:off x="3175" y="2089"/>
              <a:ext cx="273" cy="256"/>
            </a:xfrm>
            <a:prstGeom prst="ellipse">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30" name="Rectangle 18"/>
            <p:cNvSpPr>
              <a:spLocks noChangeArrowheads="1"/>
            </p:cNvSpPr>
            <p:nvPr/>
          </p:nvSpPr>
          <p:spPr bwMode="auto">
            <a:xfrm>
              <a:off x="3235" y="2506"/>
              <a:ext cx="137" cy="256"/>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59" name="Line 19"/>
            <p:cNvSpPr>
              <a:spLocks noChangeShapeType="1"/>
            </p:cNvSpPr>
            <p:nvPr/>
          </p:nvSpPr>
          <p:spPr bwMode="auto">
            <a:xfrm>
              <a:off x="3300" y="2745"/>
              <a:ext cx="2" cy="25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0" name="Line 20"/>
            <p:cNvSpPr>
              <a:spLocks noChangeShapeType="1"/>
            </p:cNvSpPr>
            <p:nvPr/>
          </p:nvSpPr>
          <p:spPr bwMode="auto">
            <a:xfrm flipH="1" flipV="1">
              <a:off x="3300" y="1879"/>
              <a:ext cx="1" cy="6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33" name="Text Box 21"/>
            <p:cNvSpPr txBox="1">
              <a:spLocks noChangeArrowheads="1"/>
            </p:cNvSpPr>
            <p:nvPr/>
          </p:nvSpPr>
          <p:spPr bwMode="auto">
            <a:xfrm>
              <a:off x="3312" y="2064"/>
              <a:ext cx="645"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3334" name="Text Box 22"/>
            <p:cNvSpPr txBox="1">
              <a:spLocks noChangeArrowheads="1"/>
            </p:cNvSpPr>
            <p:nvPr/>
          </p:nvSpPr>
          <p:spPr bwMode="auto">
            <a:xfrm>
              <a:off x="3241" y="1849"/>
              <a:ext cx="516" cy="731"/>
            </a:xfrm>
            <a:prstGeom prst="rect">
              <a:avLst/>
            </a:prstGeom>
            <a:noFill/>
            <a:ln w="9525">
              <a:noFill/>
              <a:miter lim="800000"/>
              <a:headEnd/>
              <a:tailEnd/>
            </a:ln>
            <a:effectLst/>
          </p:spPr>
          <p:txBody>
            <a:bodyPr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53335" name="Text Box 23"/>
            <p:cNvSpPr txBox="1">
              <a:spLocks noChangeArrowheads="1"/>
            </p:cNvSpPr>
            <p:nvPr/>
          </p:nvSpPr>
          <p:spPr bwMode="auto">
            <a:xfrm>
              <a:off x="2784" y="2494"/>
              <a:ext cx="594"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47164" name="Oval 24"/>
            <p:cNvSpPr>
              <a:spLocks noChangeArrowheads="1"/>
            </p:cNvSpPr>
            <p:nvPr/>
          </p:nvSpPr>
          <p:spPr bwMode="auto">
            <a:xfrm>
              <a:off x="4534" y="1863"/>
              <a:ext cx="55" cy="55"/>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5" name="Oval 25"/>
            <p:cNvSpPr>
              <a:spLocks noChangeArrowheads="1"/>
            </p:cNvSpPr>
            <p:nvPr/>
          </p:nvSpPr>
          <p:spPr bwMode="auto">
            <a:xfrm>
              <a:off x="4534" y="2967"/>
              <a:ext cx="55" cy="55"/>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6" name="Line 26"/>
            <p:cNvSpPr>
              <a:spLocks noChangeShapeType="1"/>
            </p:cNvSpPr>
            <p:nvPr/>
          </p:nvSpPr>
          <p:spPr bwMode="auto">
            <a:xfrm>
              <a:off x="3300" y="2986"/>
              <a:ext cx="208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7" name="Line 27"/>
            <p:cNvSpPr>
              <a:spLocks noChangeShapeType="1"/>
            </p:cNvSpPr>
            <p:nvPr/>
          </p:nvSpPr>
          <p:spPr bwMode="auto">
            <a:xfrm>
              <a:off x="3300" y="1879"/>
              <a:ext cx="2087"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8" name="Oval 28"/>
            <p:cNvSpPr>
              <a:spLocks noChangeArrowheads="1"/>
            </p:cNvSpPr>
            <p:nvPr/>
          </p:nvSpPr>
          <p:spPr bwMode="auto">
            <a:xfrm>
              <a:off x="3920" y="1863"/>
              <a:ext cx="55" cy="55"/>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69" name="Oval 29"/>
            <p:cNvSpPr>
              <a:spLocks noChangeArrowheads="1"/>
            </p:cNvSpPr>
            <p:nvPr/>
          </p:nvSpPr>
          <p:spPr bwMode="auto">
            <a:xfrm>
              <a:off x="3915" y="2967"/>
              <a:ext cx="55" cy="55"/>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42" name="Text Box 30"/>
            <p:cNvSpPr txBox="1">
              <a:spLocks noChangeArrowheads="1"/>
            </p:cNvSpPr>
            <p:nvPr/>
          </p:nvSpPr>
          <p:spPr bwMode="auto">
            <a:xfrm>
              <a:off x="3501" y="2497"/>
              <a:ext cx="594"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43" name="Text Box 31"/>
            <p:cNvSpPr txBox="1">
              <a:spLocks noChangeArrowheads="1"/>
            </p:cNvSpPr>
            <p:nvPr/>
          </p:nvSpPr>
          <p:spPr bwMode="auto">
            <a:xfrm>
              <a:off x="3936" y="2344"/>
              <a:ext cx="594"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44" name="Text Box 32"/>
            <p:cNvSpPr txBox="1">
              <a:spLocks noChangeArrowheads="1"/>
            </p:cNvSpPr>
            <p:nvPr/>
          </p:nvSpPr>
          <p:spPr bwMode="auto">
            <a:xfrm>
              <a:off x="4845" y="2302"/>
              <a:ext cx="594"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73" name="Line 33"/>
            <p:cNvSpPr>
              <a:spLocks noChangeShapeType="1"/>
            </p:cNvSpPr>
            <p:nvPr/>
          </p:nvSpPr>
          <p:spPr bwMode="auto">
            <a:xfrm>
              <a:off x="4848" y="1728"/>
              <a:ext cx="0" cy="1536"/>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7111" name="Text Box 34"/>
          <p:cNvSpPr txBox="1">
            <a:spLocks noChangeArrowheads="1"/>
          </p:cNvSpPr>
          <p:nvPr/>
        </p:nvSpPr>
        <p:spPr bwMode="auto">
          <a:xfrm>
            <a:off x="609600" y="5943600"/>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47" name="Text Box 35"/>
          <p:cNvSpPr txBox="1">
            <a:spLocks noChangeArrowheads="1"/>
          </p:cNvSpPr>
          <p:nvPr/>
        </p:nvSpPr>
        <p:spPr bwMode="auto">
          <a:xfrm>
            <a:off x="106363" y="5589588"/>
            <a:ext cx="9290050" cy="867930"/>
          </a:xfrm>
          <a:prstGeom prst="rect">
            <a:avLst/>
          </a:prstGeom>
          <a:noFill/>
          <a:ln w="9525">
            <a:noFill/>
            <a:miter lim="800000"/>
            <a:headEnd/>
            <a:tailEnd/>
          </a:ln>
          <a:effectLst/>
        </p:spPr>
        <p:txBody>
          <a:bodyPr>
            <a:spAutoFit/>
          </a:bodyPr>
          <a:lstStyle/>
          <a:p>
            <a:pPr eaLnBrk="1" hangingPunct="1">
              <a:spcBef>
                <a:spcPct val="10000"/>
              </a:spcBef>
              <a:defRPr/>
            </a:pP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图</a:t>
            </a: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中虚线左侧为线性无源二端网络，右侧为线性有源二端网络。</a:t>
            </a:r>
          </a:p>
          <a:p>
            <a:pPr eaLnBrk="1" hangingPunct="1">
              <a:spcBef>
                <a:spcPct val="10000"/>
              </a:spcBef>
              <a:defRPr/>
            </a:pP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图</a:t>
            </a: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中虚线左侧为线性有源二端网络，右侧为线性无源二端网络。</a:t>
            </a:r>
          </a:p>
        </p:txBody>
      </p:sp>
      <p:grpSp>
        <p:nvGrpSpPr>
          <p:cNvPr id="3" name="Group 36"/>
          <p:cNvGrpSpPr>
            <a:grpSpLocks/>
          </p:cNvGrpSpPr>
          <p:nvPr/>
        </p:nvGrpSpPr>
        <p:grpSpPr bwMode="auto">
          <a:xfrm>
            <a:off x="-180975" y="2900363"/>
            <a:ext cx="4267200" cy="2516187"/>
            <a:chOff x="0" y="1776"/>
            <a:chExt cx="2688" cy="1585"/>
          </a:xfrm>
        </p:grpSpPr>
        <p:sp>
          <p:nvSpPr>
            <p:cNvPr id="653349" name="Text Box 37"/>
            <p:cNvSpPr txBox="1">
              <a:spLocks noChangeArrowheads="1"/>
            </p:cNvSpPr>
            <p:nvPr/>
          </p:nvSpPr>
          <p:spPr bwMode="auto">
            <a:xfrm>
              <a:off x="839" y="3070"/>
              <a:ext cx="95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7115" name="Line 38"/>
            <p:cNvSpPr>
              <a:spLocks noChangeShapeType="1"/>
            </p:cNvSpPr>
            <p:nvPr/>
          </p:nvSpPr>
          <p:spPr bwMode="auto">
            <a:xfrm flipH="1">
              <a:off x="1728" y="1776"/>
              <a:ext cx="0" cy="148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16" name="Oval 39"/>
            <p:cNvSpPr>
              <a:spLocks noChangeArrowheads="1"/>
            </p:cNvSpPr>
            <p:nvPr/>
          </p:nvSpPr>
          <p:spPr bwMode="auto">
            <a:xfrm flipV="1">
              <a:off x="1728" y="2338"/>
              <a:ext cx="267" cy="238"/>
            </a:xfrm>
            <a:prstGeom prst="ellipse">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17" name="Line 40"/>
            <p:cNvSpPr>
              <a:spLocks noChangeShapeType="1"/>
            </p:cNvSpPr>
            <p:nvPr/>
          </p:nvSpPr>
          <p:spPr bwMode="auto">
            <a:xfrm flipV="1">
              <a:off x="1728" y="2456"/>
              <a:ext cx="267" cy="3"/>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18" name="Line 41"/>
            <p:cNvSpPr>
              <a:spLocks noChangeShapeType="1"/>
            </p:cNvSpPr>
            <p:nvPr/>
          </p:nvSpPr>
          <p:spPr bwMode="auto">
            <a:xfrm>
              <a:off x="2544" y="2757"/>
              <a:ext cx="6" cy="2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19" name="Line 42"/>
            <p:cNvSpPr>
              <a:spLocks noChangeShapeType="1"/>
            </p:cNvSpPr>
            <p:nvPr/>
          </p:nvSpPr>
          <p:spPr bwMode="auto">
            <a:xfrm flipH="1" flipV="1">
              <a:off x="2544" y="1879"/>
              <a:ext cx="0" cy="73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0" name="Line 43"/>
            <p:cNvSpPr>
              <a:spLocks noChangeShapeType="1"/>
            </p:cNvSpPr>
            <p:nvPr/>
          </p:nvSpPr>
          <p:spPr bwMode="auto">
            <a:xfrm flipV="1">
              <a:off x="2022" y="2290"/>
              <a:ext cx="0" cy="36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1" name="Line 44"/>
            <p:cNvSpPr>
              <a:spLocks noChangeShapeType="1"/>
            </p:cNvSpPr>
            <p:nvPr/>
          </p:nvSpPr>
          <p:spPr bwMode="auto">
            <a:xfrm>
              <a:off x="1872" y="2576"/>
              <a:ext cx="0" cy="44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57" name="Rectangle 45"/>
            <p:cNvSpPr>
              <a:spLocks noChangeArrowheads="1"/>
            </p:cNvSpPr>
            <p:nvPr/>
          </p:nvSpPr>
          <p:spPr bwMode="auto">
            <a:xfrm>
              <a:off x="1002" y="2300"/>
              <a:ext cx="133" cy="237"/>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3" name="Line 46"/>
            <p:cNvSpPr>
              <a:spLocks noChangeShapeType="1"/>
            </p:cNvSpPr>
            <p:nvPr/>
          </p:nvSpPr>
          <p:spPr bwMode="auto">
            <a:xfrm>
              <a:off x="1066" y="2519"/>
              <a:ext cx="0" cy="5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4" name="Line 47"/>
            <p:cNvSpPr>
              <a:spLocks noChangeShapeType="1"/>
            </p:cNvSpPr>
            <p:nvPr/>
          </p:nvSpPr>
          <p:spPr bwMode="auto">
            <a:xfrm flipV="1">
              <a:off x="1066" y="1924"/>
              <a:ext cx="0" cy="36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5" name="Line 48"/>
            <p:cNvSpPr>
              <a:spLocks noChangeShapeType="1"/>
            </p:cNvSpPr>
            <p:nvPr/>
          </p:nvSpPr>
          <p:spPr bwMode="auto">
            <a:xfrm flipV="1">
              <a:off x="1872" y="1904"/>
              <a:ext cx="0" cy="43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6" name="Oval 49"/>
            <p:cNvSpPr>
              <a:spLocks noChangeArrowheads="1"/>
            </p:cNvSpPr>
            <p:nvPr/>
          </p:nvSpPr>
          <p:spPr bwMode="auto">
            <a:xfrm>
              <a:off x="2422" y="2038"/>
              <a:ext cx="266" cy="239"/>
            </a:xfrm>
            <a:prstGeom prst="ellipse">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62" name="Rectangle 50"/>
            <p:cNvSpPr>
              <a:spLocks noChangeArrowheads="1"/>
            </p:cNvSpPr>
            <p:nvPr/>
          </p:nvSpPr>
          <p:spPr bwMode="auto">
            <a:xfrm>
              <a:off x="473" y="2270"/>
              <a:ext cx="133" cy="283"/>
            </a:xfrm>
            <a:prstGeom prst="rect">
              <a:avLst/>
            </a:prstGeom>
            <a:no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8" name="Line 51"/>
            <p:cNvSpPr>
              <a:spLocks noChangeShapeType="1"/>
            </p:cNvSpPr>
            <p:nvPr/>
          </p:nvSpPr>
          <p:spPr bwMode="auto">
            <a:xfrm>
              <a:off x="528" y="2565"/>
              <a:ext cx="0" cy="4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29" name="Line 52"/>
            <p:cNvSpPr>
              <a:spLocks noChangeShapeType="1"/>
            </p:cNvSpPr>
            <p:nvPr/>
          </p:nvSpPr>
          <p:spPr bwMode="auto">
            <a:xfrm flipH="1" flipV="1">
              <a:off x="528" y="1893"/>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65" name="Text Box 53"/>
            <p:cNvSpPr txBox="1">
              <a:spLocks noChangeArrowheads="1"/>
            </p:cNvSpPr>
            <p:nvPr/>
          </p:nvSpPr>
          <p:spPr bwMode="auto">
            <a:xfrm>
              <a:off x="2016" y="2007"/>
              <a:ext cx="458"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53366" name="Text Box 54"/>
            <p:cNvSpPr txBox="1">
              <a:spLocks noChangeArrowheads="1"/>
            </p:cNvSpPr>
            <p:nvPr/>
          </p:nvSpPr>
          <p:spPr bwMode="auto">
            <a:xfrm>
              <a:off x="2256" y="1797"/>
              <a:ext cx="267" cy="731"/>
            </a:xfrm>
            <a:prstGeom prst="rect">
              <a:avLst/>
            </a:prstGeom>
            <a:noFill/>
            <a:ln w="9525">
              <a:noFill/>
              <a:miter lim="800000"/>
              <a:headEnd/>
              <a:tailEnd/>
            </a:ln>
            <a:effectLst/>
          </p:spPr>
          <p:txBody>
            <a:bodyPr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spcBef>
                  <a:spcPct val="50000"/>
                </a:spcBef>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53367" name="Text Box 55"/>
            <p:cNvSpPr txBox="1">
              <a:spLocks noChangeArrowheads="1"/>
            </p:cNvSpPr>
            <p:nvPr/>
          </p:nvSpPr>
          <p:spPr bwMode="auto">
            <a:xfrm>
              <a:off x="0" y="2247"/>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47133" name="Oval 56"/>
            <p:cNvSpPr>
              <a:spLocks noChangeArrowheads="1"/>
            </p:cNvSpPr>
            <p:nvPr/>
          </p:nvSpPr>
          <p:spPr bwMode="auto">
            <a:xfrm>
              <a:off x="1852" y="1873"/>
              <a:ext cx="54" cy="51"/>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34" name="Oval 57"/>
            <p:cNvSpPr>
              <a:spLocks noChangeArrowheads="1"/>
            </p:cNvSpPr>
            <p:nvPr/>
          </p:nvSpPr>
          <p:spPr bwMode="auto">
            <a:xfrm>
              <a:off x="1852" y="2977"/>
              <a:ext cx="54" cy="51"/>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35" name="Line 58"/>
            <p:cNvSpPr>
              <a:spLocks noChangeShapeType="1"/>
            </p:cNvSpPr>
            <p:nvPr/>
          </p:nvSpPr>
          <p:spPr bwMode="auto">
            <a:xfrm>
              <a:off x="516" y="2996"/>
              <a:ext cx="203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36" name="Line 59"/>
            <p:cNvSpPr>
              <a:spLocks noChangeShapeType="1"/>
            </p:cNvSpPr>
            <p:nvPr/>
          </p:nvSpPr>
          <p:spPr bwMode="auto">
            <a:xfrm flipV="1">
              <a:off x="528" y="1889"/>
              <a:ext cx="2021" cy="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37" name="Oval 60"/>
            <p:cNvSpPr>
              <a:spLocks noChangeArrowheads="1"/>
            </p:cNvSpPr>
            <p:nvPr/>
          </p:nvSpPr>
          <p:spPr bwMode="auto">
            <a:xfrm>
              <a:off x="1034" y="1873"/>
              <a:ext cx="54" cy="51"/>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38" name="Oval 61"/>
            <p:cNvSpPr>
              <a:spLocks noChangeArrowheads="1"/>
            </p:cNvSpPr>
            <p:nvPr/>
          </p:nvSpPr>
          <p:spPr bwMode="auto">
            <a:xfrm>
              <a:off x="1029" y="2977"/>
              <a:ext cx="54" cy="51"/>
            </a:xfrm>
            <a:prstGeom prst="ellipse">
              <a:avLst/>
            </a:prstGeom>
            <a:solidFill>
              <a:schemeClr val="tx1"/>
            </a:solidFill>
            <a:ln w="38100">
              <a:solidFill>
                <a:schemeClr val="tx1"/>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4" name="Text Box 62"/>
            <p:cNvSpPr txBox="1">
              <a:spLocks noChangeArrowheads="1"/>
            </p:cNvSpPr>
            <p:nvPr/>
          </p:nvSpPr>
          <p:spPr bwMode="auto">
            <a:xfrm>
              <a:off x="576" y="2264"/>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5" name="Text Box 63"/>
            <p:cNvSpPr txBox="1">
              <a:spLocks noChangeArrowheads="1"/>
            </p:cNvSpPr>
            <p:nvPr/>
          </p:nvSpPr>
          <p:spPr bwMode="auto">
            <a:xfrm>
              <a:off x="1872" y="2343"/>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6" name="Text Box 64"/>
            <p:cNvSpPr txBox="1">
              <a:spLocks noChangeArrowheads="1"/>
            </p:cNvSpPr>
            <p:nvPr/>
          </p:nvSpPr>
          <p:spPr bwMode="auto">
            <a:xfrm>
              <a:off x="2064" y="2631"/>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7" name="Rectangle 65"/>
            <p:cNvSpPr>
              <a:spLocks noChangeArrowheads="1"/>
            </p:cNvSpPr>
            <p:nvPr/>
          </p:nvSpPr>
          <p:spPr bwMode="auto">
            <a:xfrm rot="5400000">
              <a:off x="1323" y="1748"/>
              <a:ext cx="133" cy="283"/>
            </a:xfrm>
            <a:prstGeom prst="rect">
              <a:avLst/>
            </a:prstGeom>
            <a:solidFill>
              <a:schemeClr val="bg1"/>
            </a:solidFill>
            <a:ln w="38100">
              <a:solidFill>
                <a:schemeClr val="tx1"/>
              </a:solidFill>
              <a:miter lim="800000"/>
              <a:headEnd/>
              <a:tailEnd/>
            </a:ln>
            <a:effectLst/>
          </p:spPr>
          <p:txBody>
            <a:bodyPr rot="10800000" vert="eaVert"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8" name="Text Box 66"/>
            <p:cNvSpPr txBox="1">
              <a:spLocks noChangeArrowheads="1"/>
            </p:cNvSpPr>
            <p:nvPr/>
          </p:nvSpPr>
          <p:spPr bwMode="auto">
            <a:xfrm>
              <a:off x="1152" y="1959"/>
              <a:ext cx="579" cy="291"/>
            </a:xfrm>
            <a:prstGeom prst="rect">
              <a:avLst/>
            </a:prstGeom>
            <a:noFill/>
            <a:ln w="9525">
              <a:noFill/>
              <a:miter lim="800000"/>
              <a:headEnd/>
              <a:tailEnd/>
            </a:ln>
            <a:effectLst/>
          </p:spPr>
          <p:txBody>
            <a:bodyPr anchor="ctr">
              <a:spAutoFit/>
            </a:bodyPr>
            <a:lstStyle/>
            <a:p>
              <a:pPr algn="ctr" eaLnBrk="1" hangingPunct="1">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3379" name="Rectangle 67"/>
            <p:cNvSpPr>
              <a:spLocks noChangeArrowheads="1"/>
            </p:cNvSpPr>
            <p:nvPr/>
          </p:nvSpPr>
          <p:spPr bwMode="auto">
            <a:xfrm>
              <a:off x="2496" y="2615"/>
              <a:ext cx="133" cy="238"/>
            </a:xfrm>
            <a:prstGeom prst="rect">
              <a:avLst/>
            </a:prstGeom>
            <a:solidFill>
              <a:schemeClr val="bg1"/>
            </a:solidFill>
            <a:ln w="38100">
              <a:solidFill>
                <a:schemeClr val="tx1"/>
              </a:solidFill>
              <a:miter lim="800000"/>
              <a:headEnd/>
              <a:tailEnd/>
            </a:ln>
            <a:effectLst/>
          </p:spPr>
          <p:txBody>
            <a:bodyPr wrap="none" anchor="ctr"/>
            <a:lstStyle/>
            <a:p>
              <a:pPr algn="ctr" eaLnBrk="1" hangingPunct="1">
                <a:defRPr/>
              </a:pPr>
              <a:endParaRPr kumimoji="1" lang="en-US">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70" name="Rectangle 4"/>
          <p:cNvSpPr>
            <a:spLocks noChangeArrowheads="1"/>
          </p:cNvSpPr>
          <p:nvPr/>
        </p:nvSpPr>
        <p:spPr bwMode="auto">
          <a:xfrm>
            <a:off x="327025" y="89126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65761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3315">
                                            <p:txEl>
                                              <p:pRg st="0" end="0"/>
                                            </p:txEl>
                                          </p:spTgt>
                                        </p:tgtEl>
                                        <p:attrNameLst>
                                          <p:attrName>style.visibility</p:attrName>
                                        </p:attrNameLst>
                                      </p:cBhvr>
                                      <p:to>
                                        <p:strVal val="visible"/>
                                      </p:to>
                                    </p:set>
                                    <p:animEffect transition="in" filter="wipe(left)">
                                      <p:cBhvr>
                                        <p:cTn id="7" dur="500"/>
                                        <p:tgtEl>
                                          <p:spTgt spid="653315">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53315">
                                            <p:txEl>
                                              <p:pRg st="1" end="1"/>
                                            </p:txEl>
                                          </p:spTgt>
                                        </p:tgtEl>
                                        <p:attrNameLst>
                                          <p:attrName>style.visibility</p:attrName>
                                        </p:attrNameLst>
                                      </p:cBhvr>
                                      <p:to>
                                        <p:strVal val="visible"/>
                                      </p:to>
                                    </p:set>
                                    <p:animEffect transition="in" filter="wipe(left)">
                                      <p:cBhvr>
                                        <p:cTn id="11" dur="500"/>
                                        <p:tgtEl>
                                          <p:spTgt spid="653315">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53315">
                                            <p:txEl>
                                              <p:pRg st="2" end="2"/>
                                            </p:txEl>
                                          </p:spTgt>
                                        </p:tgtEl>
                                        <p:attrNameLst>
                                          <p:attrName>style.visibility</p:attrName>
                                        </p:attrNameLst>
                                      </p:cBhvr>
                                      <p:to>
                                        <p:strVal val="visible"/>
                                      </p:to>
                                    </p:set>
                                    <p:animEffect transition="in" filter="wipe(left)">
                                      <p:cBhvr>
                                        <p:cTn id="15" dur="500"/>
                                        <p:tgtEl>
                                          <p:spTgt spid="6533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ppt_w/2"/>
                                          </p:val>
                                        </p:tav>
                                        <p:tav tm="100000">
                                          <p:val>
                                            <p:strVal val="#ppt_x"/>
                                          </p:val>
                                        </p:tav>
                                      </p:tavLst>
                                    </p:anim>
                                    <p:anim calcmode="lin" valueType="num">
                                      <p:cBhvr>
                                        <p:cTn id="21" dur="500" fill="hold"/>
                                        <p:tgtEl>
                                          <p:spTgt spid="3"/>
                                        </p:tgtEl>
                                        <p:attrNameLst>
                                          <p:attrName>ppt_y</p:attrName>
                                        </p:attrNameLst>
                                      </p:cBhvr>
                                      <p:tavLst>
                                        <p:tav tm="0">
                                          <p:val>
                                            <p:strVal val="#ppt_y"/>
                                          </p:val>
                                        </p:tav>
                                        <p:tav tm="100000">
                                          <p:val>
                                            <p:strVal val="#ppt_y"/>
                                          </p:val>
                                        </p:tav>
                                      </p:tavLst>
                                    </p:anim>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53347">
                                            <p:txEl>
                                              <p:pRg st="0" end="0"/>
                                            </p:txEl>
                                          </p:spTgt>
                                        </p:tgtEl>
                                        <p:attrNameLst>
                                          <p:attrName>style.visibility</p:attrName>
                                        </p:attrNameLst>
                                      </p:cBhvr>
                                      <p:to>
                                        <p:strVal val="visible"/>
                                      </p:to>
                                    </p:set>
                                    <p:animEffect transition="in" filter="wipe(left)">
                                      <p:cBhvr>
                                        <p:cTn id="28" dur="500"/>
                                        <p:tgtEl>
                                          <p:spTgt spid="653347">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500" fill="hold"/>
                                        <p:tgtEl>
                                          <p:spTgt spid="2"/>
                                        </p:tgtEl>
                                        <p:attrNameLst>
                                          <p:attrName>ppt_x</p:attrName>
                                        </p:attrNameLst>
                                      </p:cBhvr>
                                      <p:tavLst>
                                        <p:tav tm="0">
                                          <p:val>
                                            <p:strVal val="#ppt_x-#ppt_w/2"/>
                                          </p:val>
                                        </p:tav>
                                        <p:tav tm="100000">
                                          <p:val>
                                            <p:strVal val="#ppt_x"/>
                                          </p:val>
                                        </p:tav>
                                      </p:tavLst>
                                    </p:anim>
                                    <p:anim calcmode="lin" valueType="num">
                                      <p:cBhvr>
                                        <p:cTn id="34" dur="500" fill="hold"/>
                                        <p:tgtEl>
                                          <p:spTgt spid="2"/>
                                        </p:tgtEl>
                                        <p:attrNameLst>
                                          <p:attrName>ppt_y</p:attrName>
                                        </p:attrNameLst>
                                      </p:cBhvr>
                                      <p:tavLst>
                                        <p:tav tm="0">
                                          <p:val>
                                            <p:strVal val="#ppt_y"/>
                                          </p:val>
                                        </p:tav>
                                        <p:tav tm="100000">
                                          <p:val>
                                            <p:strVal val="#ppt_y"/>
                                          </p:val>
                                        </p:tav>
                                      </p:tavLst>
                                    </p:anim>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53347">
                                            <p:txEl>
                                              <p:pRg st="1" end="1"/>
                                            </p:txEl>
                                          </p:spTgt>
                                        </p:tgtEl>
                                        <p:attrNameLst>
                                          <p:attrName>style.visibility</p:attrName>
                                        </p:attrNameLst>
                                      </p:cBhvr>
                                      <p:to>
                                        <p:strVal val="visible"/>
                                      </p:to>
                                    </p:set>
                                    <p:animEffect transition="in" filter="wipe(left)">
                                      <p:cBhvr>
                                        <p:cTn id="41" dur="500"/>
                                        <p:tgtEl>
                                          <p:spTgt spid="6533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5" grpId="0" build="p" autoUpdateAnimBg="0"/>
      <p:bldP spid="65334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C02DE084-485A-4093-AE8F-23225633D4C5}"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43</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4338" name="Rectangle 2"/>
          <p:cNvSpPr>
            <a:spLocks noGrp="1" noChangeArrowheads="1"/>
          </p:cNvSpPr>
          <p:nvPr>
            <p:ph type="title"/>
          </p:nvPr>
        </p:nvSpPr>
        <p:spPr bwMode="auto">
          <a:xfrm>
            <a:off x="395288" y="620713"/>
            <a:ext cx="8229600" cy="647700"/>
          </a:xfrm>
          <a:solidFill>
            <a:srgbClr val="FFFFFF">
              <a:alpha val="63136"/>
            </a:srgbClr>
          </a:solidFill>
          <a:ln>
            <a:solidFill>
              <a:schemeClr val="bg1"/>
            </a:solidFill>
            <a:miter lim="800000"/>
            <a:headEnd/>
            <a:tailEnd/>
          </a:ln>
        </p:spPr>
        <p:txBody>
          <a:bodyPr vert="horz" wrap="square" lIns="91440" tIns="45720" rIns="91440" bIns="45720" numCol="1" anchor="t" anchorCtr="0" compatLnSpc="1">
            <a:prstTxWarp prst="textNoShape">
              <a:avLst/>
            </a:prstTxWarp>
          </a:bodyPr>
          <a:lstStyle/>
          <a:p>
            <a:pPr algn="l" eaLnBrk="1" hangingPunct="1"/>
            <a:r>
              <a:rPr lang="zh-CN" altLang="en-US" sz="3200" b="1"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等效电源定理：</a:t>
            </a:r>
          </a:p>
        </p:txBody>
      </p:sp>
      <p:sp>
        <p:nvSpPr>
          <p:cNvPr id="654339" name="Rectangle 3"/>
          <p:cNvSpPr>
            <a:spLocks noGrp="1" noChangeArrowheads="1"/>
          </p:cNvSpPr>
          <p:nvPr>
            <p:ph type="body" idx="1"/>
          </p:nvPr>
        </p:nvSpPr>
        <p:spPr bwMode="auto">
          <a:xfrm>
            <a:off x="271463" y="1341438"/>
            <a:ext cx="8229600" cy="1728787"/>
          </a:xfrm>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pPr>
            <a:endParaRPr lang="en-US" altLang="zh-CN" sz="2800" dirty="0" smtClean="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lnSpc>
                <a:spcPct val="125000"/>
              </a:lnSpc>
              <a:spcBef>
                <a:spcPct val="0"/>
              </a:spcBef>
              <a:buFont typeface="Wingdings" panose="05000000000000000000" pitchFamily="2" charset="2"/>
              <a:buNone/>
            </a:pPr>
            <a:r>
              <a:rPr lang="en-US" altLang="zh-CN" sz="2800"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任何一个</a:t>
            </a:r>
            <a:r>
              <a:rPr lang="zh-CN" altLang="en-US" sz="2800"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线性有源二端网络</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，对于其外部电路来说，总可以用一个</a:t>
            </a:r>
            <a:r>
              <a:rPr lang="zh-CN" altLang="en-US" sz="2800"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等效电源模型</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来代替。</a:t>
            </a:r>
          </a:p>
        </p:txBody>
      </p:sp>
      <p:sp>
        <p:nvSpPr>
          <p:cNvPr id="654340" name="AutoShape 4"/>
          <p:cNvSpPr>
            <a:spLocks/>
          </p:cNvSpPr>
          <p:nvPr/>
        </p:nvSpPr>
        <p:spPr bwMode="auto">
          <a:xfrm>
            <a:off x="2124075" y="3500438"/>
            <a:ext cx="360363" cy="1368425"/>
          </a:xfrm>
          <a:prstGeom prst="leftBrace">
            <a:avLst>
              <a:gd name="adj1" fmla="val 31645"/>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4341" name="Text Box 5"/>
          <p:cNvSpPr txBox="1">
            <a:spLocks noChangeArrowheads="1"/>
          </p:cNvSpPr>
          <p:nvPr/>
        </p:nvSpPr>
        <p:spPr bwMode="auto">
          <a:xfrm>
            <a:off x="250825" y="3917950"/>
            <a:ext cx="194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电源模型</a:t>
            </a:r>
          </a:p>
        </p:txBody>
      </p:sp>
      <p:sp>
        <p:nvSpPr>
          <p:cNvPr id="654342" name="Text Box 6"/>
          <p:cNvSpPr txBox="1">
            <a:spLocks noChangeArrowheads="1"/>
          </p:cNvSpPr>
          <p:nvPr/>
        </p:nvSpPr>
        <p:spPr bwMode="auto">
          <a:xfrm>
            <a:off x="2339975" y="3284538"/>
            <a:ext cx="2603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Times New Roman" panose="02020603050405020304" pitchFamily="18" charset="0"/>
                <a:ea typeface="华文中宋" panose="02010600040101010101" pitchFamily="2" charset="-122"/>
                <a:cs typeface="Times New Roman" panose="02020603050405020304" pitchFamily="18" charset="0"/>
              </a:rPr>
              <a:t>电压源模型</a:t>
            </a:r>
          </a:p>
        </p:txBody>
      </p:sp>
      <p:sp>
        <p:nvSpPr>
          <p:cNvPr id="654343" name="Text Box 7"/>
          <p:cNvSpPr txBox="1">
            <a:spLocks noChangeArrowheads="1"/>
          </p:cNvSpPr>
          <p:nvPr/>
        </p:nvSpPr>
        <p:spPr bwMode="auto">
          <a:xfrm>
            <a:off x="2486025" y="4508500"/>
            <a:ext cx="2301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Times New Roman" panose="02020603050405020304" pitchFamily="18" charset="0"/>
                <a:ea typeface="华文中宋" panose="02010600040101010101" pitchFamily="2" charset="-122"/>
                <a:cs typeface="Times New Roman" panose="02020603050405020304" pitchFamily="18" charset="0"/>
              </a:rPr>
              <a:t>电流源模型</a:t>
            </a:r>
          </a:p>
        </p:txBody>
      </p:sp>
      <p:sp>
        <p:nvSpPr>
          <p:cNvPr id="654344" name="Text Box 8"/>
          <p:cNvSpPr txBox="1">
            <a:spLocks noChangeArrowheads="1"/>
          </p:cNvSpPr>
          <p:nvPr/>
        </p:nvSpPr>
        <p:spPr bwMode="auto">
          <a:xfrm>
            <a:off x="6156325" y="3213100"/>
            <a:ext cx="2603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戴维南定理</a:t>
            </a:r>
          </a:p>
        </p:txBody>
      </p:sp>
      <p:sp>
        <p:nvSpPr>
          <p:cNvPr id="654345" name="Text Box 9"/>
          <p:cNvSpPr txBox="1">
            <a:spLocks noChangeArrowheads="1"/>
          </p:cNvSpPr>
          <p:nvPr/>
        </p:nvSpPr>
        <p:spPr bwMode="auto">
          <a:xfrm>
            <a:off x="6156325" y="4437063"/>
            <a:ext cx="26035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诺顿定理</a:t>
            </a:r>
          </a:p>
        </p:txBody>
      </p:sp>
      <p:sp>
        <p:nvSpPr>
          <p:cNvPr id="654346" name="AutoShape 10"/>
          <p:cNvSpPr>
            <a:spLocks noChangeArrowheads="1"/>
          </p:cNvSpPr>
          <p:nvPr/>
        </p:nvSpPr>
        <p:spPr bwMode="auto">
          <a:xfrm>
            <a:off x="5076825" y="3429000"/>
            <a:ext cx="1008063" cy="288925"/>
          </a:xfrm>
          <a:prstGeom prst="notchedRightArrow">
            <a:avLst>
              <a:gd name="adj1" fmla="val 50000"/>
              <a:gd name="adj2" fmla="val 87225"/>
            </a:avLst>
          </a:prstGeom>
          <a:gradFill rotWithShape="0">
            <a:gsLst>
              <a:gs pos="0">
                <a:srgbClr val="FFFF00"/>
              </a:gs>
              <a:gs pos="100000">
                <a:srgbClr val="FF3300"/>
              </a:gs>
            </a:gsLst>
            <a:lin ang="0" scaled="1"/>
          </a:gradFill>
          <a:ln w="38100">
            <a:solidFill>
              <a:srgbClr val="FF3300"/>
            </a:solidFill>
            <a:miter lim="800000"/>
            <a:headEnd/>
            <a:tailEnd/>
          </a:ln>
          <a:effectLst/>
        </p:spPr>
        <p:txBody>
          <a:bodyPr wrap="none" anchor="ctr"/>
          <a:lstStyle/>
          <a:p>
            <a:pPr algn="ctr" eaLnBrk="1" hangingPunct="1">
              <a:defRPr/>
            </a:pPr>
            <a:endParaRPr kumimoji="1" lang="en-US" sz="2400">
              <a:solidFill>
                <a:srgbClr val="FFCC00"/>
              </a:solidFill>
              <a:effectLst>
                <a:outerShdw blurRad="38100" dist="38100" dir="2700000" algn="tl">
                  <a:srgbClr val="00000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4347" name="AutoShape 11"/>
          <p:cNvSpPr>
            <a:spLocks noChangeArrowheads="1"/>
          </p:cNvSpPr>
          <p:nvPr/>
        </p:nvSpPr>
        <p:spPr bwMode="auto">
          <a:xfrm>
            <a:off x="5076825" y="4624388"/>
            <a:ext cx="1008063" cy="288925"/>
          </a:xfrm>
          <a:prstGeom prst="notchedRightArrow">
            <a:avLst>
              <a:gd name="adj1" fmla="val 50000"/>
              <a:gd name="adj2" fmla="val 87225"/>
            </a:avLst>
          </a:prstGeom>
          <a:gradFill rotWithShape="0">
            <a:gsLst>
              <a:gs pos="0">
                <a:srgbClr val="FFFF00"/>
              </a:gs>
              <a:gs pos="100000">
                <a:srgbClr val="FF3300"/>
              </a:gs>
            </a:gsLst>
            <a:lin ang="0" scaled="1"/>
          </a:gradFill>
          <a:ln w="38100">
            <a:solidFill>
              <a:srgbClr val="FF3300"/>
            </a:solidFill>
            <a:miter lim="800000"/>
            <a:headEnd/>
            <a:tailEnd/>
          </a:ln>
          <a:effectLst/>
        </p:spPr>
        <p:txBody>
          <a:bodyPr wrap="none" anchor="ctr"/>
          <a:lstStyle/>
          <a:p>
            <a:pPr algn="ctr" eaLnBrk="1" hangingPunct="1">
              <a:defRPr/>
            </a:pPr>
            <a:endParaRPr kumimoji="1" lang="en-US" sz="2400">
              <a:solidFill>
                <a:srgbClr val="FFCC00"/>
              </a:solidFill>
              <a:effectLst>
                <a:outerShdw blurRad="38100" dist="38100" dir="2700000" algn="tl">
                  <a:srgbClr val="00000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946148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4338"/>
                                        </p:tgtEl>
                                        <p:attrNameLst>
                                          <p:attrName>style.visibility</p:attrName>
                                        </p:attrNameLst>
                                      </p:cBhvr>
                                      <p:to>
                                        <p:strVal val="visible"/>
                                      </p:to>
                                    </p:set>
                                    <p:animEffect transition="in" filter="wipe(left)">
                                      <p:cBhvr>
                                        <p:cTn id="7" dur="500"/>
                                        <p:tgtEl>
                                          <p:spTgt spid="65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54339">
                                            <p:txEl>
                                              <p:pRg st="1" end="1"/>
                                            </p:txEl>
                                          </p:spTgt>
                                        </p:tgtEl>
                                        <p:attrNameLst>
                                          <p:attrName>style.visibility</p:attrName>
                                        </p:attrNameLst>
                                      </p:cBhvr>
                                      <p:to>
                                        <p:strVal val="visible"/>
                                      </p:to>
                                    </p:set>
                                    <p:animEffect transition="in" filter="blinds(vertical)">
                                      <p:cBhvr>
                                        <p:cTn id="12" dur="500"/>
                                        <p:tgtEl>
                                          <p:spTgt spid="65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4341"/>
                                        </p:tgtEl>
                                        <p:attrNameLst>
                                          <p:attrName>style.visibility</p:attrName>
                                        </p:attrNameLst>
                                      </p:cBhvr>
                                      <p:to>
                                        <p:strVal val="visible"/>
                                      </p:to>
                                    </p:set>
                                    <p:animEffect transition="in" filter="wipe(left)">
                                      <p:cBhvr>
                                        <p:cTn id="17" dur="500"/>
                                        <p:tgtEl>
                                          <p:spTgt spid="654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54340"/>
                                        </p:tgtEl>
                                        <p:attrNameLst>
                                          <p:attrName>style.visibility</p:attrName>
                                        </p:attrNameLst>
                                      </p:cBhvr>
                                      <p:to>
                                        <p:strVal val="visible"/>
                                      </p:to>
                                    </p:set>
                                    <p:animEffect transition="in" filter="wipe(up)">
                                      <p:cBhvr>
                                        <p:cTn id="22" dur="500"/>
                                        <p:tgtEl>
                                          <p:spTgt spid="654340"/>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54342"/>
                                        </p:tgtEl>
                                        <p:attrNameLst>
                                          <p:attrName>style.visibility</p:attrName>
                                        </p:attrNameLst>
                                      </p:cBhvr>
                                      <p:to>
                                        <p:strVal val="visible"/>
                                      </p:to>
                                    </p:set>
                                    <p:animEffect transition="in" filter="wipe(left)">
                                      <p:cBhvr>
                                        <p:cTn id="26" dur="500"/>
                                        <p:tgtEl>
                                          <p:spTgt spid="6543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54346"/>
                                        </p:tgtEl>
                                        <p:attrNameLst>
                                          <p:attrName>style.visibility</p:attrName>
                                        </p:attrNameLst>
                                      </p:cBhvr>
                                      <p:to>
                                        <p:strVal val="visible"/>
                                      </p:to>
                                    </p:set>
                                    <p:animEffect transition="in" filter="wipe(left)">
                                      <p:cBhvr>
                                        <p:cTn id="31" dur="500"/>
                                        <p:tgtEl>
                                          <p:spTgt spid="654346"/>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654344"/>
                                        </p:tgtEl>
                                        <p:attrNameLst>
                                          <p:attrName>style.visibility</p:attrName>
                                        </p:attrNameLst>
                                      </p:cBhvr>
                                      <p:to>
                                        <p:strVal val="visible"/>
                                      </p:to>
                                    </p:set>
                                    <p:animEffect transition="in" filter="wipe(left)">
                                      <p:cBhvr>
                                        <p:cTn id="35" dur="500"/>
                                        <p:tgtEl>
                                          <p:spTgt spid="65434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54343"/>
                                        </p:tgtEl>
                                        <p:attrNameLst>
                                          <p:attrName>style.visibility</p:attrName>
                                        </p:attrNameLst>
                                      </p:cBhvr>
                                      <p:to>
                                        <p:strVal val="visible"/>
                                      </p:to>
                                    </p:set>
                                    <p:animEffect transition="in" filter="wipe(left)">
                                      <p:cBhvr>
                                        <p:cTn id="40" dur="500"/>
                                        <p:tgtEl>
                                          <p:spTgt spid="65434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654347"/>
                                        </p:tgtEl>
                                        <p:attrNameLst>
                                          <p:attrName>style.visibility</p:attrName>
                                        </p:attrNameLst>
                                      </p:cBhvr>
                                      <p:to>
                                        <p:strVal val="visible"/>
                                      </p:to>
                                    </p:set>
                                    <p:animEffect transition="in" filter="wipe(left)">
                                      <p:cBhvr>
                                        <p:cTn id="45" dur="500"/>
                                        <p:tgtEl>
                                          <p:spTgt spid="654347"/>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654345"/>
                                        </p:tgtEl>
                                        <p:attrNameLst>
                                          <p:attrName>style.visibility</p:attrName>
                                        </p:attrNameLst>
                                      </p:cBhvr>
                                      <p:to>
                                        <p:strVal val="visible"/>
                                      </p:to>
                                    </p:set>
                                    <p:animEffect transition="in" filter="wipe(left)">
                                      <p:cBhvr>
                                        <p:cTn id="49" dur="500"/>
                                        <p:tgtEl>
                                          <p:spTgt spid="65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38" grpId="0" animBg="1"/>
      <p:bldP spid="654339" grpId="0" build="p"/>
      <p:bldP spid="654340" grpId="0" animBg="1"/>
      <p:bldP spid="654341" grpId="0"/>
      <p:bldP spid="654342" grpId="0"/>
      <p:bldP spid="654343" grpId="0"/>
      <p:bldP spid="654344" grpId="0"/>
      <p:bldP spid="654345" grpId="0"/>
      <p:bldP spid="654346" grpId="0" animBg="1" autoUpdateAnimBg="0"/>
      <p:bldP spid="654347"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A48548CA-9FBD-4E44-9C88-A1FD6F9ABFC9}"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44</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56" name="Rectangle 2"/>
          <p:cNvSpPr>
            <a:spLocks noRot="1" noChangeArrowheads="1"/>
          </p:cNvSpPr>
          <p:nvPr/>
        </p:nvSpPr>
        <p:spPr bwMode="auto">
          <a:xfrm>
            <a:off x="533400" y="381000"/>
            <a:ext cx="640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20000"/>
              </a:spcBef>
              <a:buClr>
                <a:schemeClr val="hlink"/>
              </a:buClr>
              <a:buSzPct val="70000"/>
              <a:buFont typeface="Wingdings" panose="05000000000000000000" pitchFamily="2" charset="2"/>
              <a:buNone/>
            </a:pPr>
            <a:r>
              <a:rPr lang="en-US" altLang="zh-CN">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2.5.1  </a:t>
            </a:r>
            <a:r>
              <a:rPr lang="zh-CN" altLang="en-US">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戴维南定理</a:t>
            </a:r>
          </a:p>
        </p:txBody>
      </p:sp>
      <p:sp>
        <p:nvSpPr>
          <p:cNvPr id="49157" name="Text Box 3"/>
          <p:cNvSpPr txBox="1">
            <a:spLocks noChangeArrowheads="1"/>
          </p:cNvSpPr>
          <p:nvPr/>
        </p:nvSpPr>
        <p:spPr bwMode="auto">
          <a:xfrm>
            <a:off x="533400" y="15240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64" name="Rectangle 4"/>
          <p:cNvSpPr>
            <a:spLocks noChangeArrowheads="1"/>
          </p:cNvSpPr>
          <p:nvPr/>
        </p:nvSpPr>
        <p:spPr bwMode="auto">
          <a:xfrm>
            <a:off x="533400" y="1144409"/>
            <a:ext cx="8229600" cy="2400657"/>
          </a:xfrm>
          <a:prstGeom prst="rect">
            <a:avLst/>
          </a:prstGeom>
          <a:noFill/>
          <a:ln w="38100">
            <a:noFill/>
            <a:miter lim="800000"/>
            <a:headEnd/>
            <a:tailEnd/>
          </a:ln>
          <a:effectLst/>
        </p:spPr>
        <p:txBody>
          <a:bodyPr anchor="ctr">
            <a:spAutoFit/>
          </a:bodyPr>
          <a:lstStyle/>
          <a:p>
            <a:pPr eaLnBrk="1" hangingPunct="1">
              <a:lnSpc>
                <a:spcPct val="125000"/>
              </a:lnSpc>
              <a:defRPr/>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戴维南定理：</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任何一个线性有源二端网络都可以用一个电压源和电阻的</a:t>
            </a:r>
            <a:r>
              <a:rPr lang="zh-CN" altLang="en-US"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串联来等效代替。</a:t>
            </a:r>
          </a:p>
          <a:p>
            <a:pPr eaLnBrk="1" hangingPunct="1">
              <a:lnSpc>
                <a:spcPct val="125000"/>
              </a:lnSpc>
              <a:defRPr/>
            </a:pPr>
            <a:r>
              <a:rPr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等效电压源的电压等于有源线性网络的</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开路电压</a:t>
            </a:r>
            <a:r>
              <a:rPr lang="en-US" altLang="zh-CN"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0C</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，等效电阻等于该网络中</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内部电源均为零时</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的无源二端网络的</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等效电阻</a:t>
            </a:r>
            <a:r>
              <a:rPr lang="en-US" altLang="zh-CN"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lang="en-US" altLang="zh-CN"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55365" name="Rectangle 5"/>
          <p:cNvSpPr>
            <a:spLocks noChangeArrowheads="1"/>
          </p:cNvSpPr>
          <p:nvPr/>
        </p:nvSpPr>
        <p:spPr bwMode="auto">
          <a:xfrm>
            <a:off x="4953000" y="4052888"/>
            <a:ext cx="1589088" cy="1981200"/>
          </a:xfrm>
          <a:prstGeom prst="rect">
            <a:avLst/>
          </a:prstGeom>
          <a:noFill/>
          <a:ln w="38100">
            <a:solidFill>
              <a:srgbClr val="CC3300"/>
            </a:solidFill>
            <a:prstDash val="dash"/>
            <a:miter lim="800000"/>
            <a:headEnd/>
            <a:tailEnd/>
          </a:ln>
          <a:effectLst/>
        </p:spPr>
        <p:txBody>
          <a:bodyPr wrap="none" anchor="ctr"/>
          <a:lstStyle/>
          <a:p>
            <a:pPr algn="ctr">
              <a:lnSpc>
                <a:spcPct val="140000"/>
              </a:lnSpc>
              <a:defRPr/>
            </a:pP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a:lnSpc>
                <a:spcPct val="120000"/>
              </a:lnSpc>
              <a:defRPr/>
            </a:pP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66" name="AutoShape 6"/>
          <p:cNvSpPr>
            <a:spLocks noChangeArrowheads="1"/>
          </p:cNvSpPr>
          <p:nvPr/>
        </p:nvSpPr>
        <p:spPr bwMode="auto">
          <a:xfrm>
            <a:off x="3924300" y="4941888"/>
            <a:ext cx="800100" cy="273050"/>
          </a:xfrm>
          <a:prstGeom prst="notchedRightArrow">
            <a:avLst>
              <a:gd name="adj1" fmla="val 50000"/>
              <a:gd name="adj2" fmla="val 73256"/>
            </a:avLst>
          </a:prstGeom>
          <a:gradFill rotWithShape="0">
            <a:gsLst>
              <a:gs pos="0">
                <a:srgbClr val="FFFF00"/>
              </a:gs>
              <a:gs pos="100000">
                <a:srgbClr val="FF3300"/>
              </a:gs>
            </a:gsLst>
            <a:lin ang="0" scaled="1"/>
          </a:gradFill>
          <a:ln w="38100">
            <a:solidFill>
              <a:srgbClr val="FF3300"/>
            </a:solidFill>
            <a:miter lim="800000"/>
            <a:headEnd/>
            <a:tailEnd/>
          </a:ln>
          <a:effectLst/>
        </p:spPr>
        <p:txBody>
          <a:bodyPr wrap="none" anchor="ctr"/>
          <a:lstStyle/>
          <a:p>
            <a:pPr algn="ctr" eaLnBrk="1" hangingPunct="1">
              <a:defRPr/>
            </a:pPr>
            <a:endParaRPr kumimoji="1" lang="en-US" sz="2400">
              <a:solidFill>
                <a:srgbClr val="FFCC00"/>
              </a:solidFill>
              <a:effectLst>
                <a:outerShdw blurRad="38100" dist="38100" dir="2700000" algn="tl">
                  <a:srgbClr val="00000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7"/>
          <p:cNvGrpSpPr>
            <a:grpSpLocks/>
          </p:cNvGrpSpPr>
          <p:nvPr/>
        </p:nvGrpSpPr>
        <p:grpSpPr bwMode="auto">
          <a:xfrm>
            <a:off x="971550" y="3951287"/>
            <a:ext cx="2762250" cy="2120899"/>
            <a:chOff x="612" y="2489"/>
            <a:chExt cx="1740" cy="1336"/>
          </a:xfrm>
        </p:grpSpPr>
        <p:sp>
          <p:nvSpPr>
            <p:cNvPr id="655368" name="Rectangle 8"/>
            <p:cNvSpPr>
              <a:spLocks noChangeArrowheads="1"/>
            </p:cNvSpPr>
            <p:nvPr/>
          </p:nvSpPr>
          <p:spPr bwMode="auto">
            <a:xfrm>
              <a:off x="612" y="2697"/>
              <a:ext cx="656" cy="912"/>
            </a:xfrm>
            <a:prstGeom prst="rect">
              <a:avLst/>
            </a:prstGeom>
            <a:noFill/>
            <a:ln w="38100">
              <a:solidFill>
                <a:schemeClr val="tx1"/>
              </a:solidFill>
              <a:miter lim="800000"/>
              <a:headEnd/>
              <a:tailEnd/>
            </a:ln>
            <a:effectLst/>
          </p:spPr>
          <p:txBody>
            <a:bodyPr wrap="none" lIns="0" tIns="0" rIns="0" bIns="0" anchor="ctr"/>
            <a:lstStyle/>
            <a:p>
              <a:pPr algn="ctr">
                <a:lnSpc>
                  <a:spcPct val="110000"/>
                </a:lnSpc>
                <a:defRPr/>
              </a:pPr>
              <a:r>
                <a:rPr lang="zh-CN" altLang="en-US" sz="24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有源</a:t>
              </a:r>
            </a:p>
            <a:p>
              <a:pPr algn="ctr">
                <a:lnSpc>
                  <a:spcPct val="110000"/>
                </a:lnSpc>
                <a:defRPr/>
              </a:pPr>
              <a:r>
                <a:rPr lang="zh-CN" altLang="en-US" sz="24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a:t>
              </a:r>
            </a:p>
            <a:p>
              <a:pPr algn="ctr">
                <a:lnSpc>
                  <a:spcPct val="110000"/>
                </a:lnSpc>
                <a:defRPr/>
              </a:pPr>
              <a:r>
                <a:rPr lang="zh-CN" altLang="en-US" sz="24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网络</a:t>
              </a:r>
            </a:p>
          </p:txBody>
        </p:sp>
        <p:sp>
          <p:nvSpPr>
            <p:cNvPr id="49186" name="Line 9"/>
            <p:cNvSpPr>
              <a:spLocks noChangeShapeType="1"/>
            </p:cNvSpPr>
            <p:nvPr/>
          </p:nvSpPr>
          <p:spPr bwMode="auto">
            <a:xfrm>
              <a:off x="1280" y="2793"/>
              <a:ext cx="7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7" name="Line 10"/>
            <p:cNvSpPr>
              <a:spLocks noChangeShapeType="1"/>
            </p:cNvSpPr>
            <p:nvPr/>
          </p:nvSpPr>
          <p:spPr bwMode="auto">
            <a:xfrm>
              <a:off x="1284" y="3502"/>
              <a:ext cx="72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8" name="Line 11"/>
            <p:cNvSpPr>
              <a:spLocks noChangeShapeType="1"/>
            </p:cNvSpPr>
            <p:nvPr/>
          </p:nvSpPr>
          <p:spPr bwMode="auto">
            <a:xfrm flipH="1">
              <a:off x="2004" y="3282"/>
              <a:ext cx="0"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9" name="Rectangle 12"/>
            <p:cNvSpPr>
              <a:spLocks noChangeArrowheads="1"/>
            </p:cNvSpPr>
            <p:nvPr/>
          </p:nvSpPr>
          <p:spPr bwMode="auto">
            <a:xfrm>
              <a:off x="1942" y="2985"/>
              <a:ext cx="110" cy="29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73" name="Text Box 13"/>
            <p:cNvSpPr txBox="1">
              <a:spLocks noChangeArrowheads="1"/>
            </p:cNvSpPr>
            <p:nvPr/>
          </p:nvSpPr>
          <p:spPr bwMode="auto">
            <a:xfrm>
              <a:off x="2039" y="3032"/>
              <a:ext cx="313" cy="291"/>
            </a:xfrm>
            <a:prstGeom prst="rect">
              <a:avLst/>
            </a:prstGeom>
            <a:noFill/>
            <a:ln w="38100">
              <a:noFill/>
              <a:miter lim="800000"/>
              <a:headEnd/>
              <a:tailEnd/>
            </a:ln>
            <a:effectLst/>
          </p:spPr>
          <p:txBody>
            <a:bodyPr wrap="none">
              <a:spAutoFit/>
            </a:bodyPr>
            <a:lstStyle/>
            <a:p>
              <a:pPr>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1" name="Line 14"/>
            <p:cNvSpPr>
              <a:spLocks noChangeShapeType="1"/>
            </p:cNvSpPr>
            <p:nvPr/>
          </p:nvSpPr>
          <p:spPr bwMode="auto">
            <a:xfrm flipH="1">
              <a:off x="2004" y="2793"/>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75" name="Rectangle 15"/>
            <p:cNvSpPr>
              <a:spLocks noChangeArrowheads="1"/>
            </p:cNvSpPr>
            <p:nvPr/>
          </p:nvSpPr>
          <p:spPr bwMode="auto">
            <a:xfrm>
              <a:off x="1489" y="2489"/>
              <a:ext cx="202" cy="291"/>
            </a:xfrm>
            <a:prstGeom prst="rect">
              <a:avLst/>
            </a:prstGeom>
            <a:noFill/>
            <a:ln w="9525">
              <a:noFill/>
              <a:miter lim="800000"/>
              <a:headEnd/>
              <a:tailEnd/>
            </a:ln>
            <a:effectLst/>
          </p:spPr>
          <p:txBody>
            <a:bodyPr wrap="none">
              <a:spAutoFit/>
            </a:bodyPr>
            <a:lstStyle/>
            <a:p>
              <a:pPr algn="ctr" eaLnBrk="1" hangingPunct="1">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49193" name="Oval 16"/>
            <p:cNvSpPr>
              <a:spLocks noChangeArrowheads="1"/>
            </p:cNvSpPr>
            <p:nvPr/>
          </p:nvSpPr>
          <p:spPr bwMode="auto">
            <a:xfrm>
              <a:off x="1572" y="2767"/>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4" name="Oval 17"/>
            <p:cNvSpPr>
              <a:spLocks noChangeArrowheads="1"/>
            </p:cNvSpPr>
            <p:nvPr/>
          </p:nvSpPr>
          <p:spPr bwMode="auto">
            <a:xfrm>
              <a:off x="1557" y="3465"/>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78" name="Rectangle 18"/>
            <p:cNvSpPr>
              <a:spLocks noChangeArrowheads="1"/>
            </p:cNvSpPr>
            <p:nvPr/>
          </p:nvSpPr>
          <p:spPr bwMode="auto">
            <a:xfrm>
              <a:off x="1483" y="3534"/>
              <a:ext cx="213" cy="291"/>
            </a:xfrm>
            <a:prstGeom prst="rect">
              <a:avLst/>
            </a:prstGeom>
            <a:noFill/>
            <a:ln w="9525">
              <a:noFill/>
              <a:miter lim="800000"/>
              <a:headEnd/>
              <a:tailEnd/>
            </a:ln>
            <a:effectLst/>
          </p:spPr>
          <p:txBody>
            <a:bodyPr wrap="none">
              <a:spAutoFit/>
            </a:bodyPr>
            <a:lstStyle/>
            <a:p>
              <a:pPr algn="ctr" eaLnBrk="1" hangingPunct="1">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55379" name="Text Box 19"/>
            <p:cNvSpPr txBox="1">
              <a:spLocks noChangeArrowheads="1"/>
            </p:cNvSpPr>
            <p:nvPr/>
          </p:nvSpPr>
          <p:spPr bwMode="auto">
            <a:xfrm>
              <a:off x="1455" y="2841"/>
              <a:ext cx="257" cy="617"/>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lnSpc>
                  <a:spcPct val="80000"/>
                </a:lnSpc>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lnSpc>
                  <a:spcPct val="80000"/>
                </a:lnSpc>
                <a:defRPr/>
              </a:pPr>
              <a:r>
                <a:rPr kumimoji="1" lang="en-US" altLang="zh-CN" sz="2400"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lnSpc>
                  <a:spcPct val="80000"/>
                </a:lnSpc>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9197" name="Line 20"/>
            <p:cNvSpPr>
              <a:spLocks noChangeShapeType="1"/>
            </p:cNvSpPr>
            <p:nvPr/>
          </p:nvSpPr>
          <p:spPr bwMode="auto">
            <a:xfrm>
              <a:off x="1685" y="2745"/>
              <a:ext cx="288" cy="0"/>
            </a:xfrm>
            <a:prstGeom prst="line">
              <a:avLst/>
            </a:prstGeom>
            <a:noFill/>
            <a:ln w="38100">
              <a:solidFill>
                <a:srgbClr val="FF00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81" name="Rectangle 21"/>
            <p:cNvSpPr>
              <a:spLocks noChangeArrowheads="1"/>
            </p:cNvSpPr>
            <p:nvPr/>
          </p:nvSpPr>
          <p:spPr bwMode="auto">
            <a:xfrm>
              <a:off x="1733" y="2498"/>
              <a:ext cx="182" cy="291"/>
            </a:xfrm>
            <a:prstGeom prst="rect">
              <a:avLst/>
            </a:prstGeom>
            <a:noFill/>
            <a:ln w="9525">
              <a:noFill/>
              <a:miter lim="800000"/>
              <a:headEnd/>
              <a:tailEnd/>
            </a:ln>
            <a:effectLst/>
          </p:spPr>
          <p:txBody>
            <a:bodyPr wrap="none">
              <a:spAutoFit/>
            </a:bodyPr>
            <a:lstStyle/>
            <a:p>
              <a:pPr algn="ctr" eaLnBrk="1" hangingPunct="1">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grpSp>
      <p:grpSp>
        <p:nvGrpSpPr>
          <p:cNvPr id="3" name="Group 22"/>
          <p:cNvGrpSpPr>
            <a:grpSpLocks/>
          </p:cNvGrpSpPr>
          <p:nvPr/>
        </p:nvGrpSpPr>
        <p:grpSpPr bwMode="auto">
          <a:xfrm>
            <a:off x="5029200" y="3733801"/>
            <a:ext cx="3240088" cy="2671763"/>
            <a:chOff x="3168" y="2352"/>
            <a:chExt cx="2041" cy="1683"/>
          </a:xfrm>
        </p:grpSpPr>
        <p:sp>
          <p:nvSpPr>
            <p:cNvPr id="49164" name="Oval 23"/>
            <p:cNvSpPr>
              <a:spLocks noChangeArrowheads="1"/>
            </p:cNvSpPr>
            <p:nvPr/>
          </p:nvSpPr>
          <p:spPr bwMode="auto">
            <a:xfrm>
              <a:off x="3570" y="3289"/>
              <a:ext cx="269" cy="26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5" name="Line 24"/>
            <p:cNvSpPr>
              <a:spLocks noChangeShapeType="1"/>
            </p:cNvSpPr>
            <p:nvPr/>
          </p:nvSpPr>
          <p:spPr bwMode="auto">
            <a:xfrm>
              <a:off x="3696" y="2656"/>
              <a:ext cx="115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6" name="Line 25"/>
            <p:cNvSpPr>
              <a:spLocks noChangeShapeType="1"/>
            </p:cNvSpPr>
            <p:nvPr/>
          </p:nvSpPr>
          <p:spPr bwMode="auto">
            <a:xfrm>
              <a:off x="3704" y="3712"/>
              <a:ext cx="114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7" name="Line 26"/>
            <p:cNvSpPr>
              <a:spLocks noChangeShapeType="1"/>
            </p:cNvSpPr>
            <p:nvPr/>
          </p:nvSpPr>
          <p:spPr bwMode="auto">
            <a:xfrm>
              <a:off x="3696" y="3136"/>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8" name="Rectangle 27"/>
            <p:cNvSpPr>
              <a:spLocks noChangeArrowheads="1"/>
            </p:cNvSpPr>
            <p:nvPr/>
          </p:nvSpPr>
          <p:spPr bwMode="auto">
            <a:xfrm>
              <a:off x="3631" y="2857"/>
              <a:ext cx="125" cy="27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88" name="Text Box 28"/>
            <p:cNvSpPr txBox="1">
              <a:spLocks noChangeArrowheads="1"/>
            </p:cNvSpPr>
            <p:nvPr/>
          </p:nvSpPr>
          <p:spPr bwMode="auto">
            <a:xfrm>
              <a:off x="3168" y="3241"/>
              <a:ext cx="576" cy="288"/>
            </a:xfrm>
            <a:prstGeom prst="rect">
              <a:avLst/>
            </a:prstGeom>
            <a:noFill/>
            <a:ln w="38100">
              <a:noFill/>
              <a:miter lim="800000"/>
              <a:headEnd/>
              <a:tailEnd/>
            </a:ln>
            <a:effectLst/>
          </p:spPr>
          <p:txBody>
            <a:bodyPr>
              <a:spAutoFit/>
            </a:bodyPr>
            <a:lstStyle/>
            <a:p>
              <a:pPr>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0C</a:t>
              </a:r>
            </a:p>
          </p:txBody>
        </p:sp>
        <p:sp>
          <p:nvSpPr>
            <p:cNvPr id="655389" name="Text Box 29"/>
            <p:cNvSpPr txBox="1">
              <a:spLocks noChangeArrowheads="1"/>
            </p:cNvSpPr>
            <p:nvPr/>
          </p:nvSpPr>
          <p:spPr bwMode="auto">
            <a:xfrm>
              <a:off x="3312" y="2795"/>
              <a:ext cx="452" cy="288"/>
            </a:xfrm>
            <a:prstGeom prst="rect">
              <a:avLst/>
            </a:prstGeom>
            <a:noFill/>
            <a:ln w="38100">
              <a:noFill/>
              <a:miter lim="800000"/>
              <a:headEnd/>
              <a:tailEnd/>
            </a:ln>
            <a:effectLst/>
          </p:spPr>
          <p:txBody>
            <a:bodyPr>
              <a:spAutoFit/>
            </a:bodyPr>
            <a:lstStyle/>
            <a:p>
              <a:pPr>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90" name="Text Box 30"/>
            <p:cNvSpPr txBox="1">
              <a:spLocks noChangeArrowheads="1"/>
            </p:cNvSpPr>
            <p:nvPr/>
          </p:nvSpPr>
          <p:spPr bwMode="auto">
            <a:xfrm>
              <a:off x="3456" y="3081"/>
              <a:ext cx="232" cy="291"/>
            </a:xfrm>
            <a:prstGeom prst="rect">
              <a:avLst/>
            </a:prstGeom>
            <a:noFill/>
            <a:ln w="38100">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55391" name="Text Box 31"/>
            <p:cNvSpPr txBox="1">
              <a:spLocks noChangeArrowheads="1"/>
            </p:cNvSpPr>
            <p:nvPr/>
          </p:nvSpPr>
          <p:spPr bwMode="auto">
            <a:xfrm>
              <a:off x="3456" y="3369"/>
              <a:ext cx="212" cy="288"/>
            </a:xfrm>
            <a:prstGeom prst="rect">
              <a:avLst/>
            </a:prstGeom>
            <a:noFill/>
            <a:ln w="38100">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_</a:t>
              </a:r>
            </a:p>
          </p:txBody>
        </p:sp>
        <p:sp>
          <p:nvSpPr>
            <p:cNvPr id="49173" name="Line 32"/>
            <p:cNvSpPr>
              <a:spLocks noChangeShapeType="1"/>
            </p:cNvSpPr>
            <p:nvPr/>
          </p:nvSpPr>
          <p:spPr bwMode="auto">
            <a:xfrm flipH="1">
              <a:off x="4848" y="3280"/>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4" name="Rectangle 33"/>
            <p:cNvSpPr>
              <a:spLocks noChangeArrowheads="1"/>
            </p:cNvSpPr>
            <p:nvPr/>
          </p:nvSpPr>
          <p:spPr bwMode="auto">
            <a:xfrm>
              <a:off x="4799" y="2992"/>
              <a:ext cx="110" cy="29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94" name="Text Box 34"/>
            <p:cNvSpPr txBox="1">
              <a:spLocks noChangeArrowheads="1"/>
            </p:cNvSpPr>
            <p:nvPr/>
          </p:nvSpPr>
          <p:spPr bwMode="auto">
            <a:xfrm>
              <a:off x="4896" y="2985"/>
              <a:ext cx="313" cy="291"/>
            </a:xfrm>
            <a:prstGeom prst="rect">
              <a:avLst/>
            </a:prstGeom>
            <a:noFill/>
            <a:ln w="38100">
              <a:noFill/>
              <a:miter lim="800000"/>
              <a:headEnd/>
              <a:tailEnd/>
            </a:ln>
            <a:effectLst/>
          </p:spPr>
          <p:txBody>
            <a:bodyPr wrap="none">
              <a:spAutoFit/>
            </a:bodyPr>
            <a:lstStyle/>
            <a:p>
              <a:pPr>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6" name="Line 35"/>
            <p:cNvSpPr>
              <a:spLocks noChangeShapeType="1"/>
            </p:cNvSpPr>
            <p:nvPr/>
          </p:nvSpPr>
          <p:spPr bwMode="auto">
            <a:xfrm flipH="1">
              <a:off x="4848" y="2656"/>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96" name="Rectangle 36"/>
            <p:cNvSpPr>
              <a:spLocks noChangeArrowheads="1"/>
            </p:cNvSpPr>
            <p:nvPr/>
          </p:nvSpPr>
          <p:spPr bwMode="auto">
            <a:xfrm>
              <a:off x="4189" y="2352"/>
              <a:ext cx="202" cy="291"/>
            </a:xfrm>
            <a:prstGeom prst="rect">
              <a:avLst/>
            </a:prstGeom>
            <a:noFill/>
            <a:ln w="9525">
              <a:noFill/>
              <a:miter lim="800000"/>
              <a:headEnd/>
              <a:tailEnd/>
            </a:ln>
            <a:effectLst/>
          </p:spPr>
          <p:txBody>
            <a:bodyPr wrap="none">
              <a:spAutoFit/>
            </a:bodyPr>
            <a:lstStyle/>
            <a:p>
              <a:pPr algn="ctr" eaLnBrk="1" hangingPunct="1">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49178" name="Oval 37"/>
            <p:cNvSpPr>
              <a:spLocks noChangeArrowheads="1"/>
            </p:cNvSpPr>
            <p:nvPr/>
          </p:nvSpPr>
          <p:spPr bwMode="auto">
            <a:xfrm>
              <a:off x="4272" y="2631"/>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9" name="Oval 38"/>
            <p:cNvSpPr>
              <a:spLocks noChangeArrowheads="1"/>
            </p:cNvSpPr>
            <p:nvPr/>
          </p:nvSpPr>
          <p:spPr bwMode="auto">
            <a:xfrm>
              <a:off x="4293" y="3685"/>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399" name="Rectangle 39"/>
            <p:cNvSpPr>
              <a:spLocks noChangeArrowheads="1"/>
            </p:cNvSpPr>
            <p:nvPr/>
          </p:nvSpPr>
          <p:spPr bwMode="auto">
            <a:xfrm>
              <a:off x="4237" y="3744"/>
              <a:ext cx="213" cy="291"/>
            </a:xfrm>
            <a:prstGeom prst="rect">
              <a:avLst/>
            </a:prstGeom>
            <a:noFill/>
            <a:ln w="9525">
              <a:noFill/>
              <a:miter lim="800000"/>
              <a:headEnd/>
              <a:tailEnd/>
            </a:ln>
            <a:effectLst/>
          </p:spPr>
          <p:txBody>
            <a:bodyPr wrap="none">
              <a:spAutoFit/>
            </a:bodyPr>
            <a:lstStyle/>
            <a:p>
              <a:pPr algn="ctr" eaLnBrk="1" hangingPunct="1">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55400" name="Text Box 40"/>
            <p:cNvSpPr txBox="1">
              <a:spLocks noChangeArrowheads="1"/>
            </p:cNvSpPr>
            <p:nvPr/>
          </p:nvSpPr>
          <p:spPr bwMode="auto">
            <a:xfrm>
              <a:off x="4186" y="2649"/>
              <a:ext cx="257" cy="965"/>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lnSpc>
                  <a:spcPct val="130000"/>
                </a:lnSpc>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lnSpc>
                  <a:spcPct val="130000"/>
                </a:lnSpc>
                <a:defRPr/>
              </a:pPr>
              <a:r>
                <a:rPr kumimoji="1" lang="en-US" altLang="zh-CN" sz="2400"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lnSpc>
                  <a:spcPct val="130000"/>
                </a:lnSpc>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9182" name="Line 41"/>
            <p:cNvSpPr>
              <a:spLocks noChangeShapeType="1"/>
            </p:cNvSpPr>
            <p:nvPr/>
          </p:nvSpPr>
          <p:spPr bwMode="auto">
            <a:xfrm>
              <a:off x="4512" y="2608"/>
              <a:ext cx="288" cy="0"/>
            </a:xfrm>
            <a:prstGeom prst="line">
              <a:avLst/>
            </a:prstGeom>
            <a:noFill/>
            <a:ln w="38100">
              <a:solidFill>
                <a:srgbClr val="FF0000"/>
              </a:solidFill>
              <a:round/>
              <a:headEnd/>
              <a:tailEnd type="triangle" w="sm"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5402" name="Rectangle 42"/>
            <p:cNvSpPr>
              <a:spLocks noChangeArrowheads="1"/>
            </p:cNvSpPr>
            <p:nvPr/>
          </p:nvSpPr>
          <p:spPr bwMode="auto">
            <a:xfrm>
              <a:off x="4523" y="2352"/>
              <a:ext cx="182" cy="291"/>
            </a:xfrm>
            <a:prstGeom prst="rect">
              <a:avLst/>
            </a:prstGeom>
            <a:noFill/>
            <a:ln w="9525">
              <a:noFill/>
              <a:miter lim="800000"/>
              <a:headEnd/>
              <a:tailEnd/>
            </a:ln>
            <a:effectLst/>
          </p:spPr>
          <p:txBody>
            <a:bodyPr wrap="none">
              <a:spAutoFit/>
            </a:bodyPr>
            <a:lstStyle/>
            <a:p>
              <a:pPr algn="ctr" eaLnBrk="1" hangingPunct="1">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49184" name="Line 43"/>
            <p:cNvSpPr>
              <a:spLocks noChangeShapeType="1"/>
            </p:cNvSpPr>
            <p:nvPr/>
          </p:nvSpPr>
          <p:spPr bwMode="auto">
            <a:xfrm>
              <a:off x="3696" y="265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5404" name="AutoShape 44"/>
          <p:cNvSpPr>
            <a:spLocks noChangeArrowheads="1"/>
          </p:cNvSpPr>
          <p:nvPr/>
        </p:nvSpPr>
        <p:spPr bwMode="auto">
          <a:xfrm>
            <a:off x="3492500" y="5943600"/>
            <a:ext cx="1943100" cy="533400"/>
          </a:xfrm>
          <a:prstGeom prst="wedgeRoundRectCallout">
            <a:avLst>
              <a:gd name="adj1" fmla="val 40685"/>
              <a:gd name="adj2" fmla="val -100597"/>
              <a:gd name="adj3" fmla="val 16667"/>
            </a:avLst>
          </a:prstGeom>
          <a:solidFill>
            <a:schemeClr val="accent1"/>
          </a:solidFill>
          <a:ln w="28575">
            <a:solidFill>
              <a:srgbClr val="006600"/>
            </a:solidFill>
            <a:miter lim="800000"/>
            <a:headEnd/>
            <a:tailEnd/>
          </a:ln>
          <a:effectLst/>
        </p:spPr>
        <p:txBody>
          <a:bodyPr wrap="none" anchor="ctr"/>
          <a:lstStyle/>
          <a:p>
            <a:pPr algn="ctr">
              <a:defRPr/>
            </a:pPr>
            <a:r>
              <a:rPr kumimoji="1" lang="zh-CN" altLang="en-US" sz="2400">
                <a:solidFill>
                  <a:srgbClr val="CC0000"/>
                </a:solidFill>
                <a:effectLst>
                  <a:outerShdw blurRad="38100" dist="38100" dir="2700000" algn="tl">
                    <a:srgbClr val="000000"/>
                  </a:outerShdw>
                </a:effectLst>
                <a:latin typeface="Times New Roman" panose="02020603050405020304" pitchFamily="18" charset="0"/>
                <a:ea typeface="华文中宋" panose="02010600040101010101" pitchFamily="2" charset="-122"/>
                <a:cs typeface="Times New Roman" panose="02020603050405020304" pitchFamily="18" charset="0"/>
              </a:rPr>
              <a:t>等效电压源</a:t>
            </a:r>
          </a:p>
        </p:txBody>
      </p:sp>
    </p:spTree>
    <p:extLst>
      <p:ext uri="{BB962C8B-B14F-4D97-AF65-F5344CB8AC3E}">
        <p14:creationId xmlns:p14="http://schemas.microsoft.com/office/powerpoint/2010/main" val="13893582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64">
                                            <p:txEl>
                                              <p:pRg st="0" end="0"/>
                                            </p:txEl>
                                          </p:spTgt>
                                        </p:tgtEl>
                                        <p:attrNameLst>
                                          <p:attrName>style.visibility</p:attrName>
                                        </p:attrNameLst>
                                      </p:cBhvr>
                                      <p:to>
                                        <p:strVal val="visible"/>
                                      </p:to>
                                    </p:set>
                                    <p:animEffect transition="in" filter="wipe(left)">
                                      <p:cBhvr>
                                        <p:cTn id="7" dur="500"/>
                                        <p:tgtEl>
                                          <p:spTgt spid="6553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64">
                                            <p:txEl>
                                              <p:pRg st="1" end="1"/>
                                            </p:txEl>
                                          </p:spTgt>
                                        </p:tgtEl>
                                        <p:attrNameLst>
                                          <p:attrName>style.visibility</p:attrName>
                                        </p:attrNameLst>
                                      </p:cBhvr>
                                      <p:to>
                                        <p:strVal val="visible"/>
                                      </p:to>
                                    </p:set>
                                    <p:animEffect transition="in" filter="wipe(left)">
                                      <p:cBhvr>
                                        <p:cTn id="12" dur="500"/>
                                        <p:tgtEl>
                                          <p:spTgt spid="6553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55366"/>
                                        </p:tgtEl>
                                        <p:attrNameLst>
                                          <p:attrName>style.visibility</p:attrName>
                                        </p:attrNameLst>
                                      </p:cBhvr>
                                      <p:to>
                                        <p:strVal val="visible"/>
                                      </p:to>
                                    </p:set>
                                    <p:animEffect transition="in" filter="wipe(left)">
                                      <p:cBhvr>
                                        <p:cTn id="22" dur="500"/>
                                        <p:tgtEl>
                                          <p:spTgt spid="655366"/>
                                        </p:tgtEl>
                                      </p:cBhvr>
                                    </p:animEffect>
                                  </p:childTnLst>
                                </p:cTn>
                              </p:par>
                            </p:childTnLst>
                          </p:cTn>
                        </p:par>
                        <p:par>
                          <p:cTn id="23" fill="hold" nodeType="afterGroup">
                            <p:stCondLst>
                              <p:cond delay="500"/>
                            </p:stCondLst>
                            <p:childTnLst>
                              <p:par>
                                <p:cTn id="24" presetID="17" presetClass="entr" presetSubtype="1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655365"/>
                                        </p:tgtEl>
                                        <p:attrNameLst>
                                          <p:attrName>style.visibility</p:attrName>
                                        </p:attrNameLst>
                                      </p:cBhvr>
                                      <p:to>
                                        <p:strVal val="visible"/>
                                      </p:to>
                                    </p:set>
                                    <p:animEffect transition="in" filter="barn(outVertical)">
                                      <p:cBhvr>
                                        <p:cTn id="32" dur="500"/>
                                        <p:tgtEl>
                                          <p:spTgt spid="655365"/>
                                        </p:tgtEl>
                                      </p:cBhvr>
                                    </p:animEffect>
                                  </p:childTnLst>
                                </p:cTn>
                              </p:par>
                            </p:childTnLst>
                          </p:cTn>
                        </p:par>
                        <p:par>
                          <p:cTn id="33" fill="hold" nodeType="afterGroup">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655404"/>
                                        </p:tgtEl>
                                        <p:attrNameLst>
                                          <p:attrName>style.visibility</p:attrName>
                                        </p:attrNameLst>
                                      </p:cBhvr>
                                      <p:to>
                                        <p:strVal val="visible"/>
                                      </p:to>
                                    </p:set>
                                    <p:animEffect transition="in" filter="wipe(down)">
                                      <p:cBhvr>
                                        <p:cTn id="36" dur="500"/>
                                        <p:tgtEl>
                                          <p:spTgt spid="655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64" grpId="0" build="p" autoUpdateAnimBg="0"/>
      <p:bldP spid="655365" grpId="0" animBg="1" autoUpdateAnimBg="0"/>
      <p:bldP spid="655366" grpId="0" animBg="1" autoUpdateAnimBg="0"/>
      <p:bldP spid="655404"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6C1BDE7E-2B10-433A-BD6B-80C9A53DA9AE}"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45</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0" name="Text Box 2"/>
          <p:cNvSpPr txBox="1">
            <a:spLocks noChangeArrowheads="1"/>
          </p:cNvSpPr>
          <p:nvPr/>
        </p:nvSpPr>
        <p:spPr bwMode="auto">
          <a:xfrm>
            <a:off x="762000" y="609600"/>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首先通过一个例子来说明戴维南定理。</a:t>
            </a:r>
          </a:p>
        </p:txBody>
      </p:sp>
      <p:sp>
        <p:nvSpPr>
          <p:cNvPr id="656387" name="Text Box 3"/>
          <p:cNvSpPr txBox="1">
            <a:spLocks noChangeArrowheads="1"/>
          </p:cNvSpPr>
          <p:nvPr/>
        </p:nvSpPr>
        <p:spPr bwMode="auto">
          <a:xfrm>
            <a:off x="762000" y="1143000"/>
            <a:ext cx="74676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dirty="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2-9】</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求图</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所</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示电路的戴维南等效电路。</a:t>
            </a:r>
          </a:p>
        </p:txBody>
      </p:sp>
      <p:sp>
        <p:nvSpPr>
          <p:cNvPr id="656388" name="Text Box 4"/>
          <p:cNvSpPr txBox="1">
            <a:spLocks noChangeArrowheads="1"/>
          </p:cNvSpPr>
          <p:nvPr/>
        </p:nvSpPr>
        <p:spPr bwMode="auto">
          <a:xfrm>
            <a:off x="762000" y="1828800"/>
            <a:ext cx="7924800" cy="867930"/>
          </a:xfrm>
          <a:prstGeom prst="rect">
            <a:avLst/>
          </a:prstGeom>
          <a:noFill/>
          <a:ln w="9525">
            <a:noFill/>
            <a:miter lim="800000"/>
            <a:headEnd/>
            <a:tailEnd/>
          </a:ln>
          <a:effectLst/>
        </p:spPr>
        <p:txBody>
          <a:bodyPr>
            <a:spAutoFit/>
          </a:bodyPr>
          <a:lstStyle/>
          <a:p>
            <a:pPr eaLnBrk="1" hangingPunct="1">
              <a:spcBef>
                <a:spcPct val="10000"/>
              </a:spcBef>
              <a:defRPr/>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1</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）计算开路电压。可以用</a:t>
            </a:r>
            <a:r>
              <a:rPr lang="zh-CN" altLang="en-US" sz="2400" dirty="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叠加原理</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r>
              <a:rPr lang="en-US" altLang="zh-CN"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 源</a:t>
            </a:r>
          </a:p>
          <a:p>
            <a:pPr eaLnBrk="1" hangingPunct="1">
              <a:spcBef>
                <a:spcPct val="10000"/>
              </a:spcBef>
              <a:defRPr/>
            </a:pP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在端口处的电压与</a:t>
            </a:r>
            <a:r>
              <a:rPr lang="en-US" altLang="zh-CN"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r>
              <a:rPr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电流源在端口处的电压之和</a:t>
            </a:r>
          </a:p>
        </p:txBody>
      </p:sp>
      <p:graphicFrame>
        <p:nvGraphicFramePr>
          <p:cNvPr id="656389" name="Object 5"/>
          <p:cNvGraphicFramePr>
            <a:graphicFrameLocks noChangeAspect="1"/>
          </p:cNvGraphicFramePr>
          <p:nvPr>
            <p:extLst>
              <p:ext uri="{D42A27DB-BD31-4B8C-83A1-F6EECF244321}">
                <p14:modId xmlns:p14="http://schemas.microsoft.com/office/powerpoint/2010/main" val="1807175777"/>
              </p:ext>
            </p:extLst>
          </p:nvPr>
        </p:nvGraphicFramePr>
        <p:xfrm>
          <a:off x="1598613" y="2852738"/>
          <a:ext cx="5918200" cy="884237"/>
        </p:xfrm>
        <a:graphic>
          <a:graphicData uri="http://schemas.openxmlformats.org/presentationml/2006/ole">
            <mc:AlternateContent xmlns:mc="http://schemas.openxmlformats.org/markup-compatibility/2006">
              <mc:Choice xmlns:v="urn:schemas-microsoft-com:vml" Requires="v">
                <p:oleObj spid="_x0000_s91146" name="Equation" r:id="rId3" imgW="2959100" imgH="393700" progId="Equation.DSMT4">
                  <p:embed/>
                </p:oleObj>
              </mc:Choice>
              <mc:Fallback>
                <p:oleObj name="Equation" r:id="rId3" imgW="29591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8613" y="2852738"/>
                        <a:ext cx="5918200"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
          <p:cNvGrpSpPr>
            <a:grpSpLocks/>
          </p:cNvGrpSpPr>
          <p:nvPr/>
        </p:nvGrpSpPr>
        <p:grpSpPr bwMode="auto">
          <a:xfrm>
            <a:off x="179388" y="3573463"/>
            <a:ext cx="3276600" cy="2671762"/>
            <a:chOff x="480" y="2400"/>
            <a:chExt cx="2064" cy="1683"/>
          </a:xfrm>
        </p:grpSpPr>
        <p:sp>
          <p:nvSpPr>
            <p:cNvPr id="50240" name="Text Box 7"/>
            <p:cNvSpPr txBox="1">
              <a:spLocks noChangeArrowheads="1"/>
            </p:cNvSpPr>
            <p:nvPr/>
          </p:nvSpPr>
          <p:spPr bwMode="auto">
            <a:xfrm>
              <a:off x="720" y="283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41" name="Group 8"/>
            <p:cNvGrpSpPr>
              <a:grpSpLocks/>
            </p:cNvGrpSpPr>
            <p:nvPr/>
          </p:nvGrpSpPr>
          <p:grpSpPr bwMode="auto">
            <a:xfrm>
              <a:off x="480" y="2400"/>
              <a:ext cx="2064" cy="1423"/>
              <a:chOff x="720" y="1296"/>
              <a:chExt cx="2064" cy="1423"/>
            </a:xfrm>
          </p:grpSpPr>
          <p:grpSp>
            <p:nvGrpSpPr>
              <p:cNvPr id="50243" name="Group 9"/>
              <p:cNvGrpSpPr>
                <a:grpSpLocks/>
              </p:cNvGrpSpPr>
              <p:nvPr/>
            </p:nvGrpSpPr>
            <p:grpSpPr bwMode="auto">
              <a:xfrm>
                <a:off x="720" y="1584"/>
                <a:ext cx="1872" cy="1135"/>
                <a:chOff x="720" y="1584"/>
                <a:chExt cx="1872" cy="1135"/>
              </a:xfrm>
            </p:grpSpPr>
            <p:sp>
              <p:nvSpPr>
                <p:cNvPr id="50250" name="Line 10"/>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51" name="Line 11"/>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52" name="Group 12"/>
                <p:cNvGrpSpPr>
                  <a:grpSpLocks/>
                </p:cNvGrpSpPr>
                <p:nvPr/>
              </p:nvGrpSpPr>
              <p:grpSpPr bwMode="auto">
                <a:xfrm>
                  <a:off x="720" y="2064"/>
                  <a:ext cx="263" cy="624"/>
                  <a:chOff x="4417" y="567"/>
                  <a:chExt cx="693" cy="1650"/>
                </a:xfrm>
              </p:grpSpPr>
              <p:grpSp>
                <p:nvGrpSpPr>
                  <p:cNvPr id="50274" name="Group 13"/>
                  <p:cNvGrpSpPr>
                    <a:grpSpLocks/>
                  </p:cNvGrpSpPr>
                  <p:nvPr/>
                </p:nvGrpSpPr>
                <p:grpSpPr bwMode="auto">
                  <a:xfrm>
                    <a:off x="4417" y="567"/>
                    <a:ext cx="550" cy="1650"/>
                    <a:chOff x="4417" y="567"/>
                    <a:chExt cx="550" cy="1650"/>
                  </a:xfrm>
                </p:grpSpPr>
                <p:sp>
                  <p:nvSpPr>
                    <p:cNvPr id="50279" name="Oval 14"/>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80" name="Line 15"/>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0275" name="Group 16"/>
                  <p:cNvGrpSpPr>
                    <a:grpSpLocks/>
                  </p:cNvGrpSpPr>
                  <p:nvPr/>
                </p:nvGrpSpPr>
                <p:grpSpPr bwMode="auto">
                  <a:xfrm>
                    <a:off x="4956" y="853"/>
                    <a:ext cx="154" cy="979"/>
                    <a:chOff x="4956" y="853"/>
                    <a:chExt cx="154" cy="979"/>
                  </a:xfrm>
                </p:grpSpPr>
                <p:sp>
                  <p:nvSpPr>
                    <p:cNvPr id="50276" name="Line 17"/>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77" name="Line 18"/>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78" name="Line 19"/>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0253" name="Group 20"/>
                <p:cNvGrpSpPr>
                  <a:grpSpLocks/>
                </p:cNvGrpSpPr>
                <p:nvPr/>
              </p:nvGrpSpPr>
              <p:grpSpPr bwMode="auto">
                <a:xfrm>
                  <a:off x="1687" y="1943"/>
                  <a:ext cx="209" cy="624"/>
                  <a:chOff x="3591" y="567"/>
                  <a:chExt cx="301" cy="907"/>
                </a:xfrm>
              </p:grpSpPr>
              <p:sp>
                <p:nvSpPr>
                  <p:cNvPr id="50267" name="Line 21"/>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8" name="Oval 22"/>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9" name="Line 23"/>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70" name="Group 24"/>
                  <p:cNvGrpSpPr>
                    <a:grpSpLocks/>
                  </p:cNvGrpSpPr>
                  <p:nvPr/>
                </p:nvGrpSpPr>
                <p:grpSpPr bwMode="auto">
                  <a:xfrm>
                    <a:off x="3715" y="591"/>
                    <a:ext cx="56" cy="222"/>
                    <a:chOff x="4507" y="645"/>
                    <a:chExt cx="56" cy="222"/>
                  </a:xfrm>
                </p:grpSpPr>
                <p:sp>
                  <p:nvSpPr>
                    <p:cNvPr id="50271" name="Line 25"/>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72" name="Line 26"/>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73" name="Line 27"/>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0254" name="Group 28"/>
                <p:cNvGrpSpPr>
                  <a:grpSpLocks/>
                </p:cNvGrpSpPr>
                <p:nvPr/>
              </p:nvGrpSpPr>
              <p:grpSpPr bwMode="auto">
                <a:xfrm>
                  <a:off x="1300" y="1864"/>
                  <a:ext cx="71" cy="619"/>
                  <a:chOff x="743" y="567"/>
                  <a:chExt cx="187" cy="1639"/>
                </a:xfrm>
              </p:grpSpPr>
              <p:sp>
                <p:nvSpPr>
                  <p:cNvPr id="50265" name="Line 2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6" name="Rectangle 3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0255" name="Group 31"/>
                <p:cNvGrpSpPr>
                  <a:grpSpLocks/>
                </p:cNvGrpSpPr>
                <p:nvPr/>
              </p:nvGrpSpPr>
              <p:grpSpPr bwMode="auto">
                <a:xfrm>
                  <a:off x="793" y="1615"/>
                  <a:ext cx="71" cy="619"/>
                  <a:chOff x="743" y="567"/>
                  <a:chExt cx="187" cy="1639"/>
                </a:xfrm>
              </p:grpSpPr>
              <p:sp>
                <p:nvSpPr>
                  <p:cNvPr id="50263" name="Line 3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4" name="Rectangle 3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0256" name="Line 34"/>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57" name="Line 35"/>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58" name="Group 36"/>
                <p:cNvGrpSpPr>
                  <a:grpSpLocks/>
                </p:cNvGrpSpPr>
                <p:nvPr/>
              </p:nvGrpSpPr>
              <p:grpSpPr bwMode="auto">
                <a:xfrm rot="-5400000">
                  <a:off x="2096" y="1361"/>
                  <a:ext cx="59" cy="520"/>
                  <a:chOff x="743" y="567"/>
                  <a:chExt cx="187" cy="1639"/>
                </a:xfrm>
              </p:grpSpPr>
              <p:sp>
                <p:nvSpPr>
                  <p:cNvPr id="50261" name="Line 3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2" name="Rectangle 3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0259" name="Oval 39"/>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60" name="Oval 40"/>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6425" name="Text Box 41"/>
              <p:cNvSpPr txBox="1">
                <a:spLocks noChangeArrowheads="1"/>
              </p:cNvSpPr>
              <p:nvPr/>
            </p:nvSpPr>
            <p:spPr bwMode="auto">
              <a:xfrm>
                <a:off x="1920" y="1296"/>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26" name="Text Box 42"/>
              <p:cNvSpPr txBox="1">
                <a:spLocks noChangeArrowheads="1"/>
              </p:cNvSpPr>
              <p:nvPr/>
            </p:nvSpPr>
            <p:spPr bwMode="auto">
              <a:xfrm>
                <a:off x="1296" y="1824"/>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27" name="Text Box 43"/>
              <p:cNvSpPr txBox="1">
                <a:spLocks noChangeArrowheads="1"/>
              </p:cNvSpPr>
              <p:nvPr/>
            </p:nvSpPr>
            <p:spPr bwMode="auto">
              <a:xfrm>
                <a:off x="864" y="1776"/>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28" name="Text Box 44"/>
              <p:cNvSpPr txBox="1">
                <a:spLocks noChangeArrowheads="1"/>
              </p:cNvSpPr>
              <p:nvPr/>
            </p:nvSpPr>
            <p:spPr bwMode="auto">
              <a:xfrm>
                <a:off x="912" y="2256"/>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56429" name="Text Box 45"/>
              <p:cNvSpPr txBox="1">
                <a:spLocks noChangeArrowheads="1"/>
              </p:cNvSpPr>
              <p:nvPr/>
            </p:nvSpPr>
            <p:spPr bwMode="auto">
              <a:xfrm>
                <a:off x="1824" y="2304"/>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50249" name="Text Box 46"/>
              <p:cNvSpPr txBox="1">
                <a:spLocks noChangeArrowheads="1"/>
              </p:cNvSpPr>
              <p:nvPr/>
            </p:nvSpPr>
            <p:spPr bwMode="auto">
              <a:xfrm>
                <a:off x="2256" y="1632"/>
                <a:ext cx="528"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OC</a:t>
                </a:r>
              </a:p>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656431" name="Text Box 47"/>
            <p:cNvSpPr txBox="1">
              <a:spLocks noChangeArrowheads="1"/>
            </p:cNvSpPr>
            <p:nvPr/>
          </p:nvSpPr>
          <p:spPr bwMode="auto">
            <a:xfrm>
              <a:off x="1248" y="3792"/>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grpSp>
      <p:grpSp>
        <p:nvGrpSpPr>
          <p:cNvPr id="13" name="Group 48"/>
          <p:cNvGrpSpPr>
            <a:grpSpLocks/>
          </p:cNvGrpSpPr>
          <p:nvPr/>
        </p:nvGrpSpPr>
        <p:grpSpPr bwMode="auto">
          <a:xfrm>
            <a:off x="3492500" y="4005263"/>
            <a:ext cx="2566988" cy="2309812"/>
            <a:chOff x="2653" y="2493"/>
            <a:chExt cx="1617" cy="1455"/>
          </a:xfrm>
        </p:grpSpPr>
        <p:sp>
          <p:nvSpPr>
            <p:cNvPr id="656433" name="Text Box 49"/>
            <p:cNvSpPr txBox="1">
              <a:spLocks noChangeArrowheads="1"/>
            </p:cNvSpPr>
            <p:nvPr/>
          </p:nvSpPr>
          <p:spPr bwMode="auto">
            <a:xfrm>
              <a:off x="3312" y="3657"/>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0217" name="Line 50"/>
            <p:cNvSpPr>
              <a:spLocks noChangeShapeType="1"/>
            </p:cNvSpPr>
            <p:nvPr/>
          </p:nvSpPr>
          <p:spPr bwMode="auto">
            <a:xfrm>
              <a:off x="3270" y="2528"/>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18" name="Group 51"/>
            <p:cNvGrpSpPr>
              <a:grpSpLocks/>
            </p:cNvGrpSpPr>
            <p:nvPr/>
          </p:nvGrpSpPr>
          <p:grpSpPr bwMode="auto">
            <a:xfrm>
              <a:off x="2653" y="2973"/>
              <a:ext cx="263" cy="624"/>
              <a:chOff x="4417" y="567"/>
              <a:chExt cx="693" cy="1650"/>
            </a:xfrm>
          </p:grpSpPr>
          <p:grpSp>
            <p:nvGrpSpPr>
              <p:cNvPr id="50233" name="Group 52"/>
              <p:cNvGrpSpPr>
                <a:grpSpLocks/>
              </p:cNvGrpSpPr>
              <p:nvPr/>
            </p:nvGrpSpPr>
            <p:grpSpPr bwMode="auto">
              <a:xfrm>
                <a:off x="4417" y="567"/>
                <a:ext cx="550" cy="1650"/>
                <a:chOff x="4417" y="567"/>
                <a:chExt cx="550" cy="1650"/>
              </a:xfrm>
            </p:grpSpPr>
            <p:sp>
              <p:nvSpPr>
                <p:cNvPr id="50238" name="Oval 53"/>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9" name="Line 54"/>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0234" name="Group 55"/>
              <p:cNvGrpSpPr>
                <a:grpSpLocks/>
              </p:cNvGrpSpPr>
              <p:nvPr/>
            </p:nvGrpSpPr>
            <p:grpSpPr bwMode="auto">
              <a:xfrm>
                <a:off x="4956" y="853"/>
                <a:ext cx="154" cy="979"/>
                <a:chOff x="4956" y="853"/>
                <a:chExt cx="154" cy="979"/>
              </a:xfrm>
            </p:grpSpPr>
            <p:sp>
              <p:nvSpPr>
                <p:cNvPr id="50235" name="Line 56"/>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6" name="Line 57"/>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7" name="Line 58"/>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0219" name="Group 59"/>
            <p:cNvGrpSpPr>
              <a:grpSpLocks/>
            </p:cNvGrpSpPr>
            <p:nvPr/>
          </p:nvGrpSpPr>
          <p:grpSpPr bwMode="auto">
            <a:xfrm>
              <a:off x="3233" y="2773"/>
              <a:ext cx="71" cy="619"/>
              <a:chOff x="743" y="567"/>
              <a:chExt cx="187" cy="1639"/>
            </a:xfrm>
          </p:grpSpPr>
          <p:sp>
            <p:nvSpPr>
              <p:cNvPr id="50231" name="Line 6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2" name="Rectangle 6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0220" name="Group 62"/>
            <p:cNvGrpSpPr>
              <a:grpSpLocks/>
            </p:cNvGrpSpPr>
            <p:nvPr/>
          </p:nvGrpSpPr>
          <p:grpSpPr bwMode="auto">
            <a:xfrm>
              <a:off x="2726" y="2524"/>
              <a:ext cx="71" cy="619"/>
              <a:chOff x="743" y="567"/>
              <a:chExt cx="187" cy="1639"/>
            </a:xfrm>
          </p:grpSpPr>
          <p:sp>
            <p:nvSpPr>
              <p:cNvPr id="50229" name="Line 6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0" name="Rectangle 6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0221" name="Line 65"/>
            <p:cNvSpPr>
              <a:spLocks noChangeShapeType="1"/>
            </p:cNvSpPr>
            <p:nvPr/>
          </p:nvSpPr>
          <p:spPr bwMode="auto">
            <a:xfrm flipV="1">
              <a:off x="2751" y="2523"/>
              <a:ext cx="1127"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2" name="Oval 66"/>
            <p:cNvSpPr>
              <a:spLocks noChangeArrowheads="1"/>
            </p:cNvSpPr>
            <p:nvPr/>
          </p:nvSpPr>
          <p:spPr bwMode="auto">
            <a:xfrm>
              <a:off x="3885" y="2493"/>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3" name="Oval 67"/>
            <p:cNvSpPr>
              <a:spLocks noChangeArrowheads="1"/>
            </p:cNvSpPr>
            <p:nvPr/>
          </p:nvSpPr>
          <p:spPr bwMode="auto">
            <a:xfrm>
              <a:off x="3889" y="3566"/>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6452" name="Text Box 68"/>
            <p:cNvSpPr txBox="1">
              <a:spLocks noChangeArrowheads="1"/>
            </p:cNvSpPr>
            <p:nvPr/>
          </p:nvSpPr>
          <p:spPr bwMode="auto">
            <a:xfrm>
              <a:off x="3229" y="2733"/>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53" name="Text Box 69"/>
            <p:cNvSpPr txBox="1">
              <a:spLocks noChangeArrowheads="1"/>
            </p:cNvSpPr>
            <p:nvPr/>
          </p:nvSpPr>
          <p:spPr bwMode="auto">
            <a:xfrm>
              <a:off x="2797" y="2685"/>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54" name="Text Box 70"/>
            <p:cNvSpPr txBox="1">
              <a:spLocks noChangeArrowheads="1"/>
            </p:cNvSpPr>
            <p:nvPr/>
          </p:nvSpPr>
          <p:spPr bwMode="auto">
            <a:xfrm>
              <a:off x="2845" y="3165"/>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50227" name="Text Box 71"/>
            <p:cNvSpPr txBox="1">
              <a:spLocks noChangeArrowheads="1"/>
            </p:cNvSpPr>
            <p:nvPr/>
          </p:nvSpPr>
          <p:spPr bwMode="auto">
            <a:xfrm>
              <a:off x="3742" y="2568"/>
              <a:ext cx="528"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OC</a:t>
              </a:r>
            </a:p>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228" name="Line 72"/>
            <p:cNvSpPr>
              <a:spLocks noChangeShapeType="1"/>
            </p:cNvSpPr>
            <p:nvPr/>
          </p:nvSpPr>
          <p:spPr bwMode="auto">
            <a:xfrm flipV="1">
              <a:off x="2753" y="3603"/>
              <a:ext cx="1127"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9" name="Group 73"/>
          <p:cNvGrpSpPr>
            <a:grpSpLocks/>
          </p:cNvGrpSpPr>
          <p:nvPr/>
        </p:nvGrpSpPr>
        <p:grpSpPr bwMode="auto">
          <a:xfrm>
            <a:off x="6156325" y="3644900"/>
            <a:ext cx="3052763" cy="2654300"/>
            <a:chOff x="3996" y="2411"/>
            <a:chExt cx="1923" cy="1672"/>
          </a:xfrm>
        </p:grpSpPr>
        <p:sp>
          <p:nvSpPr>
            <p:cNvPr id="50187" name="Text Box 74"/>
            <p:cNvSpPr txBox="1">
              <a:spLocks noChangeArrowheads="1"/>
            </p:cNvSpPr>
            <p:nvPr/>
          </p:nvSpPr>
          <p:spPr bwMode="auto">
            <a:xfrm>
              <a:off x="5187" y="2750"/>
              <a:ext cx="732"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OC</a:t>
              </a:r>
            </a:p>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50188" name="Group 75"/>
            <p:cNvGrpSpPr>
              <a:grpSpLocks/>
            </p:cNvGrpSpPr>
            <p:nvPr/>
          </p:nvGrpSpPr>
          <p:grpSpPr bwMode="auto">
            <a:xfrm>
              <a:off x="3996" y="2411"/>
              <a:ext cx="1469" cy="1672"/>
              <a:chOff x="3996" y="2411"/>
              <a:chExt cx="1469" cy="1672"/>
            </a:xfrm>
          </p:grpSpPr>
          <p:sp>
            <p:nvSpPr>
              <p:cNvPr id="656460" name="Text Box 76"/>
              <p:cNvSpPr txBox="1">
                <a:spLocks noChangeArrowheads="1"/>
              </p:cNvSpPr>
              <p:nvPr/>
            </p:nvSpPr>
            <p:spPr bwMode="auto">
              <a:xfrm>
                <a:off x="4656" y="3792"/>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grpSp>
            <p:nvGrpSpPr>
              <p:cNvPr id="50190" name="Group 77"/>
              <p:cNvGrpSpPr>
                <a:grpSpLocks/>
              </p:cNvGrpSpPr>
              <p:nvPr/>
            </p:nvGrpSpPr>
            <p:grpSpPr bwMode="auto">
              <a:xfrm>
                <a:off x="3996" y="2411"/>
                <a:ext cx="1469" cy="1353"/>
                <a:chOff x="3996" y="2411"/>
                <a:chExt cx="1469" cy="1353"/>
              </a:xfrm>
            </p:grpSpPr>
            <p:sp>
              <p:nvSpPr>
                <p:cNvPr id="50191" name="Text Box 78"/>
                <p:cNvSpPr txBox="1">
                  <a:spLocks noChangeArrowheads="1"/>
                </p:cNvSpPr>
                <p:nvPr/>
              </p:nvSpPr>
              <p:spPr bwMode="auto">
                <a:xfrm>
                  <a:off x="4118" y="2411"/>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2" name="Line 79"/>
                <p:cNvSpPr>
                  <a:spLocks noChangeShapeType="1"/>
                </p:cNvSpPr>
                <p:nvPr/>
              </p:nvSpPr>
              <p:spPr bwMode="auto">
                <a:xfrm>
                  <a:off x="4414" y="2664"/>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3" name="Line 80"/>
                <p:cNvSpPr>
                  <a:spLocks noChangeShapeType="1"/>
                </p:cNvSpPr>
                <p:nvPr/>
              </p:nvSpPr>
              <p:spPr bwMode="auto">
                <a:xfrm>
                  <a:off x="4935" y="2669"/>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194" name="Group 81"/>
                <p:cNvGrpSpPr>
                  <a:grpSpLocks/>
                </p:cNvGrpSpPr>
                <p:nvPr/>
              </p:nvGrpSpPr>
              <p:grpSpPr bwMode="auto">
                <a:xfrm>
                  <a:off x="4830" y="2988"/>
                  <a:ext cx="209" cy="624"/>
                  <a:chOff x="3591" y="567"/>
                  <a:chExt cx="301" cy="907"/>
                </a:xfrm>
              </p:grpSpPr>
              <p:sp>
                <p:nvSpPr>
                  <p:cNvPr id="50209" name="Line 82"/>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0" name="Oval 83"/>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1" name="Line 84"/>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0212" name="Group 85"/>
                  <p:cNvGrpSpPr>
                    <a:grpSpLocks/>
                  </p:cNvGrpSpPr>
                  <p:nvPr/>
                </p:nvGrpSpPr>
                <p:grpSpPr bwMode="auto">
                  <a:xfrm>
                    <a:off x="3715" y="591"/>
                    <a:ext cx="56" cy="222"/>
                    <a:chOff x="4507" y="645"/>
                    <a:chExt cx="56" cy="222"/>
                  </a:xfrm>
                </p:grpSpPr>
                <p:sp>
                  <p:nvSpPr>
                    <p:cNvPr id="50213" name="Line 86"/>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4" name="Line 87"/>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5" name="Line 88"/>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0195" name="Group 89"/>
                <p:cNvGrpSpPr>
                  <a:grpSpLocks/>
                </p:cNvGrpSpPr>
                <p:nvPr/>
              </p:nvGrpSpPr>
              <p:grpSpPr bwMode="auto">
                <a:xfrm>
                  <a:off x="4377" y="2909"/>
                  <a:ext cx="71" cy="619"/>
                  <a:chOff x="743" y="567"/>
                  <a:chExt cx="187" cy="1639"/>
                </a:xfrm>
              </p:grpSpPr>
              <p:sp>
                <p:nvSpPr>
                  <p:cNvPr id="50207" name="Line 9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8" name="Rectangle 9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0196" name="Group 92"/>
                <p:cNvGrpSpPr>
                  <a:grpSpLocks/>
                </p:cNvGrpSpPr>
                <p:nvPr/>
              </p:nvGrpSpPr>
              <p:grpSpPr bwMode="auto">
                <a:xfrm>
                  <a:off x="3996" y="2660"/>
                  <a:ext cx="71" cy="619"/>
                  <a:chOff x="743" y="567"/>
                  <a:chExt cx="187" cy="1639"/>
                </a:xfrm>
              </p:grpSpPr>
              <p:sp>
                <p:nvSpPr>
                  <p:cNvPr id="50205" name="Line 9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6" name="Rectangle 9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0197" name="Line 95"/>
                <p:cNvSpPr>
                  <a:spLocks noChangeShapeType="1"/>
                </p:cNvSpPr>
                <p:nvPr/>
              </p:nvSpPr>
              <p:spPr bwMode="auto">
                <a:xfrm flipV="1">
                  <a:off x="4021" y="2659"/>
                  <a:ext cx="1354"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8" name="Oval 96"/>
                <p:cNvSpPr>
                  <a:spLocks noChangeArrowheads="1"/>
                </p:cNvSpPr>
                <p:nvPr/>
              </p:nvSpPr>
              <p:spPr bwMode="auto">
                <a:xfrm>
                  <a:off x="5392" y="2629"/>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9" name="Oval 97"/>
                <p:cNvSpPr>
                  <a:spLocks noChangeArrowheads="1"/>
                </p:cNvSpPr>
                <p:nvPr/>
              </p:nvSpPr>
              <p:spPr bwMode="auto">
                <a:xfrm>
                  <a:off x="5375" y="3702"/>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6482" name="Text Box 98"/>
                <p:cNvSpPr txBox="1">
                  <a:spLocks noChangeArrowheads="1"/>
                </p:cNvSpPr>
                <p:nvPr/>
              </p:nvSpPr>
              <p:spPr bwMode="auto">
                <a:xfrm>
                  <a:off x="4422" y="3097"/>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83" name="Text Box 99"/>
                <p:cNvSpPr txBox="1">
                  <a:spLocks noChangeArrowheads="1"/>
                </p:cNvSpPr>
                <p:nvPr/>
              </p:nvSpPr>
              <p:spPr bwMode="auto">
                <a:xfrm>
                  <a:off x="4067" y="2821"/>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6484" name="Text Box 100"/>
                <p:cNvSpPr txBox="1">
                  <a:spLocks noChangeArrowheads="1"/>
                </p:cNvSpPr>
                <p:nvPr/>
              </p:nvSpPr>
              <p:spPr bwMode="auto">
                <a:xfrm>
                  <a:off x="4921" y="2976"/>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50203" name="Line 101"/>
                <p:cNvSpPr>
                  <a:spLocks noChangeShapeType="1"/>
                </p:cNvSpPr>
                <p:nvPr/>
              </p:nvSpPr>
              <p:spPr bwMode="auto">
                <a:xfrm>
                  <a:off x="4032" y="3249"/>
                  <a:ext cx="0" cy="499"/>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4" name="Line 102"/>
                <p:cNvSpPr>
                  <a:spLocks noChangeShapeType="1"/>
                </p:cNvSpPr>
                <p:nvPr/>
              </p:nvSpPr>
              <p:spPr bwMode="auto">
                <a:xfrm flipV="1">
                  <a:off x="4014" y="3748"/>
                  <a:ext cx="1354" cy="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spTree>
    <p:extLst>
      <p:ext uri="{BB962C8B-B14F-4D97-AF65-F5344CB8AC3E}">
        <p14:creationId xmlns:p14="http://schemas.microsoft.com/office/powerpoint/2010/main" val="35691906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6387"/>
                                        </p:tgtEl>
                                        <p:attrNameLst>
                                          <p:attrName>style.visibility</p:attrName>
                                        </p:attrNameLst>
                                      </p:cBhvr>
                                      <p:to>
                                        <p:strVal val="visible"/>
                                      </p:to>
                                    </p:set>
                                    <p:animEffect transition="in" filter="wipe(left)">
                                      <p:cBhvr>
                                        <p:cTn id="7" dur="500"/>
                                        <p:tgtEl>
                                          <p:spTgt spid="656387"/>
                                        </p:tgtEl>
                                      </p:cBhvr>
                                    </p:animEffect>
                                  </p:childTnLst>
                                </p:cTn>
                              </p:par>
                            </p:childTnLst>
                          </p:cTn>
                        </p:par>
                        <p:par>
                          <p:cTn id="8" fill="hold" nodeType="afterGroup">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56388"/>
                                        </p:tgtEl>
                                        <p:attrNameLst>
                                          <p:attrName>style.visibility</p:attrName>
                                        </p:attrNameLst>
                                      </p:cBhvr>
                                      <p:to>
                                        <p:strVal val="visible"/>
                                      </p:to>
                                    </p:set>
                                    <p:animEffect transition="in" filter="box(in)">
                                      <p:cBhvr>
                                        <p:cTn id="17" dur="500"/>
                                        <p:tgtEl>
                                          <p:spTgt spid="656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ppt_x</p:attrName>
                                        </p:attrNameLst>
                                      </p:cBhvr>
                                      <p:tavLst>
                                        <p:tav tm="0">
                                          <p:val>
                                            <p:strVal val="#ppt_x-#ppt_w/2"/>
                                          </p:val>
                                        </p:tav>
                                        <p:tav tm="100000">
                                          <p:val>
                                            <p:strVal val="#ppt_x"/>
                                          </p:val>
                                        </p:tav>
                                      </p:tavLst>
                                    </p:anim>
                                    <p:anim calcmode="lin" valueType="num">
                                      <p:cBhvr>
                                        <p:cTn id="23" dur="500" fill="hold"/>
                                        <p:tgtEl>
                                          <p:spTgt spid="13"/>
                                        </p:tgtEl>
                                        <p:attrNameLst>
                                          <p:attrName>ppt_y</p:attrName>
                                        </p:attrNameLst>
                                      </p:cBhvr>
                                      <p:tavLst>
                                        <p:tav tm="0">
                                          <p:val>
                                            <p:strVal val="#ppt_y"/>
                                          </p:val>
                                        </p:tav>
                                        <p:tav tm="100000">
                                          <p:val>
                                            <p:strVal val="#ppt_y"/>
                                          </p:val>
                                        </p:tav>
                                      </p:tavLst>
                                    </p:anim>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8"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p:cTn id="30" dur="500" fill="hold"/>
                                        <p:tgtEl>
                                          <p:spTgt spid="19"/>
                                        </p:tgtEl>
                                        <p:attrNameLst>
                                          <p:attrName>ppt_x</p:attrName>
                                        </p:attrNameLst>
                                      </p:cBhvr>
                                      <p:tavLst>
                                        <p:tav tm="0">
                                          <p:val>
                                            <p:strVal val="#ppt_x-#ppt_w/2"/>
                                          </p:val>
                                        </p:tav>
                                        <p:tav tm="100000">
                                          <p:val>
                                            <p:strVal val="#ppt_x"/>
                                          </p:val>
                                        </p:tav>
                                      </p:tavLst>
                                    </p:anim>
                                    <p:anim calcmode="lin" valueType="num">
                                      <p:cBhvr>
                                        <p:cTn id="31" dur="500" fill="hold"/>
                                        <p:tgtEl>
                                          <p:spTgt spid="19"/>
                                        </p:tgtEl>
                                        <p:attrNameLst>
                                          <p:attrName>ppt_y</p:attrName>
                                        </p:attrNameLst>
                                      </p:cBhvr>
                                      <p:tavLst>
                                        <p:tav tm="0">
                                          <p:val>
                                            <p:strVal val="#ppt_y"/>
                                          </p:val>
                                        </p:tav>
                                        <p:tav tm="100000">
                                          <p:val>
                                            <p:strVal val="#ppt_y"/>
                                          </p:val>
                                        </p:tav>
                                      </p:tavLst>
                                    </p:anim>
                                    <p:anim calcmode="lin" valueType="num">
                                      <p:cBhvr>
                                        <p:cTn id="32" dur="500" fill="hold"/>
                                        <p:tgtEl>
                                          <p:spTgt spid="19"/>
                                        </p:tgtEl>
                                        <p:attrNameLst>
                                          <p:attrName>ppt_w</p:attrName>
                                        </p:attrNameLst>
                                      </p:cBhvr>
                                      <p:tavLst>
                                        <p:tav tm="0">
                                          <p:val>
                                            <p:fltVal val="0"/>
                                          </p:val>
                                        </p:tav>
                                        <p:tav tm="100000">
                                          <p:val>
                                            <p:strVal val="#ppt_w"/>
                                          </p:val>
                                        </p:tav>
                                      </p:tavLst>
                                    </p:anim>
                                    <p:anim calcmode="lin" valueType="num">
                                      <p:cBhvr>
                                        <p:cTn id="33"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56389"/>
                                        </p:tgtEl>
                                        <p:attrNameLst>
                                          <p:attrName>style.visibility</p:attrName>
                                        </p:attrNameLst>
                                      </p:cBhvr>
                                      <p:to>
                                        <p:strVal val="visible"/>
                                      </p:to>
                                    </p:set>
                                    <p:animEffect transition="in" filter="wipe(left)">
                                      <p:cBhvr>
                                        <p:cTn id="38" dur="500"/>
                                        <p:tgtEl>
                                          <p:spTgt spid="65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387" grpId="0"/>
      <p:bldP spid="65638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DE19461E-043A-4DA6-94AF-14D7836926E9}"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46</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7410" name="Text Box 2"/>
          <p:cNvSpPr txBox="1">
            <a:spLocks noChangeArrowheads="1"/>
          </p:cNvSpPr>
          <p:nvPr/>
        </p:nvSpPr>
        <p:spPr bwMode="auto">
          <a:xfrm>
            <a:off x="457200" y="609600"/>
            <a:ext cx="8218488" cy="867930"/>
          </a:xfrm>
          <a:prstGeom prst="rect">
            <a:avLst/>
          </a:prstGeom>
          <a:noFill/>
          <a:ln w="9525">
            <a:noFill/>
            <a:miter lim="800000"/>
            <a:headEnd/>
            <a:tailEnd/>
          </a:ln>
          <a:effectLst/>
        </p:spPr>
        <p:txBody>
          <a:bodyPr>
            <a:spAutoFit/>
          </a:bodyPr>
          <a:lstStyle/>
          <a:p>
            <a:pPr eaLnBrk="1" hangingPunct="1">
              <a:spcBef>
                <a:spcPct val="1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2</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）计算等效电阻。将有源二端网络内部的电源置为零，</a:t>
            </a:r>
          </a:p>
          <a:p>
            <a:pPr eaLnBrk="1" hangingPunct="1">
              <a:spcBef>
                <a:spcPct val="1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如图 </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所示。</a:t>
            </a:r>
            <a:endParaRPr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57412" name="Object 4"/>
          <p:cNvGraphicFramePr>
            <a:graphicFrameLocks noChangeAspect="1"/>
          </p:cNvGraphicFramePr>
          <p:nvPr>
            <p:extLst>
              <p:ext uri="{D42A27DB-BD31-4B8C-83A1-F6EECF244321}">
                <p14:modId xmlns:p14="http://schemas.microsoft.com/office/powerpoint/2010/main" val="1437112877"/>
              </p:ext>
            </p:extLst>
          </p:nvPr>
        </p:nvGraphicFramePr>
        <p:xfrm>
          <a:off x="2803525" y="1341438"/>
          <a:ext cx="3332163" cy="915987"/>
        </p:xfrm>
        <a:graphic>
          <a:graphicData uri="http://schemas.openxmlformats.org/presentationml/2006/ole">
            <mc:AlternateContent xmlns:mc="http://schemas.openxmlformats.org/markup-compatibility/2006">
              <mc:Choice xmlns:v="urn:schemas-microsoft-com:vml" Requires="v">
                <p:oleObj spid="_x0000_s92170" name="Equation" r:id="rId3" imgW="1435100" imgH="393700" progId="Equation.DSMT4">
                  <p:embed/>
                </p:oleObj>
              </mc:Choice>
              <mc:Fallback>
                <p:oleObj name="Equation" r:id="rId3" imgW="14351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525" y="1341438"/>
                        <a:ext cx="3332163" cy="915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7413" name="Text Box 5"/>
          <p:cNvSpPr txBox="1">
            <a:spLocks noChangeArrowheads="1"/>
          </p:cNvSpPr>
          <p:nvPr/>
        </p:nvSpPr>
        <p:spPr bwMode="auto">
          <a:xfrm>
            <a:off x="533400" y="2295525"/>
            <a:ext cx="7924800" cy="867930"/>
          </a:xfrm>
          <a:prstGeom prst="rect">
            <a:avLst/>
          </a:prstGeom>
          <a:noFill/>
          <a:ln w="9525">
            <a:noFill/>
            <a:miter lim="800000"/>
            <a:headEnd/>
            <a:tailEnd/>
          </a:ln>
          <a:effectLst/>
        </p:spPr>
        <p:txBody>
          <a:bodyPr>
            <a:spAutoFit/>
          </a:bodyPr>
          <a:lstStyle/>
          <a:p>
            <a:pPr eaLnBrk="1" hangingPunct="1">
              <a:spcBef>
                <a:spcPct val="10000"/>
              </a:spcBef>
              <a:defRPr/>
            </a:pP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3</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图 </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所示</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42V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电压源与</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14Ω</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电阻的串联即为图</a:t>
            </a: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a:p>
            <a:pPr eaLnBrk="1" hangingPunct="1">
              <a:spcBef>
                <a:spcPct val="10000"/>
              </a:spcBef>
              <a:defRPr/>
            </a:pPr>
            <a:r>
              <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中有源二端网络的戴维南</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等效电路。</a:t>
            </a:r>
          </a:p>
        </p:txBody>
      </p:sp>
      <p:grpSp>
        <p:nvGrpSpPr>
          <p:cNvPr id="2" name="Group 6"/>
          <p:cNvGrpSpPr>
            <a:grpSpLocks/>
          </p:cNvGrpSpPr>
          <p:nvPr/>
        </p:nvGrpSpPr>
        <p:grpSpPr bwMode="auto">
          <a:xfrm>
            <a:off x="6948488" y="3932238"/>
            <a:ext cx="1047750" cy="2392362"/>
            <a:chOff x="4513" y="2432"/>
            <a:chExt cx="660" cy="1507"/>
          </a:xfrm>
        </p:grpSpPr>
        <p:sp>
          <p:nvSpPr>
            <p:cNvPr id="657415" name="Text Box 7"/>
            <p:cNvSpPr txBox="1">
              <a:spLocks noChangeArrowheads="1"/>
            </p:cNvSpPr>
            <p:nvPr/>
          </p:nvSpPr>
          <p:spPr bwMode="auto">
            <a:xfrm>
              <a:off x="4656" y="3648"/>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grpSp>
          <p:nvGrpSpPr>
            <p:cNvPr id="51276" name="Group 8"/>
            <p:cNvGrpSpPr>
              <a:grpSpLocks/>
            </p:cNvGrpSpPr>
            <p:nvPr/>
          </p:nvGrpSpPr>
          <p:grpSpPr bwMode="auto">
            <a:xfrm>
              <a:off x="4513" y="2432"/>
              <a:ext cx="660" cy="1152"/>
              <a:chOff x="4428" y="2688"/>
              <a:chExt cx="660" cy="1152"/>
            </a:xfrm>
          </p:grpSpPr>
          <p:sp>
            <p:nvSpPr>
              <p:cNvPr id="657417" name="Text Box 9"/>
              <p:cNvSpPr txBox="1">
                <a:spLocks noChangeArrowheads="1"/>
              </p:cNvSpPr>
              <p:nvPr/>
            </p:nvSpPr>
            <p:spPr bwMode="auto">
              <a:xfrm>
                <a:off x="4608" y="2832"/>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0C</a:t>
                </a:r>
              </a:p>
            </p:txBody>
          </p:sp>
          <p:sp>
            <p:nvSpPr>
              <p:cNvPr id="657418" name="Text Box 10"/>
              <p:cNvSpPr txBox="1">
                <a:spLocks noChangeArrowheads="1"/>
              </p:cNvSpPr>
              <p:nvPr/>
            </p:nvSpPr>
            <p:spPr bwMode="auto">
              <a:xfrm>
                <a:off x="4608" y="3312"/>
                <a:ext cx="336"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a:t>
                </a:r>
              </a:p>
            </p:txBody>
          </p:sp>
          <p:grpSp>
            <p:nvGrpSpPr>
              <p:cNvPr id="51279" name="Group 11"/>
              <p:cNvGrpSpPr>
                <a:grpSpLocks/>
              </p:cNvGrpSpPr>
              <p:nvPr/>
            </p:nvGrpSpPr>
            <p:grpSpPr bwMode="auto">
              <a:xfrm>
                <a:off x="4428" y="2688"/>
                <a:ext cx="660" cy="1152"/>
                <a:chOff x="5671" y="5913"/>
                <a:chExt cx="2189" cy="3619"/>
              </a:xfrm>
            </p:grpSpPr>
            <p:grpSp>
              <p:nvGrpSpPr>
                <p:cNvPr id="51280" name="Group 12"/>
                <p:cNvGrpSpPr>
                  <a:grpSpLocks/>
                </p:cNvGrpSpPr>
                <p:nvPr/>
              </p:nvGrpSpPr>
              <p:grpSpPr bwMode="auto">
                <a:xfrm>
                  <a:off x="5671" y="6012"/>
                  <a:ext cx="2022" cy="3449"/>
                  <a:chOff x="5671" y="6012"/>
                  <a:chExt cx="2022" cy="3449"/>
                </a:xfrm>
              </p:grpSpPr>
              <p:grpSp>
                <p:nvGrpSpPr>
                  <p:cNvPr id="51283" name="Group 13"/>
                  <p:cNvGrpSpPr>
                    <a:grpSpLocks/>
                  </p:cNvGrpSpPr>
                  <p:nvPr/>
                </p:nvGrpSpPr>
                <p:grpSpPr bwMode="auto">
                  <a:xfrm>
                    <a:off x="5671" y="6014"/>
                    <a:ext cx="828" cy="1988"/>
                    <a:chOff x="4417" y="567"/>
                    <a:chExt cx="693" cy="1650"/>
                  </a:xfrm>
                </p:grpSpPr>
                <p:grpSp>
                  <p:nvGrpSpPr>
                    <p:cNvPr id="51289" name="Group 14"/>
                    <p:cNvGrpSpPr>
                      <a:grpSpLocks/>
                    </p:cNvGrpSpPr>
                    <p:nvPr/>
                  </p:nvGrpSpPr>
                  <p:grpSpPr bwMode="auto">
                    <a:xfrm>
                      <a:off x="4417" y="567"/>
                      <a:ext cx="550" cy="1650"/>
                      <a:chOff x="4417" y="567"/>
                      <a:chExt cx="550" cy="1650"/>
                    </a:xfrm>
                  </p:grpSpPr>
                  <p:sp>
                    <p:nvSpPr>
                      <p:cNvPr id="51294" name="Oval 1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95" name="Line 16"/>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90" name="Group 17"/>
                    <p:cNvGrpSpPr>
                      <a:grpSpLocks/>
                    </p:cNvGrpSpPr>
                    <p:nvPr/>
                  </p:nvGrpSpPr>
                  <p:grpSpPr bwMode="auto">
                    <a:xfrm>
                      <a:off x="4956" y="853"/>
                      <a:ext cx="154" cy="979"/>
                      <a:chOff x="4956" y="853"/>
                      <a:chExt cx="154" cy="979"/>
                    </a:xfrm>
                  </p:grpSpPr>
                  <p:sp>
                    <p:nvSpPr>
                      <p:cNvPr id="51291" name="Line 1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92" name="Line 1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93" name="Line 2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1284" name="Group 21"/>
                  <p:cNvGrpSpPr>
                    <a:grpSpLocks/>
                  </p:cNvGrpSpPr>
                  <p:nvPr/>
                </p:nvGrpSpPr>
                <p:grpSpPr bwMode="auto">
                  <a:xfrm>
                    <a:off x="5880" y="7486"/>
                    <a:ext cx="223" cy="1975"/>
                    <a:chOff x="743" y="567"/>
                    <a:chExt cx="187" cy="1639"/>
                  </a:xfrm>
                </p:grpSpPr>
                <p:sp>
                  <p:nvSpPr>
                    <p:cNvPr id="51287" name="Line 2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88" name="Rectangle 2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85" name="Line 24"/>
                  <p:cNvSpPr>
                    <a:spLocks noChangeShapeType="1"/>
                  </p:cNvSpPr>
                  <p:nvPr/>
                </p:nvSpPr>
                <p:spPr bwMode="auto">
                  <a:xfrm flipV="1">
                    <a:off x="6001" y="6012"/>
                    <a:ext cx="169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86" name="Line 25"/>
                  <p:cNvSpPr>
                    <a:spLocks noChangeShapeType="1"/>
                  </p:cNvSpPr>
                  <p:nvPr/>
                </p:nvSpPr>
                <p:spPr bwMode="auto">
                  <a:xfrm flipV="1">
                    <a:off x="6001" y="9431"/>
                    <a:ext cx="169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81" name="Oval 26"/>
                <p:cNvSpPr>
                  <a:spLocks noChangeArrowheads="1"/>
                </p:cNvSpPr>
                <p:nvPr/>
              </p:nvSpPr>
              <p:spPr bwMode="auto">
                <a:xfrm>
                  <a:off x="7662" y="5913"/>
                  <a:ext cx="187" cy="19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82" name="Oval 27"/>
                <p:cNvSpPr>
                  <a:spLocks noChangeArrowheads="1"/>
                </p:cNvSpPr>
                <p:nvPr/>
              </p:nvSpPr>
              <p:spPr bwMode="auto">
                <a:xfrm>
                  <a:off x="7673" y="9334"/>
                  <a:ext cx="187" cy="19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grpSp>
        <p:nvGrpSpPr>
          <p:cNvPr id="10" name="Group 28"/>
          <p:cNvGrpSpPr>
            <a:grpSpLocks/>
          </p:cNvGrpSpPr>
          <p:nvPr/>
        </p:nvGrpSpPr>
        <p:grpSpPr bwMode="auto">
          <a:xfrm>
            <a:off x="3995738" y="3530600"/>
            <a:ext cx="1905000" cy="2936875"/>
            <a:chOff x="2517" y="2189"/>
            <a:chExt cx="1200" cy="1850"/>
          </a:xfrm>
        </p:grpSpPr>
        <p:grpSp>
          <p:nvGrpSpPr>
            <p:cNvPr id="51255" name="Group 29"/>
            <p:cNvGrpSpPr>
              <a:grpSpLocks/>
            </p:cNvGrpSpPr>
            <p:nvPr/>
          </p:nvGrpSpPr>
          <p:grpSpPr bwMode="auto">
            <a:xfrm>
              <a:off x="2517" y="2189"/>
              <a:ext cx="1200" cy="1423"/>
              <a:chOff x="3097" y="2561"/>
              <a:chExt cx="1200" cy="1423"/>
            </a:xfrm>
          </p:grpSpPr>
          <p:sp>
            <p:nvSpPr>
              <p:cNvPr id="51257" name="Line 30"/>
              <p:cNvSpPr>
                <a:spLocks noChangeShapeType="1"/>
              </p:cNvSpPr>
              <p:nvPr/>
            </p:nvSpPr>
            <p:spPr bwMode="auto">
              <a:xfrm>
                <a:off x="3641" y="2884"/>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58" name="Group 31"/>
              <p:cNvGrpSpPr>
                <a:grpSpLocks/>
              </p:cNvGrpSpPr>
              <p:nvPr/>
            </p:nvGrpSpPr>
            <p:grpSpPr bwMode="auto">
              <a:xfrm>
                <a:off x="3604" y="3129"/>
                <a:ext cx="71" cy="619"/>
                <a:chOff x="743" y="567"/>
                <a:chExt cx="187" cy="1639"/>
              </a:xfrm>
            </p:grpSpPr>
            <p:sp>
              <p:nvSpPr>
                <p:cNvPr id="51273" name="Line 3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74" name="Rectangle 3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59" name="Group 34"/>
              <p:cNvGrpSpPr>
                <a:grpSpLocks/>
              </p:cNvGrpSpPr>
              <p:nvPr/>
            </p:nvGrpSpPr>
            <p:grpSpPr bwMode="auto">
              <a:xfrm>
                <a:off x="3097" y="2880"/>
                <a:ext cx="71" cy="619"/>
                <a:chOff x="743" y="567"/>
                <a:chExt cx="187" cy="1639"/>
              </a:xfrm>
            </p:grpSpPr>
            <p:sp>
              <p:nvSpPr>
                <p:cNvPr id="51271" name="Line 3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72" name="Rectangle 3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60" name="Line 37"/>
              <p:cNvSpPr>
                <a:spLocks noChangeShapeType="1"/>
              </p:cNvSpPr>
              <p:nvPr/>
            </p:nvSpPr>
            <p:spPr bwMode="auto">
              <a:xfrm flipV="1">
                <a:off x="3122" y="2880"/>
                <a:ext cx="1150" cy="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1" name="Line 38"/>
              <p:cNvSpPr>
                <a:spLocks noChangeShapeType="1"/>
              </p:cNvSpPr>
              <p:nvPr/>
            </p:nvSpPr>
            <p:spPr bwMode="auto">
              <a:xfrm flipV="1">
                <a:off x="3122" y="3936"/>
                <a:ext cx="1150" cy="1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62" name="Group 39"/>
              <p:cNvGrpSpPr>
                <a:grpSpLocks/>
              </p:cNvGrpSpPr>
              <p:nvPr/>
            </p:nvGrpSpPr>
            <p:grpSpPr bwMode="auto">
              <a:xfrm rot="-5400000">
                <a:off x="3886" y="2626"/>
                <a:ext cx="59" cy="520"/>
                <a:chOff x="743" y="567"/>
                <a:chExt cx="187" cy="1639"/>
              </a:xfrm>
            </p:grpSpPr>
            <p:sp>
              <p:nvSpPr>
                <p:cNvPr id="51269" name="Line 4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70" name="Rectangle 4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63" name="Oval 42"/>
              <p:cNvSpPr>
                <a:spLocks noChangeArrowheads="1"/>
              </p:cNvSpPr>
              <p:nvPr/>
            </p:nvSpPr>
            <p:spPr bwMode="auto">
              <a:xfrm>
                <a:off x="4224" y="2849"/>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4" name="Oval 43"/>
              <p:cNvSpPr>
                <a:spLocks noChangeArrowheads="1"/>
              </p:cNvSpPr>
              <p:nvPr/>
            </p:nvSpPr>
            <p:spPr bwMode="auto">
              <a:xfrm>
                <a:off x="4224" y="3922"/>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57452" name="Text Box 44"/>
              <p:cNvSpPr txBox="1">
                <a:spLocks noChangeArrowheads="1"/>
              </p:cNvSpPr>
              <p:nvPr/>
            </p:nvSpPr>
            <p:spPr bwMode="auto">
              <a:xfrm>
                <a:off x="3744" y="2561"/>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7453" name="Text Box 45"/>
              <p:cNvSpPr txBox="1">
                <a:spLocks noChangeArrowheads="1"/>
              </p:cNvSpPr>
              <p:nvPr/>
            </p:nvSpPr>
            <p:spPr bwMode="auto">
              <a:xfrm>
                <a:off x="3600" y="3089"/>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7454" name="Text Box 46"/>
              <p:cNvSpPr txBox="1">
                <a:spLocks noChangeArrowheads="1"/>
              </p:cNvSpPr>
              <p:nvPr/>
            </p:nvSpPr>
            <p:spPr bwMode="auto">
              <a:xfrm>
                <a:off x="3168" y="3041"/>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51268" name="Line 47"/>
              <p:cNvSpPr>
                <a:spLocks noChangeShapeType="1"/>
              </p:cNvSpPr>
              <p:nvPr/>
            </p:nvSpPr>
            <p:spPr bwMode="auto">
              <a:xfrm>
                <a:off x="3120" y="3408"/>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7456" name="Text Box 48"/>
            <p:cNvSpPr txBox="1">
              <a:spLocks noChangeArrowheads="1"/>
            </p:cNvSpPr>
            <p:nvPr/>
          </p:nvSpPr>
          <p:spPr bwMode="auto">
            <a:xfrm>
              <a:off x="2971" y="3748"/>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grpSp>
      <p:sp>
        <p:nvSpPr>
          <p:cNvPr id="657457" name="Rectangle 49"/>
          <p:cNvSpPr>
            <a:spLocks noChangeArrowheads="1"/>
          </p:cNvSpPr>
          <p:nvPr/>
        </p:nvSpPr>
        <p:spPr bwMode="auto">
          <a:xfrm>
            <a:off x="3779838" y="3789363"/>
            <a:ext cx="1800225" cy="2160587"/>
          </a:xfrm>
          <a:prstGeom prst="rect">
            <a:avLst/>
          </a:prstGeom>
          <a:noFill/>
          <a:ln w="38100" algn="ctr">
            <a:solidFill>
              <a:schemeClr val="accent2"/>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5" name="Group 50"/>
          <p:cNvGrpSpPr>
            <a:grpSpLocks/>
          </p:cNvGrpSpPr>
          <p:nvPr/>
        </p:nvGrpSpPr>
        <p:grpSpPr bwMode="auto">
          <a:xfrm>
            <a:off x="2916238" y="6021388"/>
            <a:ext cx="1368425" cy="590550"/>
            <a:chOff x="1837" y="3793"/>
            <a:chExt cx="862" cy="372"/>
          </a:xfrm>
        </p:grpSpPr>
        <p:sp>
          <p:nvSpPr>
            <p:cNvPr id="51253" name="AutoShape 51"/>
            <p:cNvSpPr>
              <a:spLocks noChangeArrowheads="1"/>
            </p:cNvSpPr>
            <p:nvPr/>
          </p:nvSpPr>
          <p:spPr bwMode="auto">
            <a:xfrm flipV="1">
              <a:off x="1837" y="3793"/>
              <a:ext cx="862" cy="363"/>
            </a:xfrm>
            <a:prstGeom prst="wedgeEllipseCallout">
              <a:avLst>
                <a:gd name="adj1" fmla="val 25866"/>
                <a:gd name="adj2" fmla="val 93801"/>
              </a:avLst>
            </a:prstGeom>
            <a:solidFill>
              <a:schemeClr val="accent1"/>
            </a:solidFill>
            <a:ln w="38100" algn="ctr">
              <a:solidFill>
                <a:schemeClr val="tx2"/>
              </a:solidFill>
              <a:miter lim="800000"/>
              <a:headEnd/>
              <a:tailEnd/>
            </a:ln>
          </p:spPr>
          <p:txBody>
            <a:bodyPr rot="10800000"/>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4" name="Text Box 52"/>
            <p:cNvSpPr txBox="1">
              <a:spLocks noChangeArrowheads="1"/>
            </p:cNvSpPr>
            <p:nvPr/>
          </p:nvSpPr>
          <p:spPr bwMode="auto">
            <a:xfrm>
              <a:off x="2064" y="3838"/>
              <a:ext cx="4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o</a:t>
              </a:r>
            </a:p>
          </p:txBody>
        </p:sp>
      </p:grpSp>
      <p:grpSp>
        <p:nvGrpSpPr>
          <p:cNvPr id="16" name="Group 53"/>
          <p:cNvGrpSpPr>
            <a:grpSpLocks/>
          </p:cNvGrpSpPr>
          <p:nvPr/>
        </p:nvGrpSpPr>
        <p:grpSpPr bwMode="auto">
          <a:xfrm>
            <a:off x="179388" y="3573463"/>
            <a:ext cx="3276600" cy="2671762"/>
            <a:chOff x="480" y="2400"/>
            <a:chExt cx="2064" cy="1683"/>
          </a:xfrm>
        </p:grpSpPr>
        <p:sp>
          <p:nvSpPr>
            <p:cNvPr id="51212" name="Text Box 54"/>
            <p:cNvSpPr txBox="1">
              <a:spLocks noChangeArrowheads="1"/>
            </p:cNvSpPr>
            <p:nvPr/>
          </p:nvSpPr>
          <p:spPr bwMode="auto">
            <a:xfrm>
              <a:off x="720" y="283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13" name="Group 55"/>
            <p:cNvGrpSpPr>
              <a:grpSpLocks/>
            </p:cNvGrpSpPr>
            <p:nvPr/>
          </p:nvGrpSpPr>
          <p:grpSpPr bwMode="auto">
            <a:xfrm>
              <a:off x="480" y="2400"/>
              <a:ext cx="2064" cy="1423"/>
              <a:chOff x="720" y="1296"/>
              <a:chExt cx="2064" cy="1423"/>
            </a:xfrm>
          </p:grpSpPr>
          <p:grpSp>
            <p:nvGrpSpPr>
              <p:cNvPr id="51215" name="Group 56"/>
              <p:cNvGrpSpPr>
                <a:grpSpLocks/>
              </p:cNvGrpSpPr>
              <p:nvPr/>
            </p:nvGrpSpPr>
            <p:grpSpPr bwMode="auto">
              <a:xfrm>
                <a:off x="720" y="1584"/>
                <a:ext cx="1872" cy="1135"/>
                <a:chOff x="720" y="1584"/>
                <a:chExt cx="1872" cy="1135"/>
              </a:xfrm>
            </p:grpSpPr>
            <p:sp>
              <p:nvSpPr>
                <p:cNvPr id="51222" name="Line 57"/>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3" name="Line 58"/>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24" name="Group 59"/>
                <p:cNvGrpSpPr>
                  <a:grpSpLocks/>
                </p:cNvGrpSpPr>
                <p:nvPr/>
              </p:nvGrpSpPr>
              <p:grpSpPr bwMode="auto">
                <a:xfrm>
                  <a:off x="720" y="2064"/>
                  <a:ext cx="263" cy="624"/>
                  <a:chOff x="4417" y="567"/>
                  <a:chExt cx="693" cy="1650"/>
                </a:xfrm>
              </p:grpSpPr>
              <p:grpSp>
                <p:nvGrpSpPr>
                  <p:cNvPr id="51246" name="Group 60"/>
                  <p:cNvGrpSpPr>
                    <a:grpSpLocks/>
                  </p:cNvGrpSpPr>
                  <p:nvPr/>
                </p:nvGrpSpPr>
                <p:grpSpPr bwMode="auto">
                  <a:xfrm>
                    <a:off x="4417" y="567"/>
                    <a:ext cx="550" cy="1650"/>
                    <a:chOff x="4417" y="567"/>
                    <a:chExt cx="550" cy="1650"/>
                  </a:xfrm>
                </p:grpSpPr>
                <p:sp>
                  <p:nvSpPr>
                    <p:cNvPr id="51251" name="Oval 61"/>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2" name="Line 62"/>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47" name="Group 63"/>
                  <p:cNvGrpSpPr>
                    <a:grpSpLocks/>
                  </p:cNvGrpSpPr>
                  <p:nvPr/>
                </p:nvGrpSpPr>
                <p:grpSpPr bwMode="auto">
                  <a:xfrm>
                    <a:off x="4956" y="853"/>
                    <a:ext cx="154" cy="979"/>
                    <a:chOff x="4956" y="853"/>
                    <a:chExt cx="154" cy="979"/>
                  </a:xfrm>
                </p:grpSpPr>
                <p:sp>
                  <p:nvSpPr>
                    <p:cNvPr id="51248" name="Line 64"/>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9" name="Line 65"/>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0" name="Line 66"/>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1225" name="Group 67"/>
                <p:cNvGrpSpPr>
                  <a:grpSpLocks/>
                </p:cNvGrpSpPr>
                <p:nvPr/>
              </p:nvGrpSpPr>
              <p:grpSpPr bwMode="auto">
                <a:xfrm>
                  <a:off x="1687" y="1943"/>
                  <a:ext cx="209" cy="624"/>
                  <a:chOff x="3591" y="567"/>
                  <a:chExt cx="301" cy="907"/>
                </a:xfrm>
              </p:grpSpPr>
              <p:sp>
                <p:nvSpPr>
                  <p:cNvPr id="51239" name="Line 68"/>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0" name="Oval 69"/>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1" name="Line 70"/>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42" name="Group 71"/>
                  <p:cNvGrpSpPr>
                    <a:grpSpLocks/>
                  </p:cNvGrpSpPr>
                  <p:nvPr/>
                </p:nvGrpSpPr>
                <p:grpSpPr bwMode="auto">
                  <a:xfrm>
                    <a:off x="3715" y="591"/>
                    <a:ext cx="56" cy="222"/>
                    <a:chOff x="4507" y="645"/>
                    <a:chExt cx="56" cy="222"/>
                  </a:xfrm>
                </p:grpSpPr>
                <p:sp>
                  <p:nvSpPr>
                    <p:cNvPr id="51243" name="Line 7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4" name="Line 7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5" name="Line 7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1226" name="Group 75"/>
                <p:cNvGrpSpPr>
                  <a:grpSpLocks/>
                </p:cNvGrpSpPr>
                <p:nvPr/>
              </p:nvGrpSpPr>
              <p:grpSpPr bwMode="auto">
                <a:xfrm>
                  <a:off x="1300" y="1864"/>
                  <a:ext cx="71" cy="619"/>
                  <a:chOff x="743" y="567"/>
                  <a:chExt cx="187" cy="1639"/>
                </a:xfrm>
              </p:grpSpPr>
              <p:sp>
                <p:nvSpPr>
                  <p:cNvPr id="51237" name="Line 7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8" name="Rectangle 7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27" name="Group 78"/>
                <p:cNvGrpSpPr>
                  <a:grpSpLocks/>
                </p:cNvGrpSpPr>
                <p:nvPr/>
              </p:nvGrpSpPr>
              <p:grpSpPr bwMode="auto">
                <a:xfrm>
                  <a:off x="793" y="1615"/>
                  <a:ext cx="71" cy="619"/>
                  <a:chOff x="743" y="567"/>
                  <a:chExt cx="187" cy="1639"/>
                </a:xfrm>
              </p:grpSpPr>
              <p:sp>
                <p:nvSpPr>
                  <p:cNvPr id="51235" name="Line 7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6" name="Rectangle 8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28" name="Line 81"/>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9" name="Line 82"/>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30" name="Group 83"/>
                <p:cNvGrpSpPr>
                  <a:grpSpLocks/>
                </p:cNvGrpSpPr>
                <p:nvPr/>
              </p:nvGrpSpPr>
              <p:grpSpPr bwMode="auto">
                <a:xfrm rot="-5400000">
                  <a:off x="2096" y="1361"/>
                  <a:ext cx="59" cy="520"/>
                  <a:chOff x="743" y="567"/>
                  <a:chExt cx="187" cy="1639"/>
                </a:xfrm>
              </p:grpSpPr>
              <p:sp>
                <p:nvSpPr>
                  <p:cNvPr id="51233" name="Line 8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4" name="Rectangle 8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31" name="Oval 86"/>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2" name="Oval 87"/>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57496" name="Text Box 88"/>
              <p:cNvSpPr txBox="1">
                <a:spLocks noChangeArrowheads="1"/>
              </p:cNvSpPr>
              <p:nvPr/>
            </p:nvSpPr>
            <p:spPr bwMode="auto">
              <a:xfrm>
                <a:off x="1920" y="1296"/>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7497" name="Text Box 89"/>
              <p:cNvSpPr txBox="1">
                <a:spLocks noChangeArrowheads="1"/>
              </p:cNvSpPr>
              <p:nvPr/>
            </p:nvSpPr>
            <p:spPr bwMode="auto">
              <a:xfrm>
                <a:off x="1296" y="1824"/>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7498" name="Text Box 90"/>
              <p:cNvSpPr txBox="1">
                <a:spLocks noChangeArrowheads="1"/>
              </p:cNvSpPr>
              <p:nvPr/>
            </p:nvSpPr>
            <p:spPr bwMode="auto">
              <a:xfrm>
                <a:off x="864" y="1776"/>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57499" name="Text Box 91"/>
              <p:cNvSpPr txBox="1">
                <a:spLocks noChangeArrowheads="1"/>
              </p:cNvSpPr>
              <p:nvPr/>
            </p:nvSpPr>
            <p:spPr bwMode="auto">
              <a:xfrm>
                <a:off x="912" y="2256"/>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57500" name="Text Box 92"/>
              <p:cNvSpPr txBox="1">
                <a:spLocks noChangeArrowheads="1"/>
              </p:cNvSpPr>
              <p:nvPr/>
            </p:nvSpPr>
            <p:spPr bwMode="auto">
              <a:xfrm>
                <a:off x="1824" y="2304"/>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51221" name="Text Box 93"/>
              <p:cNvSpPr txBox="1">
                <a:spLocks noChangeArrowheads="1"/>
              </p:cNvSpPr>
              <p:nvPr/>
            </p:nvSpPr>
            <p:spPr bwMode="auto">
              <a:xfrm>
                <a:off x="2256" y="1632"/>
                <a:ext cx="528"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OC</a:t>
                </a:r>
              </a:p>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657502" name="Text Box 94"/>
            <p:cNvSpPr txBox="1">
              <a:spLocks noChangeArrowheads="1"/>
            </p:cNvSpPr>
            <p:nvPr/>
          </p:nvSpPr>
          <p:spPr bwMode="auto">
            <a:xfrm>
              <a:off x="1248" y="3792"/>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grpSp>
    </p:spTree>
    <p:extLst>
      <p:ext uri="{BB962C8B-B14F-4D97-AF65-F5344CB8AC3E}">
        <p14:creationId xmlns:p14="http://schemas.microsoft.com/office/powerpoint/2010/main" val="36871538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57410"/>
                                        </p:tgtEl>
                                        <p:attrNameLst>
                                          <p:attrName>style.visibility</p:attrName>
                                        </p:attrNameLst>
                                      </p:cBhvr>
                                      <p:to>
                                        <p:strVal val="visible"/>
                                      </p:to>
                                    </p:set>
                                    <p:animEffect transition="in" filter="wipe(left)">
                                      <p:cBhvr>
                                        <p:cTn id="13" dur="500"/>
                                        <p:tgtEl>
                                          <p:spTgt spid="6574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57412"/>
                                        </p:tgtEl>
                                        <p:attrNameLst>
                                          <p:attrName>style.visibility</p:attrName>
                                        </p:attrNameLst>
                                      </p:cBhvr>
                                      <p:to>
                                        <p:strVal val="visible"/>
                                      </p:to>
                                    </p:set>
                                    <p:animEffect transition="in" filter="wipe(left)">
                                      <p:cBhvr>
                                        <p:cTn id="24" dur="500"/>
                                        <p:tgtEl>
                                          <p:spTgt spid="657412"/>
                                        </p:tgtEl>
                                      </p:cBhvr>
                                    </p:animEffect>
                                  </p:childTnLst>
                                </p:cTn>
                              </p:par>
                            </p:childTnLst>
                          </p:cTn>
                        </p:par>
                        <p:par>
                          <p:cTn id="25" fill="hold" nodeType="afterGroup">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657457"/>
                                        </p:tgtEl>
                                        <p:attrNameLst>
                                          <p:attrName>style.visibility</p:attrName>
                                        </p:attrNameLst>
                                      </p:cBhvr>
                                      <p:to>
                                        <p:strVal val="visible"/>
                                      </p:to>
                                    </p:set>
                                    <p:animEffect transition="in" filter="wipe(left)">
                                      <p:cBhvr>
                                        <p:cTn id="28" dur="500"/>
                                        <p:tgtEl>
                                          <p:spTgt spid="657457"/>
                                        </p:tgtEl>
                                      </p:cBhvr>
                                    </p:animEffect>
                                  </p:childTnLst>
                                </p:cTn>
                              </p:par>
                            </p:childTnLst>
                          </p:cTn>
                        </p:par>
                        <p:par>
                          <p:cTn id="29" fill="hold" nodeType="afterGroup">
                            <p:stCondLst>
                              <p:cond delay="1000"/>
                            </p:stCondLst>
                            <p:childTnLst>
                              <p:par>
                                <p:cTn id="30" presetID="2" presetClass="entr" presetSubtype="4"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57413"/>
                                        </p:tgtEl>
                                        <p:attrNameLst>
                                          <p:attrName>style.visibility</p:attrName>
                                        </p:attrNameLst>
                                      </p:cBhvr>
                                      <p:to>
                                        <p:strVal val="visible"/>
                                      </p:to>
                                    </p:set>
                                    <p:animEffect transition="in" filter="wipe(left)">
                                      <p:cBhvr>
                                        <p:cTn id="38" dur="500"/>
                                        <p:tgtEl>
                                          <p:spTgt spid="657413"/>
                                        </p:tgtEl>
                                      </p:cBhvr>
                                    </p:animEffect>
                                  </p:childTnLst>
                                </p:cTn>
                              </p:par>
                            </p:childTnLst>
                          </p:cTn>
                        </p:par>
                        <p:par>
                          <p:cTn id="39" fill="hold" nodeType="afterGroup">
                            <p:stCondLst>
                              <p:cond delay="500"/>
                            </p:stCondLst>
                            <p:childTnLst>
                              <p:par>
                                <p:cTn id="40" presetID="23" presetClass="entr" presetSubtype="16" fill="hold" nodeType="after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500" fill="hold"/>
                                        <p:tgtEl>
                                          <p:spTgt spid="2"/>
                                        </p:tgtEl>
                                        <p:attrNameLst>
                                          <p:attrName>ppt_w</p:attrName>
                                        </p:attrNameLst>
                                      </p:cBhvr>
                                      <p:tavLst>
                                        <p:tav tm="0">
                                          <p:val>
                                            <p:fltVal val="0"/>
                                          </p:val>
                                        </p:tav>
                                        <p:tav tm="100000">
                                          <p:val>
                                            <p:strVal val="#ppt_w"/>
                                          </p:val>
                                        </p:tav>
                                      </p:tavLst>
                                    </p:anim>
                                    <p:anim calcmode="lin" valueType="num">
                                      <p:cBhvr>
                                        <p:cTn id="43"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0" grpId="0"/>
      <p:bldP spid="657413" grpId="0"/>
      <p:bldP spid="65745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3D260E62-F4D5-42C2-895B-B7DC99858E7A}"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47</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06" name="Text Box 2"/>
          <p:cNvSpPr txBox="1">
            <a:spLocks noChangeArrowheads="1"/>
          </p:cNvSpPr>
          <p:nvPr/>
        </p:nvSpPr>
        <p:spPr bwMode="auto">
          <a:xfrm>
            <a:off x="633413" y="476250"/>
            <a:ext cx="74676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2-10】</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求图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所</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示电路中的电流</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I</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2" name="Group 3"/>
          <p:cNvGrpSpPr>
            <a:grpSpLocks/>
          </p:cNvGrpSpPr>
          <p:nvPr/>
        </p:nvGrpSpPr>
        <p:grpSpPr bwMode="auto">
          <a:xfrm>
            <a:off x="395288" y="1196975"/>
            <a:ext cx="3725862" cy="2544763"/>
            <a:chOff x="249" y="754"/>
            <a:chExt cx="2347" cy="1603"/>
          </a:xfrm>
        </p:grpSpPr>
        <p:sp>
          <p:nvSpPr>
            <p:cNvPr id="661508" name="Text Box 4"/>
            <p:cNvSpPr txBox="1">
              <a:spLocks noChangeArrowheads="1"/>
            </p:cNvSpPr>
            <p:nvPr/>
          </p:nvSpPr>
          <p:spPr bwMode="auto">
            <a:xfrm>
              <a:off x="1972" y="1256"/>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14 </a:t>
              </a:r>
              <a:r>
                <a:rPr kumimoji="1" lang="el-GR" altLang="zh-CN" sz="2400"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endParaRPr kumimoji="1" lang="en-US" altLang="zh-CN" sz="2400"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09" name="Text Box 5"/>
            <p:cNvSpPr txBox="1">
              <a:spLocks noChangeArrowheads="1"/>
            </p:cNvSpPr>
            <p:nvPr/>
          </p:nvSpPr>
          <p:spPr bwMode="auto">
            <a:xfrm>
              <a:off x="857" y="1519"/>
              <a:ext cx="480"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12V</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10" name="Text Box 6"/>
            <p:cNvSpPr txBox="1">
              <a:spLocks noChangeArrowheads="1"/>
            </p:cNvSpPr>
            <p:nvPr/>
          </p:nvSpPr>
          <p:spPr bwMode="auto">
            <a:xfrm>
              <a:off x="1972" y="783"/>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2320" name="Group 7"/>
            <p:cNvGrpSpPr>
              <a:grpSpLocks/>
            </p:cNvGrpSpPr>
            <p:nvPr/>
          </p:nvGrpSpPr>
          <p:grpSpPr bwMode="auto">
            <a:xfrm>
              <a:off x="722" y="1424"/>
              <a:ext cx="75" cy="656"/>
              <a:chOff x="743" y="567"/>
              <a:chExt cx="187" cy="1639"/>
            </a:xfrm>
          </p:grpSpPr>
          <p:sp>
            <p:nvSpPr>
              <p:cNvPr id="52351" name="Line 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52" name="Rectangle 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321" name="Group 10"/>
            <p:cNvGrpSpPr>
              <a:grpSpLocks/>
            </p:cNvGrpSpPr>
            <p:nvPr/>
          </p:nvGrpSpPr>
          <p:grpSpPr bwMode="auto">
            <a:xfrm>
              <a:off x="717" y="767"/>
              <a:ext cx="75" cy="656"/>
              <a:chOff x="743" y="567"/>
              <a:chExt cx="187" cy="1639"/>
            </a:xfrm>
          </p:grpSpPr>
          <p:sp>
            <p:nvSpPr>
              <p:cNvPr id="52349" name="Line 1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50" name="Rectangle 1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322" name="Group 13"/>
            <p:cNvGrpSpPr>
              <a:grpSpLocks/>
            </p:cNvGrpSpPr>
            <p:nvPr/>
          </p:nvGrpSpPr>
          <p:grpSpPr bwMode="auto">
            <a:xfrm>
              <a:off x="1365" y="1401"/>
              <a:ext cx="75" cy="656"/>
              <a:chOff x="743" y="567"/>
              <a:chExt cx="187" cy="1639"/>
            </a:xfrm>
          </p:grpSpPr>
          <p:sp>
            <p:nvSpPr>
              <p:cNvPr id="52347" name="Line 1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48" name="Rectangle 1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323" name="Group 16"/>
            <p:cNvGrpSpPr>
              <a:grpSpLocks/>
            </p:cNvGrpSpPr>
            <p:nvPr/>
          </p:nvGrpSpPr>
          <p:grpSpPr bwMode="auto">
            <a:xfrm>
              <a:off x="1365" y="754"/>
              <a:ext cx="75" cy="656"/>
              <a:chOff x="743" y="567"/>
              <a:chExt cx="187" cy="1639"/>
            </a:xfrm>
          </p:grpSpPr>
          <p:sp>
            <p:nvSpPr>
              <p:cNvPr id="52345" name="Line 1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46" name="Rectangle 1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324" name="Group 19"/>
            <p:cNvGrpSpPr>
              <a:grpSpLocks/>
            </p:cNvGrpSpPr>
            <p:nvPr/>
          </p:nvGrpSpPr>
          <p:grpSpPr bwMode="auto">
            <a:xfrm rot="-5400000">
              <a:off x="972" y="1118"/>
              <a:ext cx="221" cy="660"/>
              <a:chOff x="4417" y="567"/>
              <a:chExt cx="550" cy="1650"/>
            </a:xfrm>
          </p:grpSpPr>
          <p:sp>
            <p:nvSpPr>
              <p:cNvPr id="52343" name="Oval 2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44" name="Line 21"/>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325" name="Line 22"/>
            <p:cNvSpPr>
              <a:spLocks noChangeShapeType="1"/>
            </p:cNvSpPr>
            <p:nvPr/>
          </p:nvSpPr>
          <p:spPr bwMode="auto">
            <a:xfrm rot="10800000">
              <a:off x="1968" y="1001"/>
              <a:ext cx="0" cy="6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2326" name="Group 23"/>
            <p:cNvGrpSpPr>
              <a:grpSpLocks/>
            </p:cNvGrpSpPr>
            <p:nvPr/>
          </p:nvGrpSpPr>
          <p:grpSpPr bwMode="auto">
            <a:xfrm rot="10800000">
              <a:off x="1944" y="919"/>
              <a:ext cx="41" cy="162"/>
              <a:chOff x="4507" y="645"/>
              <a:chExt cx="56" cy="222"/>
            </a:xfrm>
          </p:grpSpPr>
          <p:sp>
            <p:nvSpPr>
              <p:cNvPr id="52340" name="Line 24"/>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41" name="Line 25"/>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42" name="Line 26"/>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327" name="Line 27"/>
            <p:cNvSpPr>
              <a:spLocks noChangeShapeType="1"/>
            </p:cNvSpPr>
            <p:nvPr/>
          </p:nvSpPr>
          <p:spPr bwMode="auto">
            <a:xfrm rot="-5400000">
              <a:off x="1370" y="1454"/>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28" name="Line 28"/>
            <p:cNvSpPr>
              <a:spLocks noChangeShapeType="1"/>
            </p:cNvSpPr>
            <p:nvPr/>
          </p:nvSpPr>
          <p:spPr bwMode="auto">
            <a:xfrm rot="-5400000">
              <a:off x="1811" y="919"/>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29" name="Line 29"/>
            <p:cNvSpPr>
              <a:spLocks noChangeShapeType="1"/>
            </p:cNvSpPr>
            <p:nvPr/>
          </p:nvSpPr>
          <p:spPr bwMode="auto">
            <a:xfrm rot="-5400000">
              <a:off x="1754" y="1835"/>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30" name="Line 30"/>
            <p:cNvSpPr>
              <a:spLocks noChangeShapeType="1"/>
            </p:cNvSpPr>
            <p:nvPr/>
          </p:nvSpPr>
          <p:spPr bwMode="auto">
            <a:xfrm rot="-5400000">
              <a:off x="1360" y="15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35" name="Text Box 31"/>
            <p:cNvSpPr txBox="1">
              <a:spLocks noChangeArrowheads="1"/>
            </p:cNvSpPr>
            <p:nvPr/>
          </p:nvSpPr>
          <p:spPr bwMode="auto">
            <a:xfrm>
              <a:off x="1428" y="1600"/>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332" name="Text Box 32"/>
            <p:cNvSpPr txBox="1">
              <a:spLocks noChangeArrowheads="1"/>
            </p:cNvSpPr>
            <p:nvPr/>
          </p:nvSpPr>
          <p:spPr bwMode="auto">
            <a:xfrm>
              <a:off x="884" y="2069"/>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661537" name="Text Box 33"/>
            <p:cNvSpPr txBox="1">
              <a:spLocks noChangeArrowheads="1"/>
            </p:cNvSpPr>
            <p:nvPr/>
          </p:nvSpPr>
          <p:spPr bwMode="auto">
            <a:xfrm>
              <a:off x="249" y="1645"/>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538" name="Text Box 34"/>
            <p:cNvSpPr txBox="1">
              <a:spLocks noChangeArrowheads="1"/>
            </p:cNvSpPr>
            <p:nvPr/>
          </p:nvSpPr>
          <p:spPr bwMode="auto">
            <a:xfrm>
              <a:off x="249" y="994"/>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539" name="Text Box 35"/>
            <p:cNvSpPr txBox="1">
              <a:spLocks noChangeArrowheads="1"/>
            </p:cNvSpPr>
            <p:nvPr/>
          </p:nvSpPr>
          <p:spPr bwMode="auto">
            <a:xfrm>
              <a:off x="1428" y="994"/>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336" name="Text Box 36"/>
            <p:cNvSpPr txBox="1">
              <a:spLocks noChangeArrowheads="1"/>
            </p:cNvSpPr>
            <p:nvPr/>
          </p:nvSpPr>
          <p:spPr bwMode="auto">
            <a:xfrm>
              <a:off x="657" y="1191"/>
              <a:ext cx="8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52337" name="Group 37"/>
            <p:cNvGrpSpPr>
              <a:grpSpLocks/>
            </p:cNvGrpSpPr>
            <p:nvPr/>
          </p:nvGrpSpPr>
          <p:grpSpPr bwMode="auto">
            <a:xfrm>
              <a:off x="1927" y="1055"/>
              <a:ext cx="75" cy="656"/>
              <a:chOff x="743" y="567"/>
              <a:chExt cx="187" cy="1639"/>
            </a:xfrm>
          </p:grpSpPr>
          <p:sp>
            <p:nvSpPr>
              <p:cNvPr id="52338" name="Line 3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39" name="Rectangle 3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10" name="Group 40"/>
          <p:cNvGrpSpPr>
            <a:grpSpLocks/>
          </p:cNvGrpSpPr>
          <p:nvPr/>
        </p:nvGrpSpPr>
        <p:grpSpPr bwMode="auto">
          <a:xfrm>
            <a:off x="5076825" y="692150"/>
            <a:ext cx="3167063" cy="3097213"/>
            <a:chOff x="3198" y="436"/>
            <a:chExt cx="1995" cy="1951"/>
          </a:xfrm>
        </p:grpSpPr>
        <p:sp>
          <p:nvSpPr>
            <p:cNvPr id="661545" name="Text Box 41"/>
            <p:cNvSpPr txBox="1">
              <a:spLocks noChangeArrowheads="1"/>
            </p:cNvSpPr>
            <p:nvPr/>
          </p:nvSpPr>
          <p:spPr bwMode="auto">
            <a:xfrm>
              <a:off x="3806" y="1474"/>
              <a:ext cx="480"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12V</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2288" name="Group 42"/>
            <p:cNvGrpSpPr>
              <a:grpSpLocks/>
            </p:cNvGrpSpPr>
            <p:nvPr/>
          </p:nvGrpSpPr>
          <p:grpSpPr bwMode="auto">
            <a:xfrm>
              <a:off x="3671" y="1379"/>
              <a:ext cx="75" cy="656"/>
              <a:chOff x="743" y="567"/>
              <a:chExt cx="187" cy="1639"/>
            </a:xfrm>
          </p:grpSpPr>
          <p:sp>
            <p:nvSpPr>
              <p:cNvPr id="52315" name="Line 4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16" name="Rectangle 4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89" name="Group 45"/>
            <p:cNvGrpSpPr>
              <a:grpSpLocks/>
            </p:cNvGrpSpPr>
            <p:nvPr/>
          </p:nvGrpSpPr>
          <p:grpSpPr bwMode="auto">
            <a:xfrm>
              <a:off x="3666" y="722"/>
              <a:ext cx="75" cy="656"/>
              <a:chOff x="743" y="567"/>
              <a:chExt cx="187" cy="1639"/>
            </a:xfrm>
          </p:grpSpPr>
          <p:sp>
            <p:nvSpPr>
              <p:cNvPr id="52313" name="Line 4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14" name="Rectangle 4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90" name="Group 48"/>
            <p:cNvGrpSpPr>
              <a:grpSpLocks/>
            </p:cNvGrpSpPr>
            <p:nvPr/>
          </p:nvGrpSpPr>
          <p:grpSpPr bwMode="auto">
            <a:xfrm>
              <a:off x="4314" y="1356"/>
              <a:ext cx="75" cy="656"/>
              <a:chOff x="743" y="567"/>
              <a:chExt cx="187" cy="1639"/>
            </a:xfrm>
          </p:grpSpPr>
          <p:sp>
            <p:nvSpPr>
              <p:cNvPr id="52311" name="Line 4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12" name="Rectangle 5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91" name="Group 51"/>
            <p:cNvGrpSpPr>
              <a:grpSpLocks/>
            </p:cNvGrpSpPr>
            <p:nvPr/>
          </p:nvGrpSpPr>
          <p:grpSpPr bwMode="auto">
            <a:xfrm>
              <a:off x="4314" y="709"/>
              <a:ext cx="75" cy="656"/>
              <a:chOff x="743" y="567"/>
              <a:chExt cx="187" cy="1639"/>
            </a:xfrm>
          </p:grpSpPr>
          <p:sp>
            <p:nvSpPr>
              <p:cNvPr id="52309" name="Line 5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10" name="Rectangle 5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92" name="Group 54"/>
            <p:cNvGrpSpPr>
              <a:grpSpLocks/>
            </p:cNvGrpSpPr>
            <p:nvPr/>
          </p:nvGrpSpPr>
          <p:grpSpPr bwMode="auto">
            <a:xfrm rot="-5400000">
              <a:off x="3921" y="1073"/>
              <a:ext cx="221" cy="660"/>
              <a:chOff x="4417" y="567"/>
              <a:chExt cx="550" cy="1650"/>
            </a:xfrm>
          </p:grpSpPr>
          <p:sp>
            <p:nvSpPr>
              <p:cNvPr id="52307" name="Oval 5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08" name="Line 56"/>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93" name="Line 57"/>
            <p:cNvSpPr>
              <a:spLocks noChangeShapeType="1"/>
            </p:cNvSpPr>
            <p:nvPr/>
          </p:nvSpPr>
          <p:spPr bwMode="auto">
            <a:xfrm rot="-5400000">
              <a:off x="4319" y="1409"/>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94" name="Line 58"/>
            <p:cNvSpPr>
              <a:spLocks noChangeShapeType="1"/>
            </p:cNvSpPr>
            <p:nvPr/>
          </p:nvSpPr>
          <p:spPr bwMode="auto">
            <a:xfrm rot="-5400000">
              <a:off x="4309" y="106"/>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63" name="Text Box 59"/>
            <p:cNvSpPr txBox="1">
              <a:spLocks noChangeArrowheads="1"/>
            </p:cNvSpPr>
            <p:nvPr/>
          </p:nvSpPr>
          <p:spPr bwMode="auto">
            <a:xfrm>
              <a:off x="4377" y="1555"/>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296" name="Text Box 60"/>
            <p:cNvSpPr txBox="1">
              <a:spLocks noChangeArrowheads="1"/>
            </p:cNvSpPr>
            <p:nvPr/>
          </p:nvSpPr>
          <p:spPr bwMode="auto">
            <a:xfrm>
              <a:off x="3833" y="2099"/>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61565" name="Text Box 61"/>
            <p:cNvSpPr txBox="1">
              <a:spLocks noChangeArrowheads="1"/>
            </p:cNvSpPr>
            <p:nvPr/>
          </p:nvSpPr>
          <p:spPr bwMode="auto">
            <a:xfrm>
              <a:off x="3198" y="1600"/>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566" name="Text Box 62"/>
            <p:cNvSpPr txBox="1">
              <a:spLocks noChangeArrowheads="1"/>
            </p:cNvSpPr>
            <p:nvPr/>
          </p:nvSpPr>
          <p:spPr bwMode="auto">
            <a:xfrm>
              <a:off x="3198" y="949"/>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567" name="Text Box 63"/>
            <p:cNvSpPr txBox="1">
              <a:spLocks noChangeArrowheads="1"/>
            </p:cNvSpPr>
            <p:nvPr/>
          </p:nvSpPr>
          <p:spPr bwMode="auto">
            <a:xfrm>
              <a:off x="4377" y="949"/>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300" name="Text Box 64"/>
            <p:cNvSpPr txBox="1">
              <a:spLocks noChangeArrowheads="1"/>
            </p:cNvSpPr>
            <p:nvPr/>
          </p:nvSpPr>
          <p:spPr bwMode="auto">
            <a:xfrm>
              <a:off x="3606" y="1146"/>
              <a:ext cx="81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52301" name="Oval 65"/>
            <p:cNvSpPr>
              <a:spLocks noChangeArrowheads="1"/>
            </p:cNvSpPr>
            <p:nvPr/>
          </p:nvSpPr>
          <p:spPr bwMode="auto">
            <a:xfrm>
              <a:off x="4922" y="699"/>
              <a:ext cx="45" cy="45"/>
            </a:xfrm>
            <a:prstGeom prst="ellipse">
              <a:avLst/>
            </a:prstGeom>
            <a:solidFill>
              <a:schemeClr val="accent1"/>
            </a:solidFill>
            <a:ln w="38100" algn="ctr">
              <a:solidFill>
                <a:srgbClr val="000000"/>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02" name="Oval 66"/>
            <p:cNvSpPr>
              <a:spLocks noChangeArrowheads="1"/>
            </p:cNvSpPr>
            <p:nvPr/>
          </p:nvSpPr>
          <p:spPr bwMode="auto">
            <a:xfrm>
              <a:off x="4922" y="1997"/>
              <a:ext cx="45" cy="45"/>
            </a:xfrm>
            <a:prstGeom prst="ellipse">
              <a:avLst/>
            </a:prstGeom>
            <a:solidFill>
              <a:schemeClr val="accent1"/>
            </a:solidFill>
            <a:ln w="38100" algn="ctr">
              <a:solidFill>
                <a:srgbClr val="000000"/>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71" name="Text Box 67"/>
            <p:cNvSpPr txBox="1">
              <a:spLocks noChangeArrowheads="1"/>
            </p:cNvSpPr>
            <p:nvPr/>
          </p:nvSpPr>
          <p:spPr bwMode="auto">
            <a:xfrm>
              <a:off x="4876" y="436"/>
              <a:ext cx="227"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72" name="Text Box 68"/>
            <p:cNvSpPr txBox="1">
              <a:spLocks noChangeArrowheads="1"/>
            </p:cNvSpPr>
            <p:nvPr/>
          </p:nvSpPr>
          <p:spPr bwMode="auto">
            <a:xfrm>
              <a:off x="4876" y="1979"/>
              <a:ext cx="227"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73" name="Text Box 69"/>
            <p:cNvSpPr txBox="1">
              <a:spLocks noChangeArrowheads="1"/>
            </p:cNvSpPr>
            <p:nvPr/>
          </p:nvSpPr>
          <p:spPr bwMode="auto">
            <a:xfrm>
              <a:off x="4785" y="663"/>
              <a:ext cx="408" cy="133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eaLnBrk="1" hangingPunct="1">
                <a:lnSpc>
                  <a:spcPct val="150000"/>
                </a:lnSpc>
                <a:spcBef>
                  <a:spcPct val="50000"/>
                </a:spcBef>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150000"/>
                </a:lnSpc>
                <a:spcBef>
                  <a:spcPct val="50000"/>
                </a:spcBef>
                <a:defRPr/>
              </a:pPr>
              <a:r>
                <a:rPr kumimoji="1" lang="en-US" altLang="zh-CN" sz="240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smtClean="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oc</a:t>
              </a:r>
            </a:p>
            <a:p>
              <a:pPr eaLnBrk="1" hangingPunct="1">
                <a:lnSpc>
                  <a:spcPct val="150000"/>
                </a:lnSpc>
                <a:spcBef>
                  <a:spcPct val="50000"/>
                </a:spcBef>
                <a:defRPr/>
              </a:pPr>
              <a:r>
                <a:rPr kumimoji="1" lang="zh-CN" altLang="en-US"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zh-CN" altLang="el-GR"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306" name="Rectangle 70"/>
            <p:cNvSpPr>
              <a:spLocks noChangeArrowheads="1"/>
            </p:cNvSpPr>
            <p:nvPr/>
          </p:nvSpPr>
          <p:spPr bwMode="auto">
            <a:xfrm>
              <a:off x="3198" y="663"/>
              <a:ext cx="1451" cy="1452"/>
            </a:xfrm>
            <a:prstGeom prst="rect">
              <a:avLst/>
            </a:prstGeom>
            <a:noFill/>
            <a:ln w="1905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6" name="Group 71"/>
          <p:cNvGrpSpPr>
            <a:grpSpLocks/>
          </p:cNvGrpSpPr>
          <p:nvPr/>
        </p:nvGrpSpPr>
        <p:grpSpPr bwMode="auto">
          <a:xfrm>
            <a:off x="5003800" y="3976688"/>
            <a:ext cx="3870325" cy="2717800"/>
            <a:chOff x="3152" y="2505"/>
            <a:chExt cx="2438" cy="1712"/>
          </a:xfrm>
        </p:grpSpPr>
        <p:sp>
          <p:nvSpPr>
            <p:cNvPr id="661576" name="Text Box 72"/>
            <p:cNvSpPr txBox="1">
              <a:spLocks noChangeArrowheads="1"/>
            </p:cNvSpPr>
            <p:nvPr/>
          </p:nvSpPr>
          <p:spPr bwMode="auto">
            <a:xfrm>
              <a:off x="4966" y="3070"/>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14 </a:t>
              </a:r>
              <a:r>
                <a:rPr kumimoji="1" lang="el-GR" altLang="zh-CN" sz="2400"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endParaRPr kumimoji="1" lang="en-US" altLang="zh-CN" sz="2400" b="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77" name="Text Box 73"/>
            <p:cNvSpPr txBox="1">
              <a:spLocks noChangeArrowheads="1"/>
            </p:cNvSpPr>
            <p:nvPr/>
          </p:nvSpPr>
          <p:spPr bwMode="auto">
            <a:xfrm>
              <a:off x="3152" y="3414"/>
              <a:ext cx="771"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3.6V</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578" name="Text Box 74"/>
            <p:cNvSpPr txBox="1">
              <a:spLocks noChangeArrowheads="1"/>
            </p:cNvSpPr>
            <p:nvPr/>
          </p:nvSpPr>
          <p:spPr bwMode="auto">
            <a:xfrm>
              <a:off x="4966" y="2597"/>
              <a:ext cx="384"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2263" name="Group 75"/>
            <p:cNvGrpSpPr>
              <a:grpSpLocks/>
            </p:cNvGrpSpPr>
            <p:nvPr/>
          </p:nvGrpSpPr>
          <p:grpSpPr bwMode="auto">
            <a:xfrm>
              <a:off x="3711" y="2581"/>
              <a:ext cx="75" cy="656"/>
              <a:chOff x="743" y="567"/>
              <a:chExt cx="187" cy="1639"/>
            </a:xfrm>
          </p:grpSpPr>
          <p:sp>
            <p:nvSpPr>
              <p:cNvPr id="52285" name="Line 7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86" name="Rectangle 7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64" name="Group 78"/>
            <p:cNvGrpSpPr>
              <a:grpSpLocks/>
            </p:cNvGrpSpPr>
            <p:nvPr/>
          </p:nvGrpSpPr>
          <p:grpSpPr bwMode="auto">
            <a:xfrm>
              <a:off x="3642" y="3212"/>
              <a:ext cx="221" cy="660"/>
              <a:chOff x="4417" y="567"/>
              <a:chExt cx="550" cy="1650"/>
            </a:xfrm>
          </p:grpSpPr>
          <p:sp>
            <p:nvSpPr>
              <p:cNvPr id="52283" name="Oval 7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84" name="Line 80"/>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65" name="Line 81"/>
            <p:cNvSpPr>
              <a:spLocks noChangeShapeType="1"/>
            </p:cNvSpPr>
            <p:nvPr/>
          </p:nvSpPr>
          <p:spPr bwMode="auto">
            <a:xfrm rot="10800000">
              <a:off x="4962" y="2815"/>
              <a:ext cx="0" cy="6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2266" name="Group 82"/>
            <p:cNvGrpSpPr>
              <a:grpSpLocks/>
            </p:cNvGrpSpPr>
            <p:nvPr/>
          </p:nvGrpSpPr>
          <p:grpSpPr bwMode="auto">
            <a:xfrm rot="10800000">
              <a:off x="4938" y="2733"/>
              <a:ext cx="41" cy="162"/>
              <a:chOff x="4507" y="645"/>
              <a:chExt cx="56" cy="222"/>
            </a:xfrm>
          </p:grpSpPr>
          <p:sp>
            <p:nvSpPr>
              <p:cNvPr id="52280" name="Line 83"/>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81" name="Line 84"/>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82" name="Line 85"/>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67" name="Line 86"/>
            <p:cNvSpPr>
              <a:spLocks noChangeShapeType="1"/>
            </p:cNvSpPr>
            <p:nvPr/>
          </p:nvSpPr>
          <p:spPr bwMode="auto">
            <a:xfrm rot="-5400000">
              <a:off x="4364" y="3268"/>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68" name="Line 87"/>
            <p:cNvSpPr>
              <a:spLocks noChangeShapeType="1"/>
            </p:cNvSpPr>
            <p:nvPr/>
          </p:nvSpPr>
          <p:spPr bwMode="auto">
            <a:xfrm rot="-5400000">
              <a:off x="4805" y="2733"/>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69" name="Line 88"/>
            <p:cNvSpPr>
              <a:spLocks noChangeShapeType="1"/>
            </p:cNvSpPr>
            <p:nvPr/>
          </p:nvSpPr>
          <p:spPr bwMode="auto">
            <a:xfrm rot="-5400000">
              <a:off x="4748" y="3649"/>
              <a:ext cx="43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70" name="Line 89"/>
            <p:cNvSpPr>
              <a:spLocks noChangeShapeType="1"/>
            </p:cNvSpPr>
            <p:nvPr/>
          </p:nvSpPr>
          <p:spPr bwMode="auto">
            <a:xfrm rot="-5400000">
              <a:off x="4354" y="1965"/>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71" name="Text Box 90"/>
            <p:cNvSpPr txBox="1">
              <a:spLocks noChangeArrowheads="1"/>
            </p:cNvSpPr>
            <p:nvPr/>
          </p:nvSpPr>
          <p:spPr bwMode="auto">
            <a:xfrm>
              <a:off x="3878" y="3929"/>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661595" name="Text Box 91"/>
            <p:cNvSpPr txBox="1">
              <a:spLocks noChangeArrowheads="1"/>
            </p:cNvSpPr>
            <p:nvPr/>
          </p:nvSpPr>
          <p:spPr bwMode="auto">
            <a:xfrm>
              <a:off x="3243" y="2808"/>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36</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273" name="Text Box 92"/>
            <p:cNvSpPr txBox="1">
              <a:spLocks noChangeArrowheads="1"/>
            </p:cNvSpPr>
            <p:nvPr/>
          </p:nvSpPr>
          <p:spPr bwMode="auto">
            <a:xfrm rot="5400000">
              <a:off x="3204" y="3411"/>
              <a:ext cx="93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vert="eaVert">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endParaRPr lang="en-US" altLang="zh-CN">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r>
                <a:rPr lang="en-US" altLang="zh-CN">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52274" name="Group 93"/>
            <p:cNvGrpSpPr>
              <a:grpSpLocks/>
            </p:cNvGrpSpPr>
            <p:nvPr/>
          </p:nvGrpSpPr>
          <p:grpSpPr bwMode="auto">
            <a:xfrm>
              <a:off x="4921" y="2869"/>
              <a:ext cx="75" cy="656"/>
              <a:chOff x="743" y="567"/>
              <a:chExt cx="187" cy="1639"/>
            </a:xfrm>
          </p:grpSpPr>
          <p:sp>
            <p:nvSpPr>
              <p:cNvPr id="52278" name="Line 9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79" name="Rectangle 9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1600" name="Text Box 96"/>
            <p:cNvSpPr txBox="1">
              <a:spLocks noChangeArrowheads="1"/>
            </p:cNvSpPr>
            <p:nvPr/>
          </p:nvSpPr>
          <p:spPr bwMode="auto">
            <a:xfrm>
              <a:off x="3833" y="2750"/>
              <a:ext cx="362"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aseline="-250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a:t>
              </a:r>
              <a:endParaRPr kumimoji="1" lang="el-GR" altLang="zh-CN" sz="2400" baseline="-250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601" name="Text Box 97"/>
            <p:cNvSpPr txBox="1">
              <a:spLocks noChangeArrowheads="1"/>
            </p:cNvSpPr>
            <p:nvPr/>
          </p:nvSpPr>
          <p:spPr bwMode="auto">
            <a:xfrm>
              <a:off x="3878" y="3430"/>
              <a:ext cx="499"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aseline="-250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oc</a:t>
              </a:r>
              <a:endParaRPr kumimoji="1" lang="el-GR" altLang="zh-CN" sz="2400" baseline="-250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77" name="Rectangle 98"/>
            <p:cNvSpPr>
              <a:spLocks noChangeArrowheads="1"/>
            </p:cNvSpPr>
            <p:nvPr/>
          </p:nvSpPr>
          <p:spPr bwMode="auto">
            <a:xfrm>
              <a:off x="3170" y="2505"/>
              <a:ext cx="1451" cy="1452"/>
            </a:xfrm>
            <a:prstGeom prst="rect">
              <a:avLst/>
            </a:prstGeom>
            <a:noFill/>
            <a:ln w="1905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21" name="Group 99"/>
          <p:cNvGrpSpPr>
            <a:grpSpLocks/>
          </p:cNvGrpSpPr>
          <p:nvPr/>
        </p:nvGrpSpPr>
        <p:grpSpPr bwMode="auto">
          <a:xfrm>
            <a:off x="611188" y="3616325"/>
            <a:ext cx="3600450" cy="3149600"/>
            <a:chOff x="385" y="2278"/>
            <a:chExt cx="2268" cy="1984"/>
          </a:xfrm>
        </p:grpSpPr>
        <p:grpSp>
          <p:nvGrpSpPr>
            <p:cNvPr id="52233" name="Group 100"/>
            <p:cNvGrpSpPr>
              <a:grpSpLocks/>
            </p:cNvGrpSpPr>
            <p:nvPr/>
          </p:nvGrpSpPr>
          <p:grpSpPr bwMode="auto">
            <a:xfrm>
              <a:off x="748" y="2278"/>
              <a:ext cx="1905" cy="1984"/>
              <a:chOff x="748" y="2278"/>
              <a:chExt cx="1905" cy="1984"/>
            </a:xfrm>
          </p:grpSpPr>
          <p:grpSp>
            <p:nvGrpSpPr>
              <p:cNvPr id="52235" name="Group 101"/>
              <p:cNvGrpSpPr>
                <a:grpSpLocks/>
              </p:cNvGrpSpPr>
              <p:nvPr/>
            </p:nvGrpSpPr>
            <p:grpSpPr bwMode="auto">
              <a:xfrm>
                <a:off x="1221" y="3221"/>
                <a:ext cx="75" cy="656"/>
                <a:chOff x="743" y="567"/>
                <a:chExt cx="187" cy="1639"/>
              </a:xfrm>
            </p:grpSpPr>
            <p:sp>
              <p:nvSpPr>
                <p:cNvPr id="52258" name="Line 10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59" name="Rectangle 10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36" name="Group 104"/>
              <p:cNvGrpSpPr>
                <a:grpSpLocks/>
              </p:cNvGrpSpPr>
              <p:nvPr/>
            </p:nvGrpSpPr>
            <p:grpSpPr bwMode="auto">
              <a:xfrm>
                <a:off x="1216" y="2564"/>
                <a:ext cx="75" cy="656"/>
                <a:chOff x="743" y="567"/>
                <a:chExt cx="187" cy="1639"/>
              </a:xfrm>
            </p:grpSpPr>
            <p:sp>
              <p:nvSpPr>
                <p:cNvPr id="52256" name="Line 105"/>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57" name="Rectangle 106"/>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37" name="Group 107"/>
              <p:cNvGrpSpPr>
                <a:grpSpLocks/>
              </p:cNvGrpSpPr>
              <p:nvPr/>
            </p:nvGrpSpPr>
            <p:grpSpPr bwMode="auto">
              <a:xfrm>
                <a:off x="1864" y="3198"/>
                <a:ext cx="75" cy="656"/>
                <a:chOff x="743" y="567"/>
                <a:chExt cx="187" cy="1639"/>
              </a:xfrm>
            </p:grpSpPr>
            <p:sp>
              <p:nvSpPr>
                <p:cNvPr id="52254" name="Line 10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55" name="Rectangle 10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2238" name="Group 110"/>
              <p:cNvGrpSpPr>
                <a:grpSpLocks/>
              </p:cNvGrpSpPr>
              <p:nvPr/>
            </p:nvGrpSpPr>
            <p:grpSpPr bwMode="auto">
              <a:xfrm>
                <a:off x="1864" y="2551"/>
                <a:ext cx="75" cy="656"/>
                <a:chOff x="743" y="567"/>
                <a:chExt cx="187" cy="1639"/>
              </a:xfrm>
            </p:grpSpPr>
            <p:sp>
              <p:nvSpPr>
                <p:cNvPr id="52252" name="Line 11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53" name="Rectangle 11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39" name="Line 113"/>
              <p:cNvSpPr>
                <a:spLocks noChangeShapeType="1"/>
              </p:cNvSpPr>
              <p:nvPr/>
            </p:nvSpPr>
            <p:spPr bwMode="auto">
              <a:xfrm rot="-5400000">
                <a:off x="1582" y="2915"/>
                <a:ext cx="0" cy="6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40" name="Line 114"/>
              <p:cNvSpPr>
                <a:spLocks noChangeShapeType="1"/>
              </p:cNvSpPr>
              <p:nvPr/>
            </p:nvSpPr>
            <p:spPr bwMode="auto">
              <a:xfrm rot="-5400000">
                <a:off x="1869" y="3251"/>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41" name="Line 115"/>
              <p:cNvSpPr>
                <a:spLocks noChangeShapeType="1"/>
              </p:cNvSpPr>
              <p:nvPr/>
            </p:nvSpPr>
            <p:spPr bwMode="auto">
              <a:xfrm rot="-5400000">
                <a:off x="1859" y="1948"/>
                <a:ext cx="0" cy="122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620" name="Text Box 116"/>
              <p:cNvSpPr txBox="1">
                <a:spLocks noChangeArrowheads="1"/>
              </p:cNvSpPr>
              <p:nvPr/>
            </p:nvSpPr>
            <p:spPr bwMode="auto">
              <a:xfrm>
                <a:off x="1927" y="3397"/>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243" name="Text Box 117"/>
              <p:cNvSpPr txBox="1">
                <a:spLocks noChangeArrowheads="1"/>
              </p:cNvSpPr>
              <p:nvPr/>
            </p:nvSpPr>
            <p:spPr bwMode="auto">
              <a:xfrm>
                <a:off x="962" y="3974"/>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661622" name="Text Box 118"/>
              <p:cNvSpPr txBox="1">
                <a:spLocks noChangeArrowheads="1"/>
              </p:cNvSpPr>
              <p:nvPr/>
            </p:nvSpPr>
            <p:spPr bwMode="auto">
              <a:xfrm>
                <a:off x="748" y="3442"/>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623" name="Text Box 119"/>
              <p:cNvSpPr txBox="1">
                <a:spLocks noChangeArrowheads="1"/>
              </p:cNvSpPr>
              <p:nvPr/>
            </p:nvSpPr>
            <p:spPr bwMode="auto">
              <a:xfrm>
                <a:off x="748" y="2791"/>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661624" name="Text Box 120"/>
              <p:cNvSpPr txBox="1">
                <a:spLocks noChangeArrowheads="1"/>
              </p:cNvSpPr>
              <p:nvPr/>
            </p:nvSpPr>
            <p:spPr bwMode="auto">
              <a:xfrm>
                <a:off x="1927" y="2791"/>
                <a:ext cx="590"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80</a:t>
                </a:r>
                <a:r>
                  <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Ω</a:t>
                </a:r>
              </a:p>
            </p:txBody>
          </p:sp>
          <p:sp>
            <p:nvSpPr>
              <p:cNvPr id="52247" name="Oval 121"/>
              <p:cNvSpPr>
                <a:spLocks noChangeArrowheads="1"/>
              </p:cNvSpPr>
              <p:nvPr/>
            </p:nvSpPr>
            <p:spPr bwMode="auto">
              <a:xfrm>
                <a:off x="2472" y="2541"/>
                <a:ext cx="45" cy="45"/>
              </a:xfrm>
              <a:prstGeom prst="ellipse">
                <a:avLst/>
              </a:prstGeom>
              <a:solidFill>
                <a:schemeClr val="accent1"/>
              </a:solidFill>
              <a:ln w="38100" algn="ctr">
                <a:solidFill>
                  <a:srgbClr val="000000"/>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48" name="Oval 122"/>
              <p:cNvSpPr>
                <a:spLocks noChangeArrowheads="1"/>
              </p:cNvSpPr>
              <p:nvPr/>
            </p:nvSpPr>
            <p:spPr bwMode="auto">
              <a:xfrm>
                <a:off x="2472" y="3839"/>
                <a:ext cx="45" cy="45"/>
              </a:xfrm>
              <a:prstGeom prst="ellipse">
                <a:avLst/>
              </a:prstGeom>
              <a:solidFill>
                <a:schemeClr val="accent1"/>
              </a:solidFill>
              <a:ln w="38100" algn="ctr">
                <a:solidFill>
                  <a:srgbClr val="000000"/>
                </a:solidFill>
                <a:round/>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627" name="Text Box 123"/>
              <p:cNvSpPr txBox="1">
                <a:spLocks noChangeArrowheads="1"/>
              </p:cNvSpPr>
              <p:nvPr/>
            </p:nvSpPr>
            <p:spPr bwMode="auto">
              <a:xfrm>
                <a:off x="2380" y="2278"/>
                <a:ext cx="227"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1628" name="Text Box 124"/>
              <p:cNvSpPr txBox="1">
                <a:spLocks noChangeArrowheads="1"/>
              </p:cNvSpPr>
              <p:nvPr/>
            </p:nvSpPr>
            <p:spPr bwMode="auto">
              <a:xfrm>
                <a:off x="2426" y="3821"/>
                <a:ext cx="227" cy="288"/>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kumimoji="1" lang="el-GR"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2251" name="Rectangle 125"/>
              <p:cNvSpPr>
                <a:spLocks noChangeArrowheads="1"/>
              </p:cNvSpPr>
              <p:nvPr/>
            </p:nvSpPr>
            <p:spPr bwMode="auto">
              <a:xfrm>
                <a:off x="748" y="2505"/>
                <a:ext cx="1451" cy="1452"/>
              </a:xfrm>
              <a:prstGeom prst="rect">
                <a:avLst/>
              </a:prstGeom>
              <a:noFill/>
              <a:ln w="1905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34" name="Text Box 126"/>
            <p:cNvSpPr txBox="1">
              <a:spLocks noChangeArrowheads="1"/>
            </p:cNvSpPr>
            <p:nvPr/>
          </p:nvSpPr>
          <p:spPr bwMode="auto">
            <a:xfrm>
              <a:off x="385" y="3113"/>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aseline="-2500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o</a:t>
              </a:r>
            </a:p>
          </p:txBody>
        </p:sp>
      </p:grpSp>
    </p:spTree>
    <p:extLst>
      <p:ext uri="{BB962C8B-B14F-4D97-AF65-F5344CB8AC3E}">
        <p14:creationId xmlns:p14="http://schemas.microsoft.com/office/powerpoint/2010/main" val="4170096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1506"/>
                                        </p:tgtEl>
                                        <p:attrNameLst>
                                          <p:attrName>style.visibility</p:attrName>
                                        </p:attrNameLst>
                                      </p:cBhvr>
                                      <p:to>
                                        <p:strVal val="visible"/>
                                      </p:to>
                                    </p:set>
                                    <p:animEffect transition="in" filter="wipe(left)">
                                      <p:cBhvr>
                                        <p:cTn id="7" dur="500"/>
                                        <p:tgtEl>
                                          <p:spTgt spid="661506"/>
                                        </p:tgtEl>
                                      </p:cBhvr>
                                    </p:animEffect>
                                  </p:childTnLst>
                                </p:cTn>
                              </p:par>
                            </p:childTnLst>
                          </p:cTn>
                        </p:par>
                        <p:par>
                          <p:cTn id="8" fill="hold" nodeType="afterGroup">
                            <p:stCondLst>
                              <p:cond delay="500"/>
                            </p:stCondLst>
                            <p:childTnLst>
                              <p:par>
                                <p:cTn id="9" presetID="23" presetClass="entr" presetSubtype="16"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heel(4)">
                                      <p:cBhvr>
                                        <p:cTn id="22" dur="500"/>
                                        <p:tgtEl>
                                          <p:spTgt spid="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ox(out)">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9D56228D-933E-436C-AB5A-854345F592BB}"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48</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52" name="Rectangle 2"/>
          <p:cNvSpPr>
            <a:spLocks noRot="1" noChangeArrowheads="1"/>
          </p:cNvSpPr>
          <p:nvPr/>
        </p:nvSpPr>
        <p:spPr bwMode="auto">
          <a:xfrm>
            <a:off x="539750" y="442913"/>
            <a:ext cx="37449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20000"/>
              </a:spcBef>
              <a:buClr>
                <a:schemeClr val="hlink"/>
              </a:buClr>
              <a:buSzPct val="70000"/>
              <a:buFont typeface="Wingdings" panose="05000000000000000000" pitchFamily="2" charset="2"/>
              <a:buNone/>
            </a:pPr>
            <a:r>
              <a:rPr lang="en-US" altLang="zh-CN">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2.5.2  </a:t>
            </a:r>
            <a:r>
              <a:rPr lang="zh-CN" altLang="en-US">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诺顿定理</a:t>
            </a:r>
          </a:p>
        </p:txBody>
      </p:sp>
      <p:sp>
        <p:nvSpPr>
          <p:cNvPr id="662531" name="Rectangle 3"/>
          <p:cNvSpPr>
            <a:spLocks noChangeArrowheads="1"/>
          </p:cNvSpPr>
          <p:nvPr/>
        </p:nvSpPr>
        <p:spPr bwMode="auto">
          <a:xfrm>
            <a:off x="533400" y="1230779"/>
            <a:ext cx="8229600" cy="1938992"/>
          </a:xfrm>
          <a:prstGeom prst="rect">
            <a:avLst/>
          </a:prstGeom>
          <a:noFill/>
          <a:ln w="38100">
            <a:noFill/>
            <a:miter lim="800000"/>
            <a:headEnd/>
            <a:tailEnd/>
          </a:ln>
          <a:effectLst/>
        </p:spPr>
        <p:txBody>
          <a:bodyPr anchor="ctr">
            <a:spAutoFit/>
          </a:bodyPr>
          <a:lstStyle/>
          <a:p>
            <a:pPr eaLnBrk="1" hangingPunct="1">
              <a:lnSpc>
                <a:spcPct val="125000"/>
              </a:lnSpc>
              <a:defRPr/>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latin typeface="Times New Roman" panose="02020603050405020304" pitchFamily="18" charset="0"/>
                <a:ea typeface="华文中宋" panose="02010600040101010101" pitchFamily="2" charset="-122"/>
                <a:cs typeface="Times New Roman" panose="02020603050405020304" pitchFamily="18" charset="0"/>
              </a:rPr>
              <a:t>诺顿定理：</a:t>
            </a:r>
            <a:r>
              <a:rPr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任何一个有源二端线性网络都可以用一个电流源和电阻的并联来等效代替。</a:t>
            </a:r>
          </a:p>
          <a:p>
            <a:pPr eaLnBrk="1" hangingPunct="1">
              <a:lnSpc>
                <a:spcPct val="125000"/>
              </a:lnSpc>
              <a:defRPr/>
            </a:pPr>
            <a:r>
              <a:rPr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等效电流源的电流等于有源二端网络的</a:t>
            </a:r>
            <a:r>
              <a:rPr lang="zh-CN" altLang="en-US"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短路电流</a:t>
            </a:r>
            <a:r>
              <a:rPr lang="en-US" altLang="zh-CN"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SC</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，等效电阻等于该网络中所有电源均为零时的等效电阻</a:t>
            </a:r>
            <a:r>
              <a:rPr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dirty="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62532" name="Rectangle 4"/>
          <p:cNvSpPr>
            <a:spLocks noChangeArrowheads="1"/>
          </p:cNvSpPr>
          <p:nvPr/>
        </p:nvSpPr>
        <p:spPr bwMode="auto">
          <a:xfrm>
            <a:off x="4984750" y="3881438"/>
            <a:ext cx="1854200" cy="1981200"/>
          </a:xfrm>
          <a:prstGeom prst="rect">
            <a:avLst/>
          </a:prstGeom>
          <a:noFill/>
          <a:ln w="38100">
            <a:solidFill>
              <a:schemeClr val="tx1"/>
            </a:solidFill>
            <a:prstDash val="dash"/>
            <a:miter lim="800000"/>
            <a:headEnd/>
            <a:tailEnd/>
          </a:ln>
          <a:effectLst/>
        </p:spPr>
        <p:txBody>
          <a:bodyPr wrap="none" anchor="ctr"/>
          <a:lstStyle/>
          <a:p>
            <a:pPr algn="ctr">
              <a:lnSpc>
                <a:spcPct val="140000"/>
              </a:lnSpc>
              <a:defRPr/>
            </a:pPr>
            <a:endParaRPr lang="en-US" altLang="zh-CN">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a:lnSpc>
                <a:spcPct val="120000"/>
              </a:lnSpc>
              <a:defRPr/>
            </a:pPr>
            <a:endParaRPr lang="en-US" altLang="zh-CN">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33" name="AutoShape 5"/>
          <p:cNvSpPr>
            <a:spLocks noChangeArrowheads="1"/>
          </p:cNvSpPr>
          <p:nvPr/>
        </p:nvSpPr>
        <p:spPr bwMode="auto">
          <a:xfrm>
            <a:off x="3106738" y="5634038"/>
            <a:ext cx="2020887" cy="533400"/>
          </a:xfrm>
          <a:prstGeom prst="wedgeRoundRectCallout">
            <a:avLst>
              <a:gd name="adj1" fmla="val 43671"/>
              <a:gd name="adj2" fmla="val -144046"/>
              <a:gd name="adj3" fmla="val 16667"/>
            </a:avLst>
          </a:prstGeom>
          <a:noFill/>
          <a:ln w="28575">
            <a:solidFill>
              <a:schemeClr val="accent2"/>
            </a:solidFill>
            <a:miter lim="800000"/>
            <a:headEnd/>
            <a:tailEnd/>
          </a:ln>
          <a:effectLst/>
        </p:spPr>
        <p:txBody>
          <a:bodyPr wrap="none" anchor="ctr"/>
          <a:lstStyle/>
          <a:p>
            <a:pPr algn="ctr">
              <a:defRPr/>
            </a:pPr>
            <a:r>
              <a:rPr kumimoji="1" lang="zh-CN" altLang="en-US" sz="2400">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等效电流源</a:t>
            </a:r>
          </a:p>
        </p:txBody>
      </p:sp>
      <p:grpSp>
        <p:nvGrpSpPr>
          <p:cNvPr id="2" name="Group 6"/>
          <p:cNvGrpSpPr>
            <a:grpSpLocks/>
          </p:cNvGrpSpPr>
          <p:nvPr/>
        </p:nvGrpSpPr>
        <p:grpSpPr bwMode="auto">
          <a:xfrm>
            <a:off x="4992688" y="3500438"/>
            <a:ext cx="3382892" cy="2671762"/>
            <a:chOff x="3114" y="2265"/>
            <a:chExt cx="2089" cy="1683"/>
          </a:xfrm>
        </p:grpSpPr>
        <p:sp>
          <p:nvSpPr>
            <p:cNvPr id="53273" name="Oval 7"/>
            <p:cNvSpPr>
              <a:spLocks noChangeArrowheads="1"/>
            </p:cNvSpPr>
            <p:nvPr/>
          </p:nvSpPr>
          <p:spPr bwMode="auto">
            <a:xfrm>
              <a:off x="3360" y="2985"/>
              <a:ext cx="269" cy="26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74" name="Line 8"/>
            <p:cNvSpPr>
              <a:spLocks noChangeShapeType="1"/>
            </p:cNvSpPr>
            <p:nvPr/>
          </p:nvSpPr>
          <p:spPr bwMode="auto">
            <a:xfrm>
              <a:off x="3504" y="2601"/>
              <a:ext cx="13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75" name="Line 9"/>
            <p:cNvSpPr>
              <a:spLocks noChangeShapeType="1"/>
            </p:cNvSpPr>
            <p:nvPr/>
          </p:nvSpPr>
          <p:spPr bwMode="auto">
            <a:xfrm>
              <a:off x="3504" y="3657"/>
              <a:ext cx="134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76" name="Line 10"/>
            <p:cNvSpPr>
              <a:spLocks noChangeShapeType="1"/>
            </p:cNvSpPr>
            <p:nvPr/>
          </p:nvSpPr>
          <p:spPr bwMode="auto">
            <a:xfrm>
              <a:off x="4080" y="3273"/>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77" name="Rectangle 11"/>
            <p:cNvSpPr>
              <a:spLocks noChangeArrowheads="1"/>
            </p:cNvSpPr>
            <p:nvPr/>
          </p:nvSpPr>
          <p:spPr bwMode="auto">
            <a:xfrm>
              <a:off x="4012" y="2996"/>
              <a:ext cx="125" cy="27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40" name="Text Box 12"/>
            <p:cNvSpPr txBox="1">
              <a:spLocks noChangeArrowheads="1"/>
            </p:cNvSpPr>
            <p:nvPr/>
          </p:nvSpPr>
          <p:spPr bwMode="auto">
            <a:xfrm>
              <a:off x="3676" y="2937"/>
              <a:ext cx="452" cy="291"/>
            </a:xfrm>
            <a:prstGeom prst="rect">
              <a:avLst/>
            </a:prstGeom>
            <a:noFill/>
            <a:ln w="38100">
              <a:noFill/>
              <a:miter lim="800000"/>
              <a:headEnd/>
              <a:tailEnd/>
            </a:ln>
            <a:effectLst/>
          </p:spPr>
          <p:txBody>
            <a:bodyPr>
              <a:spAutoFit/>
            </a:bodyPr>
            <a:lstStyle/>
            <a:p>
              <a:pPr>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endPar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79" name="Line 13"/>
            <p:cNvSpPr>
              <a:spLocks noChangeShapeType="1"/>
            </p:cNvSpPr>
            <p:nvPr/>
          </p:nvSpPr>
          <p:spPr bwMode="auto">
            <a:xfrm flipH="1">
              <a:off x="4848" y="3225"/>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80" name="Rectangle 14"/>
            <p:cNvSpPr>
              <a:spLocks noChangeArrowheads="1"/>
            </p:cNvSpPr>
            <p:nvPr/>
          </p:nvSpPr>
          <p:spPr bwMode="auto">
            <a:xfrm>
              <a:off x="4799" y="2937"/>
              <a:ext cx="110" cy="29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43" name="Text Box 15"/>
            <p:cNvSpPr txBox="1">
              <a:spLocks noChangeArrowheads="1"/>
            </p:cNvSpPr>
            <p:nvPr/>
          </p:nvSpPr>
          <p:spPr bwMode="auto">
            <a:xfrm>
              <a:off x="4896" y="2898"/>
              <a:ext cx="307" cy="291"/>
            </a:xfrm>
            <a:prstGeom prst="rect">
              <a:avLst/>
            </a:prstGeom>
            <a:noFill/>
            <a:ln w="38100">
              <a:noFill/>
              <a:miter lim="800000"/>
              <a:headEnd/>
              <a:tailEnd/>
            </a:ln>
            <a:effectLst/>
          </p:spPr>
          <p:txBody>
            <a:bodyPr wrap="none">
              <a:spAutoFit/>
            </a:bodyPr>
            <a:lstStyle/>
            <a:p>
              <a:pPr>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82" name="Line 16"/>
            <p:cNvSpPr>
              <a:spLocks noChangeShapeType="1"/>
            </p:cNvSpPr>
            <p:nvPr/>
          </p:nvSpPr>
          <p:spPr bwMode="auto">
            <a:xfrm flipH="1">
              <a:off x="4848" y="2601"/>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45" name="Rectangle 17"/>
            <p:cNvSpPr>
              <a:spLocks noChangeArrowheads="1"/>
            </p:cNvSpPr>
            <p:nvPr/>
          </p:nvSpPr>
          <p:spPr bwMode="auto">
            <a:xfrm>
              <a:off x="4334" y="2265"/>
              <a:ext cx="198" cy="291"/>
            </a:xfrm>
            <a:prstGeom prst="rect">
              <a:avLst/>
            </a:prstGeom>
            <a:noFill/>
            <a:ln w="9525">
              <a:noFill/>
              <a:miter lim="800000"/>
              <a:headEnd/>
              <a:tailEnd/>
            </a:ln>
            <a:effectLst/>
          </p:spPr>
          <p:txBody>
            <a:bodyPr wrap="none">
              <a:spAutoFit/>
            </a:bodyPr>
            <a:lstStyle/>
            <a:p>
              <a:pPr algn="ctr" eaLnBrk="1" hangingPunct="1">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3284" name="Oval 18"/>
            <p:cNvSpPr>
              <a:spLocks noChangeArrowheads="1"/>
            </p:cNvSpPr>
            <p:nvPr/>
          </p:nvSpPr>
          <p:spPr bwMode="auto">
            <a:xfrm>
              <a:off x="4415" y="2576"/>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85" name="Oval 19"/>
            <p:cNvSpPr>
              <a:spLocks noChangeArrowheads="1"/>
            </p:cNvSpPr>
            <p:nvPr/>
          </p:nvSpPr>
          <p:spPr bwMode="auto">
            <a:xfrm>
              <a:off x="4436" y="3630"/>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48" name="Rectangle 20"/>
            <p:cNvSpPr>
              <a:spLocks noChangeArrowheads="1"/>
            </p:cNvSpPr>
            <p:nvPr/>
          </p:nvSpPr>
          <p:spPr bwMode="auto">
            <a:xfrm>
              <a:off x="4382" y="3657"/>
              <a:ext cx="209" cy="291"/>
            </a:xfrm>
            <a:prstGeom prst="rect">
              <a:avLst/>
            </a:prstGeom>
            <a:noFill/>
            <a:ln w="9525">
              <a:noFill/>
              <a:miter lim="800000"/>
              <a:headEnd/>
              <a:tailEnd/>
            </a:ln>
            <a:effectLst/>
          </p:spPr>
          <p:txBody>
            <a:bodyPr wrap="none">
              <a:spAutoFit/>
            </a:bodyPr>
            <a:lstStyle/>
            <a:p>
              <a:pPr algn="ctr" eaLnBrk="1" hangingPunct="1">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62549" name="Text Box 21"/>
            <p:cNvSpPr txBox="1">
              <a:spLocks noChangeArrowheads="1"/>
            </p:cNvSpPr>
            <p:nvPr/>
          </p:nvSpPr>
          <p:spPr bwMode="auto">
            <a:xfrm>
              <a:off x="4322" y="2553"/>
              <a:ext cx="274" cy="1117"/>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lnSpc>
                  <a:spcPct val="130000"/>
                </a:lnSpc>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lnSpc>
                  <a:spcPct val="130000"/>
                </a:lnSpc>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lnSpc>
                  <a:spcPct val="130000"/>
                </a:lnSpc>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3288" name="Line 22"/>
            <p:cNvSpPr>
              <a:spLocks noChangeShapeType="1"/>
            </p:cNvSpPr>
            <p:nvPr/>
          </p:nvSpPr>
          <p:spPr bwMode="auto">
            <a:xfrm>
              <a:off x="4512" y="2592"/>
              <a:ext cx="288"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51" name="Rectangle 23"/>
            <p:cNvSpPr>
              <a:spLocks noChangeArrowheads="1"/>
            </p:cNvSpPr>
            <p:nvPr/>
          </p:nvSpPr>
          <p:spPr bwMode="auto">
            <a:xfrm>
              <a:off x="4524" y="2265"/>
              <a:ext cx="178" cy="291"/>
            </a:xfrm>
            <a:prstGeom prst="rect">
              <a:avLst/>
            </a:prstGeom>
            <a:noFill/>
            <a:ln w="9525">
              <a:noFill/>
              <a:miter lim="800000"/>
              <a:headEnd/>
              <a:tailEnd/>
            </a:ln>
            <a:effectLst/>
          </p:spPr>
          <p:txBody>
            <a:bodyPr wrap="none">
              <a:spAutoFit/>
            </a:bodyPr>
            <a:lstStyle/>
            <a:p>
              <a:pPr algn="ctr" eaLnBrk="1" hangingPunct="1">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53290" name="Line 24"/>
            <p:cNvSpPr>
              <a:spLocks noChangeShapeType="1"/>
            </p:cNvSpPr>
            <p:nvPr/>
          </p:nvSpPr>
          <p:spPr bwMode="auto">
            <a:xfrm>
              <a:off x="3504" y="2601"/>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91" name="Line 25"/>
            <p:cNvSpPr>
              <a:spLocks noChangeShapeType="1"/>
            </p:cNvSpPr>
            <p:nvPr/>
          </p:nvSpPr>
          <p:spPr bwMode="auto">
            <a:xfrm>
              <a:off x="4080" y="2601"/>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92" name="Line 26"/>
            <p:cNvSpPr>
              <a:spLocks noChangeShapeType="1"/>
            </p:cNvSpPr>
            <p:nvPr/>
          </p:nvSpPr>
          <p:spPr bwMode="auto">
            <a:xfrm>
              <a:off x="3504" y="3251"/>
              <a:ext cx="0" cy="40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93" name="Line 27"/>
            <p:cNvSpPr>
              <a:spLocks noChangeShapeType="1"/>
            </p:cNvSpPr>
            <p:nvPr/>
          </p:nvSpPr>
          <p:spPr bwMode="auto">
            <a:xfrm>
              <a:off x="3360" y="3129"/>
              <a:ext cx="26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56" name="Rectangle 28"/>
            <p:cNvSpPr>
              <a:spLocks noChangeArrowheads="1"/>
            </p:cNvSpPr>
            <p:nvPr/>
          </p:nvSpPr>
          <p:spPr bwMode="auto">
            <a:xfrm>
              <a:off x="3114" y="3168"/>
              <a:ext cx="438" cy="291"/>
            </a:xfrm>
            <a:prstGeom prst="rect">
              <a:avLst/>
            </a:prstGeom>
            <a:noFill/>
            <a:ln w="9525">
              <a:noFill/>
              <a:miter lim="800000"/>
              <a:headEnd/>
              <a:tailEnd/>
            </a:ln>
            <a:effectLst/>
          </p:spPr>
          <p:txBody>
            <a:bodyPr>
              <a:spAutoFit/>
            </a:bodyPr>
            <a:lstStyle/>
            <a:p>
              <a:pPr algn="ctr" eaLnBrk="1" hangingPunct="1">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SC</a:t>
              </a:r>
            </a:p>
          </p:txBody>
        </p:sp>
        <p:sp>
          <p:nvSpPr>
            <p:cNvPr id="53295" name="Line 29"/>
            <p:cNvSpPr>
              <a:spLocks noChangeShapeType="1"/>
            </p:cNvSpPr>
            <p:nvPr/>
          </p:nvSpPr>
          <p:spPr bwMode="auto">
            <a:xfrm rot="16200000" flipV="1">
              <a:off x="3360" y="2832"/>
              <a:ext cx="288"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 name="Group 30"/>
          <p:cNvGrpSpPr>
            <a:grpSpLocks/>
          </p:cNvGrpSpPr>
          <p:nvPr/>
        </p:nvGrpSpPr>
        <p:grpSpPr bwMode="auto">
          <a:xfrm>
            <a:off x="1085850" y="3714750"/>
            <a:ext cx="2808211" cy="2120900"/>
            <a:chOff x="864" y="2400"/>
            <a:chExt cx="1734" cy="1336"/>
          </a:xfrm>
        </p:grpSpPr>
        <p:sp>
          <p:nvSpPr>
            <p:cNvPr id="662559" name="Rectangle 31"/>
            <p:cNvSpPr>
              <a:spLocks noChangeArrowheads="1"/>
            </p:cNvSpPr>
            <p:nvPr/>
          </p:nvSpPr>
          <p:spPr bwMode="auto">
            <a:xfrm>
              <a:off x="864" y="2640"/>
              <a:ext cx="656" cy="912"/>
            </a:xfrm>
            <a:prstGeom prst="rect">
              <a:avLst/>
            </a:prstGeom>
            <a:noFill/>
            <a:ln w="38100">
              <a:solidFill>
                <a:schemeClr val="tx1"/>
              </a:solidFill>
              <a:miter lim="800000"/>
              <a:headEnd/>
              <a:tailEnd/>
            </a:ln>
            <a:effectLst/>
          </p:spPr>
          <p:txBody>
            <a:bodyPr wrap="none" anchor="ctr"/>
            <a:lstStyle/>
            <a:p>
              <a:pPr algn="ctr">
                <a:lnSpc>
                  <a:spcPct val="110000"/>
                </a:lnSpc>
                <a:defRPr/>
              </a:pPr>
              <a:r>
                <a:rPr lang="zh-CN" altLang="en-US">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有源</a:t>
              </a:r>
            </a:p>
            <a:p>
              <a:pPr algn="ctr">
                <a:lnSpc>
                  <a:spcPct val="110000"/>
                </a:lnSpc>
                <a:defRPr/>
              </a:pPr>
              <a:r>
                <a:rPr lang="zh-CN" altLang="en-US">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二端</a:t>
              </a:r>
            </a:p>
            <a:p>
              <a:pPr algn="ctr">
                <a:lnSpc>
                  <a:spcPct val="110000"/>
                </a:lnSpc>
                <a:defRPr/>
              </a:pPr>
              <a:r>
                <a:rPr lang="zh-CN" altLang="en-US">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网络</a:t>
              </a:r>
            </a:p>
          </p:txBody>
        </p:sp>
        <p:sp>
          <p:nvSpPr>
            <p:cNvPr id="53260" name="Line 32"/>
            <p:cNvSpPr>
              <a:spLocks noChangeShapeType="1"/>
            </p:cNvSpPr>
            <p:nvPr/>
          </p:nvSpPr>
          <p:spPr bwMode="auto">
            <a:xfrm>
              <a:off x="1532" y="2736"/>
              <a:ext cx="71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61" name="Line 33"/>
            <p:cNvSpPr>
              <a:spLocks noChangeShapeType="1"/>
            </p:cNvSpPr>
            <p:nvPr/>
          </p:nvSpPr>
          <p:spPr bwMode="auto">
            <a:xfrm>
              <a:off x="1536" y="3445"/>
              <a:ext cx="72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62" name="Line 34"/>
            <p:cNvSpPr>
              <a:spLocks noChangeShapeType="1"/>
            </p:cNvSpPr>
            <p:nvPr/>
          </p:nvSpPr>
          <p:spPr bwMode="auto">
            <a:xfrm flipH="1">
              <a:off x="2256" y="3225"/>
              <a:ext cx="0"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63" name="Rectangle 35"/>
            <p:cNvSpPr>
              <a:spLocks noChangeArrowheads="1"/>
            </p:cNvSpPr>
            <p:nvPr/>
          </p:nvSpPr>
          <p:spPr bwMode="auto">
            <a:xfrm>
              <a:off x="2194" y="2928"/>
              <a:ext cx="110" cy="29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64" name="Text Box 36"/>
            <p:cNvSpPr txBox="1">
              <a:spLocks noChangeArrowheads="1"/>
            </p:cNvSpPr>
            <p:nvPr/>
          </p:nvSpPr>
          <p:spPr bwMode="auto">
            <a:xfrm>
              <a:off x="2291" y="2943"/>
              <a:ext cx="307" cy="291"/>
            </a:xfrm>
            <a:prstGeom prst="rect">
              <a:avLst/>
            </a:prstGeom>
            <a:noFill/>
            <a:ln w="38100">
              <a:noFill/>
              <a:miter lim="800000"/>
              <a:headEnd/>
              <a:tailEnd/>
            </a:ln>
            <a:effectLst/>
          </p:spPr>
          <p:txBody>
            <a:bodyPr wrap="none">
              <a:spAutoFit/>
            </a:bodyPr>
            <a:lstStyle/>
            <a:p>
              <a:pPr>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65" name="Line 37"/>
            <p:cNvSpPr>
              <a:spLocks noChangeShapeType="1"/>
            </p:cNvSpPr>
            <p:nvPr/>
          </p:nvSpPr>
          <p:spPr bwMode="auto">
            <a:xfrm flipH="1">
              <a:off x="2256" y="2736"/>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66" name="Rectangle 38"/>
            <p:cNvSpPr>
              <a:spLocks noChangeArrowheads="1"/>
            </p:cNvSpPr>
            <p:nvPr/>
          </p:nvSpPr>
          <p:spPr bwMode="auto">
            <a:xfrm>
              <a:off x="1743" y="2400"/>
              <a:ext cx="198" cy="291"/>
            </a:xfrm>
            <a:prstGeom prst="rect">
              <a:avLst/>
            </a:prstGeom>
            <a:noFill/>
            <a:ln w="9525">
              <a:noFill/>
              <a:miter lim="800000"/>
              <a:headEnd/>
              <a:tailEnd/>
            </a:ln>
            <a:effectLst/>
          </p:spPr>
          <p:txBody>
            <a:bodyPr wrap="none">
              <a:spAutoFit/>
            </a:bodyPr>
            <a:lstStyle/>
            <a:p>
              <a:pPr algn="ctr" eaLnBrk="1" hangingPunct="1">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3267" name="Oval 39"/>
            <p:cNvSpPr>
              <a:spLocks noChangeArrowheads="1"/>
            </p:cNvSpPr>
            <p:nvPr/>
          </p:nvSpPr>
          <p:spPr bwMode="auto">
            <a:xfrm>
              <a:off x="1824" y="2710"/>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3268" name="Oval 40"/>
            <p:cNvSpPr>
              <a:spLocks noChangeArrowheads="1"/>
            </p:cNvSpPr>
            <p:nvPr/>
          </p:nvSpPr>
          <p:spPr bwMode="auto">
            <a:xfrm>
              <a:off x="1809" y="3408"/>
              <a:ext cx="63" cy="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69" name="Rectangle 41"/>
            <p:cNvSpPr>
              <a:spLocks noChangeArrowheads="1"/>
            </p:cNvSpPr>
            <p:nvPr/>
          </p:nvSpPr>
          <p:spPr bwMode="auto">
            <a:xfrm>
              <a:off x="1737" y="3445"/>
              <a:ext cx="209" cy="291"/>
            </a:xfrm>
            <a:prstGeom prst="rect">
              <a:avLst/>
            </a:prstGeom>
            <a:noFill/>
            <a:ln w="9525">
              <a:noFill/>
              <a:miter lim="800000"/>
              <a:headEnd/>
              <a:tailEnd/>
            </a:ln>
            <a:effectLst/>
          </p:spPr>
          <p:txBody>
            <a:bodyPr wrap="none">
              <a:spAutoFit/>
            </a:bodyPr>
            <a:lstStyle/>
            <a:p>
              <a:pPr algn="ctr" eaLnBrk="1" hangingPunct="1">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62570" name="Text Box 42"/>
            <p:cNvSpPr txBox="1">
              <a:spLocks noChangeArrowheads="1"/>
            </p:cNvSpPr>
            <p:nvPr/>
          </p:nvSpPr>
          <p:spPr bwMode="auto">
            <a:xfrm>
              <a:off x="1699" y="2758"/>
              <a:ext cx="274" cy="710"/>
            </a:xfrm>
            <a:prstGeom prst="rect">
              <a:avLst/>
            </a:prstGeom>
            <a:noFill/>
            <a:ln w="9525">
              <a:noFill/>
              <a:miter lim="800000"/>
              <a:headEnd/>
              <a:tailEnd/>
            </a:ln>
            <a:effectLst/>
          </p:spPr>
          <p:txBody>
            <a:bodyPr wrap="none">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lgn="ctr" eaLnBrk="1" hangingPunct="1">
                <a:lnSpc>
                  <a:spcPct val="80000"/>
                </a:lnSpc>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lnSpc>
                  <a:spcPct val="80000"/>
                </a:lnSpc>
                <a:defRPr/>
              </a:pPr>
              <a:r>
                <a:rPr kumimoji="1" lang="en-US" altLang="zh-CN" i="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lnSpc>
                  <a:spcPct val="80000"/>
                </a:lnSpc>
                <a:defRPr/>
              </a:pPr>
              <a:r>
                <a:rPr kumimoji="1" lang="en-US" altLang="zh-CN"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3271" name="Line 43"/>
            <p:cNvSpPr>
              <a:spLocks noChangeShapeType="1"/>
            </p:cNvSpPr>
            <p:nvPr/>
          </p:nvSpPr>
          <p:spPr bwMode="auto">
            <a:xfrm>
              <a:off x="1937" y="2736"/>
              <a:ext cx="288" cy="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2572" name="Rectangle 44"/>
            <p:cNvSpPr>
              <a:spLocks noChangeArrowheads="1"/>
            </p:cNvSpPr>
            <p:nvPr/>
          </p:nvSpPr>
          <p:spPr bwMode="auto">
            <a:xfrm>
              <a:off x="2113" y="2409"/>
              <a:ext cx="178" cy="291"/>
            </a:xfrm>
            <a:prstGeom prst="rect">
              <a:avLst/>
            </a:prstGeom>
            <a:noFill/>
            <a:ln w="9525">
              <a:noFill/>
              <a:miter lim="800000"/>
              <a:headEnd/>
              <a:tailEnd/>
            </a:ln>
            <a:effectLst/>
          </p:spPr>
          <p:txBody>
            <a:bodyPr wrap="none">
              <a:spAutoFit/>
            </a:bodyPr>
            <a:lstStyle/>
            <a:p>
              <a:pPr algn="ctr" eaLnBrk="1" hangingPunct="1">
                <a:defRPr/>
              </a:pPr>
              <a:r>
                <a:rPr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grpSp>
      <p:sp>
        <p:nvSpPr>
          <p:cNvPr id="662573" name="AutoShape 45"/>
          <p:cNvSpPr>
            <a:spLocks noChangeArrowheads="1"/>
          </p:cNvSpPr>
          <p:nvPr/>
        </p:nvSpPr>
        <p:spPr bwMode="auto">
          <a:xfrm>
            <a:off x="4195763" y="4629150"/>
            <a:ext cx="466725" cy="457200"/>
          </a:xfrm>
          <a:prstGeom prst="rightArrow">
            <a:avLst>
              <a:gd name="adj1" fmla="val 50000"/>
              <a:gd name="adj2" fmla="val 25521"/>
            </a:avLst>
          </a:prstGeom>
          <a:solidFill>
            <a:schemeClr val="bg1"/>
          </a:solidFill>
          <a:ln w="28575">
            <a:solidFill>
              <a:schemeClr val="accent2"/>
            </a:solidFill>
            <a:miter lim="800000"/>
            <a:headEnd/>
            <a:tailEnd/>
          </a:ln>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18984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2531">
                                            <p:txEl>
                                              <p:pRg st="0" end="0"/>
                                            </p:txEl>
                                          </p:spTgt>
                                        </p:tgtEl>
                                        <p:attrNameLst>
                                          <p:attrName>style.visibility</p:attrName>
                                        </p:attrNameLst>
                                      </p:cBhvr>
                                      <p:to>
                                        <p:strVal val="visible"/>
                                      </p:to>
                                    </p:set>
                                    <p:animEffect transition="in" filter="wipe(left)">
                                      <p:cBhvr>
                                        <p:cTn id="7" dur="500"/>
                                        <p:tgtEl>
                                          <p:spTgt spid="662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2531">
                                            <p:txEl>
                                              <p:pRg st="1" end="1"/>
                                            </p:txEl>
                                          </p:spTgt>
                                        </p:tgtEl>
                                        <p:attrNameLst>
                                          <p:attrName>style.visibility</p:attrName>
                                        </p:attrNameLst>
                                      </p:cBhvr>
                                      <p:to>
                                        <p:strVal val="visible"/>
                                      </p:to>
                                    </p:set>
                                    <p:animEffect transition="in" filter="wipe(left)">
                                      <p:cBhvr>
                                        <p:cTn id="12" dur="500"/>
                                        <p:tgtEl>
                                          <p:spTgt spid="66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62573"/>
                                        </p:tgtEl>
                                        <p:attrNameLst>
                                          <p:attrName>style.visibility</p:attrName>
                                        </p:attrNameLst>
                                      </p:cBhvr>
                                      <p:to>
                                        <p:strVal val="visible"/>
                                      </p:to>
                                    </p:set>
                                    <p:animEffect transition="in" filter="wipe(left)">
                                      <p:cBhvr>
                                        <p:cTn id="23" dur="500"/>
                                        <p:tgtEl>
                                          <p:spTgt spid="662573"/>
                                        </p:tgtEl>
                                      </p:cBhvr>
                                    </p:animEffect>
                                  </p:childTnLst>
                                </p:cTn>
                              </p:par>
                            </p:childTnLst>
                          </p:cTn>
                        </p:par>
                        <p:par>
                          <p:cTn id="24" fill="hold" nodeType="afterGroup">
                            <p:stCondLst>
                              <p:cond delay="500"/>
                            </p:stCondLst>
                            <p:childTnLst>
                              <p:par>
                                <p:cTn id="25" presetID="23" presetClass="entr" presetSubtype="16"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fltVal val="0"/>
                                          </p:val>
                                        </p:tav>
                                        <p:tav tm="100000">
                                          <p:val>
                                            <p:strVal val="#ppt_w"/>
                                          </p:val>
                                        </p:tav>
                                      </p:tavLst>
                                    </p:anim>
                                    <p:anim calcmode="lin" valueType="num">
                                      <p:cBhvr>
                                        <p:cTn id="2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662532"/>
                                        </p:tgtEl>
                                        <p:attrNameLst>
                                          <p:attrName>style.visibility</p:attrName>
                                        </p:attrNameLst>
                                      </p:cBhvr>
                                      <p:to>
                                        <p:strVal val="visible"/>
                                      </p:to>
                                    </p:set>
                                    <p:animEffect transition="in" filter="wheel(1)">
                                      <p:cBhvr>
                                        <p:cTn id="33" dur="500"/>
                                        <p:tgtEl>
                                          <p:spTgt spid="66253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62533"/>
                                        </p:tgtEl>
                                        <p:attrNameLst>
                                          <p:attrName>style.visibility</p:attrName>
                                        </p:attrNameLst>
                                      </p:cBhvr>
                                      <p:to>
                                        <p:strVal val="visible"/>
                                      </p:to>
                                    </p:set>
                                    <p:animEffect transition="in" filter="wipe(up)">
                                      <p:cBhvr>
                                        <p:cTn id="38" dur="500"/>
                                        <p:tgtEl>
                                          <p:spTgt spid="66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1" grpId="0" build="p" autoUpdateAnimBg="0"/>
      <p:bldP spid="662532" grpId="0" animBg="1"/>
      <p:bldP spid="662533" grpId="0" animBg="1"/>
      <p:bldP spid="66257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D93F0E01-1149-4800-BBB9-E6A6B482388F}"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49</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3554" name="Text Box 2"/>
          <p:cNvSpPr txBox="1">
            <a:spLocks noChangeArrowheads="1"/>
          </p:cNvSpPr>
          <p:nvPr/>
        </p:nvSpPr>
        <p:spPr bwMode="auto">
          <a:xfrm>
            <a:off x="533400" y="533400"/>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用前面戴维南定理中的例子来说明诺顿定理</a:t>
            </a:r>
          </a:p>
        </p:txBody>
      </p:sp>
      <p:sp>
        <p:nvSpPr>
          <p:cNvPr id="663555" name="Text Box 3"/>
          <p:cNvSpPr txBox="1">
            <a:spLocks noChangeArrowheads="1"/>
          </p:cNvSpPr>
          <p:nvPr/>
        </p:nvSpPr>
        <p:spPr bwMode="auto">
          <a:xfrm>
            <a:off x="609600" y="1066800"/>
            <a:ext cx="7239000" cy="461665"/>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a:solidFill>
                  <a:srgbClr val="33CC33"/>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求图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所示电路的诺顿等效电路</a:t>
            </a:r>
          </a:p>
        </p:txBody>
      </p:sp>
      <p:grpSp>
        <p:nvGrpSpPr>
          <p:cNvPr id="2" name="Group 4"/>
          <p:cNvGrpSpPr>
            <a:grpSpLocks/>
          </p:cNvGrpSpPr>
          <p:nvPr/>
        </p:nvGrpSpPr>
        <p:grpSpPr bwMode="auto">
          <a:xfrm>
            <a:off x="5181600" y="3657600"/>
            <a:ext cx="3124200" cy="2671763"/>
            <a:chOff x="3648" y="2409"/>
            <a:chExt cx="1968" cy="1683"/>
          </a:xfrm>
        </p:grpSpPr>
        <p:sp>
          <p:nvSpPr>
            <p:cNvPr id="54321" name="Text Box 5"/>
            <p:cNvSpPr txBox="1">
              <a:spLocks noChangeArrowheads="1"/>
            </p:cNvSpPr>
            <p:nvPr/>
          </p:nvSpPr>
          <p:spPr bwMode="auto">
            <a:xfrm>
              <a:off x="3888" y="2841"/>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322" name="Group 6"/>
            <p:cNvGrpSpPr>
              <a:grpSpLocks/>
            </p:cNvGrpSpPr>
            <p:nvPr/>
          </p:nvGrpSpPr>
          <p:grpSpPr bwMode="auto">
            <a:xfrm>
              <a:off x="3648" y="2688"/>
              <a:ext cx="1872" cy="1135"/>
              <a:chOff x="720" y="1584"/>
              <a:chExt cx="1872" cy="1135"/>
            </a:xfrm>
          </p:grpSpPr>
          <p:sp>
            <p:nvSpPr>
              <p:cNvPr id="54333" name="Line 7"/>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34" name="Line 8"/>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335" name="Group 9"/>
              <p:cNvGrpSpPr>
                <a:grpSpLocks/>
              </p:cNvGrpSpPr>
              <p:nvPr/>
            </p:nvGrpSpPr>
            <p:grpSpPr bwMode="auto">
              <a:xfrm>
                <a:off x="720" y="2064"/>
                <a:ext cx="263" cy="624"/>
                <a:chOff x="4417" y="567"/>
                <a:chExt cx="693" cy="1650"/>
              </a:xfrm>
            </p:grpSpPr>
            <p:grpSp>
              <p:nvGrpSpPr>
                <p:cNvPr id="54357" name="Group 10"/>
                <p:cNvGrpSpPr>
                  <a:grpSpLocks/>
                </p:cNvGrpSpPr>
                <p:nvPr/>
              </p:nvGrpSpPr>
              <p:grpSpPr bwMode="auto">
                <a:xfrm>
                  <a:off x="4417" y="567"/>
                  <a:ext cx="550" cy="1650"/>
                  <a:chOff x="4417" y="567"/>
                  <a:chExt cx="550" cy="1650"/>
                </a:xfrm>
              </p:grpSpPr>
              <p:sp>
                <p:nvSpPr>
                  <p:cNvPr id="54362" name="Oval 11"/>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63" name="Line 12"/>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358" name="Group 13"/>
                <p:cNvGrpSpPr>
                  <a:grpSpLocks/>
                </p:cNvGrpSpPr>
                <p:nvPr/>
              </p:nvGrpSpPr>
              <p:grpSpPr bwMode="auto">
                <a:xfrm>
                  <a:off x="4956" y="853"/>
                  <a:ext cx="154" cy="979"/>
                  <a:chOff x="4956" y="853"/>
                  <a:chExt cx="154" cy="979"/>
                </a:xfrm>
              </p:grpSpPr>
              <p:sp>
                <p:nvSpPr>
                  <p:cNvPr id="54359" name="Line 14"/>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60" name="Line 15"/>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61" name="Line 16"/>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4336" name="Group 17"/>
              <p:cNvGrpSpPr>
                <a:grpSpLocks/>
              </p:cNvGrpSpPr>
              <p:nvPr/>
            </p:nvGrpSpPr>
            <p:grpSpPr bwMode="auto">
              <a:xfrm>
                <a:off x="1687" y="1943"/>
                <a:ext cx="209" cy="624"/>
                <a:chOff x="3591" y="567"/>
                <a:chExt cx="301" cy="907"/>
              </a:xfrm>
            </p:grpSpPr>
            <p:sp>
              <p:nvSpPr>
                <p:cNvPr id="54350" name="Line 18"/>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51" name="Oval 19"/>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52" name="Line 20"/>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353" name="Group 21"/>
                <p:cNvGrpSpPr>
                  <a:grpSpLocks/>
                </p:cNvGrpSpPr>
                <p:nvPr/>
              </p:nvGrpSpPr>
              <p:grpSpPr bwMode="auto">
                <a:xfrm>
                  <a:off x="3715" y="591"/>
                  <a:ext cx="56" cy="222"/>
                  <a:chOff x="4507" y="645"/>
                  <a:chExt cx="56" cy="222"/>
                </a:xfrm>
              </p:grpSpPr>
              <p:sp>
                <p:nvSpPr>
                  <p:cNvPr id="54354" name="Line 2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55" name="Line 2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56" name="Line 2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4337" name="Group 25"/>
              <p:cNvGrpSpPr>
                <a:grpSpLocks/>
              </p:cNvGrpSpPr>
              <p:nvPr/>
            </p:nvGrpSpPr>
            <p:grpSpPr bwMode="auto">
              <a:xfrm>
                <a:off x="1300" y="1864"/>
                <a:ext cx="71" cy="619"/>
                <a:chOff x="743" y="567"/>
                <a:chExt cx="187" cy="1639"/>
              </a:xfrm>
            </p:grpSpPr>
            <p:sp>
              <p:nvSpPr>
                <p:cNvPr id="54348" name="Line 2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49" name="Rectangle 2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338" name="Group 28"/>
              <p:cNvGrpSpPr>
                <a:grpSpLocks/>
              </p:cNvGrpSpPr>
              <p:nvPr/>
            </p:nvGrpSpPr>
            <p:grpSpPr bwMode="auto">
              <a:xfrm>
                <a:off x="793" y="1615"/>
                <a:ext cx="71" cy="619"/>
                <a:chOff x="743" y="567"/>
                <a:chExt cx="187" cy="1639"/>
              </a:xfrm>
            </p:grpSpPr>
            <p:sp>
              <p:nvSpPr>
                <p:cNvPr id="54346" name="Line 2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47" name="Rectangle 3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339" name="Line 31"/>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40" name="Line 32"/>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341" name="Group 33"/>
              <p:cNvGrpSpPr>
                <a:grpSpLocks/>
              </p:cNvGrpSpPr>
              <p:nvPr/>
            </p:nvGrpSpPr>
            <p:grpSpPr bwMode="auto">
              <a:xfrm rot="-5400000">
                <a:off x="2096" y="1361"/>
                <a:ext cx="59" cy="520"/>
                <a:chOff x="743" y="567"/>
                <a:chExt cx="187" cy="1639"/>
              </a:xfrm>
            </p:grpSpPr>
            <p:sp>
              <p:nvSpPr>
                <p:cNvPr id="54344" name="Line 3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45" name="Rectangle 3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342" name="Oval 36"/>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43" name="Oval 37"/>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3590" name="Text Box 38"/>
            <p:cNvSpPr txBox="1">
              <a:spLocks noChangeArrowheads="1"/>
            </p:cNvSpPr>
            <p:nvPr/>
          </p:nvSpPr>
          <p:spPr bwMode="auto">
            <a:xfrm>
              <a:off x="4848" y="2409"/>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591" name="Text Box 39"/>
            <p:cNvSpPr txBox="1">
              <a:spLocks noChangeArrowheads="1"/>
            </p:cNvSpPr>
            <p:nvPr/>
          </p:nvSpPr>
          <p:spPr bwMode="auto">
            <a:xfrm>
              <a:off x="4224" y="2937"/>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592" name="Text Box 40"/>
            <p:cNvSpPr txBox="1">
              <a:spLocks noChangeArrowheads="1"/>
            </p:cNvSpPr>
            <p:nvPr/>
          </p:nvSpPr>
          <p:spPr bwMode="auto">
            <a:xfrm>
              <a:off x="3792" y="2889"/>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593" name="Text Box 41"/>
            <p:cNvSpPr txBox="1">
              <a:spLocks noChangeArrowheads="1"/>
            </p:cNvSpPr>
            <p:nvPr/>
          </p:nvSpPr>
          <p:spPr bwMode="auto">
            <a:xfrm>
              <a:off x="3840" y="3369"/>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63594" name="Text Box 42"/>
            <p:cNvSpPr txBox="1">
              <a:spLocks noChangeArrowheads="1"/>
            </p:cNvSpPr>
            <p:nvPr/>
          </p:nvSpPr>
          <p:spPr bwMode="auto">
            <a:xfrm>
              <a:off x="4752" y="3417"/>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54328" name="Text Box 43"/>
            <p:cNvSpPr txBox="1">
              <a:spLocks noChangeArrowheads="1"/>
            </p:cNvSpPr>
            <p:nvPr/>
          </p:nvSpPr>
          <p:spPr bwMode="auto">
            <a:xfrm>
              <a:off x="5088" y="3033"/>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rPr>
                <a:t>SC</a:t>
              </a: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3596" name="Text Box 44"/>
            <p:cNvSpPr txBox="1">
              <a:spLocks noChangeArrowheads="1"/>
            </p:cNvSpPr>
            <p:nvPr/>
          </p:nvSpPr>
          <p:spPr bwMode="auto">
            <a:xfrm>
              <a:off x="4416" y="3801"/>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4330" name="Line 45"/>
            <p:cNvSpPr>
              <a:spLocks noChangeShapeType="1"/>
            </p:cNvSpPr>
            <p:nvPr/>
          </p:nvSpPr>
          <p:spPr bwMode="auto">
            <a:xfrm>
              <a:off x="5472" y="2745"/>
              <a:ext cx="0" cy="10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31" name="Line 46"/>
            <p:cNvSpPr>
              <a:spLocks noChangeShapeType="1"/>
            </p:cNvSpPr>
            <p:nvPr/>
          </p:nvSpPr>
          <p:spPr bwMode="auto">
            <a:xfrm>
              <a:off x="5472" y="3273"/>
              <a:ext cx="0" cy="240"/>
            </a:xfrm>
            <a:prstGeom prst="line">
              <a:avLst/>
            </a:prstGeom>
            <a:noFill/>
            <a:ln w="381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32" name="Text Box 47"/>
            <p:cNvSpPr txBox="1">
              <a:spLocks noChangeArrowheads="1"/>
            </p:cNvSpPr>
            <p:nvPr/>
          </p:nvSpPr>
          <p:spPr bwMode="auto">
            <a:xfrm>
              <a:off x="4320" y="2457"/>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V</a:t>
              </a:r>
            </a:p>
          </p:txBody>
        </p:sp>
      </p:grpSp>
      <p:sp>
        <p:nvSpPr>
          <p:cNvPr id="663600" name="Text Box 48"/>
          <p:cNvSpPr txBox="1">
            <a:spLocks noChangeArrowheads="1"/>
          </p:cNvSpPr>
          <p:nvPr/>
        </p:nvSpPr>
        <p:spPr bwMode="auto">
          <a:xfrm>
            <a:off x="685800" y="1600200"/>
            <a:ext cx="7315200" cy="1015663"/>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1</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）计算短路电流，可以用节点法，见图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p>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以下节点为参考节点，上节点电位设为</a:t>
            </a: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，得</a:t>
            </a:r>
          </a:p>
        </p:txBody>
      </p:sp>
      <p:sp>
        <p:nvSpPr>
          <p:cNvPr id="54280" name="Text Box 49"/>
          <p:cNvSpPr txBox="1">
            <a:spLocks noChangeArrowheads="1"/>
          </p:cNvSpPr>
          <p:nvPr/>
        </p:nvSpPr>
        <p:spPr bwMode="auto">
          <a:xfrm>
            <a:off x="1143000" y="22098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2" name="Group 50"/>
          <p:cNvGrpSpPr>
            <a:grpSpLocks/>
          </p:cNvGrpSpPr>
          <p:nvPr/>
        </p:nvGrpSpPr>
        <p:grpSpPr bwMode="auto">
          <a:xfrm>
            <a:off x="1066800" y="3657600"/>
            <a:ext cx="2971800" cy="2609850"/>
            <a:chOff x="672" y="2304"/>
            <a:chExt cx="1872" cy="1644"/>
          </a:xfrm>
        </p:grpSpPr>
        <p:grpSp>
          <p:nvGrpSpPr>
            <p:cNvPr id="54283" name="Group 51"/>
            <p:cNvGrpSpPr>
              <a:grpSpLocks/>
            </p:cNvGrpSpPr>
            <p:nvPr/>
          </p:nvGrpSpPr>
          <p:grpSpPr bwMode="auto">
            <a:xfrm>
              <a:off x="672" y="2592"/>
              <a:ext cx="1872" cy="1135"/>
              <a:chOff x="720" y="1584"/>
              <a:chExt cx="1872" cy="1135"/>
            </a:xfrm>
          </p:grpSpPr>
          <p:sp>
            <p:nvSpPr>
              <p:cNvPr id="54290" name="Line 52"/>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1" name="Line 53"/>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292" name="Group 54"/>
              <p:cNvGrpSpPr>
                <a:grpSpLocks/>
              </p:cNvGrpSpPr>
              <p:nvPr/>
            </p:nvGrpSpPr>
            <p:grpSpPr bwMode="auto">
              <a:xfrm>
                <a:off x="720" y="2064"/>
                <a:ext cx="263" cy="624"/>
                <a:chOff x="4417" y="567"/>
                <a:chExt cx="693" cy="1650"/>
              </a:xfrm>
            </p:grpSpPr>
            <p:grpSp>
              <p:nvGrpSpPr>
                <p:cNvPr id="54314" name="Group 55"/>
                <p:cNvGrpSpPr>
                  <a:grpSpLocks/>
                </p:cNvGrpSpPr>
                <p:nvPr/>
              </p:nvGrpSpPr>
              <p:grpSpPr bwMode="auto">
                <a:xfrm>
                  <a:off x="4417" y="567"/>
                  <a:ext cx="550" cy="1650"/>
                  <a:chOff x="4417" y="567"/>
                  <a:chExt cx="550" cy="1650"/>
                </a:xfrm>
              </p:grpSpPr>
              <p:sp>
                <p:nvSpPr>
                  <p:cNvPr id="54319" name="Oval 5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20" name="Line 57"/>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315" name="Group 58"/>
                <p:cNvGrpSpPr>
                  <a:grpSpLocks/>
                </p:cNvGrpSpPr>
                <p:nvPr/>
              </p:nvGrpSpPr>
              <p:grpSpPr bwMode="auto">
                <a:xfrm>
                  <a:off x="4956" y="853"/>
                  <a:ext cx="154" cy="979"/>
                  <a:chOff x="4956" y="853"/>
                  <a:chExt cx="154" cy="979"/>
                </a:xfrm>
              </p:grpSpPr>
              <p:sp>
                <p:nvSpPr>
                  <p:cNvPr id="54316" name="Line 5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7" name="Line 6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8" name="Line 6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4293" name="Group 62"/>
              <p:cNvGrpSpPr>
                <a:grpSpLocks/>
              </p:cNvGrpSpPr>
              <p:nvPr/>
            </p:nvGrpSpPr>
            <p:grpSpPr bwMode="auto">
              <a:xfrm>
                <a:off x="1687" y="1943"/>
                <a:ext cx="209" cy="624"/>
                <a:chOff x="3591" y="567"/>
                <a:chExt cx="301" cy="907"/>
              </a:xfrm>
            </p:grpSpPr>
            <p:sp>
              <p:nvSpPr>
                <p:cNvPr id="54307" name="Line 63"/>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8" name="Oval 64"/>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9" name="Line 65"/>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310" name="Group 66"/>
                <p:cNvGrpSpPr>
                  <a:grpSpLocks/>
                </p:cNvGrpSpPr>
                <p:nvPr/>
              </p:nvGrpSpPr>
              <p:grpSpPr bwMode="auto">
                <a:xfrm>
                  <a:off x="3715" y="591"/>
                  <a:ext cx="56" cy="222"/>
                  <a:chOff x="4507" y="645"/>
                  <a:chExt cx="56" cy="222"/>
                </a:xfrm>
              </p:grpSpPr>
              <p:sp>
                <p:nvSpPr>
                  <p:cNvPr id="54311" name="Line 67"/>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2" name="Line 68"/>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3" name="Line 69"/>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4294" name="Group 70"/>
              <p:cNvGrpSpPr>
                <a:grpSpLocks/>
              </p:cNvGrpSpPr>
              <p:nvPr/>
            </p:nvGrpSpPr>
            <p:grpSpPr bwMode="auto">
              <a:xfrm>
                <a:off x="1300" y="1864"/>
                <a:ext cx="71" cy="619"/>
                <a:chOff x="743" y="567"/>
                <a:chExt cx="187" cy="1639"/>
              </a:xfrm>
            </p:grpSpPr>
            <p:sp>
              <p:nvSpPr>
                <p:cNvPr id="54305" name="Line 7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6" name="Rectangle 7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295" name="Group 73"/>
              <p:cNvGrpSpPr>
                <a:grpSpLocks/>
              </p:cNvGrpSpPr>
              <p:nvPr/>
            </p:nvGrpSpPr>
            <p:grpSpPr bwMode="auto">
              <a:xfrm>
                <a:off x="793" y="1615"/>
                <a:ext cx="71" cy="619"/>
                <a:chOff x="743" y="567"/>
                <a:chExt cx="187" cy="1639"/>
              </a:xfrm>
            </p:grpSpPr>
            <p:sp>
              <p:nvSpPr>
                <p:cNvPr id="54303" name="Line 7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4" name="Rectangle 7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296" name="Line 76"/>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7" name="Line 77"/>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298" name="Group 78"/>
              <p:cNvGrpSpPr>
                <a:grpSpLocks/>
              </p:cNvGrpSpPr>
              <p:nvPr/>
            </p:nvGrpSpPr>
            <p:grpSpPr bwMode="auto">
              <a:xfrm rot="-5400000">
                <a:off x="2096" y="1361"/>
                <a:ext cx="59" cy="520"/>
                <a:chOff x="743" y="567"/>
                <a:chExt cx="187" cy="1639"/>
              </a:xfrm>
            </p:grpSpPr>
            <p:sp>
              <p:nvSpPr>
                <p:cNvPr id="54301" name="Line 7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2" name="Rectangle 8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299" name="Oval 81"/>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0" name="Oval 82"/>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3635" name="Text Box 83"/>
            <p:cNvSpPr txBox="1">
              <a:spLocks noChangeArrowheads="1"/>
            </p:cNvSpPr>
            <p:nvPr/>
          </p:nvSpPr>
          <p:spPr bwMode="auto">
            <a:xfrm>
              <a:off x="1872" y="2304"/>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636" name="Text Box 84"/>
            <p:cNvSpPr txBox="1">
              <a:spLocks noChangeArrowheads="1"/>
            </p:cNvSpPr>
            <p:nvPr/>
          </p:nvSpPr>
          <p:spPr bwMode="auto">
            <a:xfrm>
              <a:off x="1248" y="2832"/>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637" name="Text Box 85"/>
            <p:cNvSpPr txBox="1">
              <a:spLocks noChangeArrowheads="1"/>
            </p:cNvSpPr>
            <p:nvPr/>
          </p:nvSpPr>
          <p:spPr bwMode="auto">
            <a:xfrm>
              <a:off x="816" y="2784"/>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3638" name="Text Box 86"/>
            <p:cNvSpPr txBox="1">
              <a:spLocks noChangeArrowheads="1"/>
            </p:cNvSpPr>
            <p:nvPr/>
          </p:nvSpPr>
          <p:spPr bwMode="auto">
            <a:xfrm>
              <a:off x="864" y="3264"/>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63639" name="Text Box 87"/>
            <p:cNvSpPr txBox="1">
              <a:spLocks noChangeArrowheads="1"/>
            </p:cNvSpPr>
            <p:nvPr/>
          </p:nvSpPr>
          <p:spPr bwMode="auto">
            <a:xfrm>
              <a:off x="1776" y="3312"/>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663640" name="Text Box 88"/>
            <p:cNvSpPr txBox="1">
              <a:spLocks noChangeArrowheads="1"/>
            </p:cNvSpPr>
            <p:nvPr/>
          </p:nvSpPr>
          <p:spPr bwMode="auto">
            <a:xfrm>
              <a:off x="1536" y="3657"/>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grpSp>
      <p:graphicFrame>
        <p:nvGraphicFramePr>
          <p:cNvPr id="663641" name="Object 89"/>
          <p:cNvGraphicFramePr>
            <a:graphicFrameLocks noChangeAspect="1"/>
          </p:cNvGraphicFramePr>
          <p:nvPr>
            <p:extLst>
              <p:ext uri="{D42A27DB-BD31-4B8C-83A1-F6EECF244321}">
                <p14:modId xmlns:p14="http://schemas.microsoft.com/office/powerpoint/2010/main" val="3643497361"/>
              </p:ext>
            </p:extLst>
          </p:nvPr>
        </p:nvGraphicFramePr>
        <p:xfrm>
          <a:off x="2916238" y="2738438"/>
          <a:ext cx="2874962" cy="835025"/>
        </p:xfrm>
        <a:graphic>
          <a:graphicData uri="http://schemas.openxmlformats.org/presentationml/2006/ole">
            <mc:AlternateContent xmlns:mc="http://schemas.openxmlformats.org/markup-compatibility/2006">
              <mc:Choice xmlns:v="urn:schemas-microsoft-com:vml" Requires="v">
                <p:oleObj spid="_x0000_s93194" name="Equation" r:id="rId3" imgW="1457367" imgH="400140" progId="Equation.DSMT4">
                  <p:embed/>
                </p:oleObj>
              </mc:Choice>
              <mc:Fallback>
                <p:oleObj name="Equation" r:id="rId3" imgW="1457367" imgH="4001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738438"/>
                        <a:ext cx="2874962"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12149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3554"/>
                                        </p:tgtEl>
                                        <p:attrNameLst>
                                          <p:attrName>style.visibility</p:attrName>
                                        </p:attrNameLst>
                                      </p:cBhvr>
                                      <p:to>
                                        <p:strVal val="visible"/>
                                      </p:to>
                                    </p:set>
                                    <p:animEffect transition="in" filter="wipe(left)">
                                      <p:cBhvr>
                                        <p:cTn id="7" dur="500"/>
                                        <p:tgtEl>
                                          <p:spTgt spid="66355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63555"/>
                                        </p:tgtEl>
                                        <p:attrNameLst>
                                          <p:attrName>style.visibility</p:attrName>
                                        </p:attrNameLst>
                                      </p:cBhvr>
                                      <p:to>
                                        <p:strVal val="visible"/>
                                      </p:to>
                                    </p:set>
                                    <p:animEffect transition="in" filter="wipe(left)">
                                      <p:cBhvr>
                                        <p:cTn id="11" dur="500"/>
                                        <p:tgtEl>
                                          <p:spTgt spid="663555"/>
                                        </p:tgtEl>
                                      </p:cBhvr>
                                    </p:animEffect>
                                  </p:childTnLst>
                                </p:cTn>
                              </p:par>
                            </p:childTnLst>
                          </p:cTn>
                        </p:par>
                        <p:par>
                          <p:cTn id="12" fill="hold" nodeType="afterGroup">
                            <p:stCondLst>
                              <p:cond delay="1000"/>
                            </p:stCondLst>
                            <p:childTnLst>
                              <p:par>
                                <p:cTn id="13" presetID="18" presetClass="entr" presetSubtype="6"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Right)">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wd">
                                    <p:tmPct val="5000"/>
                                  </p:iterate>
                                  <p:childTnLst>
                                    <p:set>
                                      <p:cBhvr>
                                        <p:cTn id="19" dur="1" fill="hold">
                                          <p:stCondLst>
                                            <p:cond delay="0"/>
                                          </p:stCondLst>
                                        </p:cTn>
                                        <p:tgtEl>
                                          <p:spTgt spid="663600">
                                            <p:txEl>
                                              <p:pRg st="0" end="0"/>
                                            </p:txEl>
                                          </p:spTgt>
                                        </p:tgtEl>
                                        <p:attrNameLst>
                                          <p:attrName>style.visibility</p:attrName>
                                        </p:attrNameLst>
                                      </p:cBhvr>
                                      <p:to>
                                        <p:strVal val="visible"/>
                                      </p:to>
                                    </p:set>
                                    <p:animEffect transition="in" filter="wipe(left)">
                                      <p:cBhvr>
                                        <p:cTn id="20" dur="500"/>
                                        <p:tgtEl>
                                          <p:spTgt spid="663600">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1"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heel(4)">
                                      <p:cBhvr>
                                        <p:cTn id="25" dur="5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iterate type="wd">
                                    <p:tmPct val="5000"/>
                                  </p:iterate>
                                  <p:childTnLst>
                                    <p:set>
                                      <p:cBhvr>
                                        <p:cTn id="29" dur="1" fill="hold">
                                          <p:stCondLst>
                                            <p:cond delay="0"/>
                                          </p:stCondLst>
                                        </p:cTn>
                                        <p:tgtEl>
                                          <p:spTgt spid="663600">
                                            <p:txEl>
                                              <p:pRg st="1" end="1"/>
                                            </p:txEl>
                                          </p:spTgt>
                                        </p:tgtEl>
                                        <p:attrNameLst>
                                          <p:attrName>style.visibility</p:attrName>
                                        </p:attrNameLst>
                                      </p:cBhvr>
                                      <p:to>
                                        <p:strVal val="visible"/>
                                      </p:to>
                                    </p:set>
                                    <p:animEffect transition="in" filter="wipe(left)">
                                      <p:cBhvr>
                                        <p:cTn id="30" dur="500"/>
                                        <p:tgtEl>
                                          <p:spTgt spid="663600">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663641"/>
                                        </p:tgtEl>
                                        <p:attrNameLst>
                                          <p:attrName>style.visibility</p:attrName>
                                        </p:attrNameLst>
                                      </p:cBhvr>
                                      <p:to>
                                        <p:strVal val="visible"/>
                                      </p:to>
                                    </p:set>
                                    <p:animEffect transition="in" filter="wipe(left)">
                                      <p:cBhvr>
                                        <p:cTn id="35" dur="500"/>
                                        <p:tgtEl>
                                          <p:spTgt spid="663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4" grpId="0"/>
      <p:bldP spid="663555" grpId="0"/>
      <p:bldP spid="663600"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C64F99F2-9801-43A4-AD0A-B252D946E8F7}"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50</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00" name="Group 2"/>
          <p:cNvGrpSpPr>
            <a:grpSpLocks/>
          </p:cNvGrpSpPr>
          <p:nvPr/>
        </p:nvGrpSpPr>
        <p:grpSpPr bwMode="auto">
          <a:xfrm>
            <a:off x="5638800" y="471488"/>
            <a:ext cx="2971800" cy="2671762"/>
            <a:chOff x="480" y="2400"/>
            <a:chExt cx="1872" cy="1683"/>
          </a:xfrm>
        </p:grpSpPr>
        <p:sp>
          <p:nvSpPr>
            <p:cNvPr id="55352" name="Text Box 3"/>
            <p:cNvSpPr txBox="1">
              <a:spLocks noChangeArrowheads="1"/>
            </p:cNvSpPr>
            <p:nvPr/>
          </p:nvSpPr>
          <p:spPr bwMode="auto">
            <a:xfrm>
              <a:off x="720" y="2832"/>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53" name="Group 4"/>
            <p:cNvGrpSpPr>
              <a:grpSpLocks/>
            </p:cNvGrpSpPr>
            <p:nvPr/>
          </p:nvGrpSpPr>
          <p:grpSpPr bwMode="auto">
            <a:xfrm>
              <a:off x="480" y="2688"/>
              <a:ext cx="1872" cy="1135"/>
              <a:chOff x="720" y="1584"/>
              <a:chExt cx="1872" cy="1135"/>
            </a:xfrm>
          </p:grpSpPr>
          <p:sp>
            <p:nvSpPr>
              <p:cNvPr id="55360" name="Line 5"/>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61" name="Line 6"/>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62" name="Group 7"/>
              <p:cNvGrpSpPr>
                <a:grpSpLocks/>
              </p:cNvGrpSpPr>
              <p:nvPr/>
            </p:nvGrpSpPr>
            <p:grpSpPr bwMode="auto">
              <a:xfrm>
                <a:off x="720" y="2064"/>
                <a:ext cx="263" cy="624"/>
                <a:chOff x="4417" y="567"/>
                <a:chExt cx="693" cy="1650"/>
              </a:xfrm>
            </p:grpSpPr>
            <p:grpSp>
              <p:nvGrpSpPr>
                <p:cNvPr id="55384" name="Group 8"/>
                <p:cNvGrpSpPr>
                  <a:grpSpLocks/>
                </p:cNvGrpSpPr>
                <p:nvPr/>
              </p:nvGrpSpPr>
              <p:grpSpPr bwMode="auto">
                <a:xfrm>
                  <a:off x="4417" y="567"/>
                  <a:ext cx="550" cy="1650"/>
                  <a:chOff x="4417" y="567"/>
                  <a:chExt cx="550" cy="1650"/>
                </a:xfrm>
              </p:grpSpPr>
              <p:sp>
                <p:nvSpPr>
                  <p:cNvPr id="55389" name="Oval 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90" name="Line 10"/>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5385" name="Group 11"/>
                <p:cNvGrpSpPr>
                  <a:grpSpLocks/>
                </p:cNvGrpSpPr>
                <p:nvPr/>
              </p:nvGrpSpPr>
              <p:grpSpPr bwMode="auto">
                <a:xfrm>
                  <a:off x="4956" y="853"/>
                  <a:ext cx="154" cy="979"/>
                  <a:chOff x="4956" y="853"/>
                  <a:chExt cx="154" cy="979"/>
                </a:xfrm>
              </p:grpSpPr>
              <p:sp>
                <p:nvSpPr>
                  <p:cNvPr id="55386" name="Line 12"/>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87" name="Line 13"/>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88" name="Line 14"/>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5363" name="Group 15"/>
              <p:cNvGrpSpPr>
                <a:grpSpLocks/>
              </p:cNvGrpSpPr>
              <p:nvPr/>
            </p:nvGrpSpPr>
            <p:grpSpPr bwMode="auto">
              <a:xfrm>
                <a:off x="1687" y="1943"/>
                <a:ext cx="209" cy="624"/>
                <a:chOff x="3591" y="567"/>
                <a:chExt cx="301" cy="907"/>
              </a:xfrm>
            </p:grpSpPr>
            <p:sp>
              <p:nvSpPr>
                <p:cNvPr id="55377" name="Line 16"/>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8" name="Oval 17"/>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9" name="Line 18"/>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80" name="Group 19"/>
                <p:cNvGrpSpPr>
                  <a:grpSpLocks/>
                </p:cNvGrpSpPr>
                <p:nvPr/>
              </p:nvGrpSpPr>
              <p:grpSpPr bwMode="auto">
                <a:xfrm>
                  <a:off x="3715" y="591"/>
                  <a:ext cx="56" cy="222"/>
                  <a:chOff x="4507" y="645"/>
                  <a:chExt cx="56" cy="222"/>
                </a:xfrm>
              </p:grpSpPr>
              <p:sp>
                <p:nvSpPr>
                  <p:cNvPr id="55381" name="Line 20"/>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82" name="Line 21"/>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83" name="Line 22"/>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5364" name="Group 23"/>
              <p:cNvGrpSpPr>
                <a:grpSpLocks/>
              </p:cNvGrpSpPr>
              <p:nvPr/>
            </p:nvGrpSpPr>
            <p:grpSpPr bwMode="auto">
              <a:xfrm>
                <a:off x="1300" y="1864"/>
                <a:ext cx="71" cy="619"/>
                <a:chOff x="743" y="567"/>
                <a:chExt cx="187" cy="1639"/>
              </a:xfrm>
            </p:grpSpPr>
            <p:sp>
              <p:nvSpPr>
                <p:cNvPr id="55375" name="Line 2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6" name="Rectangle 2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5365" name="Group 26"/>
              <p:cNvGrpSpPr>
                <a:grpSpLocks/>
              </p:cNvGrpSpPr>
              <p:nvPr/>
            </p:nvGrpSpPr>
            <p:grpSpPr bwMode="auto">
              <a:xfrm>
                <a:off x="793" y="1615"/>
                <a:ext cx="71" cy="619"/>
                <a:chOff x="743" y="567"/>
                <a:chExt cx="187" cy="1639"/>
              </a:xfrm>
            </p:grpSpPr>
            <p:sp>
              <p:nvSpPr>
                <p:cNvPr id="55373" name="Line 2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4" name="Rectangle 2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66" name="Line 29"/>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67" name="Line 30"/>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68" name="Group 31"/>
              <p:cNvGrpSpPr>
                <a:grpSpLocks/>
              </p:cNvGrpSpPr>
              <p:nvPr/>
            </p:nvGrpSpPr>
            <p:grpSpPr bwMode="auto">
              <a:xfrm rot="-5400000">
                <a:off x="2096" y="1361"/>
                <a:ext cx="59" cy="520"/>
                <a:chOff x="743" y="567"/>
                <a:chExt cx="187" cy="1639"/>
              </a:xfrm>
            </p:grpSpPr>
            <p:sp>
              <p:nvSpPr>
                <p:cNvPr id="55371" name="Line 32"/>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2" name="Rectangle 33"/>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69" name="Oval 34"/>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70" name="Oval 35"/>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4612" name="Text Box 36"/>
            <p:cNvSpPr txBox="1">
              <a:spLocks noChangeArrowheads="1"/>
            </p:cNvSpPr>
            <p:nvPr/>
          </p:nvSpPr>
          <p:spPr bwMode="auto">
            <a:xfrm>
              <a:off x="1680" y="2400"/>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4613" name="Text Box 37"/>
            <p:cNvSpPr txBox="1">
              <a:spLocks noChangeArrowheads="1"/>
            </p:cNvSpPr>
            <p:nvPr/>
          </p:nvSpPr>
          <p:spPr bwMode="auto">
            <a:xfrm>
              <a:off x="1056" y="2928"/>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4614" name="Text Box 38"/>
            <p:cNvSpPr txBox="1">
              <a:spLocks noChangeArrowheads="1"/>
            </p:cNvSpPr>
            <p:nvPr/>
          </p:nvSpPr>
          <p:spPr bwMode="auto">
            <a:xfrm>
              <a:off x="624" y="2880"/>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4615" name="Text Box 39"/>
            <p:cNvSpPr txBox="1">
              <a:spLocks noChangeArrowheads="1"/>
            </p:cNvSpPr>
            <p:nvPr/>
          </p:nvSpPr>
          <p:spPr bwMode="auto">
            <a:xfrm>
              <a:off x="672" y="3360"/>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64616" name="Text Box 40"/>
            <p:cNvSpPr txBox="1">
              <a:spLocks noChangeArrowheads="1"/>
            </p:cNvSpPr>
            <p:nvPr/>
          </p:nvSpPr>
          <p:spPr bwMode="auto">
            <a:xfrm>
              <a:off x="1584" y="3408"/>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664617" name="Text Box 41"/>
            <p:cNvSpPr txBox="1">
              <a:spLocks noChangeArrowheads="1"/>
            </p:cNvSpPr>
            <p:nvPr/>
          </p:nvSpPr>
          <p:spPr bwMode="auto">
            <a:xfrm>
              <a:off x="1248" y="3792"/>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grpSp>
      <p:grpSp>
        <p:nvGrpSpPr>
          <p:cNvPr id="12" name="Group 42"/>
          <p:cNvGrpSpPr>
            <a:grpSpLocks/>
          </p:cNvGrpSpPr>
          <p:nvPr/>
        </p:nvGrpSpPr>
        <p:grpSpPr bwMode="auto">
          <a:xfrm>
            <a:off x="4876800" y="3505200"/>
            <a:ext cx="1905000" cy="2990850"/>
            <a:chOff x="3072" y="2208"/>
            <a:chExt cx="1200" cy="1884"/>
          </a:xfrm>
        </p:grpSpPr>
        <p:grpSp>
          <p:nvGrpSpPr>
            <p:cNvPr id="55332" name="Group 43"/>
            <p:cNvGrpSpPr>
              <a:grpSpLocks/>
            </p:cNvGrpSpPr>
            <p:nvPr/>
          </p:nvGrpSpPr>
          <p:grpSpPr bwMode="auto">
            <a:xfrm>
              <a:off x="3072" y="2208"/>
              <a:ext cx="1200" cy="1488"/>
              <a:chOff x="3097" y="2561"/>
              <a:chExt cx="1200" cy="1423"/>
            </a:xfrm>
          </p:grpSpPr>
          <p:sp>
            <p:nvSpPr>
              <p:cNvPr id="55334" name="Line 44"/>
              <p:cNvSpPr>
                <a:spLocks noChangeShapeType="1"/>
              </p:cNvSpPr>
              <p:nvPr/>
            </p:nvSpPr>
            <p:spPr bwMode="auto">
              <a:xfrm>
                <a:off x="3641" y="2884"/>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35" name="Group 45"/>
              <p:cNvGrpSpPr>
                <a:grpSpLocks/>
              </p:cNvGrpSpPr>
              <p:nvPr/>
            </p:nvGrpSpPr>
            <p:grpSpPr bwMode="auto">
              <a:xfrm>
                <a:off x="3604" y="3129"/>
                <a:ext cx="71" cy="619"/>
                <a:chOff x="743" y="567"/>
                <a:chExt cx="187" cy="1639"/>
              </a:xfrm>
            </p:grpSpPr>
            <p:sp>
              <p:nvSpPr>
                <p:cNvPr id="55350" name="Line 4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51" name="Rectangle 4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5336" name="Group 48"/>
              <p:cNvGrpSpPr>
                <a:grpSpLocks/>
              </p:cNvGrpSpPr>
              <p:nvPr/>
            </p:nvGrpSpPr>
            <p:grpSpPr bwMode="auto">
              <a:xfrm>
                <a:off x="3097" y="2880"/>
                <a:ext cx="71" cy="619"/>
                <a:chOff x="743" y="567"/>
                <a:chExt cx="187" cy="1639"/>
              </a:xfrm>
            </p:grpSpPr>
            <p:sp>
              <p:nvSpPr>
                <p:cNvPr id="55348" name="Line 4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9" name="Rectangle 5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37" name="Line 51"/>
              <p:cNvSpPr>
                <a:spLocks noChangeShapeType="1"/>
              </p:cNvSpPr>
              <p:nvPr/>
            </p:nvSpPr>
            <p:spPr bwMode="auto">
              <a:xfrm flipV="1">
                <a:off x="3122" y="2880"/>
                <a:ext cx="1150" cy="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8" name="Line 52"/>
              <p:cNvSpPr>
                <a:spLocks noChangeShapeType="1"/>
              </p:cNvSpPr>
              <p:nvPr/>
            </p:nvSpPr>
            <p:spPr bwMode="auto">
              <a:xfrm flipV="1">
                <a:off x="3122" y="3936"/>
                <a:ext cx="1150" cy="1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39" name="Group 53"/>
              <p:cNvGrpSpPr>
                <a:grpSpLocks/>
              </p:cNvGrpSpPr>
              <p:nvPr/>
            </p:nvGrpSpPr>
            <p:grpSpPr bwMode="auto">
              <a:xfrm rot="-5400000">
                <a:off x="3886" y="2626"/>
                <a:ext cx="59" cy="520"/>
                <a:chOff x="743" y="567"/>
                <a:chExt cx="187" cy="1639"/>
              </a:xfrm>
            </p:grpSpPr>
            <p:sp>
              <p:nvSpPr>
                <p:cNvPr id="55346" name="Line 5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7" name="Rectangle 5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40" name="Oval 56"/>
              <p:cNvSpPr>
                <a:spLocks noChangeArrowheads="1"/>
              </p:cNvSpPr>
              <p:nvPr/>
            </p:nvSpPr>
            <p:spPr bwMode="auto">
              <a:xfrm>
                <a:off x="4224" y="2849"/>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1" name="Oval 57"/>
              <p:cNvSpPr>
                <a:spLocks noChangeArrowheads="1"/>
              </p:cNvSpPr>
              <p:nvPr/>
            </p:nvSpPr>
            <p:spPr bwMode="auto">
              <a:xfrm>
                <a:off x="4224" y="3922"/>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4634" name="Text Box 58"/>
              <p:cNvSpPr txBox="1">
                <a:spLocks noChangeArrowheads="1"/>
              </p:cNvSpPr>
              <p:nvPr/>
            </p:nvSpPr>
            <p:spPr bwMode="auto">
              <a:xfrm>
                <a:off x="3744" y="2561"/>
                <a:ext cx="480" cy="27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4635" name="Text Box 59"/>
              <p:cNvSpPr txBox="1">
                <a:spLocks noChangeArrowheads="1"/>
              </p:cNvSpPr>
              <p:nvPr/>
            </p:nvSpPr>
            <p:spPr bwMode="auto">
              <a:xfrm>
                <a:off x="3600" y="3089"/>
                <a:ext cx="480" cy="27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4636" name="Text Box 60"/>
              <p:cNvSpPr txBox="1">
                <a:spLocks noChangeArrowheads="1"/>
              </p:cNvSpPr>
              <p:nvPr/>
            </p:nvSpPr>
            <p:spPr bwMode="auto">
              <a:xfrm>
                <a:off x="3168" y="3041"/>
                <a:ext cx="480" cy="27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55345" name="Line 61"/>
              <p:cNvSpPr>
                <a:spLocks noChangeShapeType="1"/>
              </p:cNvSpPr>
              <p:nvPr/>
            </p:nvSpPr>
            <p:spPr bwMode="auto">
              <a:xfrm>
                <a:off x="3120" y="3408"/>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4638" name="Text Box 62"/>
            <p:cNvSpPr txBox="1">
              <a:spLocks noChangeArrowheads="1"/>
            </p:cNvSpPr>
            <p:nvPr/>
          </p:nvSpPr>
          <p:spPr bwMode="auto">
            <a:xfrm>
              <a:off x="3312" y="3801"/>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grpSp>
      <p:graphicFrame>
        <p:nvGraphicFramePr>
          <p:cNvPr id="664639" name="Object 63"/>
          <p:cNvGraphicFramePr>
            <a:graphicFrameLocks noChangeAspect="1"/>
          </p:cNvGraphicFramePr>
          <p:nvPr>
            <p:extLst>
              <p:ext uri="{D42A27DB-BD31-4B8C-83A1-F6EECF244321}">
                <p14:modId xmlns:p14="http://schemas.microsoft.com/office/powerpoint/2010/main" val="282988946"/>
              </p:ext>
            </p:extLst>
          </p:nvPr>
        </p:nvGraphicFramePr>
        <p:xfrm>
          <a:off x="2027238" y="457200"/>
          <a:ext cx="2825750" cy="1474788"/>
        </p:xfrm>
        <a:graphic>
          <a:graphicData uri="http://schemas.openxmlformats.org/presentationml/2006/ole">
            <mc:AlternateContent xmlns:mc="http://schemas.openxmlformats.org/markup-compatibility/2006">
              <mc:Choice xmlns:v="urn:schemas-microsoft-com:vml" Requires="v">
                <p:oleObj spid="_x0000_s94234" name="Equation" r:id="rId3" imgW="1459866" imgH="761669" progId="Equation.DSMT4">
                  <p:embed/>
                </p:oleObj>
              </mc:Choice>
              <mc:Fallback>
                <p:oleObj name="Equation" r:id="rId3" imgW="1459866" imgH="76166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38" y="457200"/>
                        <a:ext cx="2825750" cy="147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4640" name="Text Box 64"/>
          <p:cNvSpPr txBox="1">
            <a:spLocks noChangeArrowheads="1"/>
          </p:cNvSpPr>
          <p:nvPr/>
        </p:nvSpPr>
        <p:spPr bwMode="auto">
          <a:xfrm>
            <a:off x="685800" y="4572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解得</a:t>
            </a:r>
          </a:p>
        </p:txBody>
      </p:sp>
      <p:sp>
        <p:nvSpPr>
          <p:cNvPr id="664641" name="Text Box 65"/>
          <p:cNvSpPr txBox="1">
            <a:spLocks noChangeArrowheads="1"/>
          </p:cNvSpPr>
          <p:nvPr/>
        </p:nvSpPr>
        <p:spPr bwMode="auto">
          <a:xfrm>
            <a:off x="609600" y="205740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再由节点电位求得短路电流</a:t>
            </a:r>
          </a:p>
        </p:txBody>
      </p:sp>
      <p:graphicFrame>
        <p:nvGraphicFramePr>
          <p:cNvPr id="664643" name="Object 67"/>
          <p:cNvGraphicFramePr>
            <a:graphicFrameLocks noChangeAspect="1"/>
          </p:cNvGraphicFramePr>
          <p:nvPr>
            <p:extLst>
              <p:ext uri="{D42A27DB-BD31-4B8C-83A1-F6EECF244321}">
                <p14:modId xmlns:p14="http://schemas.microsoft.com/office/powerpoint/2010/main" val="4234840447"/>
              </p:ext>
            </p:extLst>
          </p:nvPr>
        </p:nvGraphicFramePr>
        <p:xfrm>
          <a:off x="2316163" y="2514600"/>
          <a:ext cx="2097087" cy="846138"/>
        </p:xfrm>
        <a:graphic>
          <a:graphicData uri="http://schemas.openxmlformats.org/presentationml/2006/ole">
            <mc:AlternateContent xmlns:mc="http://schemas.openxmlformats.org/markup-compatibility/2006">
              <mc:Choice xmlns:v="urn:schemas-microsoft-com:vml" Requires="v">
                <p:oleObj spid="_x0000_s94235" name="Equation" r:id="rId5" imgW="977476" imgH="393529" progId="Equation.3">
                  <p:embed/>
                </p:oleObj>
              </mc:Choice>
              <mc:Fallback>
                <p:oleObj name="Equation" r:id="rId5" imgW="977476"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6163" y="2514600"/>
                        <a:ext cx="2097087"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06" name="Text Box 68"/>
          <p:cNvSpPr txBox="1">
            <a:spLocks noChangeArrowheads="1"/>
          </p:cNvSpPr>
          <p:nvPr/>
        </p:nvSpPr>
        <p:spPr bwMode="auto">
          <a:xfrm>
            <a:off x="898525" y="33734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endParaRPr lang="zh-CN"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4645" name="Text Box 69"/>
          <p:cNvSpPr txBox="1">
            <a:spLocks noChangeArrowheads="1"/>
          </p:cNvSpPr>
          <p:nvPr/>
        </p:nvSpPr>
        <p:spPr bwMode="auto">
          <a:xfrm>
            <a:off x="457200" y="3429000"/>
            <a:ext cx="4876800" cy="457200"/>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2</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）由图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(c)</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计算等效电阻</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64646" name="Object 70"/>
          <p:cNvGraphicFramePr>
            <a:graphicFrameLocks noChangeAspect="1"/>
          </p:cNvGraphicFramePr>
          <p:nvPr>
            <p:extLst>
              <p:ext uri="{D42A27DB-BD31-4B8C-83A1-F6EECF244321}">
                <p14:modId xmlns:p14="http://schemas.microsoft.com/office/powerpoint/2010/main" val="2996750456"/>
              </p:ext>
            </p:extLst>
          </p:nvPr>
        </p:nvGraphicFramePr>
        <p:xfrm>
          <a:off x="998538" y="4038600"/>
          <a:ext cx="3032125" cy="890588"/>
        </p:xfrm>
        <a:graphic>
          <a:graphicData uri="http://schemas.openxmlformats.org/presentationml/2006/ole">
            <mc:AlternateContent xmlns:mc="http://schemas.openxmlformats.org/markup-compatibility/2006">
              <mc:Choice xmlns:v="urn:schemas-microsoft-com:vml" Requires="v">
                <p:oleObj spid="_x0000_s94236" name="Equation" r:id="rId7" imgW="1435100" imgH="393700" progId="Equation.DSMT4">
                  <p:embed/>
                </p:oleObj>
              </mc:Choice>
              <mc:Fallback>
                <p:oleObj name="Equation" r:id="rId7" imgW="1435100" imgH="393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8538" y="4038600"/>
                        <a:ext cx="3032125"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4647" name="Text Box 71"/>
          <p:cNvSpPr txBox="1">
            <a:spLocks noChangeArrowheads="1"/>
          </p:cNvSpPr>
          <p:nvPr/>
        </p:nvSpPr>
        <p:spPr bwMode="auto">
          <a:xfrm>
            <a:off x="457200" y="5181600"/>
            <a:ext cx="4191000" cy="830997"/>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3</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）得到图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(d)</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所示的诺顿</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等效电路</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 。</a:t>
            </a: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7" name="Group 72"/>
          <p:cNvGrpSpPr>
            <a:grpSpLocks/>
          </p:cNvGrpSpPr>
          <p:nvPr/>
        </p:nvGrpSpPr>
        <p:grpSpPr bwMode="auto">
          <a:xfrm>
            <a:off x="6934200" y="3962400"/>
            <a:ext cx="1600200" cy="2519363"/>
            <a:chOff x="4368" y="2496"/>
            <a:chExt cx="1008" cy="1587"/>
          </a:xfrm>
        </p:grpSpPr>
        <p:sp>
          <p:nvSpPr>
            <p:cNvPr id="55311" name="Text Box 73"/>
            <p:cNvSpPr txBox="1">
              <a:spLocks noChangeArrowheads="1"/>
            </p:cNvSpPr>
            <p:nvPr/>
          </p:nvSpPr>
          <p:spPr bwMode="auto">
            <a:xfrm>
              <a:off x="4464" y="326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a:t>
              </a:r>
            </a:p>
          </p:txBody>
        </p:sp>
        <p:sp>
          <p:nvSpPr>
            <p:cNvPr id="664650" name="Text Box 74"/>
            <p:cNvSpPr txBox="1">
              <a:spLocks noChangeArrowheads="1"/>
            </p:cNvSpPr>
            <p:nvPr/>
          </p:nvSpPr>
          <p:spPr bwMode="auto">
            <a:xfrm>
              <a:off x="4656" y="3792"/>
              <a:ext cx="432" cy="291"/>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p>
          </p:txBody>
        </p:sp>
        <p:grpSp>
          <p:nvGrpSpPr>
            <p:cNvPr id="55313" name="Group 75"/>
            <p:cNvGrpSpPr>
              <a:grpSpLocks/>
            </p:cNvGrpSpPr>
            <p:nvPr/>
          </p:nvGrpSpPr>
          <p:grpSpPr bwMode="auto">
            <a:xfrm>
              <a:off x="4368" y="2496"/>
              <a:ext cx="1008" cy="1152"/>
              <a:chOff x="2536" y="2569"/>
              <a:chExt cx="2519" cy="2838"/>
            </a:xfrm>
          </p:grpSpPr>
          <p:sp>
            <p:nvSpPr>
              <p:cNvPr id="55315" name="Line 76"/>
              <p:cNvSpPr>
                <a:spLocks noChangeShapeType="1"/>
              </p:cNvSpPr>
              <p:nvPr/>
            </p:nvSpPr>
            <p:spPr bwMode="auto">
              <a:xfrm>
                <a:off x="3897" y="2657"/>
                <a:ext cx="0" cy="268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16" name="Line 77"/>
              <p:cNvSpPr>
                <a:spLocks noChangeShapeType="1"/>
              </p:cNvSpPr>
              <p:nvPr/>
            </p:nvSpPr>
            <p:spPr bwMode="auto">
              <a:xfrm>
                <a:off x="2775" y="2668"/>
                <a:ext cx="3" cy="267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17" name="Group 78"/>
              <p:cNvGrpSpPr>
                <a:grpSpLocks/>
              </p:cNvGrpSpPr>
              <p:nvPr/>
            </p:nvGrpSpPr>
            <p:grpSpPr bwMode="auto">
              <a:xfrm>
                <a:off x="2536" y="3468"/>
                <a:ext cx="479" cy="1558"/>
                <a:chOff x="3591" y="567"/>
                <a:chExt cx="301" cy="907"/>
              </a:xfrm>
            </p:grpSpPr>
            <p:sp>
              <p:nvSpPr>
                <p:cNvPr id="55325" name="Line 79"/>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6" name="Oval 80"/>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7" name="Line 81"/>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28" name="Group 82"/>
                <p:cNvGrpSpPr>
                  <a:grpSpLocks/>
                </p:cNvGrpSpPr>
                <p:nvPr/>
              </p:nvGrpSpPr>
              <p:grpSpPr bwMode="auto">
                <a:xfrm>
                  <a:off x="3715" y="591"/>
                  <a:ext cx="56" cy="222"/>
                  <a:chOff x="4507" y="645"/>
                  <a:chExt cx="56" cy="222"/>
                </a:xfrm>
              </p:grpSpPr>
              <p:sp>
                <p:nvSpPr>
                  <p:cNvPr id="55329" name="Line 83"/>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0" name="Line 84"/>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1" name="Line 85"/>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5318" name="Group 86"/>
              <p:cNvGrpSpPr>
                <a:grpSpLocks/>
              </p:cNvGrpSpPr>
              <p:nvPr/>
            </p:nvGrpSpPr>
            <p:grpSpPr bwMode="auto">
              <a:xfrm>
                <a:off x="3812" y="3270"/>
                <a:ext cx="162" cy="1548"/>
                <a:chOff x="743" y="567"/>
                <a:chExt cx="187" cy="1639"/>
              </a:xfrm>
            </p:grpSpPr>
            <p:sp>
              <p:nvSpPr>
                <p:cNvPr id="55323" name="Line 8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4" name="Rectangle 8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19" name="Line 89"/>
              <p:cNvSpPr>
                <a:spLocks noChangeShapeType="1"/>
              </p:cNvSpPr>
              <p:nvPr/>
            </p:nvSpPr>
            <p:spPr bwMode="auto">
              <a:xfrm flipV="1">
                <a:off x="2789" y="2655"/>
                <a:ext cx="217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0" name="Line 90"/>
              <p:cNvSpPr>
                <a:spLocks noChangeShapeType="1"/>
              </p:cNvSpPr>
              <p:nvPr/>
            </p:nvSpPr>
            <p:spPr bwMode="auto">
              <a:xfrm>
                <a:off x="2756" y="5319"/>
                <a:ext cx="2207" cy="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1" name="Oval 91"/>
              <p:cNvSpPr>
                <a:spLocks noChangeArrowheads="1"/>
              </p:cNvSpPr>
              <p:nvPr/>
            </p:nvSpPr>
            <p:spPr bwMode="auto">
              <a:xfrm>
                <a:off x="4887" y="2569"/>
                <a:ext cx="168" cy="155"/>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2" name="Oval 92"/>
              <p:cNvSpPr>
                <a:spLocks noChangeArrowheads="1"/>
              </p:cNvSpPr>
              <p:nvPr/>
            </p:nvSpPr>
            <p:spPr bwMode="auto">
              <a:xfrm>
                <a:off x="4855" y="5252"/>
                <a:ext cx="168" cy="155"/>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4669" name="Text Box 93"/>
            <p:cNvSpPr txBox="1">
              <a:spLocks noChangeArrowheads="1"/>
            </p:cNvSpPr>
            <p:nvPr/>
          </p:nvSpPr>
          <p:spPr bwMode="auto">
            <a:xfrm>
              <a:off x="4944" y="2784"/>
              <a:ext cx="384" cy="233"/>
            </a:xfrm>
            <a:prstGeom prst="rect">
              <a:avLst/>
            </a:prstGeom>
            <a:noFill/>
            <a:ln w="9525">
              <a:noFill/>
              <a:miter lim="800000"/>
              <a:headEnd/>
              <a:tailEnd/>
            </a:ln>
            <a:effectLst/>
          </p:spPr>
          <p:txBody>
            <a:bodyPr lIns="0" tIns="0" rIns="0" bIns="0">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14</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grpSp>
    </p:spTree>
    <p:extLst>
      <p:ext uri="{BB962C8B-B14F-4D97-AF65-F5344CB8AC3E}">
        <p14:creationId xmlns:p14="http://schemas.microsoft.com/office/powerpoint/2010/main" val="21146129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64640"/>
                                        </p:tgtEl>
                                        <p:attrNameLst>
                                          <p:attrName>style.visibility</p:attrName>
                                        </p:attrNameLst>
                                      </p:cBhvr>
                                      <p:to>
                                        <p:strVal val="visible"/>
                                      </p:to>
                                    </p:set>
                                    <p:animEffect transition="in" filter="wipe(left)">
                                      <p:cBhvr>
                                        <p:cTn id="7" dur="500"/>
                                        <p:tgtEl>
                                          <p:spTgt spid="66464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664639"/>
                                        </p:tgtEl>
                                        <p:attrNameLst>
                                          <p:attrName>style.visibility</p:attrName>
                                        </p:attrNameLst>
                                      </p:cBhvr>
                                      <p:to>
                                        <p:strVal val="visible"/>
                                      </p:to>
                                    </p:set>
                                    <p:animEffect transition="in" filter="wipe(left)">
                                      <p:cBhvr>
                                        <p:cTn id="11" dur="500"/>
                                        <p:tgtEl>
                                          <p:spTgt spid="66463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64641"/>
                                        </p:tgtEl>
                                        <p:attrNameLst>
                                          <p:attrName>style.visibility</p:attrName>
                                        </p:attrNameLst>
                                      </p:cBhvr>
                                      <p:to>
                                        <p:strVal val="visible"/>
                                      </p:to>
                                    </p:set>
                                    <p:animEffect transition="in" filter="wipe(left)">
                                      <p:cBhvr>
                                        <p:cTn id="16" dur="500"/>
                                        <p:tgtEl>
                                          <p:spTgt spid="664641"/>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664643"/>
                                        </p:tgtEl>
                                        <p:attrNameLst>
                                          <p:attrName>style.visibility</p:attrName>
                                        </p:attrNameLst>
                                      </p:cBhvr>
                                      <p:to>
                                        <p:strVal val="visible"/>
                                      </p:to>
                                    </p:set>
                                    <p:animEffect transition="in" filter="wipe(left)">
                                      <p:cBhvr>
                                        <p:cTn id="20" dur="500"/>
                                        <p:tgtEl>
                                          <p:spTgt spid="66464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64645"/>
                                        </p:tgtEl>
                                        <p:attrNameLst>
                                          <p:attrName>style.visibility</p:attrName>
                                        </p:attrNameLst>
                                      </p:cBhvr>
                                      <p:to>
                                        <p:strVal val="visible"/>
                                      </p:to>
                                    </p:set>
                                    <p:animEffect transition="in" filter="wipe(left)">
                                      <p:cBhvr>
                                        <p:cTn id="25" dur="500"/>
                                        <p:tgtEl>
                                          <p:spTgt spid="6646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64646"/>
                                        </p:tgtEl>
                                        <p:attrNameLst>
                                          <p:attrName>style.visibility</p:attrName>
                                        </p:attrNameLst>
                                      </p:cBhvr>
                                      <p:to>
                                        <p:strVal val="visible"/>
                                      </p:to>
                                    </p:set>
                                    <p:animEffect transition="in" filter="wipe(left)">
                                      <p:cBhvr>
                                        <p:cTn id="36" dur="500"/>
                                        <p:tgtEl>
                                          <p:spTgt spid="66464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664647"/>
                                        </p:tgtEl>
                                        <p:attrNameLst>
                                          <p:attrName>style.visibility</p:attrName>
                                        </p:attrNameLst>
                                      </p:cBhvr>
                                      <p:to>
                                        <p:strVal val="visible"/>
                                      </p:to>
                                    </p:set>
                                    <p:animEffect transition="in" filter="wipe(down)">
                                      <p:cBhvr>
                                        <p:cTn id="41" dur="500"/>
                                        <p:tgtEl>
                                          <p:spTgt spid="66464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p:cTn id="46" dur="500" fill="hold"/>
                                        <p:tgtEl>
                                          <p:spTgt spid="17"/>
                                        </p:tgtEl>
                                        <p:attrNameLst>
                                          <p:attrName>ppt_w</p:attrName>
                                        </p:attrNameLst>
                                      </p:cBhvr>
                                      <p:tavLst>
                                        <p:tav tm="0">
                                          <p:val>
                                            <p:fltVal val="0"/>
                                          </p:val>
                                        </p:tav>
                                        <p:tav tm="100000">
                                          <p:val>
                                            <p:strVal val="#ppt_w"/>
                                          </p:val>
                                        </p:tav>
                                      </p:tavLst>
                                    </p:anim>
                                    <p:anim calcmode="lin" valueType="num">
                                      <p:cBhvr>
                                        <p:cTn id="47"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640" grpId="0"/>
      <p:bldP spid="664641" grpId="0"/>
      <p:bldP spid="664645" grpId="0"/>
      <p:bldP spid="66464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3CCD23BE-9F76-41C0-8629-EBEAB934A3B3}"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51</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2"/>
          <p:cNvGrpSpPr>
            <a:grpSpLocks/>
          </p:cNvGrpSpPr>
          <p:nvPr/>
        </p:nvGrpSpPr>
        <p:grpSpPr bwMode="auto">
          <a:xfrm>
            <a:off x="3203575" y="1557338"/>
            <a:ext cx="3124200" cy="2606675"/>
            <a:chOff x="1824" y="960"/>
            <a:chExt cx="1968" cy="1642"/>
          </a:xfrm>
        </p:grpSpPr>
        <p:grpSp>
          <p:nvGrpSpPr>
            <p:cNvPr id="56378" name="Group 3"/>
            <p:cNvGrpSpPr>
              <a:grpSpLocks/>
            </p:cNvGrpSpPr>
            <p:nvPr/>
          </p:nvGrpSpPr>
          <p:grpSpPr bwMode="auto">
            <a:xfrm>
              <a:off x="1824" y="1248"/>
              <a:ext cx="1872" cy="1135"/>
              <a:chOff x="720" y="1584"/>
              <a:chExt cx="1872" cy="1135"/>
            </a:xfrm>
          </p:grpSpPr>
          <p:sp>
            <p:nvSpPr>
              <p:cNvPr id="56385" name="Line 4"/>
              <p:cNvSpPr>
                <a:spLocks noChangeShapeType="1"/>
              </p:cNvSpPr>
              <p:nvPr/>
            </p:nvSpPr>
            <p:spPr bwMode="auto">
              <a:xfrm>
                <a:off x="1337" y="1619"/>
                <a:ext cx="0" cy="107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6" name="Line 5"/>
              <p:cNvSpPr>
                <a:spLocks noChangeShapeType="1"/>
              </p:cNvSpPr>
              <p:nvPr/>
            </p:nvSpPr>
            <p:spPr bwMode="auto">
              <a:xfrm>
                <a:off x="1792" y="1624"/>
                <a:ext cx="1" cy="106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87" name="Group 6"/>
              <p:cNvGrpSpPr>
                <a:grpSpLocks/>
              </p:cNvGrpSpPr>
              <p:nvPr/>
            </p:nvGrpSpPr>
            <p:grpSpPr bwMode="auto">
              <a:xfrm>
                <a:off x="720" y="2064"/>
                <a:ext cx="263" cy="624"/>
                <a:chOff x="4417" y="567"/>
                <a:chExt cx="693" cy="1650"/>
              </a:xfrm>
            </p:grpSpPr>
            <p:grpSp>
              <p:nvGrpSpPr>
                <p:cNvPr id="56409" name="Group 7"/>
                <p:cNvGrpSpPr>
                  <a:grpSpLocks/>
                </p:cNvGrpSpPr>
                <p:nvPr/>
              </p:nvGrpSpPr>
              <p:grpSpPr bwMode="auto">
                <a:xfrm>
                  <a:off x="4417" y="567"/>
                  <a:ext cx="550" cy="1650"/>
                  <a:chOff x="4417" y="567"/>
                  <a:chExt cx="550" cy="1650"/>
                </a:xfrm>
              </p:grpSpPr>
              <p:sp>
                <p:nvSpPr>
                  <p:cNvPr id="56414" name="Oval 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5" name="Line 9"/>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10" name="Group 10"/>
                <p:cNvGrpSpPr>
                  <a:grpSpLocks/>
                </p:cNvGrpSpPr>
                <p:nvPr/>
              </p:nvGrpSpPr>
              <p:grpSpPr bwMode="auto">
                <a:xfrm>
                  <a:off x="4956" y="853"/>
                  <a:ext cx="154" cy="979"/>
                  <a:chOff x="4956" y="853"/>
                  <a:chExt cx="154" cy="979"/>
                </a:xfrm>
              </p:grpSpPr>
              <p:sp>
                <p:nvSpPr>
                  <p:cNvPr id="56411" name="Line 1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2" name="Line 1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3" name="Line 1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88" name="Group 14"/>
              <p:cNvGrpSpPr>
                <a:grpSpLocks/>
              </p:cNvGrpSpPr>
              <p:nvPr/>
            </p:nvGrpSpPr>
            <p:grpSpPr bwMode="auto">
              <a:xfrm>
                <a:off x="1687" y="1943"/>
                <a:ext cx="209" cy="624"/>
                <a:chOff x="3591" y="567"/>
                <a:chExt cx="301" cy="907"/>
              </a:xfrm>
            </p:grpSpPr>
            <p:sp>
              <p:nvSpPr>
                <p:cNvPr id="56402" name="Line 15"/>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3" name="Oval 16"/>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4" name="Line 17"/>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405" name="Group 18"/>
                <p:cNvGrpSpPr>
                  <a:grpSpLocks/>
                </p:cNvGrpSpPr>
                <p:nvPr/>
              </p:nvGrpSpPr>
              <p:grpSpPr bwMode="auto">
                <a:xfrm>
                  <a:off x="3715" y="591"/>
                  <a:ext cx="56" cy="222"/>
                  <a:chOff x="4507" y="645"/>
                  <a:chExt cx="56" cy="222"/>
                </a:xfrm>
              </p:grpSpPr>
              <p:sp>
                <p:nvSpPr>
                  <p:cNvPr id="56406" name="Line 19"/>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7" name="Line 20"/>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8" name="Line 21"/>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89" name="Group 22"/>
              <p:cNvGrpSpPr>
                <a:grpSpLocks/>
              </p:cNvGrpSpPr>
              <p:nvPr/>
            </p:nvGrpSpPr>
            <p:grpSpPr bwMode="auto">
              <a:xfrm>
                <a:off x="1300" y="1864"/>
                <a:ext cx="71" cy="619"/>
                <a:chOff x="743" y="567"/>
                <a:chExt cx="187" cy="1639"/>
              </a:xfrm>
            </p:grpSpPr>
            <p:sp>
              <p:nvSpPr>
                <p:cNvPr id="56400" name="Line 23"/>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1" name="Rectangle 24"/>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90" name="Group 25"/>
              <p:cNvGrpSpPr>
                <a:grpSpLocks/>
              </p:cNvGrpSpPr>
              <p:nvPr/>
            </p:nvGrpSpPr>
            <p:grpSpPr bwMode="auto">
              <a:xfrm>
                <a:off x="793" y="1615"/>
                <a:ext cx="71" cy="619"/>
                <a:chOff x="743" y="567"/>
                <a:chExt cx="187" cy="1639"/>
              </a:xfrm>
            </p:grpSpPr>
            <p:sp>
              <p:nvSpPr>
                <p:cNvPr id="56398" name="Line 26"/>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9" name="Rectangle 27"/>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91" name="Line 28"/>
              <p:cNvSpPr>
                <a:spLocks noChangeShapeType="1"/>
              </p:cNvSpPr>
              <p:nvPr/>
            </p:nvSpPr>
            <p:spPr bwMode="auto">
              <a:xfrm flipV="1">
                <a:off x="818" y="1618"/>
                <a:ext cx="173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2" name="Line 29"/>
              <p:cNvSpPr>
                <a:spLocks noChangeShapeType="1"/>
              </p:cNvSpPr>
              <p:nvPr/>
            </p:nvSpPr>
            <p:spPr bwMode="auto">
              <a:xfrm flipV="1">
                <a:off x="818" y="2687"/>
                <a:ext cx="173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93" name="Group 30"/>
              <p:cNvGrpSpPr>
                <a:grpSpLocks/>
              </p:cNvGrpSpPr>
              <p:nvPr/>
            </p:nvGrpSpPr>
            <p:grpSpPr bwMode="auto">
              <a:xfrm rot="-5400000">
                <a:off x="2096" y="1361"/>
                <a:ext cx="59" cy="520"/>
                <a:chOff x="743" y="567"/>
                <a:chExt cx="187" cy="1639"/>
              </a:xfrm>
            </p:grpSpPr>
            <p:sp>
              <p:nvSpPr>
                <p:cNvPr id="56396" name="Line 31"/>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7" name="Rectangle 32"/>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94" name="Oval 33"/>
              <p:cNvSpPr>
                <a:spLocks noChangeArrowheads="1"/>
              </p:cNvSpPr>
              <p:nvPr/>
            </p:nvSpPr>
            <p:spPr bwMode="auto">
              <a:xfrm>
                <a:off x="2519" y="1584"/>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5" name="Oval 34"/>
              <p:cNvSpPr>
                <a:spLocks noChangeArrowheads="1"/>
              </p:cNvSpPr>
              <p:nvPr/>
            </p:nvSpPr>
            <p:spPr bwMode="auto">
              <a:xfrm>
                <a:off x="2505" y="2657"/>
                <a:ext cx="73" cy="62"/>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5635" name="Text Box 35"/>
            <p:cNvSpPr txBox="1">
              <a:spLocks noChangeArrowheads="1"/>
            </p:cNvSpPr>
            <p:nvPr/>
          </p:nvSpPr>
          <p:spPr bwMode="auto">
            <a:xfrm>
              <a:off x="3024" y="960"/>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5636" name="Text Box 36"/>
            <p:cNvSpPr txBox="1">
              <a:spLocks noChangeArrowheads="1"/>
            </p:cNvSpPr>
            <p:nvPr/>
          </p:nvSpPr>
          <p:spPr bwMode="auto">
            <a:xfrm>
              <a:off x="2400" y="1488"/>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5637" name="Text Box 37"/>
            <p:cNvSpPr txBox="1">
              <a:spLocks noChangeArrowheads="1"/>
            </p:cNvSpPr>
            <p:nvPr/>
          </p:nvSpPr>
          <p:spPr bwMode="auto">
            <a:xfrm>
              <a:off x="1968" y="1440"/>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20</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5638" name="Text Box 38"/>
            <p:cNvSpPr txBox="1">
              <a:spLocks noChangeArrowheads="1"/>
            </p:cNvSpPr>
            <p:nvPr/>
          </p:nvSpPr>
          <p:spPr bwMode="auto">
            <a:xfrm>
              <a:off x="2016" y="1920"/>
              <a:ext cx="480" cy="291"/>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50V</a:t>
              </a:r>
            </a:p>
          </p:txBody>
        </p:sp>
        <p:sp>
          <p:nvSpPr>
            <p:cNvPr id="665639" name="Text Box 39"/>
            <p:cNvSpPr txBox="1">
              <a:spLocks noChangeArrowheads="1"/>
            </p:cNvSpPr>
            <p:nvPr/>
          </p:nvSpPr>
          <p:spPr bwMode="auto">
            <a:xfrm>
              <a:off x="2928" y="1968"/>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a:t>
              </a:r>
            </a:p>
          </p:txBody>
        </p:sp>
        <p:sp>
          <p:nvSpPr>
            <p:cNvPr id="665640" name="Text Box 40"/>
            <p:cNvSpPr txBox="1">
              <a:spLocks noChangeArrowheads="1"/>
            </p:cNvSpPr>
            <p:nvPr/>
          </p:nvSpPr>
          <p:spPr bwMode="auto">
            <a:xfrm>
              <a:off x="2016" y="2352"/>
              <a:ext cx="1776" cy="250"/>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000">
                  <a:latin typeface="Times New Roman" panose="02020603050405020304" pitchFamily="18" charset="0"/>
                  <a:ea typeface="华文中宋" panose="02010600040101010101" pitchFamily="2" charset="-122"/>
                  <a:cs typeface="Times New Roman" panose="02020603050405020304" pitchFamily="18" charset="0"/>
                </a:rPr>
                <a:t>有源二端网络</a:t>
              </a:r>
            </a:p>
          </p:txBody>
        </p:sp>
      </p:grpSp>
      <p:grpSp>
        <p:nvGrpSpPr>
          <p:cNvPr id="12" name="Group 41"/>
          <p:cNvGrpSpPr>
            <a:grpSpLocks/>
          </p:cNvGrpSpPr>
          <p:nvPr/>
        </p:nvGrpSpPr>
        <p:grpSpPr bwMode="auto">
          <a:xfrm>
            <a:off x="914400" y="4038600"/>
            <a:ext cx="3124200" cy="2239963"/>
            <a:chOff x="576" y="2544"/>
            <a:chExt cx="1968" cy="1411"/>
          </a:xfrm>
        </p:grpSpPr>
        <p:sp>
          <p:nvSpPr>
            <p:cNvPr id="665642" name="Text Box 42"/>
            <p:cNvSpPr txBox="1">
              <a:spLocks noChangeArrowheads="1"/>
            </p:cNvSpPr>
            <p:nvPr/>
          </p:nvSpPr>
          <p:spPr bwMode="auto">
            <a:xfrm>
              <a:off x="576" y="3705"/>
              <a:ext cx="1968" cy="250"/>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戴维南等效电路</a:t>
              </a:r>
            </a:p>
          </p:txBody>
        </p:sp>
        <p:grpSp>
          <p:nvGrpSpPr>
            <p:cNvPr id="56358" name="Group 43"/>
            <p:cNvGrpSpPr>
              <a:grpSpLocks/>
            </p:cNvGrpSpPr>
            <p:nvPr/>
          </p:nvGrpSpPr>
          <p:grpSpPr bwMode="auto">
            <a:xfrm>
              <a:off x="1008" y="2544"/>
              <a:ext cx="768" cy="1152"/>
              <a:chOff x="4416" y="2688"/>
              <a:chExt cx="768" cy="1152"/>
            </a:xfrm>
          </p:grpSpPr>
          <p:sp>
            <p:nvSpPr>
              <p:cNvPr id="56359" name="Text Box 44"/>
              <p:cNvSpPr txBox="1">
                <a:spLocks noChangeArrowheads="1"/>
              </p:cNvSpPr>
              <p:nvPr/>
            </p:nvSpPr>
            <p:spPr bwMode="auto">
              <a:xfrm>
                <a:off x="4656" y="283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42V</a:t>
                </a:r>
              </a:p>
            </p:txBody>
          </p:sp>
          <p:sp>
            <p:nvSpPr>
              <p:cNvPr id="56360" name="Text Box 45"/>
              <p:cNvSpPr txBox="1">
                <a:spLocks noChangeArrowheads="1"/>
              </p:cNvSpPr>
              <p:nvPr/>
            </p:nvSpPr>
            <p:spPr bwMode="auto">
              <a:xfrm>
                <a:off x="4560" y="331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14Ω</a:t>
                </a:r>
              </a:p>
            </p:txBody>
          </p:sp>
          <p:grpSp>
            <p:nvGrpSpPr>
              <p:cNvPr id="56361" name="Group 46"/>
              <p:cNvGrpSpPr>
                <a:grpSpLocks/>
              </p:cNvGrpSpPr>
              <p:nvPr/>
            </p:nvGrpSpPr>
            <p:grpSpPr bwMode="auto">
              <a:xfrm>
                <a:off x="4416" y="2688"/>
                <a:ext cx="720" cy="1152"/>
                <a:chOff x="5671" y="5913"/>
                <a:chExt cx="2189" cy="3619"/>
              </a:xfrm>
            </p:grpSpPr>
            <p:grpSp>
              <p:nvGrpSpPr>
                <p:cNvPr id="56362" name="Group 47"/>
                <p:cNvGrpSpPr>
                  <a:grpSpLocks/>
                </p:cNvGrpSpPr>
                <p:nvPr/>
              </p:nvGrpSpPr>
              <p:grpSpPr bwMode="auto">
                <a:xfrm>
                  <a:off x="5671" y="6012"/>
                  <a:ext cx="2022" cy="3449"/>
                  <a:chOff x="5671" y="6012"/>
                  <a:chExt cx="2022" cy="3449"/>
                </a:xfrm>
              </p:grpSpPr>
              <p:grpSp>
                <p:nvGrpSpPr>
                  <p:cNvPr id="56365" name="Group 48"/>
                  <p:cNvGrpSpPr>
                    <a:grpSpLocks/>
                  </p:cNvGrpSpPr>
                  <p:nvPr/>
                </p:nvGrpSpPr>
                <p:grpSpPr bwMode="auto">
                  <a:xfrm>
                    <a:off x="5671" y="6014"/>
                    <a:ext cx="828" cy="1988"/>
                    <a:chOff x="4417" y="567"/>
                    <a:chExt cx="693" cy="1650"/>
                  </a:xfrm>
                </p:grpSpPr>
                <p:grpSp>
                  <p:nvGrpSpPr>
                    <p:cNvPr id="56371" name="Group 49"/>
                    <p:cNvGrpSpPr>
                      <a:grpSpLocks/>
                    </p:cNvGrpSpPr>
                    <p:nvPr/>
                  </p:nvGrpSpPr>
                  <p:grpSpPr bwMode="auto">
                    <a:xfrm>
                      <a:off x="4417" y="567"/>
                      <a:ext cx="550" cy="1650"/>
                      <a:chOff x="4417" y="567"/>
                      <a:chExt cx="550" cy="1650"/>
                    </a:xfrm>
                  </p:grpSpPr>
                  <p:sp>
                    <p:nvSpPr>
                      <p:cNvPr id="56376" name="Oval 5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7" name="Line 51"/>
                      <p:cNvSpPr>
                        <a:spLocks noChangeShapeType="1"/>
                      </p:cNvSpPr>
                      <p:nvPr/>
                    </p:nvSpPr>
                    <p:spPr bwMode="auto">
                      <a:xfrm>
                        <a:off x="4692" y="567"/>
                        <a:ext cx="0" cy="1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72" name="Group 52"/>
                    <p:cNvGrpSpPr>
                      <a:grpSpLocks/>
                    </p:cNvGrpSpPr>
                    <p:nvPr/>
                  </p:nvGrpSpPr>
                  <p:grpSpPr bwMode="auto">
                    <a:xfrm>
                      <a:off x="4956" y="853"/>
                      <a:ext cx="154" cy="979"/>
                      <a:chOff x="4956" y="853"/>
                      <a:chExt cx="154" cy="979"/>
                    </a:xfrm>
                  </p:grpSpPr>
                  <p:sp>
                    <p:nvSpPr>
                      <p:cNvPr id="56373" name="Line 53"/>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4" name="Line 54"/>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5" name="Line 55"/>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66" name="Group 56"/>
                  <p:cNvGrpSpPr>
                    <a:grpSpLocks/>
                  </p:cNvGrpSpPr>
                  <p:nvPr/>
                </p:nvGrpSpPr>
                <p:grpSpPr bwMode="auto">
                  <a:xfrm>
                    <a:off x="5880" y="7486"/>
                    <a:ext cx="223" cy="1975"/>
                    <a:chOff x="743" y="567"/>
                    <a:chExt cx="187" cy="1639"/>
                  </a:xfrm>
                </p:grpSpPr>
                <p:sp>
                  <p:nvSpPr>
                    <p:cNvPr id="56369" name="Line 57"/>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0" name="Rectangle 58"/>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67" name="Line 59"/>
                  <p:cNvSpPr>
                    <a:spLocks noChangeShapeType="1"/>
                  </p:cNvSpPr>
                  <p:nvPr/>
                </p:nvSpPr>
                <p:spPr bwMode="auto">
                  <a:xfrm flipV="1">
                    <a:off x="6001" y="6012"/>
                    <a:ext cx="169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8" name="Line 60"/>
                  <p:cNvSpPr>
                    <a:spLocks noChangeShapeType="1"/>
                  </p:cNvSpPr>
                  <p:nvPr/>
                </p:nvSpPr>
                <p:spPr bwMode="auto">
                  <a:xfrm flipV="1">
                    <a:off x="6001" y="9431"/>
                    <a:ext cx="169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63" name="Oval 61"/>
                <p:cNvSpPr>
                  <a:spLocks noChangeArrowheads="1"/>
                </p:cNvSpPr>
                <p:nvPr/>
              </p:nvSpPr>
              <p:spPr bwMode="auto">
                <a:xfrm>
                  <a:off x="7662" y="5913"/>
                  <a:ext cx="187" cy="19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4" name="Oval 62"/>
                <p:cNvSpPr>
                  <a:spLocks noChangeArrowheads="1"/>
                </p:cNvSpPr>
                <p:nvPr/>
              </p:nvSpPr>
              <p:spPr bwMode="auto">
                <a:xfrm>
                  <a:off x="7673" y="9334"/>
                  <a:ext cx="187" cy="19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grpSp>
        <p:nvGrpSpPr>
          <p:cNvPr id="20" name="Group 63"/>
          <p:cNvGrpSpPr>
            <a:grpSpLocks/>
          </p:cNvGrpSpPr>
          <p:nvPr/>
        </p:nvGrpSpPr>
        <p:grpSpPr bwMode="auto">
          <a:xfrm>
            <a:off x="5867400" y="4038600"/>
            <a:ext cx="2514600" cy="2225675"/>
            <a:chOff x="3696" y="2544"/>
            <a:chExt cx="1584" cy="1402"/>
          </a:xfrm>
        </p:grpSpPr>
        <p:sp>
          <p:nvSpPr>
            <p:cNvPr id="665664" name="Text Box 64"/>
            <p:cNvSpPr txBox="1">
              <a:spLocks noChangeArrowheads="1"/>
            </p:cNvSpPr>
            <p:nvPr/>
          </p:nvSpPr>
          <p:spPr bwMode="auto">
            <a:xfrm>
              <a:off x="3696" y="3696"/>
              <a:ext cx="1584" cy="250"/>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诺顿等效电路</a:t>
              </a:r>
            </a:p>
          </p:txBody>
        </p:sp>
        <p:grpSp>
          <p:nvGrpSpPr>
            <p:cNvPr id="56336" name="Group 65"/>
            <p:cNvGrpSpPr>
              <a:grpSpLocks/>
            </p:cNvGrpSpPr>
            <p:nvPr/>
          </p:nvGrpSpPr>
          <p:grpSpPr bwMode="auto">
            <a:xfrm>
              <a:off x="3840" y="2544"/>
              <a:ext cx="1008" cy="1152"/>
              <a:chOff x="3840" y="2544"/>
              <a:chExt cx="1008" cy="1152"/>
            </a:xfrm>
          </p:grpSpPr>
          <p:sp>
            <p:nvSpPr>
              <p:cNvPr id="56337" name="Text Box 66"/>
              <p:cNvSpPr txBox="1">
                <a:spLocks noChangeArrowheads="1"/>
              </p:cNvSpPr>
              <p:nvPr/>
            </p:nvSpPr>
            <p:spPr bwMode="auto">
              <a:xfrm>
                <a:off x="3936" y="331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3A</a:t>
                </a:r>
              </a:p>
            </p:txBody>
          </p:sp>
          <p:grpSp>
            <p:nvGrpSpPr>
              <p:cNvPr id="56338" name="Group 67"/>
              <p:cNvGrpSpPr>
                <a:grpSpLocks/>
              </p:cNvGrpSpPr>
              <p:nvPr/>
            </p:nvGrpSpPr>
            <p:grpSpPr bwMode="auto">
              <a:xfrm>
                <a:off x="3840" y="2544"/>
                <a:ext cx="1008" cy="1152"/>
                <a:chOff x="2536" y="2569"/>
                <a:chExt cx="2519" cy="2838"/>
              </a:xfrm>
            </p:grpSpPr>
            <p:sp>
              <p:nvSpPr>
                <p:cNvPr id="56340" name="Line 68"/>
                <p:cNvSpPr>
                  <a:spLocks noChangeShapeType="1"/>
                </p:cNvSpPr>
                <p:nvPr/>
              </p:nvSpPr>
              <p:spPr bwMode="auto">
                <a:xfrm>
                  <a:off x="3897" y="2657"/>
                  <a:ext cx="0" cy="268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41" name="Line 69"/>
                <p:cNvSpPr>
                  <a:spLocks noChangeShapeType="1"/>
                </p:cNvSpPr>
                <p:nvPr/>
              </p:nvSpPr>
              <p:spPr bwMode="auto">
                <a:xfrm>
                  <a:off x="2775" y="2668"/>
                  <a:ext cx="3" cy="267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42" name="Group 70"/>
                <p:cNvGrpSpPr>
                  <a:grpSpLocks/>
                </p:cNvGrpSpPr>
                <p:nvPr/>
              </p:nvGrpSpPr>
              <p:grpSpPr bwMode="auto">
                <a:xfrm>
                  <a:off x="2536" y="3468"/>
                  <a:ext cx="479" cy="1558"/>
                  <a:chOff x="3591" y="567"/>
                  <a:chExt cx="301" cy="907"/>
                </a:xfrm>
              </p:grpSpPr>
              <p:sp>
                <p:nvSpPr>
                  <p:cNvPr id="56350" name="Line 71"/>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1" name="Oval 72"/>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2" name="Line 73"/>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53" name="Group 74"/>
                  <p:cNvGrpSpPr>
                    <a:grpSpLocks/>
                  </p:cNvGrpSpPr>
                  <p:nvPr/>
                </p:nvGrpSpPr>
                <p:grpSpPr bwMode="auto">
                  <a:xfrm>
                    <a:off x="3715" y="591"/>
                    <a:ext cx="56" cy="222"/>
                    <a:chOff x="4507" y="645"/>
                    <a:chExt cx="56" cy="222"/>
                  </a:xfrm>
                </p:grpSpPr>
                <p:sp>
                  <p:nvSpPr>
                    <p:cNvPr id="56354" name="Line 75"/>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5" name="Line 76"/>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6" name="Line 77"/>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43" name="Group 78"/>
                <p:cNvGrpSpPr>
                  <a:grpSpLocks/>
                </p:cNvGrpSpPr>
                <p:nvPr/>
              </p:nvGrpSpPr>
              <p:grpSpPr bwMode="auto">
                <a:xfrm>
                  <a:off x="3812" y="3270"/>
                  <a:ext cx="162" cy="1548"/>
                  <a:chOff x="743" y="567"/>
                  <a:chExt cx="187" cy="1639"/>
                </a:xfrm>
              </p:grpSpPr>
              <p:sp>
                <p:nvSpPr>
                  <p:cNvPr id="56348" name="Line 79"/>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49" name="Rectangle 80"/>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44" name="Line 81"/>
                <p:cNvSpPr>
                  <a:spLocks noChangeShapeType="1"/>
                </p:cNvSpPr>
                <p:nvPr/>
              </p:nvSpPr>
              <p:spPr bwMode="auto">
                <a:xfrm flipV="1">
                  <a:off x="2789" y="2655"/>
                  <a:ext cx="2172" cy="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45" name="Line 82"/>
                <p:cNvSpPr>
                  <a:spLocks noChangeShapeType="1"/>
                </p:cNvSpPr>
                <p:nvPr/>
              </p:nvSpPr>
              <p:spPr bwMode="auto">
                <a:xfrm>
                  <a:off x="2756" y="5319"/>
                  <a:ext cx="2207" cy="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46" name="Oval 83"/>
                <p:cNvSpPr>
                  <a:spLocks noChangeArrowheads="1"/>
                </p:cNvSpPr>
                <p:nvPr/>
              </p:nvSpPr>
              <p:spPr bwMode="auto">
                <a:xfrm>
                  <a:off x="4887" y="2569"/>
                  <a:ext cx="168" cy="155"/>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47" name="Oval 84"/>
                <p:cNvSpPr>
                  <a:spLocks noChangeArrowheads="1"/>
                </p:cNvSpPr>
                <p:nvPr/>
              </p:nvSpPr>
              <p:spPr bwMode="auto">
                <a:xfrm>
                  <a:off x="4855" y="5252"/>
                  <a:ext cx="168" cy="155"/>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65685" name="Text Box 85"/>
              <p:cNvSpPr txBox="1">
                <a:spLocks noChangeArrowheads="1"/>
              </p:cNvSpPr>
              <p:nvPr/>
            </p:nvSpPr>
            <p:spPr bwMode="auto">
              <a:xfrm>
                <a:off x="4416" y="2832"/>
                <a:ext cx="384" cy="233"/>
              </a:xfrm>
              <a:prstGeom prst="rect">
                <a:avLst/>
              </a:prstGeom>
              <a:noFill/>
              <a:ln w="9525">
                <a:noFill/>
                <a:miter lim="800000"/>
                <a:headEnd/>
                <a:tailEnd/>
              </a:ln>
              <a:effectLst/>
            </p:spPr>
            <p:txBody>
              <a:bodyPr lIns="0" tIns="0" rIns="0" bIns="0">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14</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grpSp>
      </p:grpSp>
      <p:sp>
        <p:nvSpPr>
          <p:cNvPr id="665686" name="Text Box 86"/>
          <p:cNvSpPr txBox="1">
            <a:spLocks noChangeArrowheads="1"/>
          </p:cNvSpPr>
          <p:nvPr/>
        </p:nvSpPr>
        <p:spPr bwMode="auto">
          <a:xfrm>
            <a:off x="533400" y="381000"/>
            <a:ext cx="7543800" cy="830997"/>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对照有源二端网络</a:t>
            </a: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的戴维南等效电路</a:t>
            </a: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 </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和诺顿等效电路</a:t>
            </a:r>
            <a:r>
              <a:rPr kumimoji="1"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 </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，考虑电压源与电流源的等效变换，有</a:t>
            </a:r>
          </a:p>
        </p:txBody>
      </p:sp>
      <p:graphicFrame>
        <p:nvGraphicFramePr>
          <p:cNvPr id="665687" name="Object 87"/>
          <p:cNvGraphicFramePr>
            <a:graphicFrameLocks noChangeAspect="1"/>
          </p:cNvGraphicFramePr>
          <p:nvPr>
            <p:extLst>
              <p:ext uri="{D42A27DB-BD31-4B8C-83A1-F6EECF244321}">
                <p14:modId xmlns:p14="http://schemas.microsoft.com/office/powerpoint/2010/main" val="4148236771"/>
              </p:ext>
            </p:extLst>
          </p:nvPr>
        </p:nvGraphicFramePr>
        <p:xfrm>
          <a:off x="900113" y="1268413"/>
          <a:ext cx="2057400" cy="569912"/>
        </p:xfrm>
        <a:graphic>
          <a:graphicData uri="http://schemas.openxmlformats.org/presentationml/2006/ole">
            <mc:AlternateContent xmlns:mc="http://schemas.openxmlformats.org/markup-compatibility/2006">
              <mc:Choice xmlns:v="urn:schemas-microsoft-com:vml" Requires="v">
                <p:oleObj spid="_x0000_s95242" name="Equation" r:id="rId3" imgW="825500" imgH="228600" progId="Equation.3">
                  <p:embed/>
                </p:oleObj>
              </mc:Choice>
              <mc:Fallback>
                <p:oleObj name="Equation" r:id="rId3" imgW="8255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268413"/>
                        <a:ext cx="2057400"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88" name="AutoShape 88"/>
          <p:cNvSpPr>
            <a:spLocks noChangeArrowheads="1"/>
          </p:cNvSpPr>
          <p:nvPr/>
        </p:nvSpPr>
        <p:spPr bwMode="auto">
          <a:xfrm rot="5400000">
            <a:off x="6400800" y="2667000"/>
            <a:ext cx="838200" cy="838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689" name="AutoShape 89"/>
          <p:cNvSpPr>
            <a:spLocks noChangeArrowheads="1"/>
          </p:cNvSpPr>
          <p:nvPr/>
        </p:nvSpPr>
        <p:spPr bwMode="auto">
          <a:xfrm rot="5400000" flipV="1">
            <a:off x="2133600" y="2667000"/>
            <a:ext cx="838200" cy="8382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690" name="AutoShape 90"/>
          <p:cNvSpPr>
            <a:spLocks noChangeArrowheads="1"/>
          </p:cNvSpPr>
          <p:nvPr/>
        </p:nvSpPr>
        <p:spPr bwMode="auto">
          <a:xfrm>
            <a:off x="4038600" y="4724400"/>
            <a:ext cx="1143000" cy="533400"/>
          </a:xfrm>
          <a:prstGeom prst="leftRightArrow">
            <a:avLst>
              <a:gd name="adj1" fmla="val 50000"/>
              <a:gd name="adj2" fmla="val 42857"/>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5691" name="Text Box 91"/>
          <p:cNvSpPr txBox="1">
            <a:spLocks noChangeArrowheads="1"/>
          </p:cNvSpPr>
          <p:nvPr/>
        </p:nvSpPr>
        <p:spPr bwMode="auto">
          <a:xfrm>
            <a:off x="6858000" y="22098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诺顿定理</a:t>
            </a:r>
          </a:p>
        </p:txBody>
      </p:sp>
      <p:sp>
        <p:nvSpPr>
          <p:cNvPr id="665692" name="Text Box 92"/>
          <p:cNvSpPr txBox="1">
            <a:spLocks noChangeArrowheads="1"/>
          </p:cNvSpPr>
          <p:nvPr/>
        </p:nvSpPr>
        <p:spPr bwMode="auto">
          <a:xfrm>
            <a:off x="609600" y="2209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戴维南定理</a:t>
            </a:r>
          </a:p>
        </p:txBody>
      </p:sp>
      <p:sp>
        <p:nvSpPr>
          <p:cNvPr id="665693" name="Text Box 93"/>
          <p:cNvSpPr txBox="1">
            <a:spLocks noChangeArrowheads="1"/>
          </p:cNvSpPr>
          <p:nvPr/>
        </p:nvSpPr>
        <p:spPr bwMode="auto">
          <a:xfrm>
            <a:off x="3733800" y="533400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zh-CN" altLang="en-US" sz="240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电源等效变换</a:t>
            </a:r>
          </a:p>
        </p:txBody>
      </p:sp>
    </p:spTree>
    <p:extLst>
      <p:ext uri="{BB962C8B-B14F-4D97-AF65-F5344CB8AC3E}">
        <p14:creationId xmlns:p14="http://schemas.microsoft.com/office/powerpoint/2010/main" val="18497029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686"/>
                                        </p:tgtEl>
                                        <p:attrNameLst>
                                          <p:attrName>style.visibility</p:attrName>
                                        </p:attrNameLst>
                                      </p:cBhvr>
                                      <p:to>
                                        <p:strVal val="visible"/>
                                      </p:to>
                                    </p:set>
                                    <p:animEffect transition="in" filter="blinds(horizontal)">
                                      <p:cBhvr>
                                        <p:cTn id="7" dur="500"/>
                                        <p:tgtEl>
                                          <p:spTgt spid="6656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65687"/>
                                        </p:tgtEl>
                                        <p:attrNameLst>
                                          <p:attrName>style.visibility</p:attrName>
                                        </p:attrNameLst>
                                      </p:cBhvr>
                                      <p:to>
                                        <p:strVal val="visible"/>
                                      </p:to>
                                    </p:set>
                                    <p:animEffect transition="in" filter="wipe(left)">
                                      <p:cBhvr>
                                        <p:cTn id="12" dur="500"/>
                                        <p:tgtEl>
                                          <p:spTgt spid="665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ppt_h/2"/>
                                          </p:val>
                                        </p:tav>
                                        <p:tav tm="100000">
                                          <p:val>
                                            <p:strVal val="#ppt_y"/>
                                          </p:val>
                                        </p:tav>
                                      </p:tavLst>
                                    </p:anim>
                                    <p:anim calcmode="lin" valueType="num">
                                      <p:cBhvr>
                                        <p:cTn id="19" dur="500" fill="hold"/>
                                        <p:tgtEl>
                                          <p:spTgt spid="2"/>
                                        </p:tgtEl>
                                        <p:attrNameLst>
                                          <p:attrName>ppt_w</p:attrName>
                                        </p:attrNameLst>
                                      </p:cBhvr>
                                      <p:tavLst>
                                        <p:tav tm="0">
                                          <p:val>
                                            <p:strVal val="#ppt_w"/>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665689"/>
                                        </p:tgtEl>
                                        <p:attrNameLst>
                                          <p:attrName>style.visibility</p:attrName>
                                        </p:attrNameLst>
                                      </p:cBhvr>
                                      <p:to>
                                        <p:strVal val="visible"/>
                                      </p:to>
                                    </p:set>
                                    <p:animEffect transition="in" filter="strips(downLeft)">
                                      <p:cBhvr>
                                        <p:cTn id="25" dur="500"/>
                                        <p:tgtEl>
                                          <p:spTgt spid="66568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2"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ppt_x</p:attrName>
                                        </p:attrNameLst>
                                      </p:cBhvr>
                                      <p:tavLst>
                                        <p:tav tm="0">
                                          <p:val>
                                            <p:strVal val="#ppt_x+#ppt_w/2"/>
                                          </p:val>
                                        </p:tav>
                                        <p:tav tm="100000">
                                          <p:val>
                                            <p:strVal val="#ppt_x"/>
                                          </p:val>
                                        </p:tav>
                                      </p:tavLst>
                                    </p:anim>
                                    <p:anim calcmode="lin" valueType="num">
                                      <p:cBhvr>
                                        <p:cTn id="31" dur="500" fill="hold"/>
                                        <p:tgtEl>
                                          <p:spTgt spid="12"/>
                                        </p:tgtEl>
                                        <p:attrNameLst>
                                          <p:attrName>ppt_y</p:attrName>
                                        </p:attrNameLst>
                                      </p:cBhvr>
                                      <p:tavLst>
                                        <p:tav tm="0">
                                          <p:val>
                                            <p:strVal val="#ppt_y"/>
                                          </p:val>
                                        </p:tav>
                                        <p:tav tm="100000">
                                          <p:val>
                                            <p:strVal val="#ppt_y"/>
                                          </p:val>
                                        </p:tav>
                                      </p:tavLst>
                                    </p:anim>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grpId="0" nodeType="clickEffect">
                                  <p:stCondLst>
                                    <p:cond delay="0"/>
                                  </p:stCondLst>
                                  <p:childTnLst>
                                    <p:set>
                                      <p:cBhvr>
                                        <p:cTn id="37" dur="1" fill="hold">
                                          <p:stCondLst>
                                            <p:cond delay="0"/>
                                          </p:stCondLst>
                                        </p:cTn>
                                        <p:tgtEl>
                                          <p:spTgt spid="665692"/>
                                        </p:tgtEl>
                                        <p:attrNameLst>
                                          <p:attrName>style.visibility</p:attrName>
                                        </p:attrNameLst>
                                      </p:cBhvr>
                                      <p:to>
                                        <p:strVal val="visible"/>
                                      </p:to>
                                    </p:set>
                                    <p:animEffect transition="in" filter="wipe(right)">
                                      <p:cBhvr>
                                        <p:cTn id="38" dur="500"/>
                                        <p:tgtEl>
                                          <p:spTgt spid="66569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665688"/>
                                        </p:tgtEl>
                                        <p:attrNameLst>
                                          <p:attrName>style.visibility</p:attrName>
                                        </p:attrNameLst>
                                      </p:cBhvr>
                                      <p:to>
                                        <p:strVal val="visible"/>
                                      </p:to>
                                    </p:set>
                                    <p:animEffect transition="in" filter="strips(downRight)">
                                      <p:cBhvr>
                                        <p:cTn id="43" dur="500"/>
                                        <p:tgtEl>
                                          <p:spTgt spid="66568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8"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p:cTn id="48" dur="500" fill="hold"/>
                                        <p:tgtEl>
                                          <p:spTgt spid="20"/>
                                        </p:tgtEl>
                                        <p:attrNameLst>
                                          <p:attrName>ppt_x</p:attrName>
                                        </p:attrNameLst>
                                      </p:cBhvr>
                                      <p:tavLst>
                                        <p:tav tm="0">
                                          <p:val>
                                            <p:strVal val="#ppt_x-#ppt_w/2"/>
                                          </p:val>
                                        </p:tav>
                                        <p:tav tm="100000">
                                          <p:val>
                                            <p:strVal val="#ppt_x"/>
                                          </p:val>
                                        </p:tav>
                                      </p:tavLst>
                                    </p:anim>
                                    <p:anim calcmode="lin" valueType="num">
                                      <p:cBhvr>
                                        <p:cTn id="49" dur="500" fill="hold"/>
                                        <p:tgtEl>
                                          <p:spTgt spid="20"/>
                                        </p:tgtEl>
                                        <p:attrNameLst>
                                          <p:attrName>ppt_y</p:attrName>
                                        </p:attrNameLst>
                                      </p:cBhvr>
                                      <p:tavLst>
                                        <p:tav tm="0">
                                          <p:val>
                                            <p:strVal val="#ppt_y"/>
                                          </p:val>
                                        </p:tav>
                                        <p:tav tm="100000">
                                          <p:val>
                                            <p:strVal val="#ppt_y"/>
                                          </p:val>
                                        </p:tav>
                                      </p:tavLst>
                                    </p:anim>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65691"/>
                                        </p:tgtEl>
                                        <p:attrNameLst>
                                          <p:attrName>style.visibility</p:attrName>
                                        </p:attrNameLst>
                                      </p:cBhvr>
                                      <p:to>
                                        <p:strVal val="visible"/>
                                      </p:to>
                                    </p:set>
                                    <p:animEffect transition="in" filter="wipe(left)">
                                      <p:cBhvr>
                                        <p:cTn id="56" dur="500"/>
                                        <p:tgtEl>
                                          <p:spTgt spid="66569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32" fill="hold" grpId="0" nodeType="clickEffect">
                                  <p:stCondLst>
                                    <p:cond delay="0"/>
                                  </p:stCondLst>
                                  <p:childTnLst>
                                    <p:set>
                                      <p:cBhvr>
                                        <p:cTn id="60" dur="1" fill="hold">
                                          <p:stCondLst>
                                            <p:cond delay="0"/>
                                          </p:stCondLst>
                                        </p:cTn>
                                        <p:tgtEl>
                                          <p:spTgt spid="665690"/>
                                        </p:tgtEl>
                                        <p:attrNameLst>
                                          <p:attrName>style.visibility</p:attrName>
                                        </p:attrNameLst>
                                      </p:cBhvr>
                                      <p:to>
                                        <p:strVal val="visible"/>
                                      </p:to>
                                    </p:set>
                                    <p:animEffect transition="in" filter="box(out)">
                                      <p:cBhvr>
                                        <p:cTn id="61" dur="500"/>
                                        <p:tgtEl>
                                          <p:spTgt spid="66569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665693"/>
                                        </p:tgtEl>
                                        <p:attrNameLst>
                                          <p:attrName>style.visibility</p:attrName>
                                        </p:attrNameLst>
                                      </p:cBhvr>
                                      <p:to>
                                        <p:strVal val="visible"/>
                                      </p:to>
                                    </p:set>
                                    <p:animEffect transition="in" filter="box(out)">
                                      <p:cBhvr>
                                        <p:cTn id="66" dur="500"/>
                                        <p:tgtEl>
                                          <p:spTgt spid="665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86" grpId="0"/>
      <p:bldP spid="665688" grpId="0" animBg="1"/>
      <p:bldP spid="665689" grpId="0" animBg="1"/>
      <p:bldP spid="665690" grpId="0" animBg="1"/>
      <p:bldP spid="665691" grpId="0"/>
      <p:bldP spid="665692" grpId="0"/>
      <p:bldP spid="66569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DB6810AA-9AB6-4EEF-9D45-DDA3EF473B07}" type="slidenum">
              <a:rPr lang="en-US" altLang="zh-CN" sz="1400" b="0">
                <a:latin typeface="华文中宋" panose="02010600040101010101" pitchFamily="2" charset="-122"/>
                <a:ea typeface="华文中宋" panose="02010600040101010101" pitchFamily="2" charset="-122"/>
                <a:cs typeface="Times New Roman" panose="02020603050405020304" pitchFamily="18" charset="0"/>
              </a:rPr>
              <a:pPr algn="r"/>
              <a:t>52</a:t>
            </a:fld>
            <a:endParaRPr lang="en-US" altLang="zh-CN" sz="1400" b="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66626" name="Text Box 2"/>
          <p:cNvSpPr txBox="1">
            <a:spLocks noChangeArrowheads="1"/>
          </p:cNvSpPr>
          <p:nvPr/>
        </p:nvSpPr>
        <p:spPr bwMode="auto">
          <a:xfrm>
            <a:off x="684213" y="533400"/>
            <a:ext cx="66246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a:solidFill>
                  <a:srgbClr val="33CC33"/>
                </a:solidFill>
                <a:latin typeface="华文中宋" panose="02010600040101010101" pitchFamily="2" charset="-122"/>
                <a:ea typeface="华文中宋" panose="02010600040101010101" pitchFamily="2" charset="-122"/>
                <a:cs typeface="Times New Roman" panose="02020603050405020304" pitchFamily="18" charset="0"/>
              </a:rPr>
              <a:t>【</a:t>
            </a:r>
            <a:r>
              <a:rPr lang="zh-CN" altLang="en-US">
                <a:solidFill>
                  <a:srgbClr val="33CC33"/>
                </a:solidFill>
                <a:latin typeface="华文中宋" panose="02010600040101010101" pitchFamily="2" charset="-122"/>
                <a:ea typeface="华文中宋" panose="02010600040101010101" pitchFamily="2" charset="-122"/>
                <a:cs typeface="Times New Roman" panose="02020603050405020304" pitchFamily="18" charset="0"/>
              </a:rPr>
              <a:t>例</a:t>
            </a:r>
            <a:r>
              <a:rPr lang="en-US" altLang="zh-CN">
                <a:solidFill>
                  <a:srgbClr val="33CC33"/>
                </a:solidFill>
                <a:latin typeface="华文中宋" panose="02010600040101010101" pitchFamily="2" charset="-122"/>
                <a:ea typeface="华文中宋" panose="02010600040101010101" pitchFamily="2" charset="-122"/>
                <a:cs typeface="Times New Roman" panose="02020603050405020304" pitchFamily="18" charset="0"/>
              </a:rPr>
              <a:t>2-11】</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计算图</a:t>
            </a:r>
            <a:r>
              <a:rPr lang="en-US" altLang="zh-CN" sz="2400">
                <a:latin typeface="华文中宋" panose="02010600040101010101" pitchFamily="2" charset="-122"/>
                <a:ea typeface="华文中宋" panose="02010600040101010101" pitchFamily="2" charset="-122"/>
                <a:cs typeface="Times New Roman" panose="02020603050405020304" pitchFamily="18" charset="0"/>
              </a:rPr>
              <a:t>(a)</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中所示电路的电流</a:t>
            </a:r>
            <a:r>
              <a:rPr lang="en-US" altLang="zh-CN" sz="2400" i="1">
                <a:latin typeface="华文中宋" panose="02010600040101010101" pitchFamily="2" charset="-122"/>
                <a:ea typeface="华文中宋" panose="02010600040101010101" pitchFamily="2" charset="-122"/>
                <a:cs typeface="Times New Roman" panose="02020603050405020304" pitchFamily="18" charset="0"/>
              </a:rPr>
              <a:t>I</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a:t>
            </a:r>
          </a:p>
        </p:txBody>
      </p:sp>
      <p:grpSp>
        <p:nvGrpSpPr>
          <p:cNvPr id="2" name="Group 3"/>
          <p:cNvGrpSpPr>
            <a:grpSpLocks/>
          </p:cNvGrpSpPr>
          <p:nvPr/>
        </p:nvGrpSpPr>
        <p:grpSpPr bwMode="auto">
          <a:xfrm>
            <a:off x="4641850" y="990600"/>
            <a:ext cx="1758950" cy="3052763"/>
            <a:chOff x="2924" y="624"/>
            <a:chExt cx="1108" cy="1923"/>
          </a:xfrm>
        </p:grpSpPr>
        <p:grpSp>
          <p:nvGrpSpPr>
            <p:cNvPr id="57452" name="Group 4"/>
            <p:cNvGrpSpPr>
              <a:grpSpLocks/>
            </p:cNvGrpSpPr>
            <p:nvPr/>
          </p:nvGrpSpPr>
          <p:grpSpPr bwMode="auto">
            <a:xfrm>
              <a:off x="2924" y="624"/>
              <a:ext cx="1108" cy="1680"/>
              <a:chOff x="2876" y="624"/>
              <a:chExt cx="1108" cy="1680"/>
            </a:xfrm>
          </p:grpSpPr>
          <p:grpSp>
            <p:nvGrpSpPr>
              <p:cNvPr id="57454" name="Group 5"/>
              <p:cNvGrpSpPr>
                <a:grpSpLocks/>
              </p:cNvGrpSpPr>
              <p:nvPr/>
            </p:nvGrpSpPr>
            <p:grpSpPr bwMode="auto">
              <a:xfrm>
                <a:off x="2876" y="912"/>
                <a:ext cx="1060" cy="1135"/>
                <a:chOff x="2085" y="2019"/>
                <a:chExt cx="2651" cy="2838"/>
              </a:xfrm>
            </p:grpSpPr>
            <p:sp>
              <p:nvSpPr>
                <p:cNvPr id="57461" name="Line 6"/>
                <p:cNvSpPr>
                  <a:spLocks noChangeShapeType="1"/>
                </p:cNvSpPr>
                <p:nvPr/>
              </p:nvSpPr>
              <p:spPr bwMode="auto">
                <a:xfrm flipH="1">
                  <a:off x="2316" y="3845"/>
                  <a:ext cx="11" cy="9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2" name="Line 7"/>
                <p:cNvSpPr>
                  <a:spLocks noChangeShapeType="1"/>
                </p:cNvSpPr>
                <p:nvPr/>
              </p:nvSpPr>
              <p:spPr bwMode="auto">
                <a:xfrm>
                  <a:off x="2338" y="2096"/>
                  <a:ext cx="1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3" name="Line 8"/>
                <p:cNvSpPr>
                  <a:spLocks noChangeShapeType="1"/>
                </p:cNvSpPr>
                <p:nvPr/>
              </p:nvSpPr>
              <p:spPr bwMode="auto">
                <a:xfrm>
                  <a:off x="2327" y="4802"/>
                  <a:ext cx="227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4" name="Line 9"/>
                <p:cNvSpPr>
                  <a:spLocks noChangeShapeType="1"/>
                </p:cNvSpPr>
                <p:nvPr/>
              </p:nvSpPr>
              <p:spPr bwMode="auto">
                <a:xfrm>
                  <a:off x="4615" y="3867"/>
                  <a:ext cx="11" cy="9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5" name="Line 10"/>
                <p:cNvSpPr>
                  <a:spLocks noChangeShapeType="1"/>
                </p:cNvSpPr>
                <p:nvPr/>
              </p:nvSpPr>
              <p:spPr bwMode="auto">
                <a:xfrm>
                  <a:off x="2327" y="2074"/>
                  <a:ext cx="0" cy="10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66" name="Group 11"/>
                <p:cNvGrpSpPr>
                  <a:grpSpLocks/>
                </p:cNvGrpSpPr>
                <p:nvPr/>
              </p:nvGrpSpPr>
              <p:grpSpPr bwMode="auto">
                <a:xfrm>
                  <a:off x="2203" y="3449"/>
                  <a:ext cx="245" cy="1179"/>
                  <a:chOff x="795" y="567"/>
                  <a:chExt cx="114" cy="513"/>
                </a:xfrm>
              </p:grpSpPr>
              <p:sp>
                <p:nvSpPr>
                  <p:cNvPr id="57482" name="Line 12"/>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83" name="Rectangle 13"/>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67" name="Line 14"/>
                <p:cNvSpPr>
                  <a:spLocks noChangeShapeType="1"/>
                </p:cNvSpPr>
                <p:nvPr/>
              </p:nvSpPr>
              <p:spPr bwMode="auto">
                <a:xfrm>
                  <a:off x="4626" y="2118"/>
                  <a:ext cx="0" cy="10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8" name="Line 15"/>
                <p:cNvSpPr>
                  <a:spLocks noChangeShapeType="1"/>
                </p:cNvSpPr>
                <p:nvPr/>
              </p:nvSpPr>
              <p:spPr bwMode="auto">
                <a:xfrm>
                  <a:off x="3251" y="2096"/>
                  <a:ext cx="1342" cy="1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69" name="Line 16"/>
                <p:cNvSpPr>
                  <a:spLocks noChangeShapeType="1"/>
                </p:cNvSpPr>
                <p:nvPr/>
              </p:nvSpPr>
              <p:spPr bwMode="auto">
                <a:xfrm>
                  <a:off x="3636" y="2096"/>
                  <a:ext cx="264"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70" name="Group 17"/>
                <p:cNvGrpSpPr>
                  <a:grpSpLocks/>
                </p:cNvGrpSpPr>
                <p:nvPr/>
              </p:nvGrpSpPr>
              <p:grpSpPr bwMode="auto">
                <a:xfrm>
                  <a:off x="4491" y="2987"/>
                  <a:ext cx="245" cy="1179"/>
                  <a:chOff x="795" y="567"/>
                  <a:chExt cx="114" cy="513"/>
                </a:xfrm>
              </p:grpSpPr>
              <p:sp>
                <p:nvSpPr>
                  <p:cNvPr id="57480" name="Line 18"/>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81" name="Rectangle 19"/>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471" name="Group 20"/>
                <p:cNvGrpSpPr>
                  <a:grpSpLocks/>
                </p:cNvGrpSpPr>
                <p:nvPr/>
              </p:nvGrpSpPr>
              <p:grpSpPr bwMode="auto">
                <a:xfrm>
                  <a:off x="2085" y="2393"/>
                  <a:ext cx="715" cy="1095"/>
                  <a:chOff x="651" y="1308"/>
                  <a:chExt cx="332" cy="477"/>
                </a:xfrm>
              </p:grpSpPr>
              <p:grpSp>
                <p:nvGrpSpPr>
                  <p:cNvPr id="57474" name="Group 21"/>
                  <p:cNvGrpSpPr>
                    <a:grpSpLocks/>
                  </p:cNvGrpSpPr>
                  <p:nvPr/>
                </p:nvGrpSpPr>
                <p:grpSpPr bwMode="auto">
                  <a:xfrm>
                    <a:off x="871" y="1308"/>
                    <a:ext cx="112" cy="420"/>
                    <a:chOff x="2863" y="624"/>
                    <a:chExt cx="112" cy="420"/>
                  </a:xfrm>
                </p:grpSpPr>
                <p:sp>
                  <p:nvSpPr>
                    <p:cNvPr id="57477" name="Line 22"/>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78" name="Line 23"/>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79" name="Line 24"/>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75" name="Oval 25"/>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76" name="Line 26"/>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72" name="Oval 27"/>
                <p:cNvSpPr>
                  <a:spLocks noChangeArrowheads="1"/>
                </p:cNvSpPr>
                <p:nvPr/>
              </p:nvSpPr>
              <p:spPr bwMode="auto">
                <a:xfrm>
                  <a:off x="2734" y="2019"/>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73" name="Oval 28"/>
                <p:cNvSpPr>
                  <a:spLocks noChangeArrowheads="1"/>
                </p:cNvSpPr>
                <p:nvPr/>
              </p:nvSpPr>
              <p:spPr bwMode="auto">
                <a:xfrm>
                  <a:off x="2701" y="4714"/>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666653" name="Text Box 29"/>
              <p:cNvSpPr txBox="1">
                <a:spLocks noChangeArrowheads="1"/>
              </p:cNvSpPr>
              <p:nvPr/>
            </p:nvSpPr>
            <p:spPr bwMode="auto">
              <a:xfrm>
                <a:off x="3072" y="624"/>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57456" name="Text Box 30"/>
              <p:cNvSpPr txBox="1">
                <a:spLocks noChangeArrowheads="1"/>
              </p:cNvSpPr>
              <p:nvPr/>
            </p:nvSpPr>
            <p:spPr bwMode="auto">
              <a:xfrm>
                <a:off x="3648" y="67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华文中宋" panose="02010600040101010101" pitchFamily="2" charset="-122"/>
                    <a:ea typeface="华文中宋" panose="02010600040101010101" pitchFamily="2" charset="-122"/>
                    <a:cs typeface="Times New Roman" panose="02020603050405020304" pitchFamily="18" charset="0"/>
                  </a:rPr>
                  <a:t>I</a:t>
                </a:r>
                <a:endParaRPr lang="en-US" altLang="zh-CN" sz="2400" baseline="-2500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66655" name="Text Box 31"/>
              <p:cNvSpPr txBox="1">
                <a:spLocks noChangeArrowheads="1"/>
              </p:cNvSpPr>
              <p:nvPr/>
            </p:nvSpPr>
            <p:spPr bwMode="auto">
              <a:xfrm>
                <a:off x="3360" y="1632"/>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8/3</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656" name="Text Box 32"/>
              <p:cNvSpPr txBox="1">
                <a:spLocks noChangeArrowheads="1"/>
              </p:cNvSpPr>
              <p:nvPr/>
            </p:nvSpPr>
            <p:spPr bwMode="auto">
              <a:xfrm>
                <a:off x="3072" y="2016"/>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657" name="Text Box 33"/>
              <p:cNvSpPr txBox="1">
                <a:spLocks noChangeArrowheads="1"/>
              </p:cNvSpPr>
              <p:nvPr/>
            </p:nvSpPr>
            <p:spPr bwMode="auto">
              <a:xfrm>
                <a:off x="3024" y="1632"/>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R</a:t>
                </a:r>
                <a:endPar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658" name="Text Box 34"/>
              <p:cNvSpPr txBox="1">
                <a:spLocks noChangeArrowheads="1"/>
              </p:cNvSpPr>
              <p:nvPr/>
            </p:nvSpPr>
            <p:spPr bwMode="auto">
              <a:xfrm>
                <a:off x="3024" y="1152"/>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U</a:t>
                </a:r>
                <a:r>
                  <a:rPr lang="en-US" altLang="zh-CN" sz="2400" baseline="-250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OC</a:t>
                </a:r>
                <a:endParaRPr lang="en-US" altLang="zh-CN" sz="2400" baseline="-250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grpSp>
        <p:sp>
          <p:nvSpPr>
            <p:cNvPr id="666659" name="Text Box 35"/>
            <p:cNvSpPr txBox="1">
              <a:spLocks noChangeArrowheads="1"/>
            </p:cNvSpPr>
            <p:nvPr/>
          </p:nvSpPr>
          <p:spPr bwMode="auto">
            <a:xfrm>
              <a:off x="3168" y="2256"/>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华文中宋" panose="02010600040101010101" pitchFamily="2" charset="-122"/>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(b)</a:t>
              </a:r>
            </a:p>
          </p:txBody>
        </p:sp>
      </p:grpSp>
      <p:grpSp>
        <p:nvGrpSpPr>
          <p:cNvPr id="9" name="Group 36"/>
          <p:cNvGrpSpPr>
            <a:grpSpLocks/>
          </p:cNvGrpSpPr>
          <p:nvPr/>
        </p:nvGrpSpPr>
        <p:grpSpPr bwMode="auto">
          <a:xfrm>
            <a:off x="6781800" y="990600"/>
            <a:ext cx="1828800" cy="3052763"/>
            <a:chOff x="4272" y="624"/>
            <a:chExt cx="1152" cy="1923"/>
          </a:xfrm>
        </p:grpSpPr>
        <p:grpSp>
          <p:nvGrpSpPr>
            <p:cNvPr id="57417" name="Group 37"/>
            <p:cNvGrpSpPr>
              <a:grpSpLocks/>
            </p:cNvGrpSpPr>
            <p:nvPr/>
          </p:nvGrpSpPr>
          <p:grpSpPr bwMode="auto">
            <a:xfrm>
              <a:off x="4272" y="624"/>
              <a:ext cx="1152" cy="1680"/>
              <a:chOff x="4272" y="624"/>
              <a:chExt cx="1152" cy="1680"/>
            </a:xfrm>
          </p:grpSpPr>
          <p:sp>
            <p:nvSpPr>
              <p:cNvPr id="666662" name="Text Box 38"/>
              <p:cNvSpPr txBox="1">
                <a:spLocks noChangeArrowheads="1"/>
              </p:cNvSpPr>
              <p:nvPr/>
            </p:nvSpPr>
            <p:spPr bwMode="auto">
              <a:xfrm>
                <a:off x="4800" y="1152"/>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R</a:t>
                </a:r>
                <a:endPar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663" name="Text Box 39"/>
              <p:cNvSpPr txBox="1">
                <a:spLocks noChangeArrowheads="1"/>
              </p:cNvSpPr>
              <p:nvPr/>
            </p:nvSpPr>
            <p:spPr bwMode="auto">
              <a:xfrm>
                <a:off x="4368" y="1584"/>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I</a:t>
                </a:r>
                <a:r>
                  <a:rPr lang="en-US" altLang="zh-CN" sz="2400" baseline="-250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SC</a:t>
                </a:r>
                <a:endParaRPr lang="en-US" altLang="zh-CN" sz="2400" baseline="-250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grpSp>
            <p:nvGrpSpPr>
              <p:cNvPr id="57421" name="Group 40"/>
              <p:cNvGrpSpPr>
                <a:grpSpLocks/>
              </p:cNvGrpSpPr>
              <p:nvPr/>
            </p:nvGrpSpPr>
            <p:grpSpPr bwMode="auto">
              <a:xfrm>
                <a:off x="4272" y="912"/>
                <a:ext cx="1073" cy="1135"/>
                <a:chOff x="2052" y="2030"/>
                <a:chExt cx="2684" cy="2838"/>
              </a:xfrm>
            </p:grpSpPr>
            <p:sp>
              <p:nvSpPr>
                <p:cNvPr id="57426" name="Line 41"/>
                <p:cNvSpPr>
                  <a:spLocks noChangeShapeType="1"/>
                </p:cNvSpPr>
                <p:nvPr/>
              </p:nvSpPr>
              <p:spPr bwMode="auto">
                <a:xfrm flipH="1">
                  <a:off x="3317" y="3845"/>
                  <a:ext cx="11" cy="9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27" name="Line 42"/>
                <p:cNvSpPr>
                  <a:spLocks noChangeShapeType="1"/>
                </p:cNvSpPr>
                <p:nvPr/>
              </p:nvSpPr>
              <p:spPr bwMode="auto">
                <a:xfrm>
                  <a:off x="3339" y="2096"/>
                  <a:ext cx="1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28" name="Line 43"/>
                <p:cNvSpPr>
                  <a:spLocks noChangeShapeType="1"/>
                </p:cNvSpPr>
                <p:nvPr/>
              </p:nvSpPr>
              <p:spPr bwMode="auto">
                <a:xfrm>
                  <a:off x="2327" y="4802"/>
                  <a:ext cx="227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29" name="Line 44"/>
                <p:cNvSpPr>
                  <a:spLocks noChangeShapeType="1"/>
                </p:cNvSpPr>
                <p:nvPr/>
              </p:nvSpPr>
              <p:spPr bwMode="auto">
                <a:xfrm>
                  <a:off x="4615" y="3867"/>
                  <a:ext cx="11" cy="9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30" name="Line 45"/>
                <p:cNvSpPr>
                  <a:spLocks noChangeShapeType="1"/>
                </p:cNvSpPr>
                <p:nvPr/>
              </p:nvSpPr>
              <p:spPr bwMode="auto">
                <a:xfrm>
                  <a:off x="3328" y="2074"/>
                  <a:ext cx="0" cy="10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31" name="Group 46"/>
                <p:cNvGrpSpPr>
                  <a:grpSpLocks/>
                </p:cNvGrpSpPr>
                <p:nvPr/>
              </p:nvGrpSpPr>
              <p:grpSpPr bwMode="auto">
                <a:xfrm>
                  <a:off x="3207" y="2921"/>
                  <a:ext cx="245" cy="1179"/>
                  <a:chOff x="795" y="567"/>
                  <a:chExt cx="114" cy="513"/>
                </a:xfrm>
              </p:grpSpPr>
              <p:sp>
                <p:nvSpPr>
                  <p:cNvPr id="57450" name="Line 47"/>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51" name="Rectangle 48"/>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32" name="Line 49"/>
                <p:cNvSpPr>
                  <a:spLocks noChangeShapeType="1"/>
                </p:cNvSpPr>
                <p:nvPr/>
              </p:nvSpPr>
              <p:spPr bwMode="auto">
                <a:xfrm>
                  <a:off x="4626" y="2118"/>
                  <a:ext cx="0" cy="10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33" name="Line 50"/>
                <p:cNvSpPr>
                  <a:spLocks noChangeShapeType="1"/>
                </p:cNvSpPr>
                <p:nvPr/>
              </p:nvSpPr>
              <p:spPr bwMode="auto">
                <a:xfrm>
                  <a:off x="2327" y="2096"/>
                  <a:ext cx="229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34" name="Line 51"/>
                <p:cNvSpPr>
                  <a:spLocks noChangeShapeType="1"/>
                </p:cNvSpPr>
                <p:nvPr/>
              </p:nvSpPr>
              <p:spPr bwMode="auto">
                <a:xfrm flipV="1">
                  <a:off x="4241" y="2085"/>
                  <a:ext cx="374" cy="11"/>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35" name="Group 52"/>
                <p:cNvGrpSpPr>
                  <a:grpSpLocks/>
                </p:cNvGrpSpPr>
                <p:nvPr/>
              </p:nvGrpSpPr>
              <p:grpSpPr bwMode="auto">
                <a:xfrm>
                  <a:off x="4491" y="2987"/>
                  <a:ext cx="245" cy="1179"/>
                  <a:chOff x="795" y="567"/>
                  <a:chExt cx="114" cy="513"/>
                </a:xfrm>
              </p:grpSpPr>
              <p:sp>
                <p:nvSpPr>
                  <p:cNvPr id="57448" name="Line 53"/>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9" name="Rectangle 54"/>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36" name="Oval 55"/>
                <p:cNvSpPr>
                  <a:spLocks noChangeArrowheads="1"/>
                </p:cNvSpPr>
                <p:nvPr/>
              </p:nvSpPr>
              <p:spPr bwMode="auto">
                <a:xfrm>
                  <a:off x="3823" y="2030"/>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37" name="Oval 56"/>
                <p:cNvSpPr>
                  <a:spLocks noChangeArrowheads="1"/>
                </p:cNvSpPr>
                <p:nvPr/>
              </p:nvSpPr>
              <p:spPr bwMode="auto">
                <a:xfrm>
                  <a:off x="3889" y="4725"/>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38" name="Group 57"/>
                <p:cNvGrpSpPr>
                  <a:grpSpLocks/>
                </p:cNvGrpSpPr>
                <p:nvPr/>
              </p:nvGrpSpPr>
              <p:grpSpPr bwMode="auto">
                <a:xfrm>
                  <a:off x="2052" y="2668"/>
                  <a:ext cx="551" cy="1650"/>
                  <a:chOff x="3591" y="567"/>
                  <a:chExt cx="301" cy="907"/>
                </a:xfrm>
              </p:grpSpPr>
              <p:sp>
                <p:nvSpPr>
                  <p:cNvPr id="57441" name="Line 58"/>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2" name="Oval 59"/>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3" name="Line 60"/>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444" name="Group 61"/>
                  <p:cNvGrpSpPr>
                    <a:grpSpLocks/>
                  </p:cNvGrpSpPr>
                  <p:nvPr/>
                </p:nvGrpSpPr>
                <p:grpSpPr bwMode="auto">
                  <a:xfrm>
                    <a:off x="3715" y="591"/>
                    <a:ext cx="56" cy="222"/>
                    <a:chOff x="4507" y="645"/>
                    <a:chExt cx="56" cy="222"/>
                  </a:xfrm>
                </p:grpSpPr>
                <p:sp>
                  <p:nvSpPr>
                    <p:cNvPr id="57445" name="Line 62"/>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6" name="Line 63"/>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7" name="Line 64"/>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sp>
              <p:nvSpPr>
                <p:cNvPr id="57439" name="Line 65"/>
                <p:cNvSpPr>
                  <a:spLocks noChangeShapeType="1"/>
                </p:cNvSpPr>
                <p:nvPr/>
              </p:nvSpPr>
              <p:spPr bwMode="auto">
                <a:xfrm flipH="1">
                  <a:off x="2327" y="2096"/>
                  <a:ext cx="11" cy="7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40" name="Line 66"/>
                <p:cNvSpPr>
                  <a:spLocks noChangeShapeType="1"/>
                </p:cNvSpPr>
                <p:nvPr/>
              </p:nvSpPr>
              <p:spPr bwMode="auto">
                <a:xfrm>
                  <a:off x="2327" y="4142"/>
                  <a:ext cx="0" cy="63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22" name="Text Box 67"/>
              <p:cNvSpPr txBox="1">
                <a:spLocks noChangeArrowheads="1"/>
              </p:cNvSpPr>
              <p:nvPr/>
            </p:nvSpPr>
            <p:spPr bwMode="auto">
              <a:xfrm>
                <a:off x="5088" y="6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华文中宋" panose="02010600040101010101" pitchFamily="2" charset="-122"/>
                    <a:ea typeface="华文中宋" panose="02010600040101010101" pitchFamily="2" charset="-122"/>
                    <a:cs typeface="Times New Roman" panose="02020603050405020304" pitchFamily="18" charset="0"/>
                  </a:rPr>
                  <a:t>I</a:t>
                </a:r>
                <a:endParaRPr lang="en-US" altLang="zh-CN" sz="2400" baseline="-2500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66692" name="Text Box 68"/>
              <p:cNvSpPr txBox="1">
                <a:spLocks noChangeArrowheads="1"/>
              </p:cNvSpPr>
              <p:nvPr/>
            </p:nvSpPr>
            <p:spPr bwMode="auto">
              <a:xfrm>
                <a:off x="4752" y="624"/>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693" name="Text Box 69"/>
              <p:cNvSpPr txBox="1">
                <a:spLocks noChangeArrowheads="1"/>
              </p:cNvSpPr>
              <p:nvPr/>
            </p:nvSpPr>
            <p:spPr bwMode="auto">
              <a:xfrm>
                <a:off x="4896" y="2016"/>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694" name="Text Box 70"/>
              <p:cNvSpPr txBox="1">
                <a:spLocks noChangeArrowheads="1"/>
              </p:cNvSpPr>
              <p:nvPr/>
            </p:nvSpPr>
            <p:spPr bwMode="auto">
              <a:xfrm>
                <a:off x="4800" y="1632"/>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8/3</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grpSp>
        <p:sp>
          <p:nvSpPr>
            <p:cNvPr id="666695" name="Text Box 71"/>
            <p:cNvSpPr txBox="1">
              <a:spLocks noChangeArrowheads="1"/>
            </p:cNvSpPr>
            <p:nvPr/>
          </p:nvSpPr>
          <p:spPr bwMode="auto">
            <a:xfrm>
              <a:off x="4560" y="2256"/>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华文中宋" panose="02010600040101010101" pitchFamily="2" charset="-122"/>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(c)</a:t>
              </a:r>
            </a:p>
          </p:txBody>
        </p:sp>
      </p:grpSp>
      <p:grpSp>
        <p:nvGrpSpPr>
          <p:cNvPr id="16" name="Group 72"/>
          <p:cNvGrpSpPr>
            <a:grpSpLocks/>
          </p:cNvGrpSpPr>
          <p:nvPr/>
        </p:nvGrpSpPr>
        <p:grpSpPr bwMode="auto">
          <a:xfrm>
            <a:off x="457200" y="1066800"/>
            <a:ext cx="3886200" cy="2990850"/>
            <a:chOff x="288" y="672"/>
            <a:chExt cx="2448" cy="1884"/>
          </a:xfrm>
        </p:grpSpPr>
        <p:grpSp>
          <p:nvGrpSpPr>
            <p:cNvPr id="57355" name="Group 73"/>
            <p:cNvGrpSpPr>
              <a:grpSpLocks/>
            </p:cNvGrpSpPr>
            <p:nvPr/>
          </p:nvGrpSpPr>
          <p:grpSpPr bwMode="auto">
            <a:xfrm>
              <a:off x="288" y="672"/>
              <a:ext cx="2448" cy="1632"/>
              <a:chOff x="624" y="720"/>
              <a:chExt cx="2448" cy="1632"/>
            </a:xfrm>
          </p:grpSpPr>
          <p:grpSp>
            <p:nvGrpSpPr>
              <p:cNvPr id="57357" name="Group 74"/>
              <p:cNvGrpSpPr>
                <a:grpSpLocks/>
              </p:cNvGrpSpPr>
              <p:nvPr/>
            </p:nvGrpSpPr>
            <p:grpSpPr bwMode="auto">
              <a:xfrm>
                <a:off x="624" y="960"/>
                <a:ext cx="2316" cy="1152"/>
                <a:chOff x="1326" y="2789"/>
                <a:chExt cx="5789" cy="2882"/>
              </a:xfrm>
            </p:grpSpPr>
            <p:grpSp>
              <p:nvGrpSpPr>
                <p:cNvPr id="57369" name="Group 75"/>
                <p:cNvGrpSpPr>
                  <a:grpSpLocks/>
                </p:cNvGrpSpPr>
                <p:nvPr/>
              </p:nvGrpSpPr>
              <p:grpSpPr bwMode="auto">
                <a:xfrm>
                  <a:off x="1326" y="3366"/>
                  <a:ext cx="715" cy="1095"/>
                  <a:chOff x="651" y="1308"/>
                  <a:chExt cx="332" cy="477"/>
                </a:xfrm>
              </p:grpSpPr>
              <p:grpSp>
                <p:nvGrpSpPr>
                  <p:cNvPr id="57411" name="Group 76"/>
                  <p:cNvGrpSpPr>
                    <a:grpSpLocks/>
                  </p:cNvGrpSpPr>
                  <p:nvPr/>
                </p:nvGrpSpPr>
                <p:grpSpPr bwMode="auto">
                  <a:xfrm>
                    <a:off x="871" y="1308"/>
                    <a:ext cx="112" cy="420"/>
                    <a:chOff x="2863" y="624"/>
                    <a:chExt cx="112" cy="420"/>
                  </a:xfrm>
                </p:grpSpPr>
                <p:sp>
                  <p:nvSpPr>
                    <p:cNvPr id="57414" name="Line 77"/>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15" name="Line 78"/>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16" name="Line 79"/>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412" name="Oval 80"/>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13" name="Line 81"/>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370" name="Group 82"/>
                <p:cNvGrpSpPr>
                  <a:grpSpLocks/>
                </p:cNvGrpSpPr>
                <p:nvPr/>
              </p:nvGrpSpPr>
              <p:grpSpPr bwMode="auto">
                <a:xfrm>
                  <a:off x="6870" y="3922"/>
                  <a:ext cx="245" cy="1179"/>
                  <a:chOff x="795" y="567"/>
                  <a:chExt cx="114" cy="513"/>
                </a:xfrm>
              </p:grpSpPr>
              <p:sp>
                <p:nvSpPr>
                  <p:cNvPr id="57409" name="Line 83"/>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10" name="Rectangle 84"/>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371" name="Group 85"/>
                <p:cNvGrpSpPr>
                  <a:grpSpLocks/>
                </p:cNvGrpSpPr>
                <p:nvPr/>
              </p:nvGrpSpPr>
              <p:grpSpPr bwMode="auto">
                <a:xfrm rot="-5400000">
                  <a:off x="4276" y="2324"/>
                  <a:ext cx="247" cy="1178"/>
                  <a:chOff x="795" y="567"/>
                  <a:chExt cx="114" cy="513"/>
                </a:xfrm>
              </p:grpSpPr>
              <p:sp>
                <p:nvSpPr>
                  <p:cNvPr id="57407" name="Line 86"/>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08" name="Rectangle 87"/>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372" name="Line 88"/>
                <p:cNvSpPr>
                  <a:spLocks noChangeShapeType="1"/>
                </p:cNvSpPr>
                <p:nvPr/>
              </p:nvSpPr>
              <p:spPr bwMode="auto">
                <a:xfrm>
                  <a:off x="1568" y="2899"/>
                  <a:ext cx="11" cy="56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3" name="Line 89"/>
                <p:cNvSpPr>
                  <a:spLocks noChangeShapeType="1"/>
                </p:cNvSpPr>
                <p:nvPr/>
              </p:nvSpPr>
              <p:spPr bwMode="auto">
                <a:xfrm flipV="1">
                  <a:off x="1568" y="2899"/>
                  <a:ext cx="1354" cy="1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4" name="Line 90"/>
                <p:cNvSpPr>
                  <a:spLocks noChangeShapeType="1"/>
                </p:cNvSpPr>
                <p:nvPr/>
              </p:nvSpPr>
              <p:spPr bwMode="auto">
                <a:xfrm>
                  <a:off x="1579" y="4426"/>
                  <a:ext cx="0" cy="51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5" name="Line 91"/>
                <p:cNvSpPr>
                  <a:spLocks noChangeShapeType="1"/>
                </p:cNvSpPr>
                <p:nvPr/>
              </p:nvSpPr>
              <p:spPr bwMode="auto">
                <a:xfrm>
                  <a:off x="6987" y="2888"/>
                  <a:ext cx="4" cy="105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6" name="Line 92"/>
                <p:cNvSpPr>
                  <a:spLocks noChangeShapeType="1"/>
                </p:cNvSpPr>
                <p:nvPr/>
              </p:nvSpPr>
              <p:spPr bwMode="auto">
                <a:xfrm flipH="1">
                  <a:off x="3152" y="4659"/>
                  <a:ext cx="11" cy="9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7" name="Line 93"/>
                <p:cNvSpPr>
                  <a:spLocks noChangeShapeType="1"/>
                </p:cNvSpPr>
                <p:nvPr/>
              </p:nvSpPr>
              <p:spPr bwMode="auto">
                <a:xfrm>
                  <a:off x="2877" y="2910"/>
                  <a:ext cx="1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8" name="Line 94"/>
                <p:cNvSpPr>
                  <a:spLocks noChangeShapeType="1"/>
                </p:cNvSpPr>
                <p:nvPr/>
              </p:nvSpPr>
              <p:spPr bwMode="auto">
                <a:xfrm>
                  <a:off x="5330" y="2910"/>
                  <a:ext cx="166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79" name="Line 95"/>
                <p:cNvSpPr>
                  <a:spLocks noChangeShapeType="1"/>
                </p:cNvSpPr>
                <p:nvPr/>
              </p:nvSpPr>
              <p:spPr bwMode="auto">
                <a:xfrm flipV="1">
                  <a:off x="1579" y="5616"/>
                  <a:ext cx="5401" cy="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80" name="Line 96"/>
                <p:cNvSpPr>
                  <a:spLocks noChangeShapeType="1"/>
                </p:cNvSpPr>
                <p:nvPr/>
              </p:nvSpPr>
              <p:spPr bwMode="auto">
                <a:xfrm>
                  <a:off x="5451" y="4681"/>
                  <a:ext cx="11" cy="9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81" name="Line 97"/>
                <p:cNvSpPr>
                  <a:spLocks noChangeShapeType="1"/>
                </p:cNvSpPr>
                <p:nvPr/>
              </p:nvSpPr>
              <p:spPr bwMode="auto">
                <a:xfrm>
                  <a:off x="6987" y="4968"/>
                  <a:ext cx="0" cy="6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82" name="Line 98"/>
                <p:cNvSpPr>
                  <a:spLocks noChangeShapeType="1"/>
                </p:cNvSpPr>
                <p:nvPr/>
              </p:nvSpPr>
              <p:spPr bwMode="auto">
                <a:xfrm>
                  <a:off x="3163" y="2888"/>
                  <a:ext cx="0" cy="10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383" name="Group 99"/>
                <p:cNvGrpSpPr>
                  <a:grpSpLocks/>
                </p:cNvGrpSpPr>
                <p:nvPr/>
              </p:nvGrpSpPr>
              <p:grpSpPr bwMode="auto">
                <a:xfrm>
                  <a:off x="1458" y="4439"/>
                  <a:ext cx="245" cy="1179"/>
                  <a:chOff x="795" y="567"/>
                  <a:chExt cx="114" cy="513"/>
                </a:xfrm>
              </p:grpSpPr>
              <p:sp>
                <p:nvSpPr>
                  <p:cNvPr id="57405" name="Line 100"/>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06" name="Rectangle 101"/>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384" name="Group 102"/>
                <p:cNvGrpSpPr>
                  <a:grpSpLocks/>
                </p:cNvGrpSpPr>
                <p:nvPr/>
              </p:nvGrpSpPr>
              <p:grpSpPr bwMode="auto">
                <a:xfrm>
                  <a:off x="3039" y="4415"/>
                  <a:ext cx="245" cy="1179"/>
                  <a:chOff x="795" y="567"/>
                  <a:chExt cx="114" cy="513"/>
                </a:xfrm>
              </p:grpSpPr>
              <p:sp>
                <p:nvSpPr>
                  <p:cNvPr id="57403" name="Line 103"/>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04" name="Rectangle 104"/>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385" name="Line 105"/>
                <p:cNvSpPr>
                  <a:spLocks noChangeShapeType="1"/>
                </p:cNvSpPr>
                <p:nvPr/>
              </p:nvSpPr>
              <p:spPr bwMode="auto">
                <a:xfrm>
                  <a:off x="5462" y="2932"/>
                  <a:ext cx="0" cy="10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86" name="Line 106"/>
                <p:cNvSpPr>
                  <a:spLocks noChangeShapeType="1"/>
                </p:cNvSpPr>
                <p:nvPr/>
              </p:nvSpPr>
              <p:spPr bwMode="auto">
                <a:xfrm>
                  <a:off x="4747" y="2910"/>
                  <a:ext cx="48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87" name="Line 107"/>
                <p:cNvSpPr>
                  <a:spLocks noChangeShapeType="1"/>
                </p:cNvSpPr>
                <p:nvPr/>
              </p:nvSpPr>
              <p:spPr bwMode="auto">
                <a:xfrm>
                  <a:off x="5154" y="2910"/>
                  <a:ext cx="264" cy="0"/>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57388" name="Group 108"/>
                <p:cNvGrpSpPr>
                  <a:grpSpLocks/>
                </p:cNvGrpSpPr>
                <p:nvPr/>
              </p:nvGrpSpPr>
              <p:grpSpPr bwMode="auto">
                <a:xfrm>
                  <a:off x="5341" y="3801"/>
                  <a:ext cx="245" cy="1179"/>
                  <a:chOff x="795" y="567"/>
                  <a:chExt cx="114" cy="513"/>
                </a:xfrm>
              </p:grpSpPr>
              <p:sp>
                <p:nvSpPr>
                  <p:cNvPr id="57401" name="Line 109"/>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02" name="Rectangle 110"/>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389" name="Group 111"/>
                <p:cNvGrpSpPr>
                  <a:grpSpLocks/>
                </p:cNvGrpSpPr>
                <p:nvPr/>
              </p:nvGrpSpPr>
              <p:grpSpPr bwMode="auto">
                <a:xfrm rot="-5400000">
                  <a:off x="6147" y="2324"/>
                  <a:ext cx="247" cy="1178"/>
                  <a:chOff x="795" y="567"/>
                  <a:chExt cx="114" cy="513"/>
                </a:xfrm>
              </p:grpSpPr>
              <p:sp>
                <p:nvSpPr>
                  <p:cNvPr id="57399" name="Line 112"/>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400" name="Rectangle 113"/>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7390" name="Group 114"/>
                <p:cNvGrpSpPr>
                  <a:grpSpLocks/>
                </p:cNvGrpSpPr>
                <p:nvPr/>
              </p:nvGrpSpPr>
              <p:grpSpPr bwMode="auto">
                <a:xfrm>
                  <a:off x="2921" y="3482"/>
                  <a:ext cx="715" cy="1095"/>
                  <a:chOff x="651" y="1308"/>
                  <a:chExt cx="332" cy="477"/>
                </a:xfrm>
              </p:grpSpPr>
              <p:grpSp>
                <p:nvGrpSpPr>
                  <p:cNvPr id="57393" name="Group 115"/>
                  <p:cNvGrpSpPr>
                    <a:grpSpLocks/>
                  </p:cNvGrpSpPr>
                  <p:nvPr/>
                </p:nvGrpSpPr>
                <p:grpSpPr bwMode="auto">
                  <a:xfrm>
                    <a:off x="871" y="1308"/>
                    <a:ext cx="112" cy="420"/>
                    <a:chOff x="2863" y="624"/>
                    <a:chExt cx="112" cy="420"/>
                  </a:xfrm>
                </p:grpSpPr>
                <p:sp>
                  <p:nvSpPr>
                    <p:cNvPr id="57396" name="Line 116"/>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97" name="Line 117"/>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98" name="Line 118"/>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394" name="Oval 119"/>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95" name="Line 120"/>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57391" name="Oval 121"/>
                <p:cNvSpPr>
                  <a:spLocks noChangeArrowheads="1"/>
                </p:cNvSpPr>
                <p:nvPr/>
              </p:nvSpPr>
              <p:spPr bwMode="auto">
                <a:xfrm>
                  <a:off x="3570" y="2833"/>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7392" name="Oval 122"/>
                <p:cNvSpPr>
                  <a:spLocks noChangeArrowheads="1"/>
                </p:cNvSpPr>
                <p:nvPr/>
              </p:nvSpPr>
              <p:spPr bwMode="auto">
                <a:xfrm>
                  <a:off x="3537" y="5528"/>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cs typeface="Times New Roman" panose="02020603050405020304" pitchFamily="18" charset="0"/>
                  </a:endParaRPr>
                </a:p>
              </p:txBody>
            </p:sp>
          </p:grpSp>
          <p:sp>
            <p:nvSpPr>
              <p:cNvPr id="666747" name="Rectangle 123"/>
              <p:cNvSpPr>
                <a:spLocks noChangeArrowheads="1"/>
              </p:cNvSpPr>
              <p:nvPr/>
            </p:nvSpPr>
            <p:spPr bwMode="auto">
              <a:xfrm>
                <a:off x="1440" y="1296"/>
                <a:ext cx="492"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40V</a:t>
                </a:r>
              </a:p>
            </p:txBody>
          </p:sp>
          <p:sp>
            <p:nvSpPr>
              <p:cNvPr id="666748" name="Text Box 124"/>
              <p:cNvSpPr txBox="1">
                <a:spLocks noChangeArrowheads="1"/>
              </p:cNvSpPr>
              <p:nvPr/>
            </p:nvSpPr>
            <p:spPr bwMode="auto">
              <a:xfrm>
                <a:off x="1344" y="720"/>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57360" name="Text Box 125"/>
              <p:cNvSpPr txBox="1">
                <a:spLocks noChangeArrowheads="1"/>
              </p:cNvSpPr>
              <p:nvPr/>
            </p:nvSpPr>
            <p:spPr bwMode="auto">
              <a:xfrm>
                <a:off x="2016" y="72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华文中宋" panose="02010600040101010101" pitchFamily="2" charset="-122"/>
                    <a:ea typeface="华文中宋" panose="02010600040101010101" pitchFamily="2" charset="-122"/>
                    <a:cs typeface="Times New Roman" panose="02020603050405020304" pitchFamily="18" charset="0"/>
                  </a:rPr>
                  <a:t>I</a:t>
                </a:r>
                <a:endParaRPr lang="en-US" altLang="zh-CN" sz="2400" baseline="-2500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66750" name="Text Box 126"/>
              <p:cNvSpPr txBox="1">
                <a:spLocks noChangeArrowheads="1"/>
              </p:cNvSpPr>
              <p:nvPr/>
            </p:nvSpPr>
            <p:spPr bwMode="auto">
              <a:xfrm>
                <a:off x="1392" y="1680"/>
                <a:ext cx="432"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1" name="Text Box 127"/>
              <p:cNvSpPr txBox="1">
                <a:spLocks noChangeArrowheads="1"/>
              </p:cNvSpPr>
              <p:nvPr/>
            </p:nvSpPr>
            <p:spPr bwMode="auto">
              <a:xfrm>
                <a:off x="1728" y="1008"/>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2" name="Text Box 128"/>
              <p:cNvSpPr txBox="1">
                <a:spLocks noChangeArrowheads="1"/>
              </p:cNvSpPr>
              <p:nvPr/>
            </p:nvSpPr>
            <p:spPr bwMode="auto">
              <a:xfrm>
                <a:off x="768" y="1728"/>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4</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3" name="Text Box 129"/>
              <p:cNvSpPr txBox="1">
                <a:spLocks noChangeArrowheads="1"/>
              </p:cNvSpPr>
              <p:nvPr/>
            </p:nvSpPr>
            <p:spPr bwMode="auto">
              <a:xfrm>
                <a:off x="1920" y="1632"/>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1</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4" name="Rectangle 130"/>
              <p:cNvSpPr>
                <a:spLocks noChangeArrowheads="1"/>
              </p:cNvSpPr>
              <p:nvPr/>
            </p:nvSpPr>
            <p:spPr bwMode="auto">
              <a:xfrm>
                <a:off x="801" y="1248"/>
                <a:ext cx="492"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40V</a:t>
                </a:r>
              </a:p>
            </p:txBody>
          </p:sp>
          <p:sp>
            <p:nvSpPr>
              <p:cNvPr id="666755" name="Text Box 131"/>
              <p:cNvSpPr txBox="1">
                <a:spLocks noChangeArrowheads="1"/>
              </p:cNvSpPr>
              <p:nvPr/>
            </p:nvSpPr>
            <p:spPr bwMode="auto">
              <a:xfrm>
                <a:off x="2544" y="1680"/>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1</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6" name="Text Box 132"/>
              <p:cNvSpPr txBox="1">
                <a:spLocks noChangeArrowheads="1"/>
              </p:cNvSpPr>
              <p:nvPr/>
            </p:nvSpPr>
            <p:spPr bwMode="auto">
              <a:xfrm>
                <a:off x="2448" y="1008"/>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1</a:t>
                </a: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a:t>
                </a:r>
              </a:p>
            </p:txBody>
          </p:sp>
          <p:sp>
            <p:nvSpPr>
              <p:cNvPr id="666757" name="Text Box 133"/>
              <p:cNvSpPr txBox="1">
                <a:spLocks noChangeArrowheads="1"/>
              </p:cNvSpPr>
              <p:nvPr/>
            </p:nvSpPr>
            <p:spPr bwMode="auto">
              <a:xfrm>
                <a:off x="1344" y="2064"/>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grpSp>
        <p:sp>
          <p:nvSpPr>
            <p:cNvPr id="666758" name="Text Box 134"/>
            <p:cNvSpPr txBox="1">
              <a:spLocks noChangeArrowheads="1"/>
            </p:cNvSpPr>
            <p:nvPr/>
          </p:nvSpPr>
          <p:spPr bwMode="auto">
            <a:xfrm>
              <a:off x="1200" y="2265"/>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华文中宋" panose="02010600040101010101" pitchFamily="2" charset="-122"/>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p>
          </p:txBody>
        </p:sp>
      </p:grpSp>
      <p:sp>
        <p:nvSpPr>
          <p:cNvPr id="666759" name="Text Box 135"/>
          <p:cNvSpPr txBox="1">
            <a:spLocks noChangeArrowheads="1"/>
          </p:cNvSpPr>
          <p:nvPr/>
        </p:nvSpPr>
        <p:spPr bwMode="auto">
          <a:xfrm>
            <a:off x="457200" y="4191000"/>
            <a:ext cx="8362950" cy="1015663"/>
          </a:xfrm>
          <a:prstGeom prst="rect">
            <a:avLst/>
          </a:prstGeom>
          <a:noFill/>
          <a:ln w="9525">
            <a:noFill/>
            <a:miter lim="800000"/>
            <a:headEnd/>
            <a:tailEnd/>
          </a:ln>
          <a:effectLst/>
        </p:spPr>
        <p:txBody>
          <a:bodyPr>
            <a:spAutoFit/>
          </a:bodyPr>
          <a:lstStyle/>
          <a:p>
            <a:pPr eaLnBrk="1" hangingPunct="1">
              <a:lnSpc>
                <a:spcPct val="120000"/>
              </a:lnSpc>
              <a:spcBef>
                <a:spcPct val="10000"/>
              </a:spcBef>
              <a:defRPr/>
            </a:pPr>
            <a:r>
              <a:rPr lang="zh-CN" altLang="en-US" sz="2400">
                <a:solidFill>
                  <a:srgbClr val="FF3300"/>
                </a:solidFill>
                <a:latin typeface="华文中宋" panose="02010600040101010101" pitchFamily="2" charset="-122"/>
                <a:ea typeface="华文中宋" panose="02010600040101010101" pitchFamily="2" charset="-122"/>
                <a:cs typeface="Times New Roman" panose="02020603050405020304" pitchFamily="18" charset="0"/>
              </a:rPr>
              <a:t>解：</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本题可以应用戴维南定理求解，见图</a:t>
            </a:r>
            <a:r>
              <a:rPr lang="en-US" altLang="zh-CN" sz="2400">
                <a:latin typeface="华文中宋" panose="02010600040101010101" pitchFamily="2" charset="-122"/>
                <a:ea typeface="华文中宋" panose="02010600040101010101" pitchFamily="2" charset="-122"/>
                <a:cs typeface="Times New Roman" panose="02020603050405020304" pitchFamily="18" charset="0"/>
              </a:rPr>
              <a:t>(b)</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a:t>
            </a:r>
          </a:p>
          <a:p>
            <a:pPr eaLnBrk="1" hangingPunct="1">
              <a:lnSpc>
                <a:spcPct val="120000"/>
              </a:lnSpc>
              <a:spcBef>
                <a:spcPct val="10000"/>
              </a:spcBef>
              <a:defRPr/>
            </a:pPr>
            <a:r>
              <a:rPr lang="zh-CN" altLang="en-US" sz="2400">
                <a:latin typeface="华文中宋" panose="02010600040101010101" pitchFamily="2" charset="-122"/>
                <a:ea typeface="华文中宋" panose="02010600040101010101" pitchFamily="2" charset="-122"/>
                <a:cs typeface="Times New Roman" panose="02020603050405020304" pitchFamily="18" charset="0"/>
              </a:rPr>
              <a:t>       也可以用诺顿定理求解见图</a:t>
            </a:r>
            <a:r>
              <a:rPr lang="en-US" altLang="zh-CN" sz="2400">
                <a:latin typeface="华文中宋" panose="02010600040101010101" pitchFamily="2" charset="-122"/>
                <a:ea typeface="华文中宋" panose="02010600040101010101" pitchFamily="2" charset="-122"/>
                <a:cs typeface="Times New Roman" panose="02020603050405020304" pitchFamily="18" charset="0"/>
              </a:rPr>
              <a:t>(c)</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a:t>
            </a:r>
            <a:endParaRPr lang="zh-CN" altLang="en-US"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endParaRPr>
          </a:p>
        </p:txBody>
      </p:sp>
      <p:sp>
        <p:nvSpPr>
          <p:cNvPr id="666760" name="Text Box 136"/>
          <p:cNvSpPr txBox="1">
            <a:spLocks noChangeArrowheads="1"/>
          </p:cNvSpPr>
          <p:nvPr/>
        </p:nvSpPr>
        <p:spPr bwMode="auto">
          <a:xfrm>
            <a:off x="457200" y="5127625"/>
            <a:ext cx="8077200" cy="978729"/>
          </a:xfrm>
          <a:prstGeom prst="rect">
            <a:avLst/>
          </a:prstGeom>
          <a:noFill/>
          <a:ln w="9525">
            <a:noFill/>
            <a:miter lim="800000"/>
            <a:headEnd/>
            <a:tailEnd/>
          </a:ln>
          <a:effectLst/>
        </p:spPr>
        <p:txBody>
          <a:bodyPr>
            <a:spAutoFit/>
          </a:bodyPr>
          <a:lstStyle/>
          <a:p>
            <a:pPr eaLnBrk="1" hangingPunct="1">
              <a:lnSpc>
                <a:spcPct val="120000"/>
              </a:lnSpc>
              <a:spcBef>
                <a:spcPct val="10000"/>
              </a:spcBef>
              <a:defRPr/>
            </a:pPr>
            <a:r>
              <a:rPr lang="en-US" altLang="zh-CN" sz="2400">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400">
                <a:latin typeface="华文中宋" panose="02010600040101010101" pitchFamily="2" charset="-122"/>
                <a:ea typeface="华文中宋" panose="02010600040101010101" pitchFamily="2" charset="-122"/>
                <a:cs typeface="Times New Roman" panose="02020603050405020304" pitchFamily="18" charset="0"/>
              </a:rPr>
              <a:t>下面用诺顿定理求解。 将图</a:t>
            </a:r>
            <a:r>
              <a:rPr kumimoji="1"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r>
              <a:rPr kumimoji="1" lang="zh-CN" altLang="en-US"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中</a:t>
            </a:r>
            <a:r>
              <a:rPr kumimoji="1"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a:t>
            </a:r>
            <a:r>
              <a:rPr kumimoji="1" lang="zh-CN" altLang="en-US"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a:t>
            </a:r>
            <a:r>
              <a:rPr kumimoji="1" lang="en-US" altLang="zh-CN"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b</a:t>
            </a:r>
            <a:r>
              <a:rPr kumimoji="1" lang="zh-CN" altLang="en-US"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rPr>
              <a:t>右侧等效为</a:t>
            </a:r>
            <a:r>
              <a:rPr lang="zh-CN" altLang="en-US" sz="2400">
                <a:effectLst>
                  <a:outerShdw blurRad="38100" dist="38100" dir="2700000" algn="tl">
                    <a:srgbClr val="C0C0C0"/>
                  </a:outerShdw>
                </a:effectLst>
                <a:latin typeface="华文中宋" panose="02010600040101010101" pitchFamily="2" charset="-122"/>
                <a:ea typeface="华文中宋" panose="02010600040101010101" pitchFamily="2" charset="-122"/>
                <a:cs typeface="Times New Roman" panose="02020603050405020304" pitchFamily="18" charset="0"/>
                <a:sym typeface="Symbol" pitchFamily="18" charset="2"/>
              </a:rPr>
              <a:t>电阻</a:t>
            </a:r>
          </a:p>
        </p:txBody>
      </p:sp>
      <p:graphicFrame>
        <p:nvGraphicFramePr>
          <p:cNvPr id="666761" name="Object 137"/>
          <p:cNvGraphicFramePr>
            <a:graphicFrameLocks noChangeAspect="1"/>
          </p:cNvGraphicFramePr>
          <p:nvPr>
            <p:extLst>
              <p:ext uri="{D42A27DB-BD31-4B8C-83A1-F6EECF244321}">
                <p14:modId xmlns:p14="http://schemas.microsoft.com/office/powerpoint/2010/main" val="909748203"/>
              </p:ext>
            </p:extLst>
          </p:nvPr>
        </p:nvGraphicFramePr>
        <p:xfrm>
          <a:off x="3059113" y="5661025"/>
          <a:ext cx="3203575" cy="931863"/>
        </p:xfrm>
        <a:graphic>
          <a:graphicData uri="http://schemas.openxmlformats.org/presentationml/2006/ole">
            <mc:AlternateContent xmlns:mc="http://schemas.openxmlformats.org/markup-compatibility/2006">
              <mc:Choice xmlns:v="urn:schemas-microsoft-com:vml" Requires="v">
                <p:oleObj spid="_x0000_s96266" name="Equation" r:id="rId3" imgW="1435100" imgH="419100" progId="Equation.DSMT4">
                  <p:embed/>
                </p:oleObj>
              </mc:Choice>
              <mc:Fallback>
                <p:oleObj name="Equation" r:id="rId3" imgW="1435100" imgH="419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5661025"/>
                        <a:ext cx="3203575"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4326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6626"/>
                                        </p:tgtEl>
                                        <p:attrNameLst>
                                          <p:attrName>style.visibility</p:attrName>
                                        </p:attrNameLst>
                                      </p:cBhvr>
                                      <p:to>
                                        <p:strVal val="visible"/>
                                      </p:to>
                                    </p:set>
                                    <p:animEffect transition="in" filter="wipe(left)">
                                      <p:cBhvr>
                                        <p:cTn id="7" dur="500"/>
                                        <p:tgtEl>
                                          <p:spTgt spid="666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vertical)">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6759">
                                            <p:txEl>
                                              <p:pRg st="0" end="0"/>
                                            </p:txEl>
                                          </p:spTgt>
                                        </p:tgtEl>
                                        <p:attrNameLst>
                                          <p:attrName>style.visibility</p:attrName>
                                        </p:attrNameLst>
                                      </p:cBhvr>
                                      <p:to>
                                        <p:strVal val="visible"/>
                                      </p:to>
                                    </p:set>
                                    <p:animEffect transition="in" filter="wipe(left)">
                                      <p:cBhvr>
                                        <p:cTn id="17" dur="500"/>
                                        <p:tgtEl>
                                          <p:spTgt spid="66675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ppt_x</p:attrName>
                                        </p:attrNameLst>
                                      </p:cBhvr>
                                      <p:tavLst>
                                        <p:tav tm="0">
                                          <p:val>
                                            <p:strVal val="#ppt_x-#ppt_w/2"/>
                                          </p:val>
                                        </p:tav>
                                        <p:tav tm="100000">
                                          <p:val>
                                            <p:strVal val="#ppt_x"/>
                                          </p:val>
                                        </p:tav>
                                      </p:tavLst>
                                    </p:anim>
                                    <p:anim calcmode="lin" valueType="num">
                                      <p:cBhvr>
                                        <p:cTn id="23" dur="500" fill="hold"/>
                                        <p:tgtEl>
                                          <p:spTgt spid="2"/>
                                        </p:tgtEl>
                                        <p:attrNameLst>
                                          <p:attrName>ppt_y</p:attrName>
                                        </p:attrNameLst>
                                      </p:cBhvr>
                                      <p:tavLst>
                                        <p:tav tm="0">
                                          <p:val>
                                            <p:strVal val="#ppt_y"/>
                                          </p:val>
                                        </p:tav>
                                        <p:tav tm="100000">
                                          <p:val>
                                            <p:strVal val="#ppt_y"/>
                                          </p:val>
                                        </p:tav>
                                      </p:tavLst>
                                    </p:anim>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66759">
                                            <p:txEl>
                                              <p:pRg st="1" end="1"/>
                                            </p:txEl>
                                          </p:spTgt>
                                        </p:tgtEl>
                                        <p:attrNameLst>
                                          <p:attrName>style.visibility</p:attrName>
                                        </p:attrNameLst>
                                      </p:cBhvr>
                                      <p:to>
                                        <p:strVal val="visible"/>
                                      </p:to>
                                    </p:set>
                                    <p:animEffect transition="in" filter="wipe(left)">
                                      <p:cBhvr>
                                        <p:cTn id="30" dur="500"/>
                                        <p:tgtEl>
                                          <p:spTgt spid="666759">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66760"/>
                                        </p:tgtEl>
                                        <p:attrNameLst>
                                          <p:attrName>style.visibility</p:attrName>
                                        </p:attrNameLst>
                                      </p:cBhvr>
                                      <p:to>
                                        <p:strVal val="visible"/>
                                      </p:to>
                                    </p:set>
                                    <p:animEffect transition="in" filter="wipe(left)">
                                      <p:cBhvr>
                                        <p:cTn id="40" dur="500"/>
                                        <p:tgtEl>
                                          <p:spTgt spid="6667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666761"/>
                                        </p:tgtEl>
                                        <p:attrNameLst>
                                          <p:attrName>style.visibility</p:attrName>
                                        </p:attrNameLst>
                                      </p:cBhvr>
                                      <p:to>
                                        <p:strVal val="visible"/>
                                      </p:to>
                                    </p:set>
                                    <p:animEffect transition="in" filter="wipe(left)">
                                      <p:cBhvr>
                                        <p:cTn id="45" dur="500"/>
                                        <p:tgtEl>
                                          <p:spTgt spid="666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6" grpId="0"/>
      <p:bldP spid="666759" grpId="0" build="p"/>
      <p:bldP spid="66676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3B7B6B40-6523-496B-958E-2B418074A7B4}"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53</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2"/>
          <p:cNvGrpSpPr>
            <a:grpSpLocks/>
          </p:cNvGrpSpPr>
          <p:nvPr/>
        </p:nvGrpSpPr>
        <p:grpSpPr bwMode="auto">
          <a:xfrm>
            <a:off x="5364163" y="549275"/>
            <a:ext cx="2819400" cy="2909888"/>
            <a:chOff x="3379" y="346"/>
            <a:chExt cx="1776" cy="1833"/>
          </a:xfrm>
        </p:grpSpPr>
        <p:sp>
          <p:nvSpPr>
            <p:cNvPr id="667651" name="Text Box 3"/>
            <p:cNvSpPr txBox="1">
              <a:spLocks noChangeArrowheads="1"/>
            </p:cNvSpPr>
            <p:nvPr/>
          </p:nvSpPr>
          <p:spPr bwMode="auto">
            <a:xfrm>
              <a:off x="3742" y="1888"/>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(e)</a:t>
              </a:r>
            </a:p>
          </p:txBody>
        </p:sp>
        <p:grpSp>
          <p:nvGrpSpPr>
            <p:cNvPr id="58422" name="Group 4"/>
            <p:cNvGrpSpPr>
              <a:grpSpLocks/>
            </p:cNvGrpSpPr>
            <p:nvPr/>
          </p:nvGrpSpPr>
          <p:grpSpPr bwMode="auto">
            <a:xfrm>
              <a:off x="3379" y="817"/>
              <a:ext cx="286" cy="437"/>
              <a:chOff x="651" y="1308"/>
              <a:chExt cx="332" cy="477"/>
            </a:xfrm>
          </p:grpSpPr>
          <p:grpSp>
            <p:nvGrpSpPr>
              <p:cNvPr id="58454" name="Group 5"/>
              <p:cNvGrpSpPr>
                <a:grpSpLocks/>
              </p:cNvGrpSpPr>
              <p:nvPr/>
            </p:nvGrpSpPr>
            <p:grpSpPr bwMode="auto">
              <a:xfrm>
                <a:off x="871" y="1308"/>
                <a:ext cx="112" cy="420"/>
                <a:chOff x="2863" y="624"/>
                <a:chExt cx="112" cy="420"/>
              </a:xfrm>
            </p:grpSpPr>
            <p:sp>
              <p:nvSpPr>
                <p:cNvPr id="58457" name="Line 6"/>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58" name="Line 7"/>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59" name="Line 8"/>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55" name="Oval 9"/>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56" name="Line 10"/>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23" name="Line 11"/>
            <p:cNvSpPr>
              <a:spLocks noChangeShapeType="1"/>
            </p:cNvSpPr>
            <p:nvPr/>
          </p:nvSpPr>
          <p:spPr bwMode="auto">
            <a:xfrm>
              <a:off x="3476" y="630"/>
              <a:ext cx="4" cy="2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4" name="Line 12"/>
            <p:cNvSpPr>
              <a:spLocks noChangeShapeType="1"/>
            </p:cNvSpPr>
            <p:nvPr/>
          </p:nvSpPr>
          <p:spPr bwMode="auto">
            <a:xfrm flipV="1">
              <a:off x="3470" y="636"/>
              <a:ext cx="54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5" name="Line 13"/>
            <p:cNvSpPr>
              <a:spLocks noChangeShapeType="1"/>
            </p:cNvSpPr>
            <p:nvPr/>
          </p:nvSpPr>
          <p:spPr bwMode="auto">
            <a:xfrm>
              <a:off x="3480" y="1240"/>
              <a:ext cx="0" cy="2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6" name="Line 14"/>
            <p:cNvSpPr>
              <a:spLocks noChangeShapeType="1"/>
            </p:cNvSpPr>
            <p:nvPr/>
          </p:nvSpPr>
          <p:spPr bwMode="auto">
            <a:xfrm flipH="1">
              <a:off x="4110" y="1333"/>
              <a:ext cx="4" cy="3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7" name="Line 15"/>
            <p:cNvSpPr>
              <a:spLocks noChangeShapeType="1"/>
            </p:cNvSpPr>
            <p:nvPr/>
          </p:nvSpPr>
          <p:spPr bwMode="auto">
            <a:xfrm>
              <a:off x="3859" y="634"/>
              <a:ext cx="8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8" name="Line 16"/>
            <p:cNvSpPr>
              <a:spLocks noChangeShapeType="1"/>
            </p:cNvSpPr>
            <p:nvPr/>
          </p:nvSpPr>
          <p:spPr bwMode="auto">
            <a:xfrm flipV="1">
              <a:off x="3480" y="1717"/>
              <a:ext cx="11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9" name="Line 17"/>
            <p:cNvSpPr>
              <a:spLocks noChangeShapeType="1"/>
            </p:cNvSpPr>
            <p:nvPr/>
          </p:nvSpPr>
          <p:spPr bwMode="auto">
            <a:xfrm>
              <a:off x="4114" y="626"/>
              <a:ext cx="0" cy="4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430" name="Group 18"/>
            <p:cNvGrpSpPr>
              <a:grpSpLocks/>
            </p:cNvGrpSpPr>
            <p:nvPr/>
          </p:nvGrpSpPr>
          <p:grpSpPr bwMode="auto">
            <a:xfrm>
              <a:off x="3432" y="1246"/>
              <a:ext cx="98" cy="471"/>
              <a:chOff x="795" y="567"/>
              <a:chExt cx="114" cy="513"/>
            </a:xfrm>
          </p:grpSpPr>
          <p:sp>
            <p:nvSpPr>
              <p:cNvPr id="58452" name="Line 19"/>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53" name="Rectangle 20"/>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8431" name="Group 21"/>
            <p:cNvGrpSpPr>
              <a:grpSpLocks/>
            </p:cNvGrpSpPr>
            <p:nvPr/>
          </p:nvGrpSpPr>
          <p:grpSpPr bwMode="auto">
            <a:xfrm>
              <a:off x="4064" y="1236"/>
              <a:ext cx="98" cy="471"/>
              <a:chOff x="795" y="567"/>
              <a:chExt cx="114" cy="513"/>
            </a:xfrm>
          </p:grpSpPr>
          <p:sp>
            <p:nvSpPr>
              <p:cNvPr id="58450" name="Line 22"/>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51" name="Rectangle 23"/>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8432" name="Group 24"/>
            <p:cNvGrpSpPr>
              <a:grpSpLocks/>
            </p:cNvGrpSpPr>
            <p:nvPr/>
          </p:nvGrpSpPr>
          <p:grpSpPr bwMode="auto">
            <a:xfrm>
              <a:off x="4017" y="863"/>
              <a:ext cx="286" cy="438"/>
              <a:chOff x="651" y="1308"/>
              <a:chExt cx="332" cy="477"/>
            </a:xfrm>
          </p:grpSpPr>
          <p:grpSp>
            <p:nvGrpSpPr>
              <p:cNvPr id="58444" name="Group 25"/>
              <p:cNvGrpSpPr>
                <a:grpSpLocks/>
              </p:cNvGrpSpPr>
              <p:nvPr/>
            </p:nvGrpSpPr>
            <p:grpSpPr bwMode="auto">
              <a:xfrm>
                <a:off x="871" y="1308"/>
                <a:ext cx="112" cy="420"/>
                <a:chOff x="2863" y="624"/>
                <a:chExt cx="112" cy="420"/>
              </a:xfrm>
            </p:grpSpPr>
            <p:sp>
              <p:nvSpPr>
                <p:cNvPr id="58447" name="Line 26"/>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48" name="Line 27"/>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49" name="Line 28"/>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45" name="Oval 29"/>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46" name="Line 30"/>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33" name="Oval 31"/>
            <p:cNvSpPr>
              <a:spLocks noChangeArrowheads="1"/>
            </p:cNvSpPr>
            <p:nvPr/>
          </p:nvSpPr>
          <p:spPr bwMode="auto">
            <a:xfrm>
              <a:off x="4277" y="604"/>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34" name="Oval 32"/>
            <p:cNvSpPr>
              <a:spLocks noChangeArrowheads="1"/>
            </p:cNvSpPr>
            <p:nvPr/>
          </p:nvSpPr>
          <p:spPr bwMode="auto">
            <a:xfrm>
              <a:off x="4264" y="1681"/>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7681" name="Rectangle 33"/>
            <p:cNvSpPr>
              <a:spLocks noChangeArrowheads="1"/>
            </p:cNvSpPr>
            <p:nvPr/>
          </p:nvSpPr>
          <p:spPr bwMode="auto">
            <a:xfrm>
              <a:off x="4195" y="922"/>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7682" name="Text Box 34"/>
            <p:cNvSpPr txBox="1">
              <a:spLocks noChangeArrowheads="1"/>
            </p:cNvSpPr>
            <p:nvPr/>
          </p:nvSpPr>
          <p:spPr bwMode="auto">
            <a:xfrm>
              <a:off x="4099" y="346"/>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7683" name="Text Box 35"/>
            <p:cNvSpPr txBox="1">
              <a:spLocks noChangeArrowheads="1"/>
            </p:cNvSpPr>
            <p:nvPr/>
          </p:nvSpPr>
          <p:spPr bwMode="auto">
            <a:xfrm>
              <a:off x="4147" y="1306"/>
              <a:ext cx="432"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7684" name="Text Box 36"/>
            <p:cNvSpPr txBox="1">
              <a:spLocks noChangeArrowheads="1"/>
            </p:cNvSpPr>
            <p:nvPr/>
          </p:nvSpPr>
          <p:spPr bwMode="auto">
            <a:xfrm>
              <a:off x="3523" y="1354"/>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7685" name="Rectangle 37"/>
            <p:cNvSpPr>
              <a:spLocks noChangeArrowheads="1"/>
            </p:cNvSpPr>
            <p:nvPr/>
          </p:nvSpPr>
          <p:spPr bwMode="auto">
            <a:xfrm>
              <a:off x="3556" y="874"/>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7686" name="Text Box 38"/>
            <p:cNvSpPr txBox="1">
              <a:spLocks noChangeArrowheads="1"/>
            </p:cNvSpPr>
            <p:nvPr/>
          </p:nvSpPr>
          <p:spPr bwMode="auto">
            <a:xfrm>
              <a:off x="4099" y="1690"/>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58441" name="Line 39"/>
            <p:cNvSpPr>
              <a:spLocks noChangeShapeType="1"/>
            </p:cNvSpPr>
            <p:nvPr/>
          </p:nvSpPr>
          <p:spPr bwMode="auto">
            <a:xfrm>
              <a:off x="4675" y="634"/>
              <a:ext cx="0" cy="11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42" name="Line 40"/>
            <p:cNvSpPr>
              <a:spLocks noChangeShapeType="1"/>
            </p:cNvSpPr>
            <p:nvPr/>
          </p:nvSpPr>
          <p:spPr bwMode="auto">
            <a:xfrm>
              <a:off x="4675" y="922"/>
              <a:ext cx="0" cy="192"/>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7689" name="Text Box 41"/>
            <p:cNvSpPr txBox="1">
              <a:spLocks noChangeArrowheads="1"/>
            </p:cNvSpPr>
            <p:nvPr/>
          </p:nvSpPr>
          <p:spPr bwMode="auto">
            <a:xfrm>
              <a:off x="4675" y="1066"/>
              <a:ext cx="480"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SC</a:t>
              </a:r>
            </a:p>
          </p:txBody>
        </p:sp>
      </p:grpSp>
      <p:sp>
        <p:nvSpPr>
          <p:cNvPr id="667690" name="Text Box 42"/>
          <p:cNvSpPr txBox="1">
            <a:spLocks noChangeArrowheads="1"/>
          </p:cNvSpPr>
          <p:nvPr/>
        </p:nvSpPr>
        <p:spPr bwMode="auto">
          <a:xfrm>
            <a:off x="381000" y="3573463"/>
            <a:ext cx="8153400" cy="1015663"/>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计算图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中</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ab</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左侧的诺顿等效电路。</a:t>
            </a:r>
          </a:p>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       利用</a:t>
            </a: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(e)</a:t>
            </a:r>
            <a:r>
              <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计算短路电流和等效内阻</a:t>
            </a:r>
          </a:p>
        </p:txBody>
      </p:sp>
      <p:graphicFrame>
        <p:nvGraphicFramePr>
          <p:cNvPr id="667691" name="Object 43"/>
          <p:cNvGraphicFramePr>
            <a:graphicFrameLocks noChangeAspect="1"/>
          </p:cNvGraphicFramePr>
          <p:nvPr>
            <p:extLst>
              <p:ext uri="{D42A27DB-BD31-4B8C-83A1-F6EECF244321}">
                <p14:modId xmlns:p14="http://schemas.microsoft.com/office/powerpoint/2010/main" val="3750378215"/>
              </p:ext>
            </p:extLst>
          </p:nvPr>
        </p:nvGraphicFramePr>
        <p:xfrm>
          <a:off x="2841625" y="4714875"/>
          <a:ext cx="2944813" cy="874713"/>
        </p:xfrm>
        <a:graphic>
          <a:graphicData uri="http://schemas.openxmlformats.org/presentationml/2006/ole">
            <mc:AlternateContent xmlns:mc="http://schemas.openxmlformats.org/markup-compatibility/2006">
              <mc:Choice xmlns:v="urn:schemas-microsoft-com:vml" Requires="v">
                <p:oleObj spid="_x0000_s97298" name="Equation" r:id="rId3" imgW="1295287" imgH="362070" progId="Equation.DSMT4">
                  <p:embed/>
                </p:oleObj>
              </mc:Choice>
              <mc:Fallback>
                <p:oleObj name="Equation" r:id="rId3" imgW="1295287" imgH="36207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1625" y="4714875"/>
                        <a:ext cx="2944813" cy="87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7692" name="Object 44"/>
          <p:cNvGraphicFramePr>
            <a:graphicFrameLocks noChangeAspect="1"/>
          </p:cNvGraphicFramePr>
          <p:nvPr>
            <p:extLst>
              <p:ext uri="{D42A27DB-BD31-4B8C-83A1-F6EECF244321}">
                <p14:modId xmlns:p14="http://schemas.microsoft.com/office/powerpoint/2010/main" val="1442957697"/>
              </p:ext>
            </p:extLst>
          </p:nvPr>
        </p:nvGraphicFramePr>
        <p:xfrm>
          <a:off x="2200275" y="5649913"/>
          <a:ext cx="4276725" cy="874712"/>
        </p:xfrm>
        <a:graphic>
          <a:graphicData uri="http://schemas.openxmlformats.org/presentationml/2006/ole">
            <mc:AlternateContent xmlns:mc="http://schemas.openxmlformats.org/markup-compatibility/2006">
              <mc:Choice xmlns:v="urn:schemas-microsoft-com:vml" Requires="v">
                <p:oleObj spid="_x0000_s97299" name="Equation" r:id="rId5" imgW="1886068" imgH="362070" progId="Equation.DSMT4">
                  <p:embed/>
                </p:oleObj>
              </mc:Choice>
              <mc:Fallback>
                <p:oleObj name="Equation" r:id="rId5" imgW="1886068" imgH="36207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275" y="5649913"/>
                        <a:ext cx="4276725"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45"/>
          <p:cNvGrpSpPr>
            <a:grpSpLocks/>
          </p:cNvGrpSpPr>
          <p:nvPr/>
        </p:nvGrpSpPr>
        <p:grpSpPr bwMode="auto">
          <a:xfrm>
            <a:off x="1476375" y="549275"/>
            <a:ext cx="3019425" cy="2909888"/>
            <a:chOff x="287" y="245"/>
            <a:chExt cx="1902" cy="1833"/>
          </a:xfrm>
        </p:grpSpPr>
        <p:sp>
          <p:nvSpPr>
            <p:cNvPr id="667694" name="Text Box 46"/>
            <p:cNvSpPr txBox="1">
              <a:spLocks noChangeArrowheads="1"/>
            </p:cNvSpPr>
            <p:nvPr/>
          </p:nvSpPr>
          <p:spPr bwMode="auto">
            <a:xfrm>
              <a:off x="650" y="1787"/>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p>
          </p:txBody>
        </p:sp>
        <p:grpSp>
          <p:nvGrpSpPr>
            <p:cNvPr id="58378" name="Group 47"/>
            <p:cNvGrpSpPr>
              <a:grpSpLocks/>
            </p:cNvGrpSpPr>
            <p:nvPr/>
          </p:nvGrpSpPr>
          <p:grpSpPr bwMode="auto">
            <a:xfrm>
              <a:off x="287" y="716"/>
              <a:ext cx="286" cy="437"/>
              <a:chOff x="651" y="1308"/>
              <a:chExt cx="332" cy="477"/>
            </a:xfrm>
          </p:grpSpPr>
          <p:grpSp>
            <p:nvGrpSpPr>
              <p:cNvPr id="58415" name="Group 48"/>
              <p:cNvGrpSpPr>
                <a:grpSpLocks/>
              </p:cNvGrpSpPr>
              <p:nvPr/>
            </p:nvGrpSpPr>
            <p:grpSpPr bwMode="auto">
              <a:xfrm>
                <a:off x="871" y="1308"/>
                <a:ext cx="112" cy="420"/>
                <a:chOff x="2863" y="624"/>
                <a:chExt cx="112" cy="420"/>
              </a:xfrm>
            </p:grpSpPr>
            <p:sp>
              <p:nvSpPr>
                <p:cNvPr id="58418" name="Line 49"/>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9" name="Line 50"/>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0" name="Line 51"/>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16" name="Oval 52"/>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7" name="Line 53"/>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379" name="Line 54"/>
            <p:cNvSpPr>
              <a:spLocks noChangeShapeType="1"/>
            </p:cNvSpPr>
            <p:nvPr/>
          </p:nvSpPr>
          <p:spPr bwMode="auto">
            <a:xfrm>
              <a:off x="384" y="529"/>
              <a:ext cx="4" cy="2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0" name="Line 55"/>
            <p:cNvSpPr>
              <a:spLocks noChangeShapeType="1"/>
            </p:cNvSpPr>
            <p:nvPr/>
          </p:nvSpPr>
          <p:spPr bwMode="auto">
            <a:xfrm flipV="1">
              <a:off x="384" y="529"/>
              <a:ext cx="542" cy="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1" name="Line 56"/>
            <p:cNvSpPr>
              <a:spLocks noChangeShapeType="1"/>
            </p:cNvSpPr>
            <p:nvPr/>
          </p:nvSpPr>
          <p:spPr bwMode="auto">
            <a:xfrm>
              <a:off x="388" y="1139"/>
              <a:ext cx="0" cy="2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2" name="Line 57"/>
            <p:cNvSpPr>
              <a:spLocks noChangeShapeType="1"/>
            </p:cNvSpPr>
            <p:nvPr/>
          </p:nvSpPr>
          <p:spPr bwMode="auto">
            <a:xfrm flipH="1">
              <a:off x="1018" y="1232"/>
              <a:ext cx="4" cy="3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3" name="Line 58"/>
            <p:cNvSpPr>
              <a:spLocks noChangeShapeType="1"/>
            </p:cNvSpPr>
            <p:nvPr/>
          </p:nvSpPr>
          <p:spPr bwMode="auto">
            <a:xfrm>
              <a:off x="767" y="533"/>
              <a:ext cx="8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4" name="Line 59"/>
            <p:cNvSpPr>
              <a:spLocks noChangeShapeType="1"/>
            </p:cNvSpPr>
            <p:nvPr/>
          </p:nvSpPr>
          <p:spPr bwMode="auto">
            <a:xfrm flipV="1">
              <a:off x="388" y="1589"/>
              <a:ext cx="1195" cy="3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5" name="Line 60"/>
            <p:cNvSpPr>
              <a:spLocks noChangeShapeType="1"/>
            </p:cNvSpPr>
            <p:nvPr/>
          </p:nvSpPr>
          <p:spPr bwMode="auto">
            <a:xfrm>
              <a:off x="1022" y="525"/>
              <a:ext cx="0" cy="4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386" name="Group 61"/>
            <p:cNvGrpSpPr>
              <a:grpSpLocks/>
            </p:cNvGrpSpPr>
            <p:nvPr/>
          </p:nvGrpSpPr>
          <p:grpSpPr bwMode="auto">
            <a:xfrm>
              <a:off x="340" y="1145"/>
              <a:ext cx="98" cy="471"/>
              <a:chOff x="795" y="567"/>
              <a:chExt cx="114" cy="513"/>
            </a:xfrm>
          </p:grpSpPr>
          <p:sp>
            <p:nvSpPr>
              <p:cNvPr id="58413" name="Line 62"/>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4" name="Rectangle 63"/>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8387" name="Group 64"/>
            <p:cNvGrpSpPr>
              <a:grpSpLocks/>
            </p:cNvGrpSpPr>
            <p:nvPr/>
          </p:nvGrpSpPr>
          <p:grpSpPr bwMode="auto">
            <a:xfrm>
              <a:off x="972" y="1135"/>
              <a:ext cx="98" cy="471"/>
              <a:chOff x="795" y="567"/>
              <a:chExt cx="114" cy="513"/>
            </a:xfrm>
          </p:grpSpPr>
          <p:sp>
            <p:nvSpPr>
              <p:cNvPr id="58411" name="Line 65"/>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2" name="Rectangle 66"/>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8388" name="Group 67"/>
            <p:cNvGrpSpPr>
              <a:grpSpLocks/>
            </p:cNvGrpSpPr>
            <p:nvPr/>
          </p:nvGrpSpPr>
          <p:grpSpPr bwMode="auto">
            <a:xfrm>
              <a:off x="925" y="762"/>
              <a:ext cx="286" cy="438"/>
              <a:chOff x="651" y="1308"/>
              <a:chExt cx="332" cy="477"/>
            </a:xfrm>
          </p:grpSpPr>
          <p:grpSp>
            <p:nvGrpSpPr>
              <p:cNvPr id="58405" name="Group 68"/>
              <p:cNvGrpSpPr>
                <a:grpSpLocks/>
              </p:cNvGrpSpPr>
              <p:nvPr/>
            </p:nvGrpSpPr>
            <p:grpSpPr bwMode="auto">
              <a:xfrm>
                <a:off x="871" y="1308"/>
                <a:ext cx="112" cy="420"/>
                <a:chOff x="2863" y="624"/>
                <a:chExt cx="112" cy="420"/>
              </a:xfrm>
            </p:grpSpPr>
            <p:sp>
              <p:nvSpPr>
                <p:cNvPr id="58408" name="Line 69"/>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9" name="Line 70"/>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0" name="Line 71"/>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06" name="Oval 72"/>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7" name="Line 73"/>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389" name="Oval 74"/>
            <p:cNvSpPr>
              <a:spLocks noChangeArrowheads="1"/>
            </p:cNvSpPr>
            <p:nvPr/>
          </p:nvSpPr>
          <p:spPr bwMode="auto">
            <a:xfrm>
              <a:off x="1185" y="503"/>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90" name="Oval 75"/>
            <p:cNvSpPr>
              <a:spLocks noChangeArrowheads="1"/>
            </p:cNvSpPr>
            <p:nvPr/>
          </p:nvSpPr>
          <p:spPr bwMode="auto">
            <a:xfrm>
              <a:off x="1172" y="1580"/>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7724" name="Rectangle 76"/>
            <p:cNvSpPr>
              <a:spLocks noChangeArrowheads="1"/>
            </p:cNvSpPr>
            <p:nvPr/>
          </p:nvSpPr>
          <p:spPr bwMode="auto">
            <a:xfrm>
              <a:off x="1103" y="821"/>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7725" name="Text Box 77"/>
            <p:cNvSpPr txBox="1">
              <a:spLocks noChangeArrowheads="1"/>
            </p:cNvSpPr>
            <p:nvPr/>
          </p:nvSpPr>
          <p:spPr bwMode="auto">
            <a:xfrm>
              <a:off x="1007" y="245"/>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7726" name="Text Box 78"/>
            <p:cNvSpPr txBox="1">
              <a:spLocks noChangeArrowheads="1"/>
            </p:cNvSpPr>
            <p:nvPr/>
          </p:nvSpPr>
          <p:spPr bwMode="auto">
            <a:xfrm>
              <a:off x="1055" y="1205"/>
              <a:ext cx="432"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7727" name="Text Box 79"/>
            <p:cNvSpPr txBox="1">
              <a:spLocks noChangeArrowheads="1"/>
            </p:cNvSpPr>
            <p:nvPr/>
          </p:nvSpPr>
          <p:spPr bwMode="auto">
            <a:xfrm>
              <a:off x="431" y="1253"/>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7728" name="Rectangle 80"/>
            <p:cNvSpPr>
              <a:spLocks noChangeArrowheads="1"/>
            </p:cNvSpPr>
            <p:nvPr/>
          </p:nvSpPr>
          <p:spPr bwMode="auto">
            <a:xfrm>
              <a:off x="464" y="773"/>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7729" name="Text Box 81"/>
            <p:cNvSpPr txBox="1">
              <a:spLocks noChangeArrowheads="1"/>
            </p:cNvSpPr>
            <p:nvPr/>
          </p:nvSpPr>
          <p:spPr bwMode="auto">
            <a:xfrm>
              <a:off x="1007" y="1589"/>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58397" name="Text Box 82"/>
            <p:cNvSpPr txBox="1">
              <a:spLocks noChangeArrowheads="1"/>
            </p:cNvSpPr>
            <p:nvPr/>
          </p:nvSpPr>
          <p:spPr bwMode="auto">
            <a:xfrm>
              <a:off x="1325" y="28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7731" name="Text Box 83"/>
            <p:cNvSpPr txBox="1">
              <a:spLocks noChangeArrowheads="1"/>
            </p:cNvSpPr>
            <p:nvPr/>
          </p:nvSpPr>
          <p:spPr bwMode="auto">
            <a:xfrm>
              <a:off x="1565" y="1344"/>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8/3</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58399" name="Line 84"/>
            <p:cNvSpPr>
              <a:spLocks noChangeShapeType="1"/>
            </p:cNvSpPr>
            <p:nvPr/>
          </p:nvSpPr>
          <p:spPr bwMode="auto">
            <a:xfrm>
              <a:off x="1569" y="1242"/>
              <a:ext cx="0" cy="3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0" name="Line 85"/>
            <p:cNvSpPr>
              <a:spLocks noChangeShapeType="1"/>
            </p:cNvSpPr>
            <p:nvPr/>
          </p:nvSpPr>
          <p:spPr bwMode="auto">
            <a:xfrm>
              <a:off x="1573" y="542"/>
              <a:ext cx="0" cy="4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1" name="Line 86"/>
            <p:cNvSpPr>
              <a:spLocks noChangeShapeType="1"/>
            </p:cNvSpPr>
            <p:nvPr/>
          </p:nvSpPr>
          <p:spPr bwMode="auto">
            <a:xfrm flipV="1">
              <a:off x="1419" y="529"/>
              <a:ext cx="150" cy="4"/>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402" name="Group 87"/>
            <p:cNvGrpSpPr>
              <a:grpSpLocks/>
            </p:cNvGrpSpPr>
            <p:nvPr/>
          </p:nvGrpSpPr>
          <p:grpSpPr bwMode="auto">
            <a:xfrm>
              <a:off x="1519" y="890"/>
              <a:ext cx="98" cy="471"/>
              <a:chOff x="795" y="567"/>
              <a:chExt cx="114" cy="513"/>
            </a:xfrm>
          </p:grpSpPr>
          <p:sp>
            <p:nvSpPr>
              <p:cNvPr id="58403" name="Line 88"/>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4" name="Rectangle 89"/>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Tree>
    <p:extLst>
      <p:ext uri="{BB962C8B-B14F-4D97-AF65-F5344CB8AC3E}">
        <p14:creationId xmlns:p14="http://schemas.microsoft.com/office/powerpoint/2010/main" val="1581212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67690">
                                            <p:txEl>
                                              <p:pRg st="0" end="0"/>
                                            </p:txEl>
                                          </p:spTgt>
                                        </p:tgtEl>
                                        <p:attrNameLst>
                                          <p:attrName>style.visibility</p:attrName>
                                        </p:attrNameLst>
                                      </p:cBhvr>
                                      <p:to>
                                        <p:strVal val="visible"/>
                                      </p:to>
                                    </p:set>
                                    <p:animEffect transition="in" filter="wipe(left)">
                                      <p:cBhvr>
                                        <p:cTn id="13" dur="500"/>
                                        <p:tgtEl>
                                          <p:spTgt spid="667690">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67690">
                                            <p:txEl>
                                              <p:pRg st="1" end="1"/>
                                            </p:txEl>
                                          </p:spTgt>
                                        </p:tgtEl>
                                        <p:attrNameLst>
                                          <p:attrName>style.visibility</p:attrName>
                                        </p:attrNameLst>
                                      </p:cBhvr>
                                      <p:to>
                                        <p:strVal val="visible"/>
                                      </p:to>
                                    </p:set>
                                    <p:animEffect transition="in" filter="wipe(left)">
                                      <p:cBhvr>
                                        <p:cTn id="18" dur="500"/>
                                        <p:tgtEl>
                                          <p:spTgt spid="667690">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 calcmode="lin" valueType="num">
                                      <p:cBhvr>
                                        <p:cTn id="25" dur="500" fill="hold"/>
                                        <p:tgtEl>
                                          <p:spTgt spid="2"/>
                                        </p:tgtEl>
                                        <p:attrNameLst>
                                          <p:attrName>ppt_x</p:attrName>
                                        </p:attrNameLst>
                                      </p:cBhvr>
                                      <p:tavLst>
                                        <p:tav tm="0">
                                          <p:val>
                                            <p:fltVal val="0.5"/>
                                          </p:val>
                                        </p:tav>
                                        <p:tav tm="100000">
                                          <p:val>
                                            <p:strVal val="#ppt_x"/>
                                          </p:val>
                                        </p:tav>
                                      </p:tavLst>
                                    </p:anim>
                                    <p:anim calcmode="lin" valueType="num">
                                      <p:cBhvr>
                                        <p:cTn id="26" dur="5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667691"/>
                                        </p:tgtEl>
                                        <p:attrNameLst>
                                          <p:attrName>style.visibility</p:attrName>
                                        </p:attrNameLst>
                                      </p:cBhvr>
                                      <p:to>
                                        <p:strVal val="visible"/>
                                      </p:to>
                                    </p:set>
                                    <p:animEffect transition="in" filter="wipe(left)">
                                      <p:cBhvr>
                                        <p:cTn id="31" dur="500"/>
                                        <p:tgtEl>
                                          <p:spTgt spid="66769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667692"/>
                                        </p:tgtEl>
                                        <p:attrNameLst>
                                          <p:attrName>style.visibility</p:attrName>
                                        </p:attrNameLst>
                                      </p:cBhvr>
                                      <p:to>
                                        <p:strVal val="visible"/>
                                      </p:to>
                                    </p:set>
                                    <p:animEffect transition="in" filter="wipe(left)">
                                      <p:cBhvr>
                                        <p:cTn id="36" dur="500"/>
                                        <p:tgtEl>
                                          <p:spTgt spid="667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90"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251EB595-9B46-4EFC-83D8-53DBAB1A9695}"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54</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8674" name="Text Box 2"/>
          <p:cNvSpPr txBox="1">
            <a:spLocks noChangeArrowheads="1"/>
          </p:cNvSpPr>
          <p:nvPr/>
        </p:nvSpPr>
        <p:spPr bwMode="auto">
          <a:xfrm>
            <a:off x="381000" y="3692525"/>
            <a:ext cx="8153400" cy="457200"/>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在图</a:t>
            </a: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(f)</a:t>
            </a:r>
            <a:r>
              <a:rPr lang="zh-CN" altLang="en-US" sz="2400">
                <a:latin typeface="Times New Roman" panose="02020603050405020304" pitchFamily="18" charset="0"/>
                <a:ea typeface="华文中宋" panose="02010600040101010101" pitchFamily="2" charset="-122"/>
                <a:cs typeface="Times New Roman" panose="02020603050405020304" pitchFamily="18" charset="0"/>
              </a:rPr>
              <a:t>所示的电路中用分流公式计算待求电流</a:t>
            </a:r>
            <a:endParaRPr kumimoji="1" lang="zh-CN" altLang="en-US"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668675" name="Object 3"/>
          <p:cNvGraphicFramePr>
            <a:graphicFrameLocks noChangeAspect="1"/>
          </p:cNvGraphicFramePr>
          <p:nvPr>
            <p:extLst>
              <p:ext uri="{D42A27DB-BD31-4B8C-83A1-F6EECF244321}">
                <p14:modId xmlns:p14="http://schemas.microsoft.com/office/powerpoint/2010/main" val="1751346866"/>
              </p:ext>
            </p:extLst>
          </p:nvPr>
        </p:nvGraphicFramePr>
        <p:xfrm>
          <a:off x="2533650" y="4329113"/>
          <a:ext cx="3171825" cy="1692275"/>
        </p:xfrm>
        <a:graphic>
          <a:graphicData uri="http://schemas.openxmlformats.org/presentationml/2006/ole">
            <mc:AlternateContent xmlns:mc="http://schemas.openxmlformats.org/markup-compatibility/2006">
              <mc:Choice xmlns:v="urn:schemas-microsoft-com:vml" Requires="v">
                <p:oleObj spid="_x0000_s98314" name="Equation" r:id="rId3" imgW="1422400" imgH="762000" progId="Equation.DSMT4">
                  <p:embed/>
                </p:oleObj>
              </mc:Choice>
              <mc:Fallback>
                <p:oleObj name="Equation" r:id="rId3" imgW="1422400" imgH="762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650" y="4329113"/>
                        <a:ext cx="3171825"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
          <p:cNvGrpSpPr>
            <a:grpSpLocks/>
          </p:cNvGrpSpPr>
          <p:nvPr/>
        </p:nvGrpSpPr>
        <p:grpSpPr bwMode="auto">
          <a:xfrm>
            <a:off x="5508625" y="515938"/>
            <a:ext cx="2667000" cy="2927350"/>
            <a:chOff x="3552" y="144"/>
            <a:chExt cx="1680" cy="1844"/>
          </a:xfrm>
        </p:grpSpPr>
        <p:grpSp>
          <p:nvGrpSpPr>
            <p:cNvPr id="59444" name="Group 5"/>
            <p:cNvGrpSpPr>
              <a:grpSpLocks/>
            </p:cNvGrpSpPr>
            <p:nvPr/>
          </p:nvGrpSpPr>
          <p:grpSpPr bwMode="auto">
            <a:xfrm>
              <a:off x="3552" y="144"/>
              <a:ext cx="1680" cy="1680"/>
              <a:chOff x="3408" y="240"/>
              <a:chExt cx="1680" cy="1680"/>
            </a:xfrm>
          </p:grpSpPr>
          <p:sp>
            <p:nvSpPr>
              <p:cNvPr id="668678" name="Text Box 6"/>
              <p:cNvSpPr txBox="1">
                <a:spLocks noChangeArrowheads="1"/>
              </p:cNvSpPr>
              <p:nvPr/>
            </p:nvSpPr>
            <p:spPr bwMode="auto">
              <a:xfrm>
                <a:off x="3936" y="768"/>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endPar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8679" name="Text Box 7"/>
              <p:cNvSpPr txBox="1">
                <a:spLocks noChangeArrowheads="1"/>
              </p:cNvSpPr>
              <p:nvPr/>
            </p:nvSpPr>
            <p:spPr bwMode="auto">
              <a:xfrm>
                <a:off x="3504" y="1200"/>
                <a:ext cx="52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SC</a:t>
                </a:r>
                <a:endParaRPr lang="en-US" altLang="zh-CN" sz="2400"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grpSp>
            <p:nvGrpSpPr>
              <p:cNvPr id="59448" name="Group 8"/>
              <p:cNvGrpSpPr>
                <a:grpSpLocks/>
              </p:cNvGrpSpPr>
              <p:nvPr/>
            </p:nvGrpSpPr>
            <p:grpSpPr bwMode="auto">
              <a:xfrm>
                <a:off x="3408" y="528"/>
                <a:ext cx="1073" cy="1135"/>
                <a:chOff x="2052" y="2030"/>
                <a:chExt cx="2684" cy="2838"/>
              </a:xfrm>
            </p:grpSpPr>
            <p:sp>
              <p:nvSpPr>
                <p:cNvPr id="59454" name="Line 9"/>
                <p:cNvSpPr>
                  <a:spLocks noChangeShapeType="1"/>
                </p:cNvSpPr>
                <p:nvPr/>
              </p:nvSpPr>
              <p:spPr bwMode="auto">
                <a:xfrm flipH="1">
                  <a:off x="3317" y="3845"/>
                  <a:ext cx="11" cy="9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5" name="Line 10"/>
                <p:cNvSpPr>
                  <a:spLocks noChangeShapeType="1"/>
                </p:cNvSpPr>
                <p:nvPr/>
              </p:nvSpPr>
              <p:spPr bwMode="auto">
                <a:xfrm>
                  <a:off x="3339" y="2096"/>
                  <a:ext cx="102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6" name="Line 11"/>
                <p:cNvSpPr>
                  <a:spLocks noChangeShapeType="1"/>
                </p:cNvSpPr>
                <p:nvPr/>
              </p:nvSpPr>
              <p:spPr bwMode="auto">
                <a:xfrm>
                  <a:off x="2327" y="4802"/>
                  <a:ext cx="227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7" name="Line 12"/>
                <p:cNvSpPr>
                  <a:spLocks noChangeShapeType="1"/>
                </p:cNvSpPr>
                <p:nvPr/>
              </p:nvSpPr>
              <p:spPr bwMode="auto">
                <a:xfrm>
                  <a:off x="4615" y="3867"/>
                  <a:ext cx="11" cy="9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8" name="Line 13"/>
                <p:cNvSpPr>
                  <a:spLocks noChangeShapeType="1"/>
                </p:cNvSpPr>
                <p:nvPr/>
              </p:nvSpPr>
              <p:spPr bwMode="auto">
                <a:xfrm>
                  <a:off x="3328" y="2074"/>
                  <a:ext cx="0" cy="108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59" name="Group 14"/>
                <p:cNvGrpSpPr>
                  <a:grpSpLocks/>
                </p:cNvGrpSpPr>
                <p:nvPr/>
              </p:nvGrpSpPr>
              <p:grpSpPr bwMode="auto">
                <a:xfrm>
                  <a:off x="3207" y="2921"/>
                  <a:ext cx="245" cy="1179"/>
                  <a:chOff x="795" y="567"/>
                  <a:chExt cx="114" cy="513"/>
                </a:xfrm>
              </p:grpSpPr>
              <p:sp>
                <p:nvSpPr>
                  <p:cNvPr id="59478" name="Line 15"/>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9" name="Rectangle 16"/>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60" name="Line 17"/>
                <p:cNvSpPr>
                  <a:spLocks noChangeShapeType="1"/>
                </p:cNvSpPr>
                <p:nvPr/>
              </p:nvSpPr>
              <p:spPr bwMode="auto">
                <a:xfrm>
                  <a:off x="4626" y="2118"/>
                  <a:ext cx="0" cy="10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61" name="Line 18"/>
                <p:cNvSpPr>
                  <a:spLocks noChangeShapeType="1"/>
                </p:cNvSpPr>
                <p:nvPr/>
              </p:nvSpPr>
              <p:spPr bwMode="auto">
                <a:xfrm>
                  <a:off x="2327" y="2096"/>
                  <a:ext cx="229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62" name="Line 19"/>
                <p:cNvSpPr>
                  <a:spLocks noChangeShapeType="1"/>
                </p:cNvSpPr>
                <p:nvPr/>
              </p:nvSpPr>
              <p:spPr bwMode="auto">
                <a:xfrm flipV="1">
                  <a:off x="4241" y="2085"/>
                  <a:ext cx="374" cy="11"/>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63" name="Group 20"/>
                <p:cNvGrpSpPr>
                  <a:grpSpLocks/>
                </p:cNvGrpSpPr>
                <p:nvPr/>
              </p:nvGrpSpPr>
              <p:grpSpPr bwMode="auto">
                <a:xfrm>
                  <a:off x="4491" y="2987"/>
                  <a:ext cx="245" cy="1179"/>
                  <a:chOff x="795" y="567"/>
                  <a:chExt cx="114" cy="513"/>
                </a:xfrm>
              </p:grpSpPr>
              <p:sp>
                <p:nvSpPr>
                  <p:cNvPr id="59476" name="Line 21"/>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7" name="Rectangle 22"/>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64" name="Oval 23"/>
                <p:cNvSpPr>
                  <a:spLocks noChangeArrowheads="1"/>
                </p:cNvSpPr>
                <p:nvPr/>
              </p:nvSpPr>
              <p:spPr bwMode="auto">
                <a:xfrm>
                  <a:off x="3823" y="2030"/>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65" name="Oval 24"/>
                <p:cNvSpPr>
                  <a:spLocks noChangeArrowheads="1"/>
                </p:cNvSpPr>
                <p:nvPr/>
              </p:nvSpPr>
              <p:spPr bwMode="auto">
                <a:xfrm>
                  <a:off x="3889" y="4725"/>
                  <a:ext cx="154" cy="14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66" name="Group 25"/>
                <p:cNvGrpSpPr>
                  <a:grpSpLocks/>
                </p:cNvGrpSpPr>
                <p:nvPr/>
              </p:nvGrpSpPr>
              <p:grpSpPr bwMode="auto">
                <a:xfrm>
                  <a:off x="2052" y="2668"/>
                  <a:ext cx="551" cy="1650"/>
                  <a:chOff x="3591" y="567"/>
                  <a:chExt cx="301" cy="907"/>
                </a:xfrm>
              </p:grpSpPr>
              <p:sp>
                <p:nvSpPr>
                  <p:cNvPr id="59469" name="Line 26"/>
                  <p:cNvSpPr>
                    <a:spLocks noChangeShapeType="1"/>
                  </p:cNvSpPr>
                  <p:nvPr/>
                </p:nvSpPr>
                <p:spPr bwMode="auto">
                  <a:xfrm>
                    <a:off x="3742" y="567"/>
                    <a:ext cx="0" cy="9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0" name="Oval 27"/>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1" name="Line 28"/>
                  <p:cNvSpPr>
                    <a:spLocks noChangeShapeType="1"/>
                  </p:cNvSpPr>
                  <p:nvPr/>
                </p:nvSpPr>
                <p:spPr bwMode="auto">
                  <a:xfrm>
                    <a:off x="3591" y="1021"/>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72" name="Group 29"/>
                  <p:cNvGrpSpPr>
                    <a:grpSpLocks/>
                  </p:cNvGrpSpPr>
                  <p:nvPr/>
                </p:nvGrpSpPr>
                <p:grpSpPr bwMode="auto">
                  <a:xfrm>
                    <a:off x="3715" y="591"/>
                    <a:ext cx="56" cy="222"/>
                    <a:chOff x="4507" y="645"/>
                    <a:chExt cx="56" cy="222"/>
                  </a:xfrm>
                </p:grpSpPr>
                <p:sp>
                  <p:nvSpPr>
                    <p:cNvPr id="59473" name="Line 30"/>
                    <p:cNvSpPr>
                      <a:spLocks noChangeShapeType="1"/>
                    </p:cNvSpPr>
                    <p:nvPr/>
                  </p:nvSpPr>
                  <p:spPr bwMode="auto">
                    <a:xfrm flipH="1">
                      <a:off x="4507" y="646"/>
                      <a:ext cx="24" cy="10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4" name="Line 31"/>
                    <p:cNvSpPr>
                      <a:spLocks noChangeShapeType="1"/>
                    </p:cNvSpPr>
                    <p:nvPr/>
                  </p:nvSpPr>
                  <p:spPr bwMode="auto">
                    <a:xfrm>
                      <a:off x="4533" y="645"/>
                      <a:ext cx="30" cy="10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75" name="Line 32"/>
                    <p:cNvSpPr>
                      <a:spLocks noChangeShapeType="1"/>
                    </p:cNvSpPr>
                    <p:nvPr/>
                  </p:nvSpPr>
                  <p:spPr bwMode="auto">
                    <a:xfrm>
                      <a:off x="4533" y="645"/>
                      <a:ext cx="0" cy="22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9467" name="Line 33"/>
                <p:cNvSpPr>
                  <a:spLocks noChangeShapeType="1"/>
                </p:cNvSpPr>
                <p:nvPr/>
              </p:nvSpPr>
              <p:spPr bwMode="auto">
                <a:xfrm flipH="1">
                  <a:off x="2327" y="2096"/>
                  <a:ext cx="11" cy="71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68" name="Line 34"/>
                <p:cNvSpPr>
                  <a:spLocks noChangeShapeType="1"/>
                </p:cNvSpPr>
                <p:nvPr/>
              </p:nvSpPr>
              <p:spPr bwMode="auto">
                <a:xfrm>
                  <a:off x="2327" y="4142"/>
                  <a:ext cx="0" cy="63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49" name="Text Box 35"/>
              <p:cNvSpPr txBox="1">
                <a:spLocks noChangeArrowheads="1"/>
              </p:cNvSpPr>
              <p:nvPr/>
            </p:nvSpPr>
            <p:spPr bwMode="auto">
              <a:xfrm>
                <a:off x="4224" y="2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8708" name="Text Box 36"/>
              <p:cNvSpPr txBox="1">
                <a:spLocks noChangeArrowheads="1"/>
              </p:cNvSpPr>
              <p:nvPr/>
            </p:nvSpPr>
            <p:spPr bwMode="auto">
              <a:xfrm>
                <a:off x="3888" y="240"/>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8709" name="Text Box 37"/>
              <p:cNvSpPr txBox="1">
                <a:spLocks noChangeArrowheads="1"/>
              </p:cNvSpPr>
              <p:nvPr/>
            </p:nvSpPr>
            <p:spPr bwMode="auto">
              <a:xfrm>
                <a:off x="4032" y="1632"/>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8710" name="Text Box 38"/>
              <p:cNvSpPr txBox="1">
                <a:spLocks noChangeArrowheads="1"/>
              </p:cNvSpPr>
              <p:nvPr/>
            </p:nvSpPr>
            <p:spPr bwMode="auto">
              <a:xfrm>
                <a:off x="3888" y="1248"/>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4/3</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8711" name="Text Box 39"/>
              <p:cNvSpPr txBox="1">
                <a:spLocks noChangeArrowheads="1"/>
              </p:cNvSpPr>
              <p:nvPr/>
            </p:nvSpPr>
            <p:spPr bwMode="auto">
              <a:xfrm>
                <a:off x="4464" y="1296"/>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8/3</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grpSp>
        <p:sp>
          <p:nvSpPr>
            <p:cNvPr id="668712" name="Text Box 40"/>
            <p:cNvSpPr txBox="1">
              <a:spLocks noChangeArrowheads="1"/>
            </p:cNvSpPr>
            <p:nvPr/>
          </p:nvSpPr>
          <p:spPr bwMode="auto">
            <a:xfrm>
              <a:off x="3886" y="1697"/>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(f)</a:t>
              </a:r>
            </a:p>
          </p:txBody>
        </p:sp>
      </p:grpSp>
      <p:grpSp>
        <p:nvGrpSpPr>
          <p:cNvPr id="9" name="Group 41"/>
          <p:cNvGrpSpPr>
            <a:grpSpLocks/>
          </p:cNvGrpSpPr>
          <p:nvPr/>
        </p:nvGrpSpPr>
        <p:grpSpPr bwMode="auto">
          <a:xfrm>
            <a:off x="1476375" y="549275"/>
            <a:ext cx="3019425" cy="2909888"/>
            <a:chOff x="287" y="245"/>
            <a:chExt cx="1902" cy="1833"/>
          </a:xfrm>
        </p:grpSpPr>
        <p:sp>
          <p:nvSpPr>
            <p:cNvPr id="668714" name="Text Box 42"/>
            <p:cNvSpPr txBox="1">
              <a:spLocks noChangeArrowheads="1"/>
            </p:cNvSpPr>
            <p:nvPr/>
          </p:nvSpPr>
          <p:spPr bwMode="auto">
            <a:xfrm>
              <a:off x="650" y="1787"/>
              <a:ext cx="672" cy="291"/>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a:latin typeface="Times New Roman" panose="02020603050405020304" pitchFamily="18" charset="0"/>
                  <a:ea typeface="华文中宋" panose="02010600040101010101" pitchFamily="2" charset="-122"/>
                  <a:cs typeface="Times New Roman" panose="02020603050405020304" pitchFamily="18" charset="0"/>
                  <a:sym typeface="Wingdings" pitchFamily="2" charset="2"/>
                </a:rPr>
                <a:t>图</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p>
          </p:txBody>
        </p:sp>
        <p:grpSp>
          <p:nvGrpSpPr>
            <p:cNvPr id="59401" name="Group 43"/>
            <p:cNvGrpSpPr>
              <a:grpSpLocks/>
            </p:cNvGrpSpPr>
            <p:nvPr/>
          </p:nvGrpSpPr>
          <p:grpSpPr bwMode="auto">
            <a:xfrm>
              <a:off x="287" y="716"/>
              <a:ext cx="286" cy="437"/>
              <a:chOff x="651" y="1308"/>
              <a:chExt cx="332" cy="477"/>
            </a:xfrm>
          </p:grpSpPr>
          <p:grpSp>
            <p:nvGrpSpPr>
              <p:cNvPr id="59438" name="Group 44"/>
              <p:cNvGrpSpPr>
                <a:grpSpLocks/>
              </p:cNvGrpSpPr>
              <p:nvPr/>
            </p:nvGrpSpPr>
            <p:grpSpPr bwMode="auto">
              <a:xfrm>
                <a:off x="871" y="1308"/>
                <a:ext cx="112" cy="420"/>
                <a:chOff x="2863" y="624"/>
                <a:chExt cx="112" cy="420"/>
              </a:xfrm>
            </p:grpSpPr>
            <p:sp>
              <p:nvSpPr>
                <p:cNvPr id="59441" name="Line 45"/>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2" name="Line 46"/>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3" name="Line 47"/>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39" name="Oval 48"/>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0" name="Line 49"/>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02" name="Line 50"/>
            <p:cNvSpPr>
              <a:spLocks noChangeShapeType="1"/>
            </p:cNvSpPr>
            <p:nvPr/>
          </p:nvSpPr>
          <p:spPr bwMode="auto">
            <a:xfrm>
              <a:off x="384" y="529"/>
              <a:ext cx="4" cy="22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3" name="Line 51"/>
            <p:cNvSpPr>
              <a:spLocks noChangeShapeType="1"/>
            </p:cNvSpPr>
            <p:nvPr/>
          </p:nvSpPr>
          <p:spPr bwMode="auto">
            <a:xfrm flipV="1">
              <a:off x="384" y="529"/>
              <a:ext cx="542" cy="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4" name="Line 52"/>
            <p:cNvSpPr>
              <a:spLocks noChangeShapeType="1"/>
            </p:cNvSpPr>
            <p:nvPr/>
          </p:nvSpPr>
          <p:spPr bwMode="auto">
            <a:xfrm>
              <a:off x="388" y="1139"/>
              <a:ext cx="0" cy="20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5" name="Line 53"/>
            <p:cNvSpPr>
              <a:spLocks noChangeShapeType="1"/>
            </p:cNvSpPr>
            <p:nvPr/>
          </p:nvSpPr>
          <p:spPr bwMode="auto">
            <a:xfrm flipH="1">
              <a:off x="1018" y="1232"/>
              <a:ext cx="4" cy="39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6" name="Line 54"/>
            <p:cNvSpPr>
              <a:spLocks noChangeShapeType="1"/>
            </p:cNvSpPr>
            <p:nvPr/>
          </p:nvSpPr>
          <p:spPr bwMode="auto">
            <a:xfrm>
              <a:off x="767" y="533"/>
              <a:ext cx="8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7" name="Line 55"/>
            <p:cNvSpPr>
              <a:spLocks noChangeShapeType="1"/>
            </p:cNvSpPr>
            <p:nvPr/>
          </p:nvSpPr>
          <p:spPr bwMode="auto">
            <a:xfrm flipV="1">
              <a:off x="388" y="1589"/>
              <a:ext cx="1195" cy="3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8" name="Line 56"/>
            <p:cNvSpPr>
              <a:spLocks noChangeShapeType="1"/>
            </p:cNvSpPr>
            <p:nvPr/>
          </p:nvSpPr>
          <p:spPr bwMode="auto">
            <a:xfrm>
              <a:off x="1022" y="525"/>
              <a:ext cx="0" cy="43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09" name="Group 57"/>
            <p:cNvGrpSpPr>
              <a:grpSpLocks/>
            </p:cNvGrpSpPr>
            <p:nvPr/>
          </p:nvGrpSpPr>
          <p:grpSpPr bwMode="auto">
            <a:xfrm>
              <a:off x="340" y="1145"/>
              <a:ext cx="98" cy="471"/>
              <a:chOff x="795" y="567"/>
              <a:chExt cx="114" cy="513"/>
            </a:xfrm>
          </p:grpSpPr>
          <p:sp>
            <p:nvSpPr>
              <p:cNvPr id="59436" name="Line 58"/>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7" name="Rectangle 59"/>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9410" name="Group 60"/>
            <p:cNvGrpSpPr>
              <a:grpSpLocks/>
            </p:cNvGrpSpPr>
            <p:nvPr/>
          </p:nvGrpSpPr>
          <p:grpSpPr bwMode="auto">
            <a:xfrm>
              <a:off x="972" y="1135"/>
              <a:ext cx="98" cy="471"/>
              <a:chOff x="795" y="567"/>
              <a:chExt cx="114" cy="513"/>
            </a:xfrm>
          </p:grpSpPr>
          <p:sp>
            <p:nvSpPr>
              <p:cNvPr id="59434" name="Line 61"/>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5" name="Rectangle 62"/>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9411" name="Group 63"/>
            <p:cNvGrpSpPr>
              <a:grpSpLocks/>
            </p:cNvGrpSpPr>
            <p:nvPr/>
          </p:nvGrpSpPr>
          <p:grpSpPr bwMode="auto">
            <a:xfrm>
              <a:off x="925" y="762"/>
              <a:ext cx="286" cy="438"/>
              <a:chOff x="651" y="1308"/>
              <a:chExt cx="332" cy="477"/>
            </a:xfrm>
          </p:grpSpPr>
          <p:grpSp>
            <p:nvGrpSpPr>
              <p:cNvPr id="59428" name="Group 64"/>
              <p:cNvGrpSpPr>
                <a:grpSpLocks/>
              </p:cNvGrpSpPr>
              <p:nvPr/>
            </p:nvGrpSpPr>
            <p:grpSpPr bwMode="auto">
              <a:xfrm>
                <a:off x="871" y="1308"/>
                <a:ext cx="112" cy="420"/>
                <a:chOff x="2863" y="624"/>
                <a:chExt cx="112" cy="420"/>
              </a:xfrm>
            </p:grpSpPr>
            <p:sp>
              <p:nvSpPr>
                <p:cNvPr id="59431" name="Line 65"/>
                <p:cNvSpPr>
                  <a:spLocks noChangeShapeType="1"/>
                </p:cNvSpPr>
                <p:nvPr/>
              </p:nvSpPr>
              <p:spPr bwMode="auto">
                <a:xfrm>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2" name="Line 66"/>
                <p:cNvSpPr>
                  <a:spLocks noChangeShapeType="1"/>
                </p:cNvSpPr>
                <p:nvPr/>
              </p:nvSpPr>
              <p:spPr bwMode="auto">
                <a:xfrm>
                  <a:off x="2863" y="1044"/>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3" name="Line 67"/>
                <p:cNvSpPr>
                  <a:spLocks noChangeShapeType="1"/>
                </p:cNvSpPr>
                <p:nvPr/>
              </p:nvSpPr>
              <p:spPr bwMode="auto">
                <a:xfrm rot="5400000">
                  <a:off x="2863" y="680"/>
                  <a:ext cx="11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29" name="Oval 68"/>
              <p:cNvSpPr>
                <a:spLocks noChangeArrowheads="1"/>
              </p:cNvSpPr>
              <p:nvPr/>
            </p:nvSpPr>
            <p:spPr bwMode="auto">
              <a:xfrm>
                <a:off x="651" y="1443"/>
                <a:ext cx="228" cy="228"/>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0" name="Line 69"/>
              <p:cNvSpPr>
                <a:spLocks noChangeShapeType="1"/>
              </p:cNvSpPr>
              <p:nvPr/>
            </p:nvSpPr>
            <p:spPr bwMode="auto">
              <a:xfrm>
                <a:off x="765" y="1329"/>
                <a:ext cx="0" cy="45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12" name="Oval 70"/>
            <p:cNvSpPr>
              <a:spLocks noChangeArrowheads="1"/>
            </p:cNvSpPr>
            <p:nvPr/>
          </p:nvSpPr>
          <p:spPr bwMode="auto">
            <a:xfrm>
              <a:off x="1185" y="503"/>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13" name="Oval 71"/>
            <p:cNvSpPr>
              <a:spLocks noChangeArrowheads="1"/>
            </p:cNvSpPr>
            <p:nvPr/>
          </p:nvSpPr>
          <p:spPr bwMode="auto">
            <a:xfrm>
              <a:off x="1172" y="1580"/>
              <a:ext cx="61" cy="57"/>
            </a:xfrm>
            <a:prstGeom prst="ellipse">
              <a:avLst/>
            </a:prstGeom>
            <a:solidFill>
              <a:srgbClr val="FFFFFF"/>
            </a:solidFill>
            <a:ln w="38100">
              <a:solidFill>
                <a:srgbClr val="000000"/>
              </a:solidFill>
              <a:round/>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8744" name="Rectangle 72"/>
            <p:cNvSpPr>
              <a:spLocks noChangeArrowheads="1"/>
            </p:cNvSpPr>
            <p:nvPr/>
          </p:nvSpPr>
          <p:spPr bwMode="auto">
            <a:xfrm>
              <a:off x="1103" y="821"/>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8745" name="Text Box 73"/>
            <p:cNvSpPr txBox="1">
              <a:spLocks noChangeArrowheads="1"/>
            </p:cNvSpPr>
            <p:nvPr/>
          </p:nvSpPr>
          <p:spPr bwMode="auto">
            <a:xfrm>
              <a:off x="1007" y="245"/>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668746" name="Text Box 74"/>
            <p:cNvSpPr txBox="1">
              <a:spLocks noChangeArrowheads="1"/>
            </p:cNvSpPr>
            <p:nvPr/>
          </p:nvSpPr>
          <p:spPr bwMode="auto">
            <a:xfrm>
              <a:off x="1055" y="1205"/>
              <a:ext cx="432"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8747" name="Text Box 75"/>
            <p:cNvSpPr txBox="1">
              <a:spLocks noChangeArrowheads="1"/>
            </p:cNvSpPr>
            <p:nvPr/>
          </p:nvSpPr>
          <p:spPr bwMode="auto">
            <a:xfrm>
              <a:off x="431" y="1253"/>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668748" name="Rectangle 76"/>
            <p:cNvSpPr>
              <a:spLocks noChangeArrowheads="1"/>
            </p:cNvSpPr>
            <p:nvPr/>
          </p:nvSpPr>
          <p:spPr bwMode="auto">
            <a:xfrm>
              <a:off x="464" y="773"/>
              <a:ext cx="451" cy="291"/>
            </a:xfrm>
            <a:prstGeom prst="rect">
              <a:avLst/>
            </a:prstGeom>
            <a:noFill/>
            <a:ln w="9525">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40V</a:t>
              </a:r>
            </a:p>
          </p:txBody>
        </p:sp>
        <p:sp>
          <p:nvSpPr>
            <p:cNvPr id="668749" name="Text Box 77"/>
            <p:cNvSpPr txBox="1">
              <a:spLocks noChangeArrowheads="1"/>
            </p:cNvSpPr>
            <p:nvPr/>
          </p:nvSpPr>
          <p:spPr bwMode="auto">
            <a:xfrm>
              <a:off x="1007" y="1589"/>
              <a:ext cx="288"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endPar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endParaRPr>
            </a:p>
          </p:txBody>
        </p:sp>
        <p:sp>
          <p:nvSpPr>
            <p:cNvPr id="59420" name="Text Box 78"/>
            <p:cNvSpPr txBox="1">
              <a:spLocks noChangeArrowheads="1"/>
            </p:cNvSpPr>
            <p:nvPr/>
          </p:nvSpPr>
          <p:spPr bwMode="auto">
            <a:xfrm>
              <a:off x="1325" y="28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400"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400"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68751" name="Text Box 79"/>
            <p:cNvSpPr txBox="1">
              <a:spLocks noChangeArrowheads="1"/>
            </p:cNvSpPr>
            <p:nvPr/>
          </p:nvSpPr>
          <p:spPr bwMode="auto">
            <a:xfrm>
              <a:off x="1565" y="1344"/>
              <a:ext cx="624" cy="288"/>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8/3</a:t>
              </a:r>
              <a:r>
                <a:rPr lang="en-US" altLang="zh-CN" sz="24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p>
          </p:txBody>
        </p:sp>
        <p:sp>
          <p:nvSpPr>
            <p:cNvPr id="59422" name="Line 80"/>
            <p:cNvSpPr>
              <a:spLocks noChangeShapeType="1"/>
            </p:cNvSpPr>
            <p:nvPr/>
          </p:nvSpPr>
          <p:spPr bwMode="auto">
            <a:xfrm>
              <a:off x="1569" y="1242"/>
              <a:ext cx="0" cy="3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23" name="Line 81"/>
            <p:cNvSpPr>
              <a:spLocks noChangeShapeType="1"/>
            </p:cNvSpPr>
            <p:nvPr/>
          </p:nvSpPr>
          <p:spPr bwMode="auto">
            <a:xfrm>
              <a:off x="1573" y="542"/>
              <a:ext cx="0" cy="40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24" name="Line 82"/>
            <p:cNvSpPr>
              <a:spLocks noChangeShapeType="1"/>
            </p:cNvSpPr>
            <p:nvPr/>
          </p:nvSpPr>
          <p:spPr bwMode="auto">
            <a:xfrm flipV="1">
              <a:off x="1419" y="529"/>
              <a:ext cx="150" cy="4"/>
            </a:xfrm>
            <a:prstGeom prst="line">
              <a:avLst/>
            </a:prstGeom>
            <a:noFill/>
            <a:ln w="3810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25" name="Group 83"/>
            <p:cNvGrpSpPr>
              <a:grpSpLocks/>
            </p:cNvGrpSpPr>
            <p:nvPr/>
          </p:nvGrpSpPr>
          <p:grpSpPr bwMode="auto">
            <a:xfrm>
              <a:off x="1519" y="890"/>
              <a:ext cx="98" cy="471"/>
              <a:chOff x="795" y="567"/>
              <a:chExt cx="114" cy="513"/>
            </a:xfrm>
          </p:grpSpPr>
          <p:sp>
            <p:nvSpPr>
              <p:cNvPr id="59426" name="Line 84"/>
              <p:cNvSpPr>
                <a:spLocks noChangeShapeType="1"/>
              </p:cNvSpPr>
              <p:nvPr/>
            </p:nvSpPr>
            <p:spPr bwMode="auto">
              <a:xfrm>
                <a:off x="852" y="567"/>
                <a:ext cx="0" cy="51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27" name="Rectangle 85"/>
              <p:cNvSpPr>
                <a:spLocks noChangeArrowheads="1"/>
              </p:cNvSpPr>
              <p:nvPr/>
            </p:nvSpPr>
            <p:spPr bwMode="auto">
              <a:xfrm>
                <a:off x="795" y="681"/>
                <a:ext cx="114" cy="285"/>
              </a:xfrm>
              <a:prstGeom prst="rect">
                <a:avLst/>
              </a:prstGeom>
              <a:solidFill>
                <a:srgbClr val="FFFFFF"/>
              </a:solidFill>
              <a:ln w="38100">
                <a:solidFill>
                  <a:srgbClr val="000000"/>
                </a:solidFill>
                <a:miter lim="800000"/>
                <a:headEnd/>
                <a:tailEnd/>
              </a:ln>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Tree>
    <p:extLst>
      <p:ext uri="{BB962C8B-B14F-4D97-AF65-F5344CB8AC3E}">
        <p14:creationId xmlns:p14="http://schemas.microsoft.com/office/powerpoint/2010/main" val="2045150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68674"/>
                                        </p:tgtEl>
                                        <p:attrNameLst>
                                          <p:attrName>style.visibility</p:attrName>
                                        </p:attrNameLst>
                                      </p:cBhvr>
                                      <p:to>
                                        <p:strVal val="visible"/>
                                      </p:to>
                                    </p:set>
                                    <p:animEffect transition="in" filter="wipe(left)">
                                      <p:cBhvr>
                                        <p:cTn id="16" dur="500"/>
                                        <p:tgtEl>
                                          <p:spTgt spid="66867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668675"/>
                                        </p:tgtEl>
                                        <p:attrNameLst>
                                          <p:attrName>style.visibility</p:attrName>
                                        </p:attrNameLst>
                                      </p:cBhvr>
                                      <p:to>
                                        <p:strVal val="visible"/>
                                      </p:to>
                                    </p:set>
                                    <p:animEffect transition="in" filter="wipe(left)">
                                      <p:cBhvr>
                                        <p:cTn id="21" dur="500"/>
                                        <p:tgtEl>
                                          <p:spTgt spid="66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bwMode="auto">
          <a:xfrm>
            <a:off x="395288" y="134143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b="1" smtClean="0">
                <a:latin typeface="Times New Roman" panose="02020603050405020304" pitchFamily="18" charset="0"/>
                <a:ea typeface="华文中宋" panose="02010600040101010101" pitchFamily="2" charset="-122"/>
                <a:cs typeface="Times New Roman" panose="02020603050405020304" pitchFamily="18" charset="0"/>
              </a:rPr>
              <a:t>本章作业</a:t>
            </a:r>
          </a:p>
        </p:txBody>
      </p:sp>
      <p:sp>
        <p:nvSpPr>
          <p:cNvPr id="60419" name="内容占位符 2"/>
          <p:cNvSpPr>
            <a:spLocks noGrp="1"/>
          </p:cNvSpPr>
          <p:nvPr>
            <p:ph idx="1"/>
          </p:nvPr>
        </p:nvSpPr>
        <p:spPr bwMode="auto">
          <a:xfrm>
            <a:off x="539750" y="3141663"/>
            <a:ext cx="8229600" cy="1971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4000" smtClean="0">
                <a:latin typeface="Times New Roman" panose="02020603050405020304" pitchFamily="18" charset="0"/>
                <a:ea typeface="华文中宋" panose="02010600040101010101" pitchFamily="2" charset="-122"/>
                <a:cs typeface="Times New Roman" panose="02020603050405020304" pitchFamily="18" charset="0"/>
              </a:rPr>
              <a:t>P37 </a:t>
            </a:r>
          </a:p>
          <a:p>
            <a:r>
              <a:rPr lang="en-US" altLang="zh-CN" sz="4000" smtClean="0">
                <a:latin typeface="Times New Roman" panose="02020603050405020304" pitchFamily="18" charset="0"/>
                <a:ea typeface="华文中宋" panose="02010600040101010101" pitchFamily="2" charset="-122"/>
                <a:cs typeface="Times New Roman" panose="02020603050405020304" pitchFamily="18" charset="0"/>
              </a:rPr>
              <a:t>2-1</a:t>
            </a:r>
            <a:r>
              <a:rPr lang="zh-CN" altLang="en-US" sz="4000" smtClean="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4000" smtClean="0">
                <a:latin typeface="Times New Roman" panose="02020603050405020304" pitchFamily="18" charset="0"/>
                <a:ea typeface="华文中宋" panose="02010600040101010101" pitchFamily="2" charset="-122"/>
                <a:cs typeface="Times New Roman" panose="02020603050405020304" pitchFamily="18" charset="0"/>
              </a:rPr>
              <a:t>2-2</a:t>
            </a:r>
            <a:r>
              <a:rPr lang="zh-CN" altLang="en-US" sz="4000" smtClean="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4000" smtClean="0">
                <a:latin typeface="Times New Roman" panose="02020603050405020304" pitchFamily="18" charset="0"/>
                <a:ea typeface="华文中宋" panose="02010600040101010101" pitchFamily="2" charset="-122"/>
                <a:cs typeface="Times New Roman" panose="02020603050405020304" pitchFamily="18" charset="0"/>
              </a:rPr>
              <a:t>2-3</a:t>
            </a:r>
            <a:r>
              <a:rPr lang="zh-CN" altLang="en-US" sz="4000" smtClean="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4000" smtClean="0">
                <a:latin typeface="Times New Roman" panose="02020603050405020304" pitchFamily="18" charset="0"/>
                <a:ea typeface="华文中宋" panose="02010600040101010101" pitchFamily="2" charset="-122"/>
                <a:cs typeface="Times New Roman" panose="02020603050405020304" pitchFamily="18" charset="0"/>
              </a:rPr>
              <a:t>2-6</a:t>
            </a:r>
            <a:endParaRPr lang="zh-CN" altLang="en-US" sz="40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21"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0CCF6016-209D-4876-B621-4FFEA63DEFBA}"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55</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4839367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b="1">
                <a:solidFill>
                  <a:schemeClr val="tx1"/>
                </a:solidFill>
                <a:latin typeface="Arial" panose="020B0604020202020204" pitchFamily="34" charset="0"/>
                <a:ea typeface="宋体" panose="02010600030101010101" pitchFamily="2" charset="-122"/>
              </a:defRPr>
            </a:lvl1pPr>
            <a:lvl2pPr marL="742950" indent="-285750" algn="ctr">
              <a:defRPr sz="2800" b="1">
                <a:solidFill>
                  <a:schemeClr val="tx1"/>
                </a:solidFill>
                <a:latin typeface="Arial" panose="020B0604020202020204" pitchFamily="34" charset="0"/>
                <a:ea typeface="宋体" panose="02010600030101010101" pitchFamily="2" charset="-122"/>
              </a:defRPr>
            </a:lvl2pPr>
            <a:lvl3pPr marL="1143000" indent="-228600" algn="ctr">
              <a:defRPr sz="2800" b="1">
                <a:solidFill>
                  <a:schemeClr val="tx1"/>
                </a:solidFill>
                <a:latin typeface="Arial" panose="020B0604020202020204" pitchFamily="34" charset="0"/>
                <a:ea typeface="宋体" panose="02010600030101010101" pitchFamily="2" charset="-122"/>
              </a:defRPr>
            </a:lvl3pPr>
            <a:lvl4pPr marL="1600200" indent="-228600" algn="ctr">
              <a:defRPr sz="2800" b="1">
                <a:solidFill>
                  <a:schemeClr val="tx1"/>
                </a:solidFill>
                <a:latin typeface="Arial" panose="020B0604020202020204" pitchFamily="34" charset="0"/>
                <a:ea typeface="宋体" panose="02010600030101010101" pitchFamily="2" charset="-122"/>
              </a:defRPr>
            </a:lvl4pPr>
            <a:lvl5pPr marL="2057400" indent="-228600" algn="ctr">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r"/>
            <a:fld id="{4F8185C9-DF97-449C-AC61-838089B855DA}"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algn="r"/>
              <a:t>56</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4" name="Rectangle 3"/>
          <p:cNvSpPr>
            <a:spLocks noGrp="1" noChangeArrowheads="1"/>
          </p:cNvSpPr>
          <p:nvPr>
            <p:ph type="body" idx="1"/>
          </p:nvPr>
        </p:nvSpPr>
        <p:spPr bwMode="auto">
          <a:xfrm>
            <a:off x="1295400" y="2349500"/>
            <a:ext cx="7848600" cy="1036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 typeface="Wingdings" panose="05000000000000000000" pitchFamily="2" charset="2"/>
              <a:buNone/>
            </a:pPr>
            <a:r>
              <a:rPr lang="en-US" altLang="zh-CN" sz="9600" smtClean="0">
                <a:latin typeface="Times New Roman" panose="02020603050405020304" pitchFamily="18" charset="0"/>
                <a:ea typeface="华文中宋" panose="02010600040101010101" pitchFamily="2" charset="-122"/>
                <a:cs typeface="Times New Roman" panose="02020603050405020304" pitchFamily="18" charset="0"/>
              </a:rPr>
              <a:t>The End</a:t>
            </a:r>
          </a:p>
        </p:txBody>
      </p:sp>
    </p:spTree>
    <p:extLst>
      <p:ext uri="{BB962C8B-B14F-4D97-AF65-F5344CB8AC3E}">
        <p14:creationId xmlns:p14="http://schemas.microsoft.com/office/powerpoint/2010/main" val="1483684907"/>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7343</TotalTime>
  <Words>3499</Words>
  <Application>Microsoft Office PowerPoint</Application>
  <PresentationFormat>全屏显示(4:3)</PresentationFormat>
  <Paragraphs>1087</Paragraphs>
  <Slides>56</Slides>
  <Notes>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56</vt:i4>
      </vt:variant>
    </vt:vector>
  </HeadingPairs>
  <TitlesOfParts>
    <vt:vector size="65" baseType="lpstr">
      <vt:lpstr>华文中宋</vt:lpstr>
      <vt:lpstr>宋体</vt:lpstr>
      <vt:lpstr>Arial</vt:lpstr>
      <vt:lpstr>Symbol</vt:lpstr>
      <vt:lpstr>Times New Roman</vt:lpstr>
      <vt:lpstr>Wingdings</vt:lpstr>
      <vt:lpstr>默认设计模板</vt:lpstr>
      <vt:lpstr>公式</vt:lpstr>
      <vt:lpstr>Equation</vt:lpstr>
      <vt:lpstr>第2章 电路分析方法和定理</vt:lpstr>
      <vt:lpstr>2.1 简单的电阻电路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支路电流分析法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节点电位分析法</vt:lpstr>
      <vt:lpstr>PowerPoint 演示文稿</vt:lpstr>
      <vt:lpstr>PowerPoint 演示文稿</vt:lpstr>
      <vt:lpstr>PowerPoint 演示文稿</vt:lpstr>
      <vt:lpstr>PowerPoint 演示文稿</vt:lpstr>
      <vt:lpstr>PowerPoint 演示文稿</vt:lpstr>
      <vt:lpstr>PowerPoint 演示文稿</vt:lpstr>
      <vt:lpstr>2.4   叠加原理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等效电源定理：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本章作业</vt:lpstr>
      <vt:lpstr>PowerPoint 演示文稿</vt:lpstr>
    </vt:vector>
  </TitlesOfParts>
  <Company>neu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电工基础</dc:title>
  <dc:creator>csl</dc:creator>
  <cp:lastModifiedBy>admin</cp:lastModifiedBy>
  <cp:revision>275</cp:revision>
  <cp:lastPrinted>2020-02-25T07:24:35Z</cp:lastPrinted>
  <dcterms:created xsi:type="dcterms:W3CDTF">2004-08-05T01:47:15Z</dcterms:created>
  <dcterms:modified xsi:type="dcterms:W3CDTF">2021-03-16T15:16:08Z</dcterms:modified>
</cp:coreProperties>
</file>