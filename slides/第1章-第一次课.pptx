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handoutMasterIdLst>
    <p:handoutMasterId r:id="rId60"/>
  </p:handoutMasterIdLst>
  <p:sldIdLst>
    <p:sldId id="257" r:id="rId2"/>
    <p:sldId id="330" r:id="rId3"/>
    <p:sldId id="258" r:id="rId4"/>
    <p:sldId id="536" r:id="rId5"/>
    <p:sldId id="263" r:id="rId6"/>
    <p:sldId id="511" r:id="rId7"/>
    <p:sldId id="266" r:id="rId8"/>
    <p:sldId id="267" r:id="rId9"/>
    <p:sldId id="268" r:id="rId10"/>
    <p:sldId id="269" r:id="rId11"/>
    <p:sldId id="270" r:id="rId12"/>
    <p:sldId id="271" r:id="rId13"/>
    <p:sldId id="331" r:id="rId14"/>
    <p:sldId id="334" r:id="rId15"/>
    <p:sldId id="335" r:id="rId16"/>
    <p:sldId id="336" r:id="rId17"/>
    <p:sldId id="337" r:id="rId18"/>
    <p:sldId id="340" r:id="rId19"/>
    <p:sldId id="338" r:id="rId20"/>
    <p:sldId id="341" r:id="rId21"/>
    <p:sldId id="342" r:id="rId22"/>
    <p:sldId id="516" r:id="rId23"/>
    <p:sldId id="517" r:id="rId24"/>
    <p:sldId id="518" r:id="rId25"/>
    <p:sldId id="519" r:id="rId26"/>
    <p:sldId id="520" r:id="rId27"/>
    <p:sldId id="343" r:id="rId28"/>
    <p:sldId id="344" r:id="rId29"/>
    <p:sldId id="345" r:id="rId30"/>
    <p:sldId id="521" r:id="rId31"/>
    <p:sldId id="522" r:id="rId32"/>
    <p:sldId id="523" r:id="rId33"/>
    <p:sldId id="286" r:id="rId34"/>
    <p:sldId id="512" r:id="rId35"/>
    <p:sldId id="287" r:id="rId36"/>
    <p:sldId id="288" r:id="rId37"/>
    <p:sldId id="360" r:id="rId38"/>
    <p:sldId id="289" r:id="rId39"/>
    <p:sldId id="292" r:id="rId40"/>
    <p:sldId id="513" r:id="rId41"/>
    <p:sldId id="290" r:id="rId42"/>
    <p:sldId id="291" r:id="rId43"/>
    <p:sldId id="505" r:id="rId44"/>
    <p:sldId id="507" r:id="rId45"/>
    <p:sldId id="514" r:id="rId46"/>
    <p:sldId id="533" r:id="rId47"/>
    <p:sldId id="534" r:id="rId48"/>
    <p:sldId id="524" r:id="rId49"/>
    <p:sldId id="525" r:id="rId50"/>
    <p:sldId id="526" r:id="rId51"/>
    <p:sldId id="532" r:id="rId52"/>
    <p:sldId id="527" r:id="rId53"/>
    <p:sldId id="528" r:id="rId54"/>
    <p:sldId id="529" r:id="rId55"/>
    <p:sldId id="530" r:id="rId56"/>
    <p:sldId id="531" r:id="rId57"/>
    <p:sldId id="535" r:id="rId58"/>
  </p:sldIdLst>
  <p:sldSz cx="9144000" cy="6858000" type="screen4x3"/>
  <p:notesSz cx="6735763" cy="9866313"/>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99"/>
    <a:srgbClr val="FF0000"/>
    <a:srgbClr val="CC33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6" autoAdjust="0"/>
    <p:restoredTop sz="94604" autoAdjust="0"/>
  </p:normalViewPr>
  <p:slideViewPr>
    <p:cSldViewPr>
      <p:cViewPr varScale="1">
        <p:scale>
          <a:sx n="106" d="100"/>
          <a:sy n="106" d="100"/>
        </p:scale>
        <p:origin x="-1170"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19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5" Type="http://schemas.openxmlformats.org/officeDocument/2006/relationships/image" Target="../media/image16.wmf"/><Relationship Id="rId4"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image" Target="../media/image24.emf"/><Relationship Id="rId7" Type="http://schemas.openxmlformats.org/officeDocument/2006/relationships/image" Target="../media/image28.emf"/><Relationship Id="rId2" Type="http://schemas.openxmlformats.org/officeDocument/2006/relationships/image" Target="../media/image23.emf"/><Relationship Id="rId1" Type="http://schemas.openxmlformats.org/officeDocument/2006/relationships/image" Target="../media/image22.emf"/><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emf"/><Relationship Id="rId9"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5" Type="http://schemas.openxmlformats.org/officeDocument/2006/relationships/image" Target="../media/image26.emf"/><Relationship Id="rId4"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37.emf"/><Relationship Id="rId7" Type="http://schemas.openxmlformats.org/officeDocument/2006/relationships/image" Target="../media/image41.emf"/><Relationship Id="rId2" Type="http://schemas.openxmlformats.org/officeDocument/2006/relationships/image" Target="../media/image36.emf"/><Relationship Id="rId1" Type="http://schemas.openxmlformats.org/officeDocument/2006/relationships/image" Target="../media/image35.wmf"/><Relationship Id="rId6" Type="http://schemas.openxmlformats.org/officeDocument/2006/relationships/image" Target="../media/image40.emf"/><Relationship Id="rId5" Type="http://schemas.openxmlformats.org/officeDocument/2006/relationships/image" Target="../media/image39.emf"/><Relationship Id="rId10" Type="http://schemas.openxmlformats.org/officeDocument/2006/relationships/image" Target="../media/image44.wmf"/><Relationship Id="rId4" Type="http://schemas.openxmlformats.org/officeDocument/2006/relationships/image" Target="../media/image38.emf"/><Relationship Id="rId9" Type="http://schemas.openxmlformats.org/officeDocument/2006/relationships/image" Target="../media/image4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bwMode="auto">
          <a:xfrm>
            <a:off x="0"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98307" name="Rectangle 3"/>
          <p:cNvSpPr>
            <a:spLocks noGrp="1" noChangeArrowheads="1"/>
          </p:cNvSpPr>
          <p:nvPr>
            <p:ph type="dt" sz="quarter" idx="1"/>
          </p:nvPr>
        </p:nvSpPr>
        <p:spPr bwMode="auto">
          <a:xfrm>
            <a:off x="3816932"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98308" name="Rectangle 4"/>
          <p:cNvSpPr>
            <a:spLocks noGrp="1" noChangeArrowheads="1"/>
          </p:cNvSpPr>
          <p:nvPr>
            <p:ph type="ftr" sz="quarter" idx="2"/>
          </p:nvPr>
        </p:nvSpPr>
        <p:spPr bwMode="auto">
          <a:xfrm>
            <a:off x="0"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98309" name="Rectangle 5"/>
          <p:cNvSpPr>
            <a:spLocks noGrp="1" noChangeArrowheads="1"/>
          </p:cNvSpPr>
          <p:nvPr>
            <p:ph type="sldNum" sz="quarter" idx="3"/>
          </p:nvPr>
        </p:nvSpPr>
        <p:spPr bwMode="auto">
          <a:xfrm>
            <a:off x="3816932"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0C3DDC6-6A2C-42A6-B9B7-9EA83C342821}" type="slidenum">
              <a:rPr lang="en-US" altLang="zh-CN"/>
              <a:pPr>
                <a:defRPr/>
              </a:pPr>
              <a:t>‹#›</a:t>
            </a:fld>
            <a:endParaRPr lang="en-US" altLang="zh-CN"/>
          </a:p>
        </p:txBody>
      </p:sp>
    </p:spTree>
    <p:extLst>
      <p:ext uri="{BB962C8B-B14F-4D97-AF65-F5344CB8AC3E}">
        <p14:creationId xmlns:p14="http://schemas.microsoft.com/office/powerpoint/2010/main" val="2240902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4" name="Rectangle 2"/>
          <p:cNvSpPr>
            <a:spLocks noGrp="1" noChangeArrowheads="1"/>
          </p:cNvSpPr>
          <p:nvPr>
            <p:ph type="hdr" sz="quarter"/>
          </p:nvPr>
        </p:nvSpPr>
        <p:spPr bwMode="auto">
          <a:xfrm>
            <a:off x="0"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95235" name="Rectangle 3"/>
          <p:cNvSpPr>
            <a:spLocks noGrp="1" noChangeArrowheads="1"/>
          </p:cNvSpPr>
          <p:nvPr>
            <p:ph type="dt" idx="1"/>
          </p:nvPr>
        </p:nvSpPr>
        <p:spPr bwMode="auto">
          <a:xfrm>
            <a:off x="3816932" y="0"/>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01700" y="739775"/>
            <a:ext cx="4932363" cy="37004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5237" name="Rectangle 5"/>
          <p:cNvSpPr>
            <a:spLocks noGrp="1" noChangeArrowheads="1"/>
          </p:cNvSpPr>
          <p:nvPr>
            <p:ph type="body" sz="quarter" idx="3"/>
          </p:nvPr>
        </p:nvSpPr>
        <p:spPr bwMode="auto">
          <a:xfrm>
            <a:off x="898102" y="4686499"/>
            <a:ext cx="4939560" cy="4439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95238" name="Rectangle 6"/>
          <p:cNvSpPr>
            <a:spLocks noGrp="1" noChangeArrowheads="1"/>
          </p:cNvSpPr>
          <p:nvPr>
            <p:ph type="ftr" sz="quarter" idx="4"/>
          </p:nvPr>
        </p:nvSpPr>
        <p:spPr bwMode="auto">
          <a:xfrm>
            <a:off x="0"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95239" name="Rectangle 7"/>
          <p:cNvSpPr>
            <a:spLocks noGrp="1" noChangeArrowheads="1"/>
          </p:cNvSpPr>
          <p:nvPr>
            <p:ph type="sldNum" sz="quarter" idx="5"/>
          </p:nvPr>
        </p:nvSpPr>
        <p:spPr bwMode="auto">
          <a:xfrm>
            <a:off x="3816932" y="9372997"/>
            <a:ext cx="2918831" cy="493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58D26423-D1AC-49B4-8C7E-D7B84EAF1C28}" type="slidenum">
              <a:rPr lang="en-US" altLang="zh-CN"/>
              <a:pPr>
                <a:defRPr/>
              </a:pPr>
              <a:t>‹#›</a:t>
            </a:fld>
            <a:endParaRPr lang="en-US" altLang="zh-CN"/>
          </a:p>
        </p:txBody>
      </p:sp>
    </p:spTree>
    <p:extLst>
      <p:ext uri="{BB962C8B-B14F-4D97-AF65-F5344CB8AC3E}">
        <p14:creationId xmlns:p14="http://schemas.microsoft.com/office/powerpoint/2010/main" val="3587772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75A59DD-D5FA-4964-86CB-9EFFFF803227}" type="slidenum">
              <a:rPr lang="en-US" altLang="zh-CN" sz="1200" smtClean="0"/>
              <a:pPr/>
              <a:t>7</a:t>
            </a:fld>
            <a:endParaRPr lang="en-US" altLang="zh-CN" sz="1200" smtClean="0"/>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p:spPr>
        <p:txBody>
          <a:bodyPr/>
          <a:lstStyle/>
          <a:p>
            <a:pPr eaLnBrk="1" hangingPunct="1"/>
            <a:endParaRPr lang="zh-CN" altLang="zh-CN" smtClean="0"/>
          </a:p>
        </p:txBody>
      </p:sp>
    </p:spTree>
    <p:extLst>
      <p:ext uri="{BB962C8B-B14F-4D97-AF65-F5344CB8AC3E}">
        <p14:creationId xmlns:p14="http://schemas.microsoft.com/office/powerpoint/2010/main" val="3701506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58D26423-D1AC-49B4-8C7E-D7B84EAF1C28}" type="slidenum">
              <a:rPr lang="en-US" altLang="zh-CN" smtClean="0"/>
              <a:pPr>
                <a:defRPr/>
              </a:pPr>
              <a:t>10</a:t>
            </a:fld>
            <a:endParaRPr lang="en-US" altLang="zh-CN"/>
          </a:p>
        </p:txBody>
      </p:sp>
    </p:spTree>
    <p:extLst>
      <p:ext uri="{BB962C8B-B14F-4D97-AF65-F5344CB8AC3E}">
        <p14:creationId xmlns:p14="http://schemas.microsoft.com/office/powerpoint/2010/main" val="2081411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F1B6CF40-1B3C-446E-92F6-99EB4D68062E}" type="slidenum">
              <a:rPr lang="en-US" altLang="zh-CN" sz="1200" smtClean="0"/>
              <a:pPr/>
              <a:t>24</a:t>
            </a:fld>
            <a:endParaRPr lang="en-US" altLang="zh-CN" sz="1200" smtClean="0"/>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p:spPr>
        <p:txBody>
          <a:bodyPr/>
          <a:lstStyle/>
          <a:p>
            <a:endParaRPr lang="zh-CN" altLang="zh-CN" smtClean="0"/>
          </a:p>
        </p:txBody>
      </p:sp>
    </p:spTree>
    <p:extLst>
      <p:ext uri="{BB962C8B-B14F-4D97-AF65-F5344CB8AC3E}">
        <p14:creationId xmlns:p14="http://schemas.microsoft.com/office/powerpoint/2010/main" val="756998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31C859F-3E0E-45B6-98FD-B56E7A2ECA58}" type="slidenum">
              <a:rPr lang="en-US" altLang="zh-CN" sz="1200" smtClean="0"/>
              <a:pPr/>
              <a:t>26</a:t>
            </a:fld>
            <a:endParaRPr lang="en-US" altLang="zh-CN" sz="1200" smtClean="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p:spPr>
        <p:txBody>
          <a:bodyPr/>
          <a:lstStyle/>
          <a:p>
            <a:endParaRPr lang="zh-CN" altLang="zh-CN" smtClean="0"/>
          </a:p>
        </p:txBody>
      </p:sp>
    </p:spTree>
    <p:extLst>
      <p:ext uri="{BB962C8B-B14F-4D97-AF65-F5344CB8AC3E}">
        <p14:creationId xmlns:p14="http://schemas.microsoft.com/office/powerpoint/2010/main" val="712996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a:ln/>
        </p:spPr>
      </p:sp>
      <p:sp>
        <p:nvSpPr>
          <p:cNvPr id="52227" name="备注占位符 2"/>
          <p:cNvSpPr>
            <a:spLocks noGrp="1"/>
          </p:cNvSpPr>
          <p:nvPr>
            <p:ph type="body" idx="1"/>
          </p:nvPr>
        </p:nvSpPr>
        <p:spPr>
          <a:noFill/>
        </p:spPr>
        <p:txBody>
          <a:bodyPr/>
          <a:lstStyle/>
          <a:p>
            <a:endParaRPr lang="zh-CN" altLang="en-US" smtClean="0"/>
          </a:p>
        </p:txBody>
      </p:sp>
      <p:sp>
        <p:nvSpPr>
          <p:cNvPr id="52228" name="灯片编号占位符 3"/>
          <p:cNvSpPr>
            <a:spLocks noGrp="1"/>
          </p:cNvSpPr>
          <p:nvPr>
            <p:ph type="sldNum" sz="quarter" idx="5"/>
          </p:nvPr>
        </p:nvSpPr>
        <p:spPr>
          <a:noFill/>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98EAA717-7DEE-414D-B6EF-A0CBE64ADF99}" type="slidenum">
              <a:rPr lang="en-US" altLang="zh-CN" sz="1200" smtClean="0"/>
              <a:pPr/>
              <a:t>44</a:t>
            </a:fld>
            <a:endParaRPr lang="en-US" altLang="zh-CN" sz="1200" smtClean="0"/>
          </a:p>
        </p:txBody>
      </p:sp>
    </p:spTree>
    <p:extLst>
      <p:ext uri="{BB962C8B-B14F-4D97-AF65-F5344CB8AC3E}">
        <p14:creationId xmlns:p14="http://schemas.microsoft.com/office/powerpoint/2010/main" val="1963583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EB37889-8F7E-4958-A59C-C53B8E64853A}" type="slidenum">
              <a:rPr lang="en-US" altLang="zh-CN"/>
              <a:pPr>
                <a:defRPr/>
              </a:pPr>
              <a:t>‹#›</a:t>
            </a:fld>
            <a:endParaRPr lang="en-US" altLang="zh-CN"/>
          </a:p>
        </p:txBody>
      </p:sp>
    </p:spTree>
    <p:extLst>
      <p:ext uri="{BB962C8B-B14F-4D97-AF65-F5344CB8AC3E}">
        <p14:creationId xmlns:p14="http://schemas.microsoft.com/office/powerpoint/2010/main" val="3904615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F6DAC6E-051E-43BF-A607-F6F4F9E2F096}" type="slidenum">
              <a:rPr lang="en-US" altLang="zh-CN"/>
              <a:pPr>
                <a:defRPr/>
              </a:pPr>
              <a:t>‹#›</a:t>
            </a:fld>
            <a:endParaRPr lang="en-US" altLang="zh-CN"/>
          </a:p>
        </p:txBody>
      </p:sp>
    </p:spTree>
    <p:extLst>
      <p:ext uri="{BB962C8B-B14F-4D97-AF65-F5344CB8AC3E}">
        <p14:creationId xmlns:p14="http://schemas.microsoft.com/office/powerpoint/2010/main" val="2922410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95D2784-9352-48DC-9739-21571277B191}" type="slidenum">
              <a:rPr lang="en-US" altLang="zh-CN"/>
              <a:pPr>
                <a:defRPr/>
              </a:pPr>
              <a:t>‹#›</a:t>
            </a:fld>
            <a:endParaRPr lang="en-US" altLang="zh-CN"/>
          </a:p>
        </p:txBody>
      </p:sp>
    </p:spTree>
    <p:extLst>
      <p:ext uri="{BB962C8B-B14F-4D97-AF65-F5344CB8AC3E}">
        <p14:creationId xmlns:p14="http://schemas.microsoft.com/office/powerpoint/2010/main" val="1603150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96CD904D-DCB6-4AC4-B959-E7608D4C7593}" type="slidenum">
              <a:rPr lang="en-US" altLang="zh-CN"/>
              <a:pPr>
                <a:defRPr/>
              </a:pPr>
              <a:t>‹#›</a:t>
            </a:fld>
            <a:endParaRPr lang="en-US" altLang="zh-CN"/>
          </a:p>
        </p:txBody>
      </p:sp>
    </p:spTree>
    <p:extLst>
      <p:ext uri="{BB962C8B-B14F-4D97-AF65-F5344CB8AC3E}">
        <p14:creationId xmlns:p14="http://schemas.microsoft.com/office/powerpoint/2010/main" val="2500942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1A39410D-DA94-481D-899C-F16AAF2AE1EF}" type="slidenum">
              <a:rPr lang="en-US" altLang="zh-CN"/>
              <a:pPr>
                <a:defRPr/>
              </a:pPr>
              <a:t>‹#›</a:t>
            </a:fld>
            <a:endParaRPr lang="en-US" altLang="zh-CN"/>
          </a:p>
        </p:txBody>
      </p:sp>
    </p:spTree>
    <p:extLst>
      <p:ext uri="{BB962C8B-B14F-4D97-AF65-F5344CB8AC3E}">
        <p14:creationId xmlns:p14="http://schemas.microsoft.com/office/powerpoint/2010/main" val="544577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8483704B-B939-41F0-A9C6-BADB80BC3F1C}" type="slidenum">
              <a:rPr lang="en-US" altLang="zh-CN"/>
              <a:pPr>
                <a:defRPr/>
              </a:pPr>
              <a:t>‹#›</a:t>
            </a:fld>
            <a:endParaRPr lang="en-US" altLang="zh-CN"/>
          </a:p>
        </p:txBody>
      </p:sp>
    </p:spTree>
    <p:extLst>
      <p:ext uri="{BB962C8B-B14F-4D97-AF65-F5344CB8AC3E}">
        <p14:creationId xmlns:p14="http://schemas.microsoft.com/office/powerpoint/2010/main" val="1764272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4324DAC4-A72B-4AD4-8480-0E4C6687AABC}" type="slidenum">
              <a:rPr lang="en-US" altLang="zh-CN"/>
              <a:pPr>
                <a:defRPr/>
              </a:pPr>
              <a:t>‹#›</a:t>
            </a:fld>
            <a:endParaRPr lang="en-US" altLang="zh-CN"/>
          </a:p>
        </p:txBody>
      </p:sp>
    </p:spTree>
    <p:extLst>
      <p:ext uri="{BB962C8B-B14F-4D97-AF65-F5344CB8AC3E}">
        <p14:creationId xmlns:p14="http://schemas.microsoft.com/office/powerpoint/2010/main" val="2187944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C1DB5FA-8287-40A1-AF40-A4859F6D4DBC}" type="slidenum">
              <a:rPr lang="en-US" altLang="zh-CN"/>
              <a:pPr>
                <a:defRPr/>
              </a:pPr>
              <a:t>‹#›</a:t>
            </a:fld>
            <a:endParaRPr lang="en-US" altLang="zh-CN"/>
          </a:p>
        </p:txBody>
      </p:sp>
    </p:spTree>
    <p:extLst>
      <p:ext uri="{BB962C8B-B14F-4D97-AF65-F5344CB8AC3E}">
        <p14:creationId xmlns:p14="http://schemas.microsoft.com/office/powerpoint/2010/main" val="4131381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2963356-02F0-4D3E-A2A4-6A9DF9063953}" type="slidenum">
              <a:rPr lang="en-US" altLang="zh-CN"/>
              <a:pPr>
                <a:defRPr/>
              </a:pPr>
              <a:t>‹#›</a:t>
            </a:fld>
            <a:endParaRPr lang="en-US" altLang="zh-CN"/>
          </a:p>
        </p:txBody>
      </p:sp>
    </p:spTree>
    <p:extLst>
      <p:ext uri="{BB962C8B-B14F-4D97-AF65-F5344CB8AC3E}">
        <p14:creationId xmlns:p14="http://schemas.microsoft.com/office/powerpoint/2010/main" val="3572383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05422F7-D7BD-42D2-A70B-6558D104D3FA}" type="slidenum">
              <a:rPr lang="en-US" altLang="zh-CN"/>
              <a:pPr>
                <a:defRPr/>
              </a:pPr>
              <a:t>‹#›</a:t>
            </a:fld>
            <a:endParaRPr lang="en-US" altLang="zh-CN"/>
          </a:p>
        </p:txBody>
      </p:sp>
    </p:spTree>
    <p:extLst>
      <p:ext uri="{BB962C8B-B14F-4D97-AF65-F5344CB8AC3E}">
        <p14:creationId xmlns:p14="http://schemas.microsoft.com/office/powerpoint/2010/main" val="3849322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F25AA01-150D-4F1C-9C7E-4EA1923F21FF}" type="slidenum">
              <a:rPr lang="en-US" altLang="zh-CN"/>
              <a:pPr>
                <a:defRPr/>
              </a:pPr>
              <a:t>‹#›</a:t>
            </a:fld>
            <a:endParaRPr lang="en-US" altLang="zh-CN"/>
          </a:p>
        </p:txBody>
      </p:sp>
    </p:spTree>
    <p:extLst>
      <p:ext uri="{BB962C8B-B14F-4D97-AF65-F5344CB8AC3E}">
        <p14:creationId xmlns:p14="http://schemas.microsoft.com/office/powerpoint/2010/main" val="2684830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1060D82-A295-48AC-ABCB-F0A96F247CAD}" type="slidenum">
              <a:rPr lang="en-US" altLang="zh-CN"/>
              <a:pPr>
                <a:defRPr/>
              </a:pPr>
              <a:t>‹#›</a:t>
            </a:fld>
            <a:endParaRPr lang="en-US" altLang="zh-CN"/>
          </a:p>
        </p:txBody>
      </p:sp>
    </p:spTree>
    <p:extLst>
      <p:ext uri="{BB962C8B-B14F-4D97-AF65-F5344CB8AC3E}">
        <p14:creationId xmlns:p14="http://schemas.microsoft.com/office/powerpoint/2010/main" val="3169311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80B99985-1685-4831-85EC-51C986793D8E}" type="slidenum">
              <a:rPr lang="en-US" altLang="zh-CN"/>
              <a:pPr>
                <a:defRPr/>
              </a:pPr>
              <a:t>‹#›</a:t>
            </a:fld>
            <a:endParaRPr lang="en-US" altLang="zh-CN"/>
          </a:p>
        </p:txBody>
      </p:sp>
    </p:spTree>
    <p:extLst>
      <p:ext uri="{BB962C8B-B14F-4D97-AF65-F5344CB8AC3E}">
        <p14:creationId xmlns:p14="http://schemas.microsoft.com/office/powerpoint/2010/main" val="568448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57329A17-1EC1-483A-A006-6F2782D3D5E6}" type="slidenum">
              <a:rPr lang="en-US" altLang="zh-CN"/>
              <a:pPr>
                <a:defRPr/>
              </a:pPr>
              <a:t>‹#›</a:t>
            </a:fld>
            <a:endParaRPr lang="en-US" altLang="zh-CN"/>
          </a:p>
        </p:txBody>
      </p:sp>
    </p:spTree>
    <p:extLst>
      <p:ext uri="{BB962C8B-B14F-4D97-AF65-F5344CB8AC3E}">
        <p14:creationId xmlns:p14="http://schemas.microsoft.com/office/powerpoint/2010/main" val="35184952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7813"/>
            <a:ext cx="8229600" cy="1139825"/>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600200"/>
            <a:ext cx="4038600" cy="21891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91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57200" y="3941763"/>
            <a:ext cx="4038600" cy="21891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3941763"/>
            <a:ext cx="4038600" cy="21891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6243638"/>
            <a:ext cx="2133600" cy="457200"/>
          </a:xfrm>
        </p:spPr>
        <p:txBody>
          <a:bodyPr/>
          <a:lstStyle>
            <a:lvl1pPr>
              <a:defRPr/>
            </a:lvl1pPr>
          </a:lstStyle>
          <a:p>
            <a:pPr>
              <a:defRPr/>
            </a:pPr>
            <a:endParaRPr lang="en-US" altLang="zh-CN"/>
          </a:p>
        </p:txBody>
      </p:sp>
      <p:sp>
        <p:nvSpPr>
          <p:cNvPr id="8" name="页脚占位符 7"/>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9" name="灯片编号占位符 8"/>
          <p:cNvSpPr>
            <a:spLocks noGrp="1"/>
          </p:cNvSpPr>
          <p:nvPr>
            <p:ph type="sldNum" sz="quarter" idx="12"/>
          </p:nvPr>
        </p:nvSpPr>
        <p:spPr>
          <a:xfrm>
            <a:off x="6553200" y="6243638"/>
            <a:ext cx="2133600" cy="457200"/>
          </a:xfrm>
        </p:spPr>
        <p:txBody>
          <a:bodyPr/>
          <a:lstStyle>
            <a:lvl1pPr>
              <a:defRPr/>
            </a:lvl1pPr>
          </a:lstStyle>
          <a:p>
            <a:pPr>
              <a:defRPr/>
            </a:pPr>
            <a:fld id="{74F45160-494D-4364-8A49-65D9B5449F65}" type="slidenum">
              <a:rPr lang="en-US" altLang="zh-CN"/>
              <a:pPr>
                <a:defRPr/>
              </a:pPr>
              <a:t>‹#›</a:t>
            </a:fld>
            <a:endParaRPr lang="en-US" altLang="zh-CN"/>
          </a:p>
        </p:txBody>
      </p:sp>
    </p:spTree>
    <p:extLst>
      <p:ext uri="{BB962C8B-B14F-4D97-AF65-F5344CB8AC3E}">
        <p14:creationId xmlns:p14="http://schemas.microsoft.com/office/powerpoint/2010/main" val="78240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BC052816-64D3-498C-9DA8-C8AA923E735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w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7.wmf"/><Relationship Id="rId5" Type="http://schemas.openxmlformats.org/officeDocument/2006/relationships/oleObject" Target="../embeddings/oleObject4.bin"/><Relationship Id="rId4" Type="http://schemas.openxmlformats.org/officeDocument/2006/relationships/image" Target="../media/image6.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9.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1.wmf"/><Relationship Id="rId5" Type="http://schemas.openxmlformats.org/officeDocument/2006/relationships/oleObject" Target="../embeddings/oleObject8.bin"/><Relationship Id="rId10" Type="http://schemas.openxmlformats.org/officeDocument/2006/relationships/image" Target="../media/image13.wmf"/><Relationship Id="rId4" Type="http://schemas.openxmlformats.org/officeDocument/2006/relationships/image" Target="../media/image10.wmf"/><Relationship Id="rId9" Type="http://schemas.openxmlformats.org/officeDocument/2006/relationships/oleObject" Target="../embeddings/oleObject10.bin"/></Relationships>
</file>

<file path=ppt/slides/_rels/slide22.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15.wmf"/><Relationship Id="rId5" Type="http://schemas.openxmlformats.org/officeDocument/2006/relationships/oleObject" Target="../embeddings/oleObject12.bin"/><Relationship Id="rId10" Type="http://schemas.openxmlformats.org/officeDocument/2006/relationships/image" Target="../media/image17.emf"/><Relationship Id="rId4" Type="http://schemas.openxmlformats.org/officeDocument/2006/relationships/image" Target="../media/image14.wmf"/><Relationship Id="rId9" Type="http://schemas.openxmlformats.org/officeDocument/2006/relationships/oleObject" Target="../embeddings/oleObject14.bin"/></Relationships>
</file>

<file path=ppt/slides/_rels/slide23.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16.wmf"/><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image" Target="../media/image19.w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18.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26.emf"/><Relationship Id="rId18" Type="http://schemas.openxmlformats.org/officeDocument/2006/relationships/oleObject" Target="../embeddings/oleObject27.bin"/><Relationship Id="rId3" Type="http://schemas.openxmlformats.org/officeDocument/2006/relationships/notesSlide" Target="../notesSlides/notesSlide3.xml"/><Relationship Id="rId21" Type="http://schemas.openxmlformats.org/officeDocument/2006/relationships/image" Target="../media/image30.wmf"/><Relationship Id="rId7" Type="http://schemas.openxmlformats.org/officeDocument/2006/relationships/image" Target="../media/image23.emf"/><Relationship Id="rId12" Type="http://schemas.openxmlformats.org/officeDocument/2006/relationships/oleObject" Target="../embeddings/oleObject24.bin"/><Relationship Id="rId17" Type="http://schemas.openxmlformats.org/officeDocument/2006/relationships/image" Target="../media/image28.emf"/><Relationship Id="rId2" Type="http://schemas.openxmlformats.org/officeDocument/2006/relationships/slideLayout" Target="../slideLayouts/slideLayout2.xml"/><Relationship Id="rId16" Type="http://schemas.openxmlformats.org/officeDocument/2006/relationships/oleObject" Target="../embeddings/oleObject26.bin"/><Relationship Id="rId20" Type="http://schemas.openxmlformats.org/officeDocument/2006/relationships/oleObject" Target="../embeddings/oleObject28.bin"/><Relationship Id="rId1" Type="http://schemas.openxmlformats.org/officeDocument/2006/relationships/vmlDrawing" Target="../drawings/vmlDrawing8.vml"/><Relationship Id="rId6" Type="http://schemas.openxmlformats.org/officeDocument/2006/relationships/oleObject" Target="../embeddings/oleObject21.bin"/><Relationship Id="rId11" Type="http://schemas.openxmlformats.org/officeDocument/2006/relationships/image" Target="../media/image25.emf"/><Relationship Id="rId5" Type="http://schemas.openxmlformats.org/officeDocument/2006/relationships/image" Target="../media/image22.emf"/><Relationship Id="rId15" Type="http://schemas.openxmlformats.org/officeDocument/2006/relationships/image" Target="../media/image27.emf"/><Relationship Id="rId10" Type="http://schemas.openxmlformats.org/officeDocument/2006/relationships/oleObject" Target="../embeddings/oleObject23.bin"/><Relationship Id="rId19" Type="http://schemas.openxmlformats.org/officeDocument/2006/relationships/image" Target="../media/image29.emf"/><Relationship Id="rId4" Type="http://schemas.openxmlformats.org/officeDocument/2006/relationships/oleObject" Target="../embeddings/oleObject20.bin"/><Relationship Id="rId9" Type="http://schemas.openxmlformats.org/officeDocument/2006/relationships/image" Target="../media/image24.emf"/><Relationship Id="rId14" Type="http://schemas.openxmlformats.org/officeDocument/2006/relationships/oleObject" Target="../embeddings/oleObject25.bin"/></Relationships>
</file>

<file path=ppt/slides/_rels/slide25.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29.bin"/><Relationship Id="rId7" Type="http://schemas.openxmlformats.org/officeDocument/2006/relationships/oleObject" Target="../embeddings/oleObject31.bin"/><Relationship Id="rId12" Type="http://schemas.openxmlformats.org/officeDocument/2006/relationships/image" Target="../media/image26.emf"/><Relationship Id="rId2" Type="http://schemas.openxmlformats.org/officeDocument/2006/relationships/slideLayout" Target="../slideLayouts/slideLayout15.xml"/><Relationship Id="rId1" Type="http://schemas.openxmlformats.org/officeDocument/2006/relationships/vmlDrawing" Target="../drawings/vmlDrawing9.vml"/><Relationship Id="rId6" Type="http://schemas.openxmlformats.org/officeDocument/2006/relationships/image" Target="../media/image32.wmf"/><Relationship Id="rId11" Type="http://schemas.openxmlformats.org/officeDocument/2006/relationships/oleObject" Target="../embeddings/oleObject33.bin"/><Relationship Id="rId5" Type="http://schemas.openxmlformats.org/officeDocument/2006/relationships/oleObject" Target="../embeddings/oleObject30.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32.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39.emf"/><Relationship Id="rId18" Type="http://schemas.openxmlformats.org/officeDocument/2006/relationships/oleObject" Target="../embeddings/oleObject41.bin"/><Relationship Id="rId3" Type="http://schemas.openxmlformats.org/officeDocument/2006/relationships/notesSlide" Target="../notesSlides/notesSlide4.xml"/><Relationship Id="rId21" Type="http://schemas.openxmlformats.org/officeDocument/2006/relationships/image" Target="../media/image43.wmf"/><Relationship Id="rId7" Type="http://schemas.openxmlformats.org/officeDocument/2006/relationships/image" Target="../media/image36.emf"/><Relationship Id="rId12" Type="http://schemas.openxmlformats.org/officeDocument/2006/relationships/oleObject" Target="../embeddings/oleObject38.bin"/><Relationship Id="rId17" Type="http://schemas.openxmlformats.org/officeDocument/2006/relationships/image" Target="../media/image41.emf"/><Relationship Id="rId2" Type="http://schemas.openxmlformats.org/officeDocument/2006/relationships/slideLayout" Target="../slideLayouts/slideLayout2.xml"/><Relationship Id="rId16" Type="http://schemas.openxmlformats.org/officeDocument/2006/relationships/oleObject" Target="../embeddings/oleObject40.bin"/><Relationship Id="rId20" Type="http://schemas.openxmlformats.org/officeDocument/2006/relationships/oleObject" Target="../embeddings/oleObject42.bin"/><Relationship Id="rId1" Type="http://schemas.openxmlformats.org/officeDocument/2006/relationships/vmlDrawing" Target="../drawings/vmlDrawing10.vml"/><Relationship Id="rId6" Type="http://schemas.openxmlformats.org/officeDocument/2006/relationships/oleObject" Target="../embeddings/oleObject35.bin"/><Relationship Id="rId11" Type="http://schemas.openxmlformats.org/officeDocument/2006/relationships/image" Target="../media/image38.emf"/><Relationship Id="rId5" Type="http://schemas.openxmlformats.org/officeDocument/2006/relationships/image" Target="../media/image35.wmf"/><Relationship Id="rId15" Type="http://schemas.openxmlformats.org/officeDocument/2006/relationships/image" Target="../media/image40.emf"/><Relationship Id="rId23" Type="http://schemas.openxmlformats.org/officeDocument/2006/relationships/image" Target="../media/image44.wmf"/><Relationship Id="rId10" Type="http://schemas.openxmlformats.org/officeDocument/2006/relationships/oleObject" Target="../embeddings/oleObject37.bin"/><Relationship Id="rId19" Type="http://schemas.openxmlformats.org/officeDocument/2006/relationships/image" Target="../media/image42.wmf"/><Relationship Id="rId4" Type="http://schemas.openxmlformats.org/officeDocument/2006/relationships/oleObject" Target="../embeddings/oleObject34.bin"/><Relationship Id="rId9" Type="http://schemas.openxmlformats.org/officeDocument/2006/relationships/image" Target="../media/image37.emf"/><Relationship Id="rId14" Type="http://schemas.openxmlformats.org/officeDocument/2006/relationships/oleObject" Target="../embeddings/oleObject39.bin"/><Relationship Id="rId22" Type="http://schemas.openxmlformats.org/officeDocument/2006/relationships/oleObject" Target="../embeddings/oleObject43.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oleObject" Target="../embeddings/oleObject44.bin"/><Relationship Id="rId7" Type="http://schemas.openxmlformats.org/officeDocument/2006/relationships/oleObject" Target="../embeddings/oleObject46.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6.wmf"/><Relationship Id="rId5" Type="http://schemas.openxmlformats.org/officeDocument/2006/relationships/oleObject" Target="../embeddings/oleObject45.bin"/><Relationship Id="rId4" Type="http://schemas.openxmlformats.org/officeDocument/2006/relationships/image" Target="../media/image45.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48.wmf"/></Relationships>
</file>

<file path=ppt/slides/_rels/slide34.xml.rels><?xml version="1.0" encoding="UTF-8" standalone="yes"?>
<Relationships xmlns="http://schemas.openxmlformats.org/package/2006/relationships"><Relationship Id="rId2" Type="http://schemas.openxmlformats.org/officeDocument/2006/relationships/hyperlink" Target="&#22522;&#23572;&#38669;&#22827;&#31616;&#20171;.ppt"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49.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49.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14.xml"/><Relationship Id="rId1" Type="http://schemas.openxmlformats.org/officeDocument/2006/relationships/vmlDrawing" Target="../drawings/vmlDrawing15.vml"/><Relationship Id="rId4" Type="http://schemas.openxmlformats.org/officeDocument/2006/relationships/image" Target="../media/image50.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oleObject" Target="../embeddings/oleObject52.bin"/><Relationship Id="rId4" Type="http://schemas.openxmlformats.org/officeDocument/2006/relationships/image" Target="../media/image49.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51.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53.wmf"/><Relationship Id="rId5" Type="http://schemas.openxmlformats.org/officeDocument/2006/relationships/oleObject" Target="../embeddings/oleObject55.bin"/><Relationship Id="rId4" Type="http://schemas.openxmlformats.org/officeDocument/2006/relationships/image" Target="../media/image52.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1371600" y="1219200"/>
            <a:ext cx="6161088" cy="3505200"/>
          </a:xfrm>
        </p:spPr>
        <p:txBody>
          <a:bodyPr anchor="ctr"/>
          <a:lstStyle/>
          <a:p>
            <a:pPr eaLnBrk="1" hangingPunct="1">
              <a:lnSpc>
                <a:spcPct val="200000"/>
              </a:lnSpc>
            </a:pPr>
            <a:r>
              <a:rPr lang="zh-CN" altLang="en-US" b="1" dirty="0" smtClean="0">
                <a:solidFill>
                  <a:schemeClr val="tx1"/>
                </a:solidFill>
                <a:latin typeface="华文新魏" panose="02010800040101010101" pitchFamily="2" charset="-122"/>
                <a:ea typeface="华文新魏" panose="02010800040101010101" pitchFamily="2" charset="-122"/>
              </a:rPr>
              <a:t>第 </a:t>
            </a:r>
            <a:r>
              <a:rPr lang="en-US" altLang="zh-CN" b="1" dirty="0" smtClean="0">
                <a:solidFill>
                  <a:schemeClr val="tx1"/>
                </a:solidFill>
                <a:latin typeface="华文新魏" panose="02010800040101010101" pitchFamily="2" charset="-122"/>
                <a:ea typeface="华文新魏" panose="02010800040101010101" pitchFamily="2" charset="-122"/>
              </a:rPr>
              <a:t>1 </a:t>
            </a:r>
            <a:r>
              <a:rPr lang="zh-CN" altLang="en-US" b="1" dirty="0" smtClean="0">
                <a:solidFill>
                  <a:schemeClr val="tx1"/>
                </a:solidFill>
                <a:latin typeface="华文新魏" panose="02010800040101010101" pitchFamily="2" charset="-122"/>
                <a:ea typeface="华文新魏" panose="02010800040101010101" pitchFamily="2" charset="-122"/>
              </a:rPr>
              <a:t>章</a:t>
            </a:r>
            <a:br>
              <a:rPr lang="zh-CN" altLang="en-US" b="1" dirty="0" smtClean="0">
                <a:solidFill>
                  <a:schemeClr val="tx1"/>
                </a:solidFill>
                <a:latin typeface="华文新魏" panose="02010800040101010101" pitchFamily="2" charset="-122"/>
                <a:ea typeface="华文新魏" panose="02010800040101010101" pitchFamily="2" charset="-122"/>
              </a:rPr>
            </a:br>
            <a:r>
              <a:rPr lang="zh-CN" altLang="en-US" b="1" dirty="0">
                <a:solidFill>
                  <a:schemeClr val="tx1"/>
                </a:solidFill>
                <a:latin typeface="华文新魏" panose="02010800040101010101" pitchFamily="2" charset="-122"/>
                <a:ea typeface="华文新魏" panose="02010800040101010101" pitchFamily="2" charset="-122"/>
              </a:rPr>
              <a:t>电路分析导论</a:t>
            </a:r>
          </a:p>
        </p:txBody>
      </p:sp>
      <p:sp>
        <p:nvSpPr>
          <p:cNvPr id="2" name="灯片编号占位符 1"/>
          <p:cNvSpPr>
            <a:spLocks noGrp="1"/>
          </p:cNvSpPr>
          <p:nvPr>
            <p:ph type="sldNum" sz="quarter" idx="12"/>
          </p:nvPr>
        </p:nvSpPr>
        <p:spPr/>
        <p:txBody>
          <a:bodyPr/>
          <a:lstStyle/>
          <a:p>
            <a:pPr>
              <a:defRPr/>
            </a:pPr>
            <a:fld id="{1EB37889-8F7E-4958-A59C-C53B8E64853A}" type="slidenum">
              <a:rPr lang="en-US" altLang="zh-CN" smtClean="0"/>
              <a:pPr>
                <a:defRPr/>
              </a:pPr>
              <a:t>1</a:t>
            </a:fld>
            <a:endParaRPr lang="en-US" altLang="zh-CN"/>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1752600" y="381000"/>
            <a:ext cx="5867400" cy="609600"/>
          </a:xfrm>
        </p:spPr>
        <p:txBody>
          <a:bodyPr anchor="ctr"/>
          <a:lstStyle/>
          <a:p>
            <a:pPr eaLnBrk="1" hangingPunct="1">
              <a:buFont typeface="Wingdings" panose="05000000000000000000" pitchFamily="2" charset="2"/>
              <a:buNone/>
            </a:pPr>
            <a:r>
              <a:rPr lang="zh-CN" altLang="en-US" sz="44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第</a:t>
            </a:r>
            <a:r>
              <a:rPr lang="en-US" altLang="zh-CN" sz="44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44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章  电路分析导论</a:t>
            </a:r>
          </a:p>
        </p:txBody>
      </p:sp>
      <p:sp>
        <p:nvSpPr>
          <p:cNvPr id="6147" name="Rectangle 3"/>
          <p:cNvSpPr>
            <a:spLocks noChangeArrowheads="1"/>
          </p:cNvSpPr>
          <p:nvPr/>
        </p:nvSpPr>
        <p:spPr bwMode="auto">
          <a:xfrm>
            <a:off x="2484438" y="1125538"/>
            <a:ext cx="5876925" cy="511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200000"/>
              </a:lnSpc>
              <a:spcBef>
                <a:spcPct val="0"/>
              </a:spcBef>
              <a:buFontTx/>
              <a:buNone/>
            </a:pPr>
            <a:r>
              <a:rPr lang="en-US" altLang="zh-CN" sz="2800" b="1">
                <a:latin typeface="Times New Roman" panose="02020603050405020304" pitchFamily="18" charset="0"/>
                <a:ea typeface="华文中宋" panose="02010600040101010101" pitchFamily="2" charset="-122"/>
                <a:cs typeface="Times New Roman" panose="02020603050405020304" pitchFamily="18" charset="0"/>
              </a:rPr>
              <a:t>1.1  </a:t>
            </a: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电路和电路模型</a:t>
            </a:r>
          </a:p>
          <a:p>
            <a:pPr eaLnBrk="1" hangingPunct="1">
              <a:lnSpc>
                <a:spcPct val="200000"/>
              </a:lnSpc>
              <a:spcBef>
                <a:spcPct val="0"/>
              </a:spcBef>
              <a:buFontTx/>
              <a:buNone/>
            </a:pPr>
            <a:r>
              <a:rPr lang="en-US" altLang="zh-CN" sz="2800" b="1">
                <a:latin typeface="Times New Roman" panose="02020603050405020304" pitchFamily="18" charset="0"/>
                <a:ea typeface="华文中宋" panose="02010600040101010101" pitchFamily="2" charset="-122"/>
                <a:cs typeface="Times New Roman" panose="02020603050405020304" pitchFamily="18" charset="0"/>
              </a:rPr>
              <a:t>1.2  </a:t>
            </a: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电路的基本物理量 </a:t>
            </a:r>
          </a:p>
          <a:p>
            <a:pPr eaLnBrk="1" hangingPunct="1">
              <a:lnSpc>
                <a:spcPct val="200000"/>
              </a:lnSpc>
              <a:spcBef>
                <a:spcPct val="0"/>
              </a:spcBef>
              <a:buFontTx/>
              <a:buNone/>
            </a:pPr>
            <a:r>
              <a:rPr lang="en-US" altLang="zh-CN" sz="2800" b="1">
                <a:latin typeface="Times New Roman" panose="02020603050405020304" pitchFamily="18" charset="0"/>
                <a:ea typeface="华文中宋" panose="02010600040101010101" pitchFamily="2" charset="-122"/>
                <a:cs typeface="Times New Roman" panose="02020603050405020304" pitchFamily="18" charset="0"/>
              </a:rPr>
              <a:t>1.3  </a:t>
            </a: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电路基本元件</a:t>
            </a:r>
          </a:p>
          <a:p>
            <a:pPr eaLnBrk="1" hangingPunct="1">
              <a:lnSpc>
                <a:spcPct val="200000"/>
              </a:lnSpc>
              <a:spcBef>
                <a:spcPct val="0"/>
              </a:spcBef>
              <a:buFontTx/>
              <a:buNone/>
            </a:pPr>
            <a:r>
              <a:rPr lang="en-US" altLang="zh-CN" sz="2800" b="1">
                <a:latin typeface="Times New Roman" panose="02020603050405020304" pitchFamily="18" charset="0"/>
                <a:ea typeface="华文中宋" panose="02010600040101010101" pitchFamily="2" charset="-122"/>
                <a:cs typeface="Times New Roman" panose="02020603050405020304" pitchFamily="18" charset="0"/>
              </a:rPr>
              <a:t>1.4  </a:t>
            </a: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基尔霍夫定律</a:t>
            </a:r>
          </a:p>
          <a:p>
            <a:pPr eaLnBrk="1" hangingPunct="1">
              <a:lnSpc>
                <a:spcPct val="200000"/>
              </a:lnSpc>
              <a:spcBef>
                <a:spcPct val="0"/>
              </a:spcBef>
              <a:buFontTx/>
              <a:buNone/>
            </a:pPr>
            <a:r>
              <a:rPr lang="en-US" altLang="zh-CN" sz="2800" b="1">
                <a:latin typeface="Times New Roman" panose="02020603050405020304" pitchFamily="18" charset="0"/>
                <a:ea typeface="华文中宋" panose="02010600040101010101" pitchFamily="2" charset="-122"/>
                <a:cs typeface="Times New Roman" panose="02020603050405020304" pitchFamily="18" charset="0"/>
              </a:rPr>
              <a:t>1.5  </a:t>
            </a: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电压源和电流源的等效变换</a:t>
            </a:r>
          </a:p>
          <a:p>
            <a:pPr eaLnBrk="1" hangingPunct="1">
              <a:lnSpc>
                <a:spcPct val="200000"/>
              </a:lnSpc>
              <a:spcBef>
                <a:spcPct val="0"/>
              </a:spcBef>
              <a:buFontTx/>
              <a:buNone/>
            </a:pPr>
            <a:endParaRPr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1EB37889-8F7E-4958-A59C-C53B8E64853A}" type="slidenum">
              <a:rPr lang="en-US" altLang="zh-CN" smtClean="0"/>
              <a:pPr>
                <a:defRPr/>
              </a:pPr>
              <a:t>2</a:t>
            </a:fld>
            <a:endParaRPr lang="en-US"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68313" y="83152"/>
            <a:ext cx="8229600" cy="715962"/>
          </a:xfrm>
        </p:spPr>
        <p:txBody>
          <a:bodyPr/>
          <a:lstStyle/>
          <a:p>
            <a:pPr eaLnBrk="1" hangingPunct="1"/>
            <a:r>
              <a:rPr lang="en-US" altLang="zh-CN" sz="4000" b="1" dirty="0" smtClean="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1.1 </a:t>
            </a:r>
            <a:r>
              <a:rPr lang="zh-CN" altLang="en-US" sz="4000" b="1" dirty="0" smtClean="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电路与电路模型</a:t>
            </a:r>
          </a:p>
        </p:txBody>
      </p:sp>
      <p:sp>
        <p:nvSpPr>
          <p:cNvPr id="7171" name="Text Box 20"/>
          <p:cNvSpPr txBox="1">
            <a:spLocks noChangeArrowheads="1"/>
          </p:cNvSpPr>
          <p:nvPr/>
        </p:nvSpPr>
        <p:spPr bwMode="auto">
          <a:xfrm>
            <a:off x="609600" y="1062038"/>
            <a:ext cx="7922840" cy="1243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90000"/>
              </a:lnSpc>
              <a:buFontTx/>
              <a:buNone/>
            </a:pPr>
            <a:r>
              <a:rPr lang="zh-CN" altLang="en-US"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电路</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 电流的通路。</a:t>
            </a:r>
          </a:p>
          <a:p>
            <a:pPr algn="just" eaLnBrk="1" hangingPunct="1">
              <a:lnSpc>
                <a:spcPct val="90000"/>
              </a:lnSpc>
              <a:buFontTx/>
              <a:buNone/>
            </a:pP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    由多个电气元件（或电器设备）为实现能量的传输，</a:t>
            </a:r>
            <a:r>
              <a:rPr lang="zh-CN" altLang="en-US" sz="2600" b="1" dirty="0" smtClean="0">
                <a:latin typeface="Times New Roman" panose="02020603050405020304" pitchFamily="18" charset="0"/>
                <a:ea typeface="华文中宋" panose="02010600040101010101" pitchFamily="2" charset="-122"/>
                <a:cs typeface="Times New Roman" panose="02020603050405020304" pitchFamily="18" charset="0"/>
              </a:rPr>
              <a:t>或为实现信息</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传递和处理而连接成的整体。</a:t>
            </a:r>
          </a:p>
        </p:txBody>
      </p:sp>
      <p:sp>
        <p:nvSpPr>
          <p:cNvPr id="7172" name="Rectangle 21"/>
          <p:cNvSpPr>
            <a:spLocks noChangeArrowheads="1"/>
          </p:cNvSpPr>
          <p:nvPr/>
        </p:nvSpPr>
        <p:spPr bwMode="auto">
          <a:xfrm>
            <a:off x="468313" y="2420938"/>
            <a:ext cx="8207375" cy="4293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buFontTx/>
              <a:buNone/>
            </a:pP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电路主要由</a:t>
            </a:r>
            <a:r>
              <a:rPr lang="zh-CN" altLang="en-US" sz="2600" b="1" dirty="0">
                <a:solidFill>
                  <a:srgbClr val="7030A0"/>
                </a:solidFill>
                <a:latin typeface="Times New Roman" panose="02020603050405020304" pitchFamily="18" charset="0"/>
                <a:ea typeface="华文中宋" panose="02010600040101010101" pitchFamily="2" charset="-122"/>
                <a:cs typeface="Times New Roman" panose="02020603050405020304" pitchFamily="18" charset="0"/>
              </a:rPr>
              <a:t>电源、负载、连接导线及开关</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等构成。</a:t>
            </a:r>
          </a:p>
          <a:p>
            <a:pPr algn="just" eaLnBrk="1" hangingPunct="1">
              <a:lnSpc>
                <a:spcPct val="110000"/>
              </a:lnSpc>
              <a:buFontTx/>
              <a:buNone/>
            </a:pPr>
            <a:r>
              <a:rPr lang="zh-CN" altLang="en-US"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电源</a:t>
            </a:r>
            <a:r>
              <a:rPr lang="en-US" altLang="zh-CN"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(source)</a:t>
            </a:r>
            <a:r>
              <a:rPr lang="zh-CN" altLang="en-US"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提供能量或信号。比如发电机、电池、电信号发生器等。在电源作用下电路中会产生电压、电流。故电源又</a:t>
            </a:r>
            <a:r>
              <a:rPr lang="zh-CN" altLang="en-US" sz="2600" b="1" dirty="0" smtClean="0">
                <a:latin typeface="Times New Roman" panose="02020603050405020304" pitchFamily="18" charset="0"/>
                <a:ea typeface="华文中宋" panose="02010600040101010101" pitchFamily="2" charset="-122"/>
                <a:cs typeface="Times New Roman" panose="02020603050405020304" pitchFamily="18" charset="0"/>
              </a:rPr>
              <a:t>称电路的</a:t>
            </a:r>
            <a:r>
              <a:rPr lang="zh-CN" altLang="en-US" sz="2600" b="1" dirty="0" smtClean="0">
                <a:solidFill>
                  <a:srgbClr val="7030A0"/>
                </a:solidFill>
                <a:latin typeface="Times New Roman" panose="02020603050405020304" pitchFamily="18" charset="0"/>
                <a:ea typeface="华文中宋" panose="02010600040101010101" pitchFamily="2" charset="-122"/>
                <a:cs typeface="Times New Roman" panose="02020603050405020304" pitchFamily="18" charset="0"/>
              </a:rPr>
              <a:t>激励</a:t>
            </a:r>
            <a:r>
              <a:rPr lang="zh-CN" altLang="en-US" sz="2600" b="1" dirty="0" smtClean="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电压、电流称</a:t>
            </a:r>
            <a:r>
              <a:rPr lang="zh-CN" altLang="en-US" sz="2600" b="1" dirty="0">
                <a:solidFill>
                  <a:srgbClr val="7030A0"/>
                </a:solidFill>
                <a:latin typeface="Times New Roman" panose="02020603050405020304" pitchFamily="18" charset="0"/>
                <a:ea typeface="华文中宋" panose="02010600040101010101" pitchFamily="2" charset="-122"/>
                <a:cs typeface="Times New Roman" panose="02020603050405020304" pitchFamily="18" charset="0"/>
              </a:rPr>
              <a:t>响应</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a:t>
            </a:r>
          </a:p>
          <a:p>
            <a:pPr algn="just" eaLnBrk="1" hangingPunct="1">
              <a:lnSpc>
                <a:spcPct val="110000"/>
              </a:lnSpc>
              <a:buFontTx/>
              <a:buNone/>
            </a:pPr>
            <a:r>
              <a:rPr lang="zh-CN" altLang="en-US"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负载</a:t>
            </a:r>
            <a:r>
              <a:rPr lang="en-US" altLang="zh-CN"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(load)</a:t>
            </a:r>
            <a:r>
              <a:rPr lang="zh-CN" altLang="en-US"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用电设备。将电能转化为其它形式的能量，或对信号进行处理</a:t>
            </a:r>
            <a:r>
              <a:rPr lang="en-US" altLang="zh-CN" sz="2600" b="1" dirty="0">
                <a:latin typeface="Times New Roman" panose="02020603050405020304" pitchFamily="18" charset="0"/>
                <a:ea typeface="华文中宋" panose="02010600040101010101" pitchFamily="2" charset="-122"/>
                <a:cs typeface="Times New Roman" panose="02020603050405020304" pitchFamily="18" charset="0"/>
              </a:rPr>
              <a:t>.</a:t>
            </a:r>
          </a:p>
          <a:p>
            <a:pPr algn="just" eaLnBrk="1" hangingPunct="1">
              <a:lnSpc>
                <a:spcPct val="110000"/>
              </a:lnSpc>
              <a:buFontTx/>
              <a:buNone/>
            </a:pPr>
            <a:r>
              <a:rPr lang="zh-CN" altLang="en-US"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导线</a:t>
            </a:r>
            <a:r>
              <a:rPr lang="en-US" altLang="zh-CN"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(line)</a:t>
            </a:r>
            <a:r>
              <a:rPr lang="zh-CN" altLang="en-US"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、开关（</a:t>
            </a:r>
            <a:r>
              <a:rPr lang="en-US" altLang="zh-CN"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switch)</a:t>
            </a:r>
            <a:r>
              <a:rPr lang="zh-CN" altLang="en-US"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等：</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导线即电线电缆、开关控制电路断开与接通，两者主要</a:t>
            </a:r>
            <a:r>
              <a:rPr lang="zh-CN" altLang="en-US" sz="2600" b="1" dirty="0" smtClean="0">
                <a:latin typeface="Times New Roman" panose="02020603050405020304" pitchFamily="18" charset="0"/>
                <a:ea typeface="华文中宋" panose="02010600040101010101" pitchFamily="2" charset="-122"/>
                <a:cs typeface="Times New Roman" panose="02020603050405020304" pitchFamily="18" charset="0"/>
              </a:rPr>
              <a:t>作用是将</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电源与负载接成通路</a:t>
            </a:r>
            <a:r>
              <a:rPr lang="en-US" altLang="zh-CN" sz="2600" b="1" dirty="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 name="Rectangle 4"/>
          <p:cNvSpPr>
            <a:spLocks noChangeArrowheads="1"/>
          </p:cNvSpPr>
          <p:nvPr/>
        </p:nvSpPr>
        <p:spPr bwMode="auto">
          <a:xfrm>
            <a:off x="323528" y="726539"/>
            <a:ext cx="8207375" cy="49727"/>
          </a:xfrm>
          <a:prstGeom prst="rect">
            <a:avLst/>
          </a:prstGeom>
          <a:gradFill rotWithShape="0">
            <a:gsLst>
              <a:gs pos="0">
                <a:srgbClr val="3366FF"/>
              </a:gs>
              <a:gs pos="12500">
                <a:srgbClr val="01A78F"/>
              </a:gs>
              <a:gs pos="25000">
                <a:srgbClr val="FFFF00"/>
              </a:gs>
              <a:gs pos="37500">
                <a:srgbClr val="FF6633"/>
              </a:gs>
              <a:gs pos="50000">
                <a:srgbClr val="FF3399"/>
              </a:gs>
              <a:gs pos="62500">
                <a:srgbClr val="FF6633"/>
              </a:gs>
              <a:gs pos="75000">
                <a:srgbClr val="FFFF00"/>
              </a:gs>
              <a:gs pos="87500">
                <a:srgbClr val="01A78F"/>
              </a:gs>
              <a:gs pos="100000">
                <a:srgbClr val="3366FF"/>
              </a:gs>
            </a:gsLst>
            <a:lin ang="0" scaled="1"/>
          </a:gradFill>
          <a:ln w="12700" cap="sq">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7F6DAC6E-051E-43BF-A607-F6F4F9E2F096}" type="slidenum">
              <a:rPr lang="en-US" altLang="zh-CN" smtClean="0"/>
              <a:pPr>
                <a:defRPr/>
              </a:pPr>
              <a:t>3</a:t>
            </a:fld>
            <a:endParaRPr lang="en-US" altLang="zh-C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68313" y="83152"/>
            <a:ext cx="8229600" cy="715962"/>
          </a:xfrm>
        </p:spPr>
        <p:txBody>
          <a:bodyPr/>
          <a:lstStyle/>
          <a:p>
            <a:pPr eaLnBrk="1" hangingPunct="1"/>
            <a:r>
              <a:rPr lang="en-US" altLang="zh-CN" sz="4000" b="1" dirty="0" smtClean="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1.1 </a:t>
            </a:r>
            <a:r>
              <a:rPr lang="zh-CN" altLang="en-US" sz="4000" b="1" dirty="0" smtClean="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电路与电路模型</a:t>
            </a:r>
          </a:p>
        </p:txBody>
      </p:sp>
      <p:sp>
        <p:nvSpPr>
          <p:cNvPr id="7171" name="Text Box 20"/>
          <p:cNvSpPr txBox="1">
            <a:spLocks noChangeArrowheads="1"/>
          </p:cNvSpPr>
          <p:nvPr/>
        </p:nvSpPr>
        <p:spPr bwMode="auto">
          <a:xfrm>
            <a:off x="609600" y="1062038"/>
            <a:ext cx="7922840"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90000"/>
              </a:lnSpc>
              <a:buFontTx/>
              <a:buNone/>
            </a:pPr>
            <a:r>
              <a:rPr lang="zh-CN" altLang="en-US" sz="2600" b="1"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电路的</a:t>
            </a:r>
            <a:r>
              <a:rPr lang="zh-CN" altLang="en-US" sz="2600" b="1" dirty="0" smtClean="0">
                <a:latin typeface="Times New Roman" panose="02020603050405020304" pitchFamily="18" charset="0"/>
                <a:ea typeface="华文中宋" panose="02010600040101010101" pitchFamily="2" charset="-122"/>
                <a:cs typeface="Times New Roman" panose="02020603050405020304" pitchFamily="18" charset="0"/>
              </a:rPr>
              <a:t>作用。</a:t>
            </a:r>
            <a:endParaRPr lang="zh-CN" altLang="en-US" sz="2600" b="1" dirty="0">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lnSpc>
                <a:spcPct val="90000"/>
              </a:lnSpc>
              <a:buFontTx/>
              <a:buNone/>
            </a:pP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7172" name="Rectangle 21"/>
          <p:cNvSpPr>
            <a:spLocks noChangeArrowheads="1"/>
          </p:cNvSpPr>
          <p:nvPr/>
        </p:nvSpPr>
        <p:spPr bwMode="auto">
          <a:xfrm>
            <a:off x="437644" y="1700808"/>
            <a:ext cx="8207375" cy="157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buFontTx/>
              <a:buNone/>
            </a:pPr>
            <a:r>
              <a:rPr lang="en-US" altLang="zh-CN" sz="2600" b="1" dirty="0" smtClean="0">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600" b="1" dirty="0" smtClean="0">
                <a:latin typeface="Times New Roman" panose="02020603050405020304" pitchFamily="18" charset="0"/>
                <a:ea typeface="华文中宋" panose="02010600040101010101" pitchFamily="2" charset="-122"/>
                <a:cs typeface="Times New Roman" panose="02020603050405020304" pitchFamily="18" charset="0"/>
              </a:rPr>
              <a:t>、实现能量的传输与转换</a:t>
            </a:r>
            <a:endParaRPr lang="en-US" altLang="zh-CN" sz="2600" b="1" dirty="0" smtClean="0">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lnSpc>
                <a:spcPct val="110000"/>
              </a:lnSpc>
              <a:buFontTx/>
              <a:buNone/>
            </a:pPr>
            <a:r>
              <a:rPr lang="en-US" altLang="zh-CN" sz="2600" b="1" dirty="0" smtClean="0">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600" b="1" dirty="0" smtClean="0">
                <a:latin typeface="Times New Roman" panose="02020603050405020304" pitchFamily="18" charset="0"/>
                <a:ea typeface="华文中宋" panose="02010600040101010101" pitchFamily="2" charset="-122"/>
                <a:cs typeface="Times New Roman" panose="02020603050405020304" pitchFamily="18" charset="0"/>
              </a:rPr>
              <a:t>、进行信号的传递与处理</a:t>
            </a:r>
            <a:endParaRPr lang="en-US" altLang="zh-CN" sz="2600" b="1" dirty="0" smtClean="0">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lnSpc>
                <a:spcPct val="110000"/>
              </a:lnSpc>
              <a:buFontTx/>
              <a:buNone/>
            </a:pPr>
            <a:r>
              <a:rPr lang="en-US" altLang="zh-CN" sz="2600" b="1" dirty="0" smtClean="0">
                <a:latin typeface="Times New Roman" panose="02020603050405020304" pitchFamily="18" charset="0"/>
                <a:ea typeface="华文中宋" panose="02010600040101010101" pitchFamily="2" charset="-122"/>
                <a:cs typeface="Times New Roman" panose="02020603050405020304" pitchFamily="18" charset="0"/>
              </a:rPr>
              <a:t>3</a:t>
            </a:r>
            <a:r>
              <a:rPr lang="zh-CN" altLang="en-US" sz="2600" b="1" dirty="0" smtClean="0">
                <a:latin typeface="Times New Roman" panose="02020603050405020304" pitchFamily="18" charset="0"/>
                <a:ea typeface="华文中宋" panose="02010600040101010101" pitchFamily="2" charset="-122"/>
                <a:cs typeface="Times New Roman" panose="02020603050405020304" pitchFamily="18" charset="0"/>
              </a:rPr>
              <a:t>、进行信息的存储</a:t>
            </a:r>
            <a:endParaRPr lang="en-US" altLang="zh-CN" sz="2600" b="1"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 name="Rectangle 4"/>
          <p:cNvSpPr>
            <a:spLocks noChangeArrowheads="1"/>
          </p:cNvSpPr>
          <p:nvPr/>
        </p:nvSpPr>
        <p:spPr bwMode="auto">
          <a:xfrm>
            <a:off x="323528" y="726539"/>
            <a:ext cx="8207375" cy="49727"/>
          </a:xfrm>
          <a:prstGeom prst="rect">
            <a:avLst/>
          </a:prstGeom>
          <a:gradFill rotWithShape="0">
            <a:gsLst>
              <a:gs pos="0">
                <a:srgbClr val="3366FF"/>
              </a:gs>
              <a:gs pos="12500">
                <a:srgbClr val="01A78F"/>
              </a:gs>
              <a:gs pos="25000">
                <a:srgbClr val="FFFF00"/>
              </a:gs>
              <a:gs pos="37500">
                <a:srgbClr val="FF6633"/>
              </a:gs>
              <a:gs pos="50000">
                <a:srgbClr val="FF3399"/>
              </a:gs>
              <a:gs pos="62500">
                <a:srgbClr val="FF6633"/>
              </a:gs>
              <a:gs pos="75000">
                <a:srgbClr val="FFFF00"/>
              </a:gs>
              <a:gs pos="87500">
                <a:srgbClr val="01A78F"/>
              </a:gs>
              <a:gs pos="100000">
                <a:srgbClr val="3366FF"/>
              </a:gs>
            </a:gsLst>
            <a:lin ang="0" scaled="1"/>
          </a:gradFill>
          <a:ln w="12700" cap="sq">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7F6DAC6E-051E-43BF-A607-F6F4F9E2F096}" type="slidenum">
              <a:rPr lang="en-US" altLang="zh-CN" smtClean="0"/>
              <a:pPr>
                <a:defRPr/>
              </a:pPr>
              <a:t>4</a:t>
            </a:fld>
            <a:endParaRPr lang="en-US" altLang="zh-CN"/>
          </a:p>
        </p:txBody>
      </p:sp>
    </p:spTree>
    <p:extLst>
      <p:ext uri="{BB962C8B-B14F-4D97-AF65-F5344CB8AC3E}">
        <p14:creationId xmlns:p14="http://schemas.microsoft.com/office/powerpoint/2010/main" val="1486687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Text Box 30"/>
          <p:cNvSpPr txBox="1">
            <a:spLocks noChangeArrowheads="1"/>
          </p:cNvSpPr>
          <p:nvPr/>
        </p:nvSpPr>
        <p:spPr bwMode="auto">
          <a:xfrm>
            <a:off x="1143000" y="0"/>
            <a:ext cx="5715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1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8195" name="Rectangle 36"/>
          <p:cNvSpPr>
            <a:spLocks noChangeArrowheads="1"/>
          </p:cNvSpPr>
          <p:nvPr/>
        </p:nvSpPr>
        <p:spPr bwMode="auto">
          <a:xfrm>
            <a:off x="323850" y="55992"/>
            <a:ext cx="8640763" cy="605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15000"/>
              </a:lnSpc>
            </a:pP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电路模型   </a:t>
            </a:r>
            <a:r>
              <a:rPr lang="en-US" altLang="zh-CN" sz="2600" b="1" dirty="0">
                <a:latin typeface="Times New Roman" panose="02020603050405020304" pitchFamily="18" charset="0"/>
                <a:ea typeface="华文中宋" panose="02010600040101010101" pitchFamily="2" charset="-122"/>
                <a:cs typeface="Times New Roman" panose="02020603050405020304" pitchFamily="18" charset="0"/>
              </a:rPr>
              <a:t>(circuit model)</a:t>
            </a:r>
          </a:p>
          <a:p>
            <a:pPr algn="just" eaLnBrk="1" hangingPunct="1">
              <a:lnSpc>
                <a:spcPct val="115000"/>
              </a:lnSpc>
            </a:pPr>
            <a:endParaRPr lang="en-US" altLang="zh-CN" sz="2600" dirty="0">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lnSpc>
                <a:spcPct val="115000"/>
              </a:lnSpc>
              <a:buFontTx/>
              <a:buAutoNum type="arabicPeriod"/>
            </a:pPr>
            <a:r>
              <a:rPr lang="zh-CN" altLang="en-US"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理想电路元件：</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根据实际</a:t>
            </a:r>
            <a:r>
              <a:rPr lang="zh-CN" altLang="en-US" sz="2600" b="1" dirty="0" smtClean="0">
                <a:latin typeface="Times New Roman" panose="02020603050405020304" pitchFamily="18" charset="0"/>
                <a:ea typeface="华文中宋" panose="02010600040101010101" pitchFamily="2" charset="-122"/>
                <a:cs typeface="Times New Roman" panose="02020603050405020304" pitchFamily="18" charset="0"/>
              </a:rPr>
              <a:t>电路元件具备</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的电磁</a:t>
            </a:r>
            <a:r>
              <a:rPr lang="zh-CN" altLang="en-US" sz="2600" b="1" dirty="0" smtClean="0">
                <a:latin typeface="Times New Roman" panose="02020603050405020304" pitchFamily="18" charset="0"/>
                <a:ea typeface="华文中宋" panose="02010600040101010101" pitchFamily="2" charset="-122"/>
                <a:cs typeface="Times New Roman" panose="02020603050405020304" pitchFamily="18" charset="0"/>
              </a:rPr>
              <a:t>性质，简化和设想为具有</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某种单一电磁性质的元件，其</a:t>
            </a:r>
            <a:r>
              <a:rPr lang="en-US" altLang="zh-CN" sz="2600" b="1" i="1" dirty="0">
                <a:latin typeface="Times New Roman" panose="02020603050405020304" pitchFamily="18" charset="0"/>
                <a:ea typeface="华文中宋" panose="02010600040101010101" pitchFamily="2" charset="-122"/>
                <a:cs typeface="Times New Roman" panose="02020603050405020304" pitchFamily="18" charset="0"/>
              </a:rPr>
              <a:t>u</a:t>
            </a:r>
            <a:r>
              <a:rPr lang="zh-CN" altLang="en-US" sz="2600" b="1" i="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600" b="1" i="1" dirty="0" err="1">
                <a:latin typeface="Times New Roman" panose="02020603050405020304" pitchFamily="18" charset="0"/>
                <a:ea typeface="华文中宋" panose="02010600040101010101" pitchFamily="2" charset="-122"/>
                <a:cs typeface="Times New Roman" panose="02020603050405020304" pitchFamily="18" charset="0"/>
              </a:rPr>
              <a:t>i</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关系可用简单的</a:t>
            </a:r>
            <a:r>
              <a:rPr lang="zh-CN" altLang="en-US" sz="2600" b="1" dirty="0" smtClean="0">
                <a:latin typeface="Times New Roman" panose="02020603050405020304" pitchFamily="18" charset="0"/>
                <a:ea typeface="华文中宋" panose="02010600040101010101" pitchFamily="2" charset="-122"/>
                <a:cs typeface="Times New Roman" panose="02020603050405020304" pitchFamily="18" charset="0"/>
              </a:rPr>
              <a:t>数学公式严格</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表示</a:t>
            </a:r>
            <a:r>
              <a:rPr lang="zh-CN" altLang="en-US" sz="2600" b="1" dirty="0" smtClean="0">
                <a:latin typeface="Times New Roman" panose="02020603050405020304" pitchFamily="18" charset="0"/>
                <a:ea typeface="华文中宋" panose="02010600040101010101" pitchFamily="2" charset="-122"/>
                <a:cs typeface="Times New Roman" panose="02020603050405020304" pitchFamily="18" charset="0"/>
              </a:rPr>
              <a:t>。</a:t>
            </a:r>
            <a:endParaRPr lang="zh-CN" altLang="en-US" sz="2600" dirty="0">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lnSpc>
                <a:spcPct val="115000"/>
              </a:lnSpc>
              <a:spcBef>
                <a:spcPts val="1800"/>
              </a:spcBef>
            </a:pPr>
            <a:r>
              <a:rPr lang="zh-CN" altLang="en-US" sz="26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几种基本的</a:t>
            </a:r>
            <a:r>
              <a:rPr lang="zh-CN" altLang="en-US" sz="2600" b="1" dirty="0" smtClean="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电路元件：（符号见图</a:t>
            </a:r>
            <a:r>
              <a:rPr lang="en-US" altLang="zh-CN" sz="2600" b="1" dirty="0" smtClean="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1-4</a:t>
            </a:r>
            <a:r>
              <a:rPr lang="zh-CN" altLang="en-US" sz="2600" b="1" dirty="0" smtClean="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endParaRPr lang="zh-CN" altLang="en-US" sz="26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lnSpc>
                <a:spcPct val="115000"/>
              </a:lnSpc>
            </a:pP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电阻元件</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：表示</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消耗电能并将其转换为热能或其他形式</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能</a:t>
            </a:r>
            <a:r>
              <a:rPr lang="en-US" altLang="zh-CN" b="1" dirty="0" smtClean="0">
                <a:latin typeface="Times New Roman" panose="02020603050405020304" pitchFamily="18" charset="0"/>
                <a:ea typeface="华文中宋" panose="02010600040101010101" pitchFamily="2" charset="-122"/>
                <a:cs typeface="Times New Roman" panose="02020603050405020304" pitchFamily="18" charset="0"/>
              </a:rPr>
              <a:t>           </a:t>
            </a:r>
          </a:p>
          <a:p>
            <a:pPr algn="just" eaLnBrk="1" hangingPunct="1">
              <a:lnSpc>
                <a:spcPct val="115000"/>
              </a:lnSpc>
            </a:pP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b="1" dirty="0" smtClean="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量</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的元件，</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用Ｒ表示。</a:t>
            </a:r>
            <a:endParaRPr lang="en-US" altLang="zh-CN" b="1" dirty="0" smtClean="0">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lnSpc>
                <a:spcPct val="115000"/>
              </a:lnSpc>
            </a:pP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电感</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元件：</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表示各种电感线圈产生</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磁场，储存磁场能量</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的</a:t>
            </a:r>
            <a:endParaRPr lang="en-US" altLang="zh-CN" b="1" dirty="0" smtClean="0">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lnSpc>
                <a:spcPct val="115000"/>
              </a:lnSpc>
            </a:pP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b="1" dirty="0" smtClean="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元件，用</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Ｌ</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表示：</a:t>
            </a:r>
            <a:endParaRPr lang="en-US" altLang="zh-CN" b="1" dirty="0" smtClean="0">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lnSpc>
                <a:spcPct val="115000"/>
              </a:lnSpc>
            </a:pP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电容元件</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：表示</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各种电容器产生</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电场，储存电场能量</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的元件，</a:t>
            </a:r>
            <a:endParaRPr lang="en-US" altLang="zh-CN" b="1" dirty="0" smtClean="0">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lnSpc>
                <a:spcPct val="115000"/>
              </a:lnSpc>
            </a:pP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b="1" dirty="0" smtClean="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用</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Ｃ表示</a:t>
            </a:r>
            <a:endParaRPr lang="zh-CN" altLang="en-US" dirty="0" smtClean="0">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lnSpc>
                <a:spcPct val="115000"/>
              </a:lnSpc>
            </a:pPr>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电源</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元件：表示各种将其它形式的能量转变成电能的元件</a:t>
            </a:r>
          </a:p>
        </p:txBody>
      </p:sp>
      <p:sp>
        <p:nvSpPr>
          <p:cNvPr id="2" name="灯片编号占位符 1"/>
          <p:cNvSpPr>
            <a:spLocks noGrp="1"/>
          </p:cNvSpPr>
          <p:nvPr>
            <p:ph type="sldNum" sz="quarter" idx="12"/>
          </p:nvPr>
        </p:nvSpPr>
        <p:spPr/>
        <p:txBody>
          <a:bodyPr/>
          <a:lstStyle/>
          <a:p>
            <a:pPr>
              <a:defRPr/>
            </a:pPr>
            <a:fld id="{7F6DAC6E-051E-43BF-A607-F6F4F9E2F096}" type="slidenum">
              <a:rPr lang="en-US" altLang="zh-CN" smtClean="0"/>
              <a:pPr>
                <a:defRPr/>
              </a:pPr>
              <a:t>5</a:t>
            </a:fld>
            <a:endParaRPr lang="en-US" altLang="zh-C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A858D70-981D-4DDE-A1FE-A856BDE67F76}"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6</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19" name="Rectangle 4"/>
          <p:cNvSpPr>
            <a:spLocks noChangeArrowheads="1"/>
          </p:cNvSpPr>
          <p:nvPr/>
        </p:nvSpPr>
        <p:spPr bwMode="auto">
          <a:xfrm>
            <a:off x="395288" y="1201962"/>
            <a:ext cx="8137525" cy="2074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5000"/>
              </a:lnSpc>
              <a:spcBef>
                <a:spcPct val="0"/>
              </a:spcBef>
              <a:buFontTx/>
              <a:buNone/>
            </a:pPr>
            <a:r>
              <a:rPr lang="zh-CN" altLang="en-US" sz="2800" b="1" dirty="0" smtClean="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电路模型：</a:t>
            </a:r>
            <a:r>
              <a:rPr lang="zh-CN" altLang="en-US" sz="2800" b="1" dirty="0" smtClean="0">
                <a:latin typeface="Times New Roman" panose="02020603050405020304" pitchFamily="18" charset="0"/>
                <a:ea typeface="华文中宋" panose="02010600040101010101" pitchFamily="2" charset="-122"/>
                <a:cs typeface="Times New Roman" panose="02020603050405020304" pitchFamily="18" charset="0"/>
              </a:rPr>
              <a:t>将</a:t>
            </a:r>
            <a:r>
              <a:rPr lang="zh-CN" altLang="en-US" sz="2800" b="1" dirty="0" smtClean="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实际电路中的元件</a:t>
            </a:r>
            <a:r>
              <a:rPr lang="zh-CN" altLang="en-US" sz="2800" b="1" dirty="0" smtClean="0">
                <a:solidFill>
                  <a:srgbClr val="92D050"/>
                </a:solidFill>
                <a:latin typeface="Times New Roman" panose="02020603050405020304" pitchFamily="18" charset="0"/>
                <a:ea typeface="华文中宋" panose="02010600040101010101" pitchFamily="2" charset="-122"/>
                <a:cs typeface="Times New Roman" panose="02020603050405020304" pitchFamily="18" charset="0"/>
              </a:rPr>
              <a:t>由元件的模型（理想元件及其组合）</a:t>
            </a:r>
            <a:r>
              <a:rPr lang="zh-CN" altLang="en-US" sz="2800" b="1" dirty="0" smtClean="0">
                <a:latin typeface="Times New Roman" panose="02020603050405020304" pitchFamily="18" charset="0"/>
                <a:ea typeface="华文中宋" panose="02010600040101010101" pitchFamily="2" charset="-122"/>
                <a:cs typeface="Times New Roman" panose="02020603050405020304" pitchFamily="18" charset="0"/>
              </a:rPr>
              <a:t>来代替，就可得到实际电路的电路模型。简称电路。            </a:t>
            </a:r>
          </a:p>
          <a:p>
            <a:pPr algn="just" eaLnBrk="1" hangingPunct="1">
              <a:lnSpc>
                <a:spcPct val="115000"/>
              </a:lnSpc>
              <a:spcBef>
                <a:spcPct val="0"/>
              </a:spcBef>
              <a:buFontTx/>
              <a:buNone/>
            </a:pPr>
            <a:r>
              <a:rPr lang="zh-CN" altLang="en-US" sz="2800" b="1" dirty="0" smtClean="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800" b="1" dirty="0">
                <a:latin typeface="Times New Roman" panose="02020603050405020304" pitchFamily="18" charset="0"/>
                <a:ea typeface="华文中宋" panose="02010600040101010101" pitchFamily="2" charset="-122"/>
                <a:cs typeface="Times New Roman" panose="02020603050405020304" pitchFamily="18" charset="0"/>
              </a:rPr>
              <a:t>*电路模型是由</a:t>
            </a:r>
            <a:r>
              <a:rPr lang="zh-CN" altLang="en-US" sz="2800" b="1" dirty="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理想电路元件</a:t>
            </a:r>
            <a:r>
              <a:rPr lang="zh-CN" altLang="en-US" sz="2800" b="1" dirty="0">
                <a:latin typeface="Times New Roman" panose="02020603050405020304" pitchFamily="18" charset="0"/>
                <a:ea typeface="华文中宋" panose="02010600040101010101" pitchFamily="2" charset="-122"/>
                <a:cs typeface="Times New Roman" panose="02020603050405020304" pitchFamily="18" charset="0"/>
              </a:rPr>
              <a:t>构成的。</a:t>
            </a:r>
          </a:p>
        </p:txBody>
      </p:sp>
      <p:sp>
        <p:nvSpPr>
          <p:cNvPr id="9220" name="Rectangle 45"/>
          <p:cNvSpPr>
            <a:spLocks noChangeArrowheads="1"/>
          </p:cNvSpPr>
          <p:nvPr/>
        </p:nvSpPr>
        <p:spPr bwMode="auto">
          <a:xfrm>
            <a:off x="-95250" y="2158356"/>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21" name="Rectangle 46"/>
          <p:cNvSpPr>
            <a:spLocks noChangeArrowheads="1"/>
          </p:cNvSpPr>
          <p:nvPr/>
        </p:nvSpPr>
        <p:spPr bwMode="auto">
          <a:xfrm>
            <a:off x="95250" y="2389188"/>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22" name="Rectangle 79"/>
          <p:cNvSpPr>
            <a:spLocks noChangeArrowheads="1"/>
          </p:cNvSpPr>
          <p:nvPr/>
        </p:nvSpPr>
        <p:spPr bwMode="auto">
          <a:xfrm>
            <a:off x="95250" y="31189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zh-CN" sz="1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23" name="Rectangle 80"/>
          <p:cNvSpPr>
            <a:spLocks noChangeArrowheads="1"/>
          </p:cNvSpPr>
          <p:nvPr/>
        </p:nvSpPr>
        <p:spPr bwMode="auto">
          <a:xfrm>
            <a:off x="5508625" y="5947718"/>
            <a:ext cx="23166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0"/>
                </a:solidFill>
                <a:latin typeface="Times New Roman" panose="02020603050405020304" pitchFamily="18" charset="0"/>
                <a:ea typeface="华文中宋" panose="02010600040101010101" pitchFamily="2" charset="-122"/>
                <a:cs typeface="Times New Roman" panose="02020603050405020304" pitchFamily="18" charset="0"/>
              </a:rPr>
              <a:t>电路模型</a:t>
            </a:r>
            <a:r>
              <a:rPr lang="en-US" altLang="zh-CN" sz="2400" b="1">
                <a:solidFill>
                  <a:srgbClr val="0000F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a:solidFill>
                  <a:srgbClr val="0000F0"/>
                </a:solidFill>
                <a:latin typeface="Times New Roman" panose="02020603050405020304" pitchFamily="18" charset="0"/>
                <a:ea typeface="华文中宋" panose="02010600040101010101" pitchFamily="2" charset="-122"/>
                <a:cs typeface="Times New Roman" panose="02020603050405020304" pitchFamily="18" charset="0"/>
              </a:rPr>
              <a:t>电路</a:t>
            </a:r>
            <a:r>
              <a:rPr lang="en-US" altLang="zh-CN" sz="2400" b="1">
                <a:solidFill>
                  <a:srgbClr val="0000F0"/>
                </a:solidFill>
                <a:latin typeface="Times New Roman" panose="02020603050405020304" pitchFamily="18" charset="0"/>
                <a:ea typeface="华文中宋" panose="02010600040101010101" pitchFamily="2" charset="-122"/>
                <a:cs typeface="Times New Roman" panose="02020603050405020304" pitchFamily="18" charset="0"/>
              </a:rPr>
              <a:t>) </a:t>
            </a:r>
          </a:p>
        </p:txBody>
      </p:sp>
      <p:grpSp>
        <p:nvGrpSpPr>
          <p:cNvPr id="9224" name="Group 121"/>
          <p:cNvGrpSpPr>
            <a:grpSpLocks/>
          </p:cNvGrpSpPr>
          <p:nvPr/>
        </p:nvGrpSpPr>
        <p:grpSpPr bwMode="auto">
          <a:xfrm>
            <a:off x="900113" y="3860800"/>
            <a:ext cx="3455987" cy="1782763"/>
            <a:chOff x="567" y="2432"/>
            <a:chExt cx="1440" cy="1123"/>
          </a:xfrm>
        </p:grpSpPr>
        <p:pic>
          <p:nvPicPr>
            <p:cNvPr id="9243" name="Picture 8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45" y="3127"/>
              <a:ext cx="135"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244" name="Group 83"/>
            <p:cNvGrpSpPr>
              <a:grpSpLocks/>
            </p:cNvGrpSpPr>
            <p:nvPr/>
          </p:nvGrpSpPr>
          <p:grpSpPr bwMode="auto">
            <a:xfrm>
              <a:off x="1174" y="2839"/>
              <a:ext cx="206" cy="164"/>
              <a:chOff x="1344" y="1884"/>
              <a:chExt cx="336" cy="239"/>
            </a:xfrm>
          </p:grpSpPr>
          <p:pic>
            <p:nvPicPr>
              <p:cNvPr id="9263" name="Picture 8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4" y="1884"/>
                <a:ext cx="33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64" name="Line 85"/>
              <p:cNvSpPr>
                <a:spLocks noChangeShapeType="1"/>
              </p:cNvSpPr>
              <p:nvPr/>
            </p:nvSpPr>
            <p:spPr bwMode="auto">
              <a:xfrm flipV="1">
                <a:off x="1440" y="2016"/>
                <a:ext cx="144"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9245" name="Group 86"/>
            <p:cNvGrpSpPr>
              <a:grpSpLocks/>
            </p:cNvGrpSpPr>
            <p:nvPr/>
          </p:nvGrpSpPr>
          <p:grpSpPr bwMode="auto">
            <a:xfrm>
              <a:off x="851" y="3102"/>
              <a:ext cx="176" cy="329"/>
              <a:chOff x="864" y="2555"/>
              <a:chExt cx="288" cy="480"/>
            </a:xfrm>
          </p:grpSpPr>
          <p:sp>
            <p:nvSpPr>
              <p:cNvPr id="9261" name="AutoShape 87"/>
              <p:cNvSpPr>
                <a:spLocks noChangeArrowheads="1"/>
              </p:cNvSpPr>
              <p:nvPr/>
            </p:nvSpPr>
            <p:spPr bwMode="auto">
              <a:xfrm>
                <a:off x="864" y="2555"/>
                <a:ext cx="288" cy="480"/>
              </a:xfrm>
              <a:prstGeom prst="can">
                <a:avLst>
                  <a:gd name="adj" fmla="val 41667"/>
                </a:avLst>
              </a:prstGeom>
              <a:solidFill>
                <a:srgbClr val="CCFF33"/>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62" name="AutoShape 88"/>
              <p:cNvSpPr>
                <a:spLocks noChangeArrowheads="1"/>
              </p:cNvSpPr>
              <p:nvPr/>
            </p:nvSpPr>
            <p:spPr bwMode="auto">
              <a:xfrm>
                <a:off x="960" y="2555"/>
                <a:ext cx="96" cy="85"/>
              </a:xfrm>
              <a:prstGeom prst="can">
                <a:avLst>
                  <a:gd name="adj" fmla="val 45690"/>
                </a:avLst>
              </a:prstGeom>
              <a:solidFill>
                <a:srgbClr val="CCFF33"/>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246" name="Freeform 89"/>
            <p:cNvSpPr>
              <a:spLocks/>
            </p:cNvSpPr>
            <p:nvPr/>
          </p:nvSpPr>
          <p:spPr bwMode="auto">
            <a:xfrm>
              <a:off x="939" y="2929"/>
              <a:ext cx="264" cy="165"/>
            </a:xfrm>
            <a:custGeom>
              <a:avLst/>
              <a:gdLst>
                <a:gd name="T0" fmla="*/ 0 w 432"/>
                <a:gd name="T1" fmla="*/ 25 h 240"/>
                <a:gd name="T2" fmla="*/ 0 w 432"/>
                <a:gd name="T3" fmla="*/ 0 h 240"/>
                <a:gd name="T4" fmla="*/ 23 w 432"/>
                <a:gd name="T5" fmla="*/ 0 h 240"/>
                <a:gd name="T6" fmla="*/ 0 60000 65536"/>
                <a:gd name="T7" fmla="*/ 0 60000 65536"/>
                <a:gd name="T8" fmla="*/ 0 60000 65536"/>
              </a:gdLst>
              <a:ahLst/>
              <a:cxnLst>
                <a:cxn ang="T6">
                  <a:pos x="T0" y="T1"/>
                </a:cxn>
                <a:cxn ang="T7">
                  <a:pos x="T2" y="T3"/>
                </a:cxn>
                <a:cxn ang="T8">
                  <a:pos x="T4" y="T5"/>
                </a:cxn>
              </a:cxnLst>
              <a:rect l="0" t="0" r="r" b="b"/>
              <a:pathLst>
                <a:path w="432" h="240">
                  <a:moveTo>
                    <a:pt x="0" y="240"/>
                  </a:moveTo>
                  <a:lnTo>
                    <a:pt x="0" y="0"/>
                  </a:lnTo>
                  <a:lnTo>
                    <a:pt x="432" y="0"/>
                  </a:lnTo>
                </a:path>
              </a:pathLst>
            </a:cu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47" name="Freeform 90"/>
            <p:cNvSpPr>
              <a:spLocks/>
            </p:cNvSpPr>
            <p:nvPr/>
          </p:nvSpPr>
          <p:spPr bwMode="auto">
            <a:xfrm>
              <a:off x="1351" y="2929"/>
              <a:ext cx="352" cy="429"/>
            </a:xfrm>
            <a:custGeom>
              <a:avLst/>
              <a:gdLst>
                <a:gd name="T0" fmla="*/ 0 w 528"/>
                <a:gd name="T1" fmla="*/ 0 h 624"/>
                <a:gd name="T2" fmla="*/ 17 w 528"/>
                <a:gd name="T3" fmla="*/ 0 h 624"/>
                <a:gd name="T4" fmla="*/ 17 w 528"/>
                <a:gd name="T5" fmla="*/ 66 h 624"/>
                <a:gd name="T6" fmla="*/ 47 w 528"/>
                <a:gd name="T7" fmla="*/ 66 h 6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8" h="624">
                  <a:moveTo>
                    <a:pt x="0" y="0"/>
                  </a:moveTo>
                  <a:lnTo>
                    <a:pt x="192" y="0"/>
                  </a:lnTo>
                  <a:lnTo>
                    <a:pt x="192" y="624"/>
                  </a:lnTo>
                  <a:lnTo>
                    <a:pt x="528" y="624"/>
                  </a:lnTo>
                </a:path>
              </a:pathLst>
            </a:cu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48" name="Freeform 91"/>
            <p:cNvSpPr>
              <a:spLocks/>
            </p:cNvSpPr>
            <p:nvPr/>
          </p:nvSpPr>
          <p:spPr bwMode="auto">
            <a:xfrm>
              <a:off x="939" y="3390"/>
              <a:ext cx="764" cy="165"/>
            </a:xfrm>
            <a:custGeom>
              <a:avLst/>
              <a:gdLst>
                <a:gd name="T0" fmla="*/ 66 w 1248"/>
                <a:gd name="T1" fmla="*/ 0 h 240"/>
                <a:gd name="T2" fmla="*/ 66 w 1248"/>
                <a:gd name="T3" fmla="*/ 25 h 240"/>
                <a:gd name="T4" fmla="*/ 0 w 1248"/>
                <a:gd name="T5" fmla="*/ 25 h 240"/>
                <a:gd name="T6" fmla="*/ 0 w 1248"/>
                <a:gd name="T7" fmla="*/ 6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48" h="240">
                  <a:moveTo>
                    <a:pt x="1248" y="0"/>
                  </a:moveTo>
                  <a:lnTo>
                    <a:pt x="1248" y="240"/>
                  </a:lnTo>
                  <a:lnTo>
                    <a:pt x="0" y="240"/>
                  </a:lnTo>
                  <a:lnTo>
                    <a:pt x="0" y="48"/>
                  </a:lnTo>
                </a:path>
              </a:pathLst>
            </a:custGeom>
            <a:noFill/>
            <a:ln w="127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9249" name="Group 92"/>
            <p:cNvGrpSpPr>
              <a:grpSpLocks/>
            </p:cNvGrpSpPr>
            <p:nvPr/>
          </p:nvGrpSpPr>
          <p:grpSpPr bwMode="auto">
            <a:xfrm>
              <a:off x="1566" y="3040"/>
              <a:ext cx="288" cy="176"/>
              <a:chOff x="2031" y="2465"/>
              <a:chExt cx="471" cy="256"/>
            </a:xfrm>
          </p:grpSpPr>
          <p:sp>
            <p:nvSpPr>
              <p:cNvPr id="9254" name="Freeform 93"/>
              <p:cNvSpPr>
                <a:spLocks/>
              </p:cNvSpPr>
              <p:nvPr/>
            </p:nvSpPr>
            <p:spPr bwMode="auto">
              <a:xfrm>
                <a:off x="2031" y="2708"/>
                <a:ext cx="86" cy="9"/>
              </a:xfrm>
              <a:custGeom>
                <a:avLst/>
                <a:gdLst>
                  <a:gd name="T0" fmla="*/ 86 w 86"/>
                  <a:gd name="T1" fmla="*/ 9 h 9"/>
                  <a:gd name="T2" fmla="*/ 0 w 86"/>
                  <a:gd name="T3" fmla="*/ 0 h 9"/>
                  <a:gd name="T4" fmla="*/ 0 60000 65536"/>
                  <a:gd name="T5" fmla="*/ 0 60000 65536"/>
                </a:gdLst>
                <a:ahLst/>
                <a:cxnLst>
                  <a:cxn ang="T4">
                    <a:pos x="T0" y="T1"/>
                  </a:cxn>
                  <a:cxn ang="T5">
                    <a:pos x="T2" y="T3"/>
                  </a:cxn>
                </a:cxnLst>
                <a:rect l="0" t="0" r="r" b="b"/>
                <a:pathLst>
                  <a:path w="86" h="9">
                    <a:moveTo>
                      <a:pt x="86" y="9"/>
                    </a:moveTo>
                    <a:lnTo>
                      <a:pt x="0" y="0"/>
                    </a:lnTo>
                  </a:path>
                </a:pathLst>
              </a:custGeom>
              <a:noFill/>
              <a:ln w="1270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55" name="Freeform 94"/>
              <p:cNvSpPr>
                <a:spLocks/>
              </p:cNvSpPr>
              <p:nvPr/>
            </p:nvSpPr>
            <p:spPr bwMode="auto">
              <a:xfrm>
                <a:off x="2258" y="2465"/>
                <a:ext cx="1" cy="66"/>
              </a:xfrm>
              <a:custGeom>
                <a:avLst/>
                <a:gdLst>
                  <a:gd name="T0" fmla="*/ 0 w 1"/>
                  <a:gd name="T1" fmla="*/ 0 h 66"/>
                  <a:gd name="T2" fmla="*/ 0 w 1"/>
                  <a:gd name="T3" fmla="*/ 66 h 66"/>
                  <a:gd name="T4" fmla="*/ 0 60000 65536"/>
                  <a:gd name="T5" fmla="*/ 0 60000 65536"/>
                </a:gdLst>
                <a:ahLst/>
                <a:cxnLst>
                  <a:cxn ang="T4">
                    <a:pos x="T0" y="T1"/>
                  </a:cxn>
                  <a:cxn ang="T5">
                    <a:pos x="T2" y="T3"/>
                  </a:cxn>
                </a:cxnLst>
                <a:rect l="0" t="0" r="r" b="b"/>
                <a:pathLst>
                  <a:path w="1" h="66">
                    <a:moveTo>
                      <a:pt x="0" y="0"/>
                    </a:moveTo>
                    <a:lnTo>
                      <a:pt x="0" y="66"/>
                    </a:lnTo>
                  </a:path>
                </a:pathLst>
              </a:custGeom>
              <a:noFill/>
              <a:ln w="1270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56" name="Line 95"/>
              <p:cNvSpPr>
                <a:spLocks noChangeShapeType="1"/>
              </p:cNvSpPr>
              <p:nvPr/>
            </p:nvSpPr>
            <p:spPr bwMode="auto">
              <a:xfrm rot="-68746">
                <a:off x="2112" y="2496"/>
                <a:ext cx="48" cy="59"/>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57" name="Line 96"/>
              <p:cNvSpPr>
                <a:spLocks noChangeShapeType="1"/>
              </p:cNvSpPr>
              <p:nvPr/>
            </p:nvSpPr>
            <p:spPr bwMode="auto">
              <a:xfrm rot="-708147">
                <a:off x="2064" y="2592"/>
                <a:ext cx="48" cy="37"/>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58" name="Line 97"/>
              <p:cNvSpPr>
                <a:spLocks noChangeShapeType="1"/>
              </p:cNvSpPr>
              <p:nvPr/>
            </p:nvSpPr>
            <p:spPr bwMode="auto">
              <a:xfrm flipH="1">
                <a:off x="2352" y="2496"/>
                <a:ext cx="29" cy="48"/>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59" name="Line 98"/>
              <p:cNvSpPr>
                <a:spLocks noChangeShapeType="1"/>
              </p:cNvSpPr>
              <p:nvPr/>
            </p:nvSpPr>
            <p:spPr bwMode="auto">
              <a:xfrm rot="823120" flipH="1">
                <a:off x="2400" y="2581"/>
                <a:ext cx="48" cy="48"/>
              </a:xfrm>
              <a:prstGeom prst="line">
                <a:avLst/>
              </a:prstGeom>
              <a:noFill/>
              <a:ln w="127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60" name="Freeform 99"/>
              <p:cNvSpPr>
                <a:spLocks/>
              </p:cNvSpPr>
              <p:nvPr/>
            </p:nvSpPr>
            <p:spPr bwMode="auto">
              <a:xfrm>
                <a:off x="2439" y="2703"/>
                <a:ext cx="63" cy="18"/>
              </a:xfrm>
              <a:custGeom>
                <a:avLst/>
                <a:gdLst>
                  <a:gd name="T0" fmla="*/ 63 w 63"/>
                  <a:gd name="T1" fmla="*/ 0 h 18"/>
                  <a:gd name="T2" fmla="*/ 0 w 63"/>
                  <a:gd name="T3" fmla="*/ 18 h 18"/>
                  <a:gd name="T4" fmla="*/ 0 60000 65536"/>
                  <a:gd name="T5" fmla="*/ 0 60000 65536"/>
                </a:gdLst>
                <a:ahLst/>
                <a:cxnLst>
                  <a:cxn ang="T4">
                    <a:pos x="T0" y="T1"/>
                  </a:cxn>
                  <a:cxn ang="T5">
                    <a:pos x="T2" y="T3"/>
                  </a:cxn>
                </a:cxnLst>
                <a:rect l="0" t="0" r="r" b="b"/>
                <a:pathLst>
                  <a:path w="63" h="18">
                    <a:moveTo>
                      <a:pt x="63" y="0"/>
                    </a:moveTo>
                    <a:lnTo>
                      <a:pt x="0" y="18"/>
                    </a:lnTo>
                  </a:path>
                </a:pathLst>
              </a:custGeom>
              <a:noFill/>
              <a:ln w="1270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250" name="Text Box 100"/>
            <p:cNvSpPr txBox="1">
              <a:spLocks noChangeArrowheads="1"/>
            </p:cNvSpPr>
            <p:nvPr/>
          </p:nvSpPr>
          <p:spPr bwMode="auto">
            <a:xfrm>
              <a:off x="1125" y="3358"/>
              <a:ext cx="391" cy="1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5E574E"/>
                    </a:outerShdw>
                  </a:effectLst>
                </a14:hiddenEffects>
              </a:ext>
            </a:extLst>
          </p:spPr>
          <p:txBody>
            <a:bodyPr lIns="55778" tIns="27888" rIns="55778" bIns="2788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导线	</a:t>
              </a:r>
              <a:endParaRPr lang="zh-CN" altLang="en-US" sz="1000">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0"/>
                </a:spcBef>
                <a:buFontTx/>
                <a:buNone/>
              </a:pPr>
              <a:endParaRPr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pic>
          <p:nvPicPr>
            <p:cNvPr id="9251" name="Picture 101" descr="image003"/>
            <p:cNvPicPr preferRelativeResize="0">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 y="3061"/>
              <a:ext cx="284" cy="4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5E574E"/>
                    </a:outerShdw>
                  </a:effectLst>
                </a14:hiddenEffects>
              </a:ext>
            </a:extLst>
          </p:spPr>
        </p:pic>
        <p:sp>
          <p:nvSpPr>
            <p:cNvPr id="9252" name="Text Box 102"/>
            <p:cNvSpPr txBox="1">
              <a:spLocks noChangeArrowheads="1"/>
            </p:cNvSpPr>
            <p:nvPr/>
          </p:nvSpPr>
          <p:spPr bwMode="auto">
            <a:xfrm>
              <a:off x="999" y="2432"/>
              <a:ext cx="476"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5E574E"/>
                    </a:outerShdw>
                  </a:effectLst>
                </a14:hiddenEffects>
              </a:ext>
            </a:extLst>
          </p:spPr>
          <p:txBody>
            <a:bodyPr lIns="55778" tIns="27888" rIns="55778" bIns="2788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en-US" altLang="zh-CN" sz="14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spcBef>
                  <a:spcPct val="0"/>
                </a:spcBef>
                <a:buFontTx/>
                <a:buNone/>
              </a:pPr>
              <a:r>
                <a:rPr lang="zh-CN" altLang="en-US" sz="14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开关	</a:t>
              </a: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53" name="Text Box 103"/>
            <p:cNvSpPr txBox="1">
              <a:spLocks noChangeArrowheads="1"/>
            </p:cNvSpPr>
            <p:nvPr/>
          </p:nvSpPr>
          <p:spPr bwMode="auto">
            <a:xfrm>
              <a:off x="1477" y="2781"/>
              <a:ext cx="530"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5E574E"/>
                    </a:outerShdw>
                  </a:effectLst>
                </a14:hiddenEffects>
              </a:ext>
            </a:extLst>
          </p:spPr>
          <p:txBody>
            <a:bodyPr lIns="55778" tIns="27888" rIns="55778" bIns="27888"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灯泡	</a:t>
              </a:r>
              <a:endParaRPr lang="zh-CN" altLang="en-US" sz="1000">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0"/>
                </a:spcBef>
                <a:buFontTx/>
                <a:buNone/>
              </a:pPr>
              <a:endParaRPr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9225" name="Group 104"/>
          <p:cNvGrpSpPr>
            <a:grpSpLocks/>
          </p:cNvGrpSpPr>
          <p:nvPr/>
        </p:nvGrpSpPr>
        <p:grpSpPr bwMode="auto">
          <a:xfrm>
            <a:off x="5580063" y="4076700"/>
            <a:ext cx="2005012" cy="1366838"/>
            <a:chOff x="3072" y="2170"/>
            <a:chExt cx="1248" cy="950"/>
          </a:xfrm>
        </p:grpSpPr>
        <p:sp>
          <p:nvSpPr>
            <p:cNvPr id="9227" name="Rectangle 105"/>
            <p:cNvSpPr>
              <a:spLocks noChangeArrowheads="1"/>
            </p:cNvSpPr>
            <p:nvPr/>
          </p:nvSpPr>
          <p:spPr bwMode="auto">
            <a:xfrm>
              <a:off x="4224" y="2555"/>
              <a:ext cx="96" cy="229"/>
            </a:xfrm>
            <a:prstGeom prst="rect">
              <a:avLst/>
            </a:prstGeom>
            <a:solidFill>
              <a:srgbClr val="00FFCC"/>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28" name="Rectangle 106"/>
            <p:cNvSpPr>
              <a:spLocks noChangeArrowheads="1"/>
            </p:cNvSpPr>
            <p:nvPr/>
          </p:nvSpPr>
          <p:spPr bwMode="auto">
            <a:xfrm>
              <a:off x="3120" y="2492"/>
              <a:ext cx="96" cy="229"/>
            </a:xfrm>
            <a:prstGeom prst="rect">
              <a:avLst/>
            </a:prstGeom>
            <a:solidFill>
              <a:srgbClr val="00FFCC"/>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9229" name="Group 107"/>
            <p:cNvGrpSpPr>
              <a:grpSpLocks/>
            </p:cNvGrpSpPr>
            <p:nvPr/>
          </p:nvGrpSpPr>
          <p:grpSpPr bwMode="auto">
            <a:xfrm>
              <a:off x="3072" y="2832"/>
              <a:ext cx="192" cy="72"/>
              <a:chOff x="3072" y="2760"/>
              <a:chExt cx="192" cy="72"/>
            </a:xfrm>
          </p:grpSpPr>
          <p:sp>
            <p:nvSpPr>
              <p:cNvPr id="9241" name="Line 108"/>
              <p:cNvSpPr>
                <a:spLocks noChangeShapeType="1"/>
              </p:cNvSpPr>
              <p:nvPr/>
            </p:nvSpPr>
            <p:spPr bwMode="auto">
              <a:xfrm>
                <a:off x="3072" y="2760"/>
                <a:ext cx="192"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42" name="Line 109"/>
              <p:cNvSpPr>
                <a:spLocks noChangeShapeType="1"/>
              </p:cNvSpPr>
              <p:nvPr/>
            </p:nvSpPr>
            <p:spPr bwMode="auto">
              <a:xfrm>
                <a:off x="3120" y="2832"/>
                <a:ext cx="96"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230" name="Line 110"/>
            <p:cNvSpPr>
              <a:spLocks noChangeShapeType="1"/>
            </p:cNvSpPr>
            <p:nvPr/>
          </p:nvSpPr>
          <p:spPr bwMode="auto">
            <a:xfrm rot="2379713">
              <a:off x="3605" y="2170"/>
              <a:ext cx="197" cy="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31" name="Oval 111"/>
            <p:cNvSpPr>
              <a:spLocks noChangeArrowheads="1"/>
            </p:cNvSpPr>
            <p:nvPr/>
          </p:nvSpPr>
          <p:spPr bwMode="auto">
            <a:xfrm>
              <a:off x="3744" y="2203"/>
              <a:ext cx="68" cy="68"/>
            </a:xfrm>
            <a:prstGeom prst="ellipse">
              <a:avLst/>
            </a:prstGeom>
            <a:noFill/>
            <a:ln w="12700">
              <a:solidFill>
                <a:srgbClr val="000000"/>
              </a:solidFill>
              <a:round/>
              <a:headEnd/>
              <a:tailEnd/>
            </a:ln>
            <a:effectLst/>
            <a:extLst>
              <a:ext uri="{909E8E84-426E-40DD-AFC4-6F175D3DCCD1}">
                <a14:hiddenFill xmlns:a14="http://schemas.microsoft.com/office/drawing/2010/main">
                  <a:solidFill>
                    <a:srgbClr val="FFCC00"/>
                  </a:solid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32" name="Line 112"/>
            <p:cNvSpPr>
              <a:spLocks noChangeShapeType="1"/>
            </p:cNvSpPr>
            <p:nvPr/>
          </p:nvSpPr>
          <p:spPr bwMode="auto">
            <a:xfrm>
              <a:off x="3168" y="2240"/>
              <a:ext cx="437"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33" name="Line 113"/>
            <p:cNvSpPr>
              <a:spLocks noChangeShapeType="1"/>
            </p:cNvSpPr>
            <p:nvPr/>
          </p:nvSpPr>
          <p:spPr bwMode="auto">
            <a:xfrm>
              <a:off x="3168" y="2240"/>
              <a:ext cx="0" cy="25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34" name="Line 114"/>
            <p:cNvSpPr>
              <a:spLocks noChangeShapeType="1"/>
            </p:cNvSpPr>
            <p:nvPr/>
          </p:nvSpPr>
          <p:spPr bwMode="auto">
            <a:xfrm>
              <a:off x="3168" y="2717"/>
              <a:ext cx="0" cy="11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35" name="Line 115"/>
            <p:cNvSpPr>
              <a:spLocks noChangeShapeType="1"/>
            </p:cNvSpPr>
            <p:nvPr/>
          </p:nvSpPr>
          <p:spPr bwMode="auto">
            <a:xfrm>
              <a:off x="3168" y="2904"/>
              <a:ext cx="0" cy="21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36" name="Line 116"/>
            <p:cNvSpPr>
              <a:spLocks noChangeShapeType="1"/>
            </p:cNvSpPr>
            <p:nvPr/>
          </p:nvSpPr>
          <p:spPr bwMode="auto">
            <a:xfrm>
              <a:off x="3168" y="3120"/>
              <a:ext cx="110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37" name="Line 117"/>
            <p:cNvSpPr>
              <a:spLocks noChangeShapeType="1"/>
            </p:cNvSpPr>
            <p:nvPr/>
          </p:nvSpPr>
          <p:spPr bwMode="auto">
            <a:xfrm>
              <a:off x="3812" y="2240"/>
              <a:ext cx="46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38" name="Line 118"/>
            <p:cNvSpPr>
              <a:spLocks noChangeShapeType="1"/>
            </p:cNvSpPr>
            <p:nvPr/>
          </p:nvSpPr>
          <p:spPr bwMode="auto">
            <a:xfrm>
              <a:off x="4272" y="2240"/>
              <a:ext cx="0" cy="315"/>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39" name="Line 119"/>
            <p:cNvSpPr>
              <a:spLocks noChangeShapeType="1"/>
            </p:cNvSpPr>
            <p:nvPr/>
          </p:nvSpPr>
          <p:spPr bwMode="auto">
            <a:xfrm>
              <a:off x="4272" y="2784"/>
              <a:ext cx="0" cy="33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240" name="Rectangle 120"/>
            <p:cNvSpPr>
              <a:spLocks noChangeArrowheads="1"/>
            </p:cNvSpPr>
            <p:nvPr/>
          </p:nvSpPr>
          <p:spPr bwMode="auto">
            <a:xfrm>
              <a:off x="3072" y="2411"/>
              <a:ext cx="192" cy="565"/>
            </a:xfrm>
            <a:prstGeom prst="rect">
              <a:avLst/>
            </a:prstGeom>
            <a:noFill/>
            <a:ln w="12700">
              <a:solidFill>
                <a:srgbClr val="000000"/>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5E574E"/>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9226" name="Rectangle 122"/>
          <p:cNvSpPr>
            <a:spLocks noChangeArrowheads="1"/>
          </p:cNvSpPr>
          <p:nvPr/>
        </p:nvSpPr>
        <p:spPr bwMode="auto">
          <a:xfrm>
            <a:off x="1763713" y="5949950"/>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400" b="1">
                <a:solidFill>
                  <a:srgbClr val="0000F0"/>
                </a:solidFill>
                <a:latin typeface="Times New Roman" panose="02020603050405020304" pitchFamily="18" charset="0"/>
                <a:ea typeface="华文中宋" panose="02010600040101010101" pitchFamily="2" charset="-122"/>
                <a:cs typeface="Times New Roman" panose="02020603050405020304" pitchFamily="18" charset="0"/>
              </a:rPr>
              <a:t>实际电路</a:t>
            </a: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274638"/>
            <a:ext cx="8229600" cy="510847"/>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sz="4000" b="1" dirty="0" smtClean="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1.2 </a:t>
            </a:r>
            <a:r>
              <a:rPr lang="zh-CN" altLang="en-US" sz="4000" b="1" dirty="0" smtClean="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电路的基本物理量</a:t>
            </a:r>
          </a:p>
        </p:txBody>
      </p:sp>
      <p:sp>
        <p:nvSpPr>
          <p:cNvPr id="10243" name="Rectangle 3"/>
          <p:cNvSpPr>
            <a:spLocks noGrp="1" noChangeArrowheads="1"/>
          </p:cNvSpPr>
          <p:nvPr>
            <p:ph type="body" sz="half" idx="1"/>
          </p:nvPr>
        </p:nvSpPr>
        <p:spPr>
          <a:xfrm>
            <a:off x="91458" y="1196752"/>
            <a:ext cx="6156325" cy="719137"/>
          </a:xfrm>
        </p:spPr>
        <p:txBody>
          <a:bodyPr/>
          <a:lstStyle/>
          <a:p>
            <a:pPr eaLnBrk="1" hangingPunct="1">
              <a:buFontTx/>
              <a:buNone/>
            </a:pPr>
            <a:r>
              <a:rPr lang="en-US" altLang="zh-CN"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1.2.1   </a:t>
            </a:r>
            <a:r>
              <a:rPr lang="zh-CN" altLang="en-US" b="1"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电流和电流的参考方向</a:t>
            </a:r>
          </a:p>
        </p:txBody>
      </p:sp>
      <p:sp>
        <p:nvSpPr>
          <p:cNvPr id="10244" name="Rectangle 5"/>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0245" name="Text Box 12"/>
          <p:cNvSpPr txBox="1">
            <a:spLocks noChangeArrowheads="1"/>
          </p:cNvSpPr>
          <p:nvPr/>
        </p:nvSpPr>
        <p:spPr bwMode="auto">
          <a:xfrm>
            <a:off x="211262" y="3661104"/>
            <a:ext cx="8848568" cy="235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buFontTx/>
              <a:buNone/>
            </a:pPr>
            <a:r>
              <a:rPr lang="en-US" altLang="zh-CN" sz="2200" b="1" i="1" dirty="0">
                <a:latin typeface="Times New Roman" panose="02020603050405020304" pitchFamily="18" charset="0"/>
                <a:ea typeface="华文中宋" panose="02010600040101010101" pitchFamily="2" charset="-122"/>
                <a:cs typeface="Times New Roman" panose="02020603050405020304" pitchFamily="18" charset="0"/>
              </a:rPr>
              <a:t>q</a:t>
            </a:r>
            <a:r>
              <a:rPr lang="en-US" altLang="zh-CN" sz="22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表示电荷量，</a:t>
            </a:r>
            <a:r>
              <a:rPr lang="en-US" altLang="zh-CN" sz="2200" b="1" i="1" dirty="0">
                <a:latin typeface="Times New Roman" panose="02020603050405020304" pitchFamily="18" charset="0"/>
                <a:ea typeface="华文中宋" panose="02010600040101010101" pitchFamily="2" charset="-122"/>
                <a:cs typeface="Times New Roman" panose="02020603050405020304" pitchFamily="18" charset="0"/>
              </a:rPr>
              <a:t>t</a:t>
            </a:r>
            <a:r>
              <a:rPr lang="en-US" altLang="zh-CN" sz="22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表示时间</a:t>
            </a: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200" b="1" dirty="0" smtClean="0">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spcBef>
                <a:spcPts val="600"/>
              </a:spcBef>
              <a:buNone/>
            </a:pPr>
            <a:r>
              <a:rPr lang="zh-CN" altLang="en-US" sz="2200" b="1"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电流的实际方向：</a:t>
            </a: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正电荷移动的方向。</a:t>
            </a:r>
            <a:endParaRPr lang="zh-CN" altLang="en-US" sz="2200" b="1" dirty="0">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spcBef>
                <a:spcPts val="600"/>
              </a:spcBef>
              <a:buFontTx/>
              <a:buNone/>
            </a:pP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      如果</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电流的大小和方向随时间变化，称为时变电流或交变电流，用小写</a:t>
            </a:r>
            <a:r>
              <a:rPr lang="zh-CN" altLang="en-US" sz="2200" b="1" i="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200" b="1" i="1" dirty="0" err="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200" b="1" i="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表示，如果电流的大小和方向不随时间变化，称为恒定电流或直流用大写 </a:t>
            </a:r>
            <a:r>
              <a:rPr lang="en-US" altLang="zh-CN" sz="2200" b="1" i="1" dirty="0">
                <a:latin typeface="Times New Roman" panose="02020603050405020304" pitchFamily="18" charset="0"/>
                <a:ea typeface="华文中宋" panose="02010600040101010101" pitchFamily="2" charset="-122"/>
                <a:cs typeface="Times New Roman" panose="02020603050405020304" pitchFamily="18" charset="0"/>
              </a:rPr>
              <a:t>I  </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表示。</a:t>
            </a:r>
            <a:endParaRPr lang="en-US" altLang="zh-CN" sz="2200" b="1" dirty="0">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spcBef>
                <a:spcPts val="600"/>
              </a:spcBef>
              <a:buFontTx/>
              <a:buNone/>
            </a:pP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单位</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：安</a:t>
            </a:r>
            <a:r>
              <a:rPr lang="en-US" altLang="zh-CN" sz="2200" b="1" dirty="0">
                <a:latin typeface="Times New Roman" panose="02020603050405020304" pitchFamily="18" charset="0"/>
                <a:ea typeface="华文中宋" panose="02010600040101010101" pitchFamily="2" charset="-122"/>
                <a:cs typeface="Times New Roman" panose="02020603050405020304" pitchFamily="18" charset="0"/>
              </a:rPr>
              <a:t>(A) </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，其他</a:t>
            </a: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常用千</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安</a:t>
            </a:r>
            <a:r>
              <a:rPr lang="en-US" altLang="zh-CN" sz="2200" b="1" dirty="0">
                <a:latin typeface="Times New Roman" panose="02020603050405020304" pitchFamily="18" charset="0"/>
                <a:ea typeface="华文中宋" panose="02010600040101010101" pitchFamily="2" charset="-122"/>
                <a:cs typeface="Times New Roman" panose="02020603050405020304" pitchFamily="18" charset="0"/>
              </a:rPr>
              <a:t>(kA) , </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毫安</a:t>
            </a:r>
            <a:r>
              <a:rPr lang="en-US" altLang="zh-CN" sz="2200" b="1" dirty="0">
                <a:latin typeface="Times New Roman" panose="02020603050405020304" pitchFamily="18" charset="0"/>
                <a:ea typeface="华文中宋" panose="02010600040101010101" pitchFamily="2" charset="-122"/>
                <a:cs typeface="Times New Roman" panose="02020603050405020304" pitchFamily="18" charset="0"/>
              </a:rPr>
              <a:t>(mA) ,</a:t>
            </a:r>
            <a:r>
              <a:rPr lang="en-US" altLang="zh-CN" sz="220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微安</a:t>
            </a:r>
            <a:r>
              <a:rPr lang="en-US" altLang="zh-CN" sz="22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200" b="1" dirty="0" err="1">
                <a:latin typeface="Times New Roman" panose="02020603050405020304" pitchFamily="18" charset="0"/>
                <a:ea typeface="华文中宋" panose="02010600040101010101" pitchFamily="2" charset="-122"/>
                <a:cs typeface="Times New Roman" panose="02020603050405020304" pitchFamily="18" charset="0"/>
              </a:rPr>
              <a:t>μA</a:t>
            </a:r>
            <a:r>
              <a:rPr lang="en-US" altLang="zh-CN" sz="2200" b="1" dirty="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0246" name="Rectangle 14"/>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0248" name="Rectangle 18"/>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0249" name="Rectangle 20"/>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0250" name="Rectangle 22"/>
          <p:cNvSpPr>
            <a:spLocks noChangeArrowheads="1"/>
          </p:cNvSpPr>
          <p:nvPr/>
        </p:nvSpPr>
        <p:spPr bwMode="auto">
          <a:xfrm>
            <a:off x="0" y="2874318"/>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0251" name="Rectangle 25"/>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0252" name="Rectangle 27"/>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0253" name="Rectangle 29"/>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0254" name="Rectangle 31"/>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0255" name="Text Box 33"/>
          <p:cNvSpPr txBox="1">
            <a:spLocks noChangeArrowheads="1"/>
          </p:cNvSpPr>
          <p:nvPr/>
        </p:nvSpPr>
        <p:spPr bwMode="auto">
          <a:xfrm>
            <a:off x="273574" y="1844824"/>
            <a:ext cx="889317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    定义：把</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单位时间内通过导体横截面的电荷量定义为电流强度，简称电流，用符号 </a:t>
            </a:r>
            <a:r>
              <a:rPr lang="en-US" altLang="zh-CN" sz="2200" b="1" i="1" dirty="0">
                <a:latin typeface="Times New Roman" panose="02020603050405020304" pitchFamily="18" charset="0"/>
                <a:ea typeface="华文中宋" panose="02010600040101010101" pitchFamily="2" charset="-122"/>
                <a:cs typeface="Times New Roman" panose="02020603050405020304" pitchFamily="18" charset="0"/>
              </a:rPr>
              <a:t>I</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或</a:t>
            </a:r>
            <a:r>
              <a:rPr lang="en-US" altLang="zh-CN" sz="2200" b="1" i="1" dirty="0" err="1">
                <a:latin typeface="Times New Roman" panose="02020603050405020304" pitchFamily="18" charset="0"/>
                <a:ea typeface="华文中宋" panose="02010600040101010101" pitchFamily="2" charset="-122"/>
                <a:cs typeface="Times New Roman" panose="02020603050405020304" pitchFamily="18" charset="0"/>
              </a:rPr>
              <a:t>i</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表示。</a:t>
            </a:r>
          </a:p>
        </p:txBody>
      </p:sp>
      <p:sp>
        <p:nvSpPr>
          <p:cNvPr id="16423" name="Text Box 39"/>
          <p:cNvSpPr txBox="1">
            <a:spLocks noChangeArrowheads="1"/>
          </p:cNvSpPr>
          <p:nvPr/>
        </p:nvSpPr>
        <p:spPr bwMode="auto">
          <a:xfrm>
            <a:off x="440724" y="6015595"/>
            <a:ext cx="82153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spcBef>
                <a:spcPct val="20000"/>
              </a:spcBef>
              <a:defRPr/>
            </a:pPr>
            <a:r>
              <a:rPr lang="en-US" altLang="zh-CN"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1kA=10</a:t>
            </a:r>
            <a:r>
              <a:rPr lang="en-US" altLang="zh-CN" b="1" baseline="30000" dirty="0">
                <a:latin typeface="Times New Roman" panose="02020603050405020304" pitchFamily="18" charset="0"/>
                <a:ea typeface="华文中宋" panose="02010600040101010101" pitchFamily="2" charset="-122"/>
                <a:cs typeface="Times New Roman" panose="02020603050405020304" pitchFamily="18" charset="0"/>
              </a:rPr>
              <a:t>3 </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A </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1 mA=10</a:t>
            </a:r>
            <a:r>
              <a:rPr lang="zh-CN" altLang="en-US" b="1" baseline="300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baseline="30000" dirty="0">
                <a:latin typeface="Times New Roman" panose="02020603050405020304" pitchFamily="18" charset="0"/>
                <a:ea typeface="华文中宋" panose="02010600040101010101" pitchFamily="2" charset="-122"/>
                <a:cs typeface="Times New Roman" panose="02020603050405020304" pitchFamily="18" charset="0"/>
              </a:rPr>
              <a:t>3</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A</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1μA =10</a:t>
            </a:r>
            <a:r>
              <a:rPr lang="zh-CN" altLang="en-US" b="1" baseline="300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b="1" baseline="30000" dirty="0">
                <a:latin typeface="Times New Roman" panose="02020603050405020304" pitchFamily="18" charset="0"/>
                <a:ea typeface="华文中宋" panose="02010600040101010101" pitchFamily="2" charset="-122"/>
                <a:cs typeface="Times New Roman" panose="02020603050405020304" pitchFamily="18" charset="0"/>
              </a:rPr>
              <a:t>6</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 A </a:t>
            </a:r>
            <a:endParaRPr kumimoji="1" lang="en-US" altLang="zh-CN" b="1" dirty="0">
              <a:solidFill>
                <a:srgbClr val="CC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16424" name="Object 40"/>
          <p:cNvGraphicFramePr>
            <a:graphicFrameLocks noGrp="1" noChangeAspect="1"/>
          </p:cNvGraphicFramePr>
          <p:nvPr>
            <p:ph sz="half" idx="2"/>
            <p:extLst>
              <p:ext uri="{D42A27DB-BD31-4B8C-83A1-F6EECF244321}">
                <p14:modId xmlns:p14="http://schemas.microsoft.com/office/powerpoint/2010/main" val="3135555911"/>
              </p:ext>
            </p:extLst>
          </p:nvPr>
        </p:nvGraphicFramePr>
        <p:xfrm>
          <a:off x="3144900" y="2722461"/>
          <a:ext cx="3097212" cy="814643"/>
        </p:xfrm>
        <a:graphic>
          <a:graphicData uri="http://schemas.openxmlformats.org/presentationml/2006/ole">
            <mc:AlternateContent xmlns:mc="http://schemas.openxmlformats.org/markup-compatibility/2006">
              <mc:Choice xmlns:v="urn:schemas-microsoft-com:vml" Requires="v">
                <p:oleObj spid="_x0000_s10290" name="Equation" r:id="rId4" imgW="961943" imgH="333450" progId="Equation.DSMT4">
                  <p:embed/>
                </p:oleObj>
              </mc:Choice>
              <mc:Fallback>
                <p:oleObj name="Equation" r:id="rId4" imgW="961943" imgH="333450" progId="Equation.DSMT4">
                  <p:embed/>
                  <p:pic>
                    <p:nvPicPr>
                      <p:cNvPr id="0" name="Object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4900" y="2722461"/>
                        <a:ext cx="3097212" cy="814643"/>
                      </a:xfrm>
                      <a:prstGeom prst="rect">
                        <a:avLst/>
                      </a:prstGeom>
                      <a:noFill/>
                      <a:ln w="12700">
                        <a:solidFill>
                          <a:srgbClr val="FF0000"/>
                        </a:solidFill>
                        <a:miter lim="800000"/>
                        <a:headEnd/>
                        <a:tailEnd/>
                      </a:ln>
                      <a:effectLst/>
                      <a:extLst/>
                    </p:spPr>
                  </p:pic>
                </p:oleObj>
              </mc:Fallback>
            </mc:AlternateContent>
          </a:graphicData>
        </a:graphic>
      </p:graphicFrame>
      <p:sp>
        <p:nvSpPr>
          <p:cNvPr id="18" name="Rectangle 4"/>
          <p:cNvSpPr>
            <a:spLocks noChangeArrowheads="1"/>
          </p:cNvSpPr>
          <p:nvPr/>
        </p:nvSpPr>
        <p:spPr bwMode="auto">
          <a:xfrm>
            <a:off x="350028" y="820500"/>
            <a:ext cx="8207375" cy="49727"/>
          </a:xfrm>
          <a:prstGeom prst="rect">
            <a:avLst/>
          </a:prstGeom>
          <a:gradFill rotWithShape="0">
            <a:gsLst>
              <a:gs pos="0">
                <a:srgbClr val="3366FF"/>
              </a:gs>
              <a:gs pos="12500">
                <a:srgbClr val="01A78F"/>
              </a:gs>
              <a:gs pos="25000">
                <a:srgbClr val="FFFF00"/>
              </a:gs>
              <a:gs pos="37500">
                <a:srgbClr val="FF6633"/>
              </a:gs>
              <a:gs pos="50000">
                <a:srgbClr val="FF3399"/>
              </a:gs>
              <a:gs pos="62500">
                <a:srgbClr val="FF6633"/>
              </a:gs>
              <a:gs pos="75000">
                <a:srgbClr val="FFFF00"/>
              </a:gs>
              <a:gs pos="87500">
                <a:srgbClr val="01A78F"/>
              </a:gs>
              <a:gs pos="100000">
                <a:srgbClr val="3366FF"/>
              </a:gs>
            </a:gsLst>
            <a:lin ang="0" scaled="1"/>
          </a:gradFill>
          <a:ln w="12700" cap="sq">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81060D82-A295-48AC-ABCB-F0A96F247CAD}" type="slidenum">
              <a:rPr lang="en-US" altLang="zh-CN" smtClean="0"/>
              <a:pPr>
                <a:defRPr/>
              </a:pPr>
              <a:t>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424"/>
                                        </p:tgtEl>
                                        <p:attrNameLst>
                                          <p:attrName>style.visibility</p:attrName>
                                        </p:attrNameLst>
                                      </p:cBhvr>
                                      <p:to>
                                        <p:strVal val="visible"/>
                                      </p:to>
                                    </p:set>
                                    <p:anim calcmode="lin" valueType="num">
                                      <p:cBhvr additive="base">
                                        <p:cTn id="7" dur="500" fill="hold"/>
                                        <p:tgtEl>
                                          <p:spTgt spid="16424"/>
                                        </p:tgtEl>
                                        <p:attrNameLst>
                                          <p:attrName>ppt_x</p:attrName>
                                        </p:attrNameLst>
                                      </p:cBhvr>
                                      <p:tavLst>
                                        <p:tav tm="0">
                                          <p:val>
                                            <p:strVal val="0-#ppt_w/2"/>
                                          </p:val>
                                        </p:tav>
                                        <p:tav tm="100000">
                                          <p:val>
                                            <p:strVal val="#ppt_x"/>
                                          </p:val>
                                        </p:tav>
                                      </p:tavLst>
                                    </p:anim>
                                    <p:anim calcmode="lin" valueType="num">
                                      <p:cBhvr additive="base">
                                        <p:cTn id="8" dur="500" fill="hold"/>
                                        <p:tgtEl>
                                          <p:spTgt spid="164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Text Box 7"/>
          <p:cNvSpPr txBox="1">
            <a:spLocks noChangeArrowheads="1"/>
          </p:cNvSpPr>
          <p:nvPr/>
        </p:nvSpPr>
        <p:spPr bwMode="auto">
          <a:xfrm>
            <a:off x="1739950" y="3532187"/>
            <a:ext cx="36420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12291" name="Text Box 8"/>
          <p:cNvSpPr txBox="1">
            <a:spLocks noChangeArrowheads="1"/>
          </p:cNvSpPr>
          <p:nvPr/>
        </p:nvSpPr>
        <p:spPr bwMode="auto">
          <a:xfrm>
            <a:off x="3416350" y="3532187"/>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12292" name="Text Box 9"/>
          <p:cNvSpPr txBox="1">
            <a:spLocks noChangeArrowheads="1"/>
          </p:cNvSpPr>
          <p:nvPr/>
        </p:nvSpPr>
        <p:spPr bwMode="auto">
          <a:xfrm>
            <a:off x="2521000" y="3654425"/>
            <a:ext cx="42351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R</a:t>
            </a: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93" name="Line 10"/>
          <p:cNvSpPr>
            <a:spLocks noChangeShapeType="1"/>
          </p:cNvSpPr>
          <p:nvPr/>
        </p:nvSpPr>
        <p:spPr bwMode="auto">
          <a:xfrm>
            <a:off x="1927275" y="3587750"/>
            <a:ext cx="63023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94" name="Rectangle 11"/>
          <p:cNvSpPr>
            <a:spLocks noChangeArrowheads="1"/>
          </p:cNvSpPr>
          <p:nvPr/>
        </p:nvSpPr>
        <p:spPr bwMode="auto">
          <a:xfrm>
            <a:off x="2555925" y="3492500"/>
            <a:ext cx="419100" cy="20955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95" name="Line 12"/>
          <p:cNvSpPr>
            <a:spLocks noChangeShapeType="1"/>
          </p:cNvSpPr>
          <p:nvPr/>
        </p:nvSpPr>
        <p:spPr bwMode="auto">
          <a:xfrm>
            <a:off x="2406700" y="3365500"/>
            <a:ext cx="78105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96" name="Text Box 13"/>
          <p:cNvSpPr txBox="1">
            <a:spLocks noChangeArrowheads="1"/>
          </p:cNvSpPr>
          <p:nvPr/>
        </p:nvSpPr>
        <p:spPr bwMode="auto">
          <a:xfrm>
            <a:off x="2532112" y="2765425"/>
            <a:ext cx="746125"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i="1" baseline="-25000">
                <a:latin typeface="Times New Roman" panose="02020603050405020304" pitchFamily="18" charset="0"/>
                <a:ea typeface="华文中宋" panose="02010600040101010101" pitchFamily="2" charset="-122"/>
                <a:cs typeface="Times New Roman" panose="02020603050405020304" pitchFamily="18" charset="0"/>
              </a:rPr>
              <a:t>ab</a:t>
            </a: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97" name="Line 14"/>
          <p:cNvSpPr>
            <a:spLocks noChangeShapeType="1"/>
          </p:cNvSpPr>
          <p:nvPr/>
        </p:nvSpPr>
        <p:spPr bwMode="auto">
          <a:xfrm>
            <a:off x="2959150" y="3594100"/>
            <a:ext cx="609600"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98" name="Oval 15"/>
          <p:cNvSpPr>
            <a:spLocks noChangeArrowheads="1"/>
          </p:cNvSpPr>
          <p:nvPr/>
        </p:nvSpPr>
        <p:spPr bwMode="auto">
          <a:xfrm>
            <a:off x="1854250" y="3552825"/>
            <a:ext cx="85725" cy="85725"/>
          </a:xfrm>
          <a:prstGeom prst="ellipse">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99" name="Oval 16"/>
          <p:cNvSpPr>
            <a:spLocks noChangeArrowheads="1"/>
          </p:cNvSpPr>
          <p:nvPr/>
        </p:nvSpPr>
        <p:spPr bwMode="auto">
          <a:xfrm>
            <a:off x="3568750" y="3546475"/>
            <a:ext cx="85725" cy="85725"/>
          </a:xfrm>
          <a:prstGeom prst="ellipse">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12" name="Text Box 32"/>
          <p:cNvSpPr txBox="1">
            <a:spLocks noChangeArrowheads="1"/>
          </p:cNvSpPr>
          <p:nvPr/>
        </p:nvSpPr>
        <p:spPr bwMode="auto">
          <a:xfrm>
            <a:off x="536352" y="1248742"/>
            <a:ext cx="8503096"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1" hangingPunct="1">
              <a:spcBef>
                <a:spcPct val="20000"/>
              </a:spcBef>
              <a:defRPr/>
            </a:pPr>
            <a:r>
              <a:rPr lang="zh-CN" altLang="en-US" sz="2800" b="1"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参考</a:t>
            </a:r>
            <a:r>
              <a:rPr kumimoji="1" lang="zh-CN" altLang="en-US" sz="28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方向</a:t>
            </a:r>
            <a:r>
              <a:rPr lang="zh-CN" altLang="en-US" sz="28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800" b="1" dirty="0">
                <a:latin typeface="Times New Roman" panose="02020603050405020304" pitchFamily="18" charset="0"/>
                <a:ea typeface="华文中宋" panose="02010600040101010101" pitchFamily="2" charset="-122"/>
                <a:cs typeface="Times New Roman" panose="02020603050405020304" pitchFamily="18" charset="0"/>
              </a:rPr>
              <a:t>为了</a:t>
            </a:r>
            <a:r>
              <a:rPr lang="zh-CN" altLang="en-US" sz="2800" b="1" dirty="0" smtClean="0">
                <a:latin typeface="Times New Roman" panose="02020603050405020304" pitchFamily="18" charset="0"/>
                <a:ea typeface="华文中宋" panose="02010600040101010101" pitchFamily="2" charset="-122"/>
                <a:cs typeface="Times New Roman" panose="02020603050405020304" pitchFamily="18" charset="0"/>
              </a:rPr>
              <a:t>方便电路分析</a:t>
            </a:r>
            <a:r>
              <a:rPr lang="zh-CN" altLang="en-US" sz="2800" b="1" dirty="0">
                <a:latin typeface="Times New Roman" panose="02020603050405020304" pitchFamily="18" charset="0"/>
                <a:ea typeface="华文中宋" panose="02010600040101010101" pitchFamily="2" charset="-122"/>
                <a:cs typeface="Times New Roman" panose="02020603050405020304" pitchFamily="18" charset="0"/>
              </a:rPr>
              <a:t>与运算，任意假定电流的</a:t>
            </a:r>
            <a:r>
              <a:rPr kumimoji="1" lang="zh-CN" altLang="en-US" sz="2800" b="1" dirty="0" smtClean="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方向，这种</a:t>
            </a:r>
            <a:r>
              <a:rPr lang="zh-CN" altLang="en-US" sz="2800" b="1" dirty="0" smtClean="0">
                <a:latin typeface="Times New Roman" panose="02020603050405020304" pitchFamily="18" charset="0"/>
                <a:ea typeface="华文中宋" panose="02010600040101010101" pitchFamily="2" charset="-122"/>
                <a:cs typeface="Times New Roman" panose="02020603050405020304" pitchFamily="18" charset="0"/>
              </a:rPr>
              <a:t>任意</a:t>
            </a:r>
            <a:r>
              <a:rPr lang="zh-CN" altLang="en-US" sz="2800" b="1" dirty="0">
                <a:latin typeface="Times New Roman" panose="02020603050405020304" pitchFamily="18" charset="0"/>
                <a:ea typeface="华文中宋" panose="02010600040101010101" pitchFamily="2" charset="-122"/>
                <a:cs typeface="Times New Roman" panose="02020603050405020304" pitchFamily="18" charset="0"/>
              </a:rPr>
              <a:t>假定的</a:t>
            </a:r>
            <a:r>
              <a:rPr kumimoji="1" lang="zh-CN" altLang="en-US" sz="28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方向称为</a:t>
            </a:r>
            <a:r>
              <a:rPr lang="zh-CN" altLang="en-US" sz="2800" b="1" dirty="0">
                <a:latin typeface="Times New Roman" panose="02020603050405020304" pitchFamily="18" charset="0"/>
                <a:ea typeface="华文中宋" panose="02010600040101010101" pitchFamily="2" charset="-122"/>
                <a:cs typeface="Times New Roman" panose="02020603050405020304" pitchFamily="18" charset="0"/>
              </a:rPr>
              <a:t>参考</a:t>
            </a:r>
            <a:r>
              <a:rPr kumimoji="1" lang="zh-CN" altLang="en-US" sz="28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方向，简称方向</a:t>
            </a:r>
            <a:r>
              <a:rPr kumimoji="1" lang="zh-CN" altLang="en-US" sz="2800" b="1" dirty="0" smtClean="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800" b="1" dirty="0" smtClean="0">
                <a:solidFill>
                  <a:srgbClr val="CC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电流</a:t>
            </a:r>
            <a:r>
              <a:rPr kumimoji="1" lang="zh-CN" altLang="en-US" sz="2800" b="1" dirty="0">
                <a:solidFill>
                  <a:srgbClr val="CC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参考方向的表示方法：</a:t>
            </a:r>
          </a:p>
        </p:txBody>
      </p:sp>
      <p:sp>
        <p:nvSpPr>
          <p:cNvPr id="12301" name="Text Box 37"/>
          <p:cNvSpPr txBox="1">
            <a:spLocks noChangeArrowheads="1"/>
          </p:cNvSpPr>
          <p:nvPr/>
        </p:nvSpPr>
        <p:spPr bwMode="auto">
          <a:xfrm>
            <a:off x="4764137" y="3468687"/>
            <a:ext cx="36420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12302" name="Text Box 38"/>
          <p:cNvSpPr txBox="1">
            <a:spLocks noChangeArrowheads="1"/>
          </p:cNvSpPr>
          <p:nvPr/>
        </p:nvSpPr>
        <p:spPr bwMode="auto">
          <a:xfrm>
            <a:off x="6897737" y="3468687"/>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12303" name="Text Box 39"/>
          <p:cNvSpPr txBox="1">
            <a:spLocks noChangeArrowheads="1"/>
          </p:cNvSpPr>
          <p:nvPr/>
        </p:nvSpPr>
        <p:spPr bwMode="auto">
          <a:xfrm>
            <a:off x="5545187" y="3590925"/>
            <a:ext cx="42351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R</a:t>
            </a: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304" name="Line 40"/>
          <p:cNvSpPr>
            <a:spLocks noChangeShapeType="1"/>
          </p:cNvSpPr>
          <p:nvPr/>
        </p:nvSpPr>
        <p:spPr bwMode="auto">
          <a:xfrm>
            <a:off x="4951462" y="3524250"/>
            <a:ext cx="6302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305" name="Rectangle 41"/>
          <p:cNvSpPr>
            <a:spLocks noChangeArrowheads="1"/>
          </p:cNvSpPr>
          <p:nvPr/>
        </p:nvSpPr>
        <p:spPr bwMode="auto">
          <a:xfrm>
            <a:off x="5580112" y="3429000"/>
            <a:ext cx="419100" cy="20955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306" name="Line 42"/>
          <p:cNvSpPr>
            <a:spLocks noChangeShapeType="1"/>
          </p:cNvSpPr>
          <p:nvPr/>
        </p:nvSpPr>
        <p:spPr bwMode="auto">
          <a:xfrm>
            <a:off x="5984925" y="3500437"/>
            <a:ext cx="55245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307" name="Text Box 43"/>
          <p:cNvSpPr txBox="1">
            <a:spLocks noChangeArrowheads="1"/>
          </p:cNvSpPr>
          <p:nvPr/>
        </p:nvSpPr>
        <p:spPr bwMode="auto">
          <a:xfrm>
            <a:off x="6137325" y="2981325"/>
            <a:ext cx="64293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i="1" baseline="-25000">
                <a:latin typeface="Times New Roman" panose="02020603050405020304" pitchFamily="18" charset="0"/>
                <a:ea typeface="华文中宋" panose="02010600040101010101" pitchFamily="2" charset="-122"/>
                <a:cs typeface="Times New Roman" panose="02020603050405020304" pitchFamily="18" charset="0"/>
              </a:rPr>
              <a:t>ab</a:t>
            </a: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308" name="Line 44"/>
          <p:cNvSpPr>
            <a:spLocks noChangeShapeType="1"/>
          </p:cNvSpPr>
          <p:nvPr/>
        </p:nvSpPr>
        <p:spPr bwMode="auto">
          <a:xfrm>
            <a:off x="5984925" y="3500437"/>
            <a:ext cx="1143000" cy="1428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309" name="Oval 45"/>
          <p:cNvSpPr>
            <a:spLocks noChangeArrowheads="1"/>
          </p:cNvSpPr>
          <p:nvPr/>
        </p:nvSpPr>
        <p:spPr bwMode="auto">
          <a:xfrm>
            <a:off x="4841925" y="3438525"/>
            <a:ext cx="85725" cy="85725"/>
          </a:xfrm>
          <a:prstGeom prst="ellipse">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310" name="Oval 46"/>
          <p:cNvSpPr>
            <a:spLocks noChangeArrowheads="1"/>
          </p:cNvSpPr>
          <p:nvPr/>
        </p:nvSpPr>
        <p:spPr bwMode="auto">
          <a:xfrm>
            <a:off x="7051725" y="3438525"/>
            <a:ext cx="85725" cy="85725"/>
          </a:xfrm>
          <a:prstGeom prst="ellipse">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311" name="Text Box 51"/>
          <p:cNvSpPr txBox="1">
            <a:spLocks noChangeArrowheads="1"/>
          </p:cNvSpPr>
          <p:nvPr/>
        </p:nvSpPr>
        <p:spPr bwMode="auto">
          <a:xfrm>
            <a:off x="2478848" y="4354707"/>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电流参考方向的表示方法</a:t>
            </a:r>
          </a:p>
        </p:txBody>
      </p:sp>
      <p:sp>
        <p:nvSpPr>
          <p:cNvPr id="2" name="灯片编号占位符 1"/>
          <p:cNvSpPr>
            <a:spLocks noGrp="1"/>
          </p:cNvSpPr>
          <p:nvPr>
            <p:ph type="sldNum" sz="quarter" idx="12"/>
          </p:nvPr>
        </p:nvSpPr>
        <p:spPr/>
        <p:txBody>
          <a:bodyPr/>
          <a:lstStyle/>
          <a:p>
            <a:pPr>
              <a:defRPr/>
            </a:pPr>
            <a:fld id="{7F6DAC6E-051E-43BF-A607-F6F4F9E2F096}" type="slidenum">
              <a:rPr lang="en-US" altLang="zh-CN" smtClean="0"/>
              <a:pPr>
                <a:defRPr/>
              </a:pPr>
              <a:t>8</a:t>
            </a:fld>
            <a:endParaRPr lang="en-US" altLang="zh-C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827088" y="908050"/>
            <a:ext cx="726281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实际方向与参考方向</a:t>
            </a:r>
            <a:r>
              <a:rPr kumimoji="1" lang="zh-CN" altLang="en-US"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一致</a:t>
            </a: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，电流值为</a:t>
            </a:r>
            <a:r>
              <a:rPr kumimoji="1" lang="zh-CN" altLang="en-US"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正值</a:t>
            </a: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spcBef>
                <a:spcPct val="0"/>
              </a:spcBef>
              <a:buFontTx/>
              <a:buNone/>
            </a:pP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实际方向与参考方向</a:t>
            </a:r>
            <a:r>
              <a:rPr kumimoji="1" lang="zh-CN" altLang="en-US"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相反</a:t>
            </a: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，电流值为</a:t>
            </a:r>
            <a:r>
              <a:rPr kumimoji="1" lang="zh-CN" altLang="en-US"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负值</a:t>
            </a: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3315" name="Text Box 4"/>
          <p:cNvSpPr txBox="1">
            <a:spLocks noChangeArrowheads="1"/>
          </p:cNvSpPr>
          <p:nvPr/>
        </p:nvSpPr>
        <p:spPr bwMode="auto">
          <a:xfrm>
            <a:off x="323850" y="2420938"/>
            <a:ext cx="10795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25000"/>
              </a:spcBef>
              <a:buFontTx/>
              <a:buNone/>
            </a:pPr>
            <a:r>
              <a:rPr kumimoji="1" lang="en-US" altLang="zh-CN" sz="28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8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例</a:t>
            </a:r>
            <a:r>
              <a:rPr kumimoji="1" lang="en-US" altLang="zh-CN" sz="28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13319" name="Group 5"/>
          <p:cNvGrpSpPr>
            <a:grpSpLocks/>
          </p:cNvGrpSpPr>
          <p:nvPr/>
        </p:nvGrpSpPr>
        <p:grpSpPr bwMode="auto">
          <a:xfrm>
            <a:off x="3348038" y="4149726"/>
            <a:ext cx="2062162" cy="1103313"/>
            <a:chOff x="912" y="1209"/>
            <a:chExt cx="1299" cy="695"/>
          </a:xfrm>
        </p:grpSpPr>
        <p:sp>
          <p:nvSpPr>
            <p:cNvPr id="13322" name="Text Box 6"/>
            <p:cNvSpPr txBox="1">
              <a:spLocks noChangeArrowheads="1"/>
            </p:cNvSpPr>
            <p:nvPr/>
          </p:nvSpPr>
          <p:spPr bwMode="auto">
            <a:xfrm>
              <a:off x="912" y="1497"/>
              <a:ext cx="22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13323" name="Text Box 7"/>
            <p:cNvSpPr txBox="1">
              <a:spLocks noChangeArrowheads="1"/>
            </p:cNvSpPr>
            <p:nvPr/>
          </p:nvSpPr>
          <p:spPr bwMode="auto">
            <a:xfrm>
              <a:off x="1968" y="1497"/>
              <a:ext cx="24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13324" name="Text Box 8"/>
            <p:cNvSpPr txBox="1">
              <a:spLocks noChangeArrowheads="1"/>
            </p:cNvSpPr>
            <p:nvPr/>
          </p:nvSpPr>
          <p:spPr bwMode="auto">
            <a:xfrm>
              <a:off x="1404" y="1574"/>
              <a:ext cx="26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R</a:t>
              </a: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325" name="Line 9"/>
            <p:cNvSpPr>
              <a:spLocks noChangeShapeType="1"/>
            </p:cNvSpPr>
            <p:nvPr/>
          </p:nvSpPr>
          <p:spPr bwMode="auto">
            <a:xfrm>
              <a:off x="1030" y="1532"/>
              <a:ext cx="39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326" name="Rectangle 10"/>
            <p:cNvSpPr>
              <a:spLocks noChangeArrowheads="1"/>
            </p:cNvSpPr>
            <p:nvPr/>
          </p:nvSpPr>
          <p:spPr bwMode="auto">
            <a:xfrm>
              <a:off x="1426" y="1472"/>
              <a:ext cx="264" cy="1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327" name="Line 11"/>
            <p:cNvSpPr>
              <a:spLocks noChangeShapeType="1"/>
            </p:cNvSpPr>
            <p:nvPr/>
          </p:nvSpPr>
          <p:spPr bwMode="auto">
            <a:xfrm>
              <a:off x="1332" y="1392"/>
              <a:ext cx="492"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328" name="Text Box 12"/>
            <p:cNvSpPr txBox="1">
              <a:spLocks noChangeArrowheads="1"/>
            </p:cNvSpPr>
            <p:nvPr/>
          </p:nvSpPr>
          <p:spPr bwMode="auto">
            <a:xfrm>
              <a:off x="1152" y="1209"/>
              <a:ext cx="28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I</a:t>
              </a: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329" name="Line 13"/>
            <p:cNvSpPr>
              <a:spLocks noChangeShapeType="1"/>
            </p:cNvSpPr>
            <p:nvPr/>
          </p:nvSpPr>
          <p:spPr bwMode="auto">
            <a:xfrm>
              <a:off x="1680" y="1536"/>
              <a:ext cx="384"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330" name="Oval 14"/>
            <p:cNvSpPr>
              <a:spLocks noChangeArrowheads="1"/>
            </p:cNvSpPr>
            <p:nvPr/>
          </p:nvSpPr>
          <p:spPr bwMode="auto">
            <a:xfrm>
              <a:off x="984" y="1510"/>
              <a:ext cx="54" cy="54"/>
            </a:xfrm>
            <a:prstGeom prst="ellipse">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331" name="Oval 15"/>
            <p:cNvSpPr>
              <a:spLocks noChangeArrowheads="1"/>
            </p:cNvSpPr>
            <p:nvPr/>
          </p:nvSpPr>
          <p:spPr bwMode="auto">
            <a:xfrm>
              <a:off x="2064" y="1506"/>
              <a:ext cx="54" cy="54"/>
            </a:xfrm>
            <a:prstGeom prst="ellipse">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3320" name="Line 16"/>
          <p:cNvSpPr>
            <a:spLocks noChangeShapeType="1"/>
          </p:cNvSpPr>
          <p:nvPr/>
        </p:nvSpPr>
        <p:spPr bwMode="auto">
          <a:xfrm>
            <a:off x="4067175" y="4149725"/>
            <a:ext cx="781050" cy="0"/>
          </a:xfrm>
          <a:prstGeom prst="line">
            <a:avLst/>
          </a:prstGeom>
          <a:noFill/>
          <a:ln w="38100">
            <a:solidFill>
              <a:srgbClr val="000099"/>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321" name="Line 17"/>
          <p:cNvSpPr>
            <a:spLocks noChangeShapeType="1"/>
          </p:cNvSpPr>
          <p:nvPr/>
        </p:nvSpPr>
        <p:spPr bwMode="auto">
          <a:xfrm flipH="1">
            <a:off x="3924300" y="5373688"/>
            <a:ext cx="781050" cy="0"/>
          </a:xfrm>
          <a:prstGeom prst="line">
            <a:avLst/>
          </a:prstGeom>
          <a:noFill/>
          <a:ln w="38100">
            <a:solidFill>
              <a:srgbClr val="00B05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317" name="Rectangle 19"/>
          <p:cNvSpPr>
            <a:spLocks noChangeArrowheads="1"/>
          </p:cNvSpPr>
          <p:nvPr/>
        </p:nvSpPr>
        <p:spPr bwMode="auto">
          <a:xfrm>
            <a:off x="1295400" y="2436813"/>
            <a:ext cx="73152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下图中桔红色箭头表示的是电流 </a:t>
            </a:r>
            <a:r>
              <a:rPr kumimoji="1" lang="en-US" altLang="zh-CN" sz="2800" b="1" i="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I </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的参考方向。若 </a:t>
            </a:r>
            <a:r>
              <a:rPr kumimoji="1" lang="en-US" altLang="zh-CN" sz="2800" b="1" i="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I </a:t>
            </a:r>
            <a:r>
              <a:rPr kumimoji="1" lang="en-US" altLang="zh-CN"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 5A</a:t>
            </a:r>
            <a:r>
              <a:rPr kumimoji="1" lang="zh-CN" altLang="en-US"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则电流的实际方向是从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 </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向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spcBef>
                <a:spcPct val="0"/>
              </a:spcBef>
              <a:buFontTx/>
              <a:buNone/>
            </a:pP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若 </a:t>
            </a:r>
            <a:r>
              <a:rPr kumimoji="1" lang="en-US" altLang="zh-CN" sz="2800" b="1" i="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 = –5A</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，则电流的实际方向是从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 </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向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 </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3318" name="Text Box 21"/>
          <p:cNvSpPr txBox="1">
            <a:spLocks noChangeArrowheads="1"/>
          </p:cNvSpPr>
          <p:nvPr/>
        </p:nvSpPr>
        <p:spPr bwMode="auto">
          <a:xfrm>
            <a:off x="2195513" y="5589588"/>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电流的参考方向与实际方向</a:t>
            </a:r>
          </a:p>
        </p:txBody>
      </p:sp>
      <p:sp>
        <p:nvSpPr>
          <p:cNvPr id="2" name="灯片编号占位符 1"/>
          <p:cNvSpPr>
            <a:spLocks noGrp="1"/>
          </p:cNvSpPr>
          <p:nvPr>
            <p:ph type="sldNum" sz="quarter" idx="12"/>
          </p:nvPr>
        </p:nvSpPr>
        <p:spPr/>
        <p:txBody>
          <a:bodyPr/>
          <a:lstStyle/>
          <a:p>
            <a:pPr>
              <a:defRPr/>
            </a:pPr>
            <a:fld id="{8483704B-B939-41F0-A9C6-BADB80BC3F1C}" type="slidenum">
              <a:rPr lang="en-US" altLang="zh-CN" smtClean="0"/>
              <a:pPr>
                <a:defRPr/>
              </a:pPr>
              <a:t>9</a:t>
            </a:fld>
            <a:endParaRPr lang="en-US" altLang="zh-CN"/>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3"/>
          <p:cNvSpPr>
            <a:spLocks noGrp="1" noChangeArrowheads="1"/>
          </p:cNvSpPr>
          <p:nvPr>
            <p:ph type="body" sz="half" idx="1"/>
          </p:nvPr>
        </p:nvSpPr>
        <p:spPr>
          <a:xfrm>
            <a:off x="0" y="404813"/>
            <a:ext cx="6400800" cy="68580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buFontTx/>
              <a:buNone/>
            </a:pPr>
            <a:r>
              <a:rPr lang="en-US" altLang="zh-CN" b="1"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1.2.2   </a:t>
            </a:r>
            <a:r>
              <a:rPr lang="zh-CN" altLang="en-US" b="1"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电压和电压的参考方向</a:t>
            </a:r>
          </a:p>
        </p:txBody>
      </p:sp>
      <p:sp>
        <p:nvSpPr>
          <p:cNvPr id="14339" name="Rectangle 5"/>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40" name="Text Box 10"/>
          <p:cNvSpPr txBox="1">
            <a:spLocks noChangeArrowheads="1"/>
          </p:cNvSpPr>
          <p:nvPr/>
        </p:nvSpPr>
        <p:spPr bwMode="auto">
          <a:xfrm>
            <a:off x="611560" y="2961924"/>
            <a:ext cx="8382000"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ts val="600"/>
              </a:spcBef>
              <a:buFontTx/>
              <a:buNone/>
            </a:pPr>
            <a:r>
              <a:rPr lang="en-US" altLang="zh-CN" sz="2200" b="1" i="1" dirty="0">
                <a:latin typeface="Times New Roman" panose="02020603050405020304" pitchFamily="18" charset="0"/>
                <a:ea typeface="华文中宋" panose="02010600040101010101" pitchFamily="2" charset="-122"/>
                <a:cs typeface="Times New Roman" panose="02020603050405020304" pitchFamily="18" charset="0"/>
              </a:rPr>
              <a:t>w</a:t>
            </a:r>
            <a:r>
              <a:rPr lang="en-US" altLang="zh-CN" sz="22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表示电场力做的</a:t>
            </a: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功，</a:t>
            </a:r>
            <a:r>
              <a:rPr lang="en-US" altLang="zh-CN" sz="2200" b="1" dirty="0" smtClean="0">
                <a:latin typeface="Times New Roman" panose="02020603050405020304" pitchFamily="18" charset="0"/>
                <a:ea typeface="华文中宋" panose="02010600040101010101" pitchFamily="2" charset="-122"/>
                <a:cs typeface="Times New Roman" panose="02020603050405020304" pitchFamily="18" charset="0"/>
              </a:rPr>
              <a:t>q </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表示电荷量</a:t>
            </a: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200" b="1" dirty="0" smtClean="0">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spcBef>
                <a:spcPts val="600"/>
              </a:spcBef>
              <a:buFontTx/>
              <a:buNone/>
            </a:pP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电压的实际方向：</a:t>
            </a:r>
            <a:r>
              <a:rPr lang="zh-CN" altLang="zh-CN" sz="2200" b="1" dirty="0" smtClean="0">
                <a:latin typeface="Times New Roman" panose="02020603050405020304" pitchFamily="18" charset="0"/>
                <a:ea typeface="华文中宋" panose="02010600040101010101" pitchFamily="2" charset="-122"/>
                <a:cs typeface="Times New Roman" panose="02020603050405020304" pitchFamily="18" charset="0"/>
              </a:rPr>
              <a:t>一般</a:t>
            </a:r>
            <a:r>
              <a:rPr lang="zh-CN" altLang="zh-CN" sz="2200" b="1" dirty="0">
                <a:latin typeface="Times New Roman" panose="02020603050405020304" pitchFamily="18" charset="0"/>
                <a:ea typeface="华文中宋" panose="02010600040101010101" pitchFamily="2" charset="-122"/>
                <a:cs typeface="Times New Roman" panose="02020603050405020304" pitchFamily="18" charset="0"/>
              </a:rPr>
              <a:t>把电位降落的方向（高电位到低电位）规定为电压的方向，把高电位端标记为“ ＋ ”，低电位端标记为“ － ”。</a:t>
            </a:r>
            <a:r>
              <a:rPr lang="en-US" altLang="zh-CN" sz="2200" b="1" dirty="0">
                <a:latin typeface="Times New Roman" panose="02020603050405020304" pitchFamily="18" charset="0"/>
                <a:ea typeface="华文中宋" panose="02010600040101010101" pitchFamily="2" charset="-122"/>
                <a:cs typeface="Times New Roman" panose="02020603050405020304" pitchFamily="18" charset="0"/>
              </a:rPr>
              <a:t> </a:t>
            </a:r>
          </a:p>
          <a:p>
            <a:pPr algn="just" eaLnBrk="1" hangingPunct="1">
              <a:spcBef>
                <a:spcPts val="600"/>
              </a:spcBef>
              <a:buFontTx/>
              <a:buNone/>
            </a:pP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如果</a:t>
            </a: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电压的</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大小和方向随时间变化，称为时变</a:t>
            </a: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电压或</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交变</a:t>
            </a: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电压，</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用小写 </a:t>
            </a:r>
            <a:r>
              <a:rPr lang="en-US" altLang="zh-CN" sz="2200" b="1" i="1" dirty="0" smtClean="0">
                <a:latin typeface="Times New Roman" panose="02020603050405020304" pitchFamily="18" charset="0"/>
                <a:ea typeface="华文中宋" panose="02010600040101010101" pitchFamily="2" charset="-122"/>
                <a:cs typeface="Times New Roman" panose="02020603050405020304" pitchFamily="18" charset="0"/>
              </a:rPr>
              <a:t>u </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表示，如果</a:t>
            </a: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电</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压</a:t>
            </a: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的</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大小和方向不随时间变化，称为恒定</a:t>
            </a: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电压或直流电压用</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大写 </a:t>
            </a:r>
            <a:r>
              <a:rPr lang="en-US" altLang="zh-CN" sz="2200" b="1" i="1" dirty="0" smtClean="0">
                <a:latin typeface="Times New Roman" panose="02020603050405020304" pitchFamily="18" charset="0"/>
                <a:ea typeface="华文中宋" panose="02010600040101010101" pitchFamily="2" charset="-122"/>
                <a:cs typeface="Times New Roman" panose="02020603050405020304" pitchFamily="18" charset="0"/>
              </a:rPr>
              <a:t>U</a:t>
            </a: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表示</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a:t>
            </a:r>
          </a:p>
          <a:p>
            <a:pPr algn="just" eaLnBrk="1" hangingPunct="1">
              <a:spcBef>
                <a:spcPts val="600"/>
              </a:spcBef>
              <a:buFontTx/>
              <a:buNone/>
            </a:pP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单位</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：伏</a:t>
            </a:r>
            <a:r>
              <a:rPr lang="en-US" altLang="zh-CN" sz="2200" b="1" dirty="0">
                <a:latin typeface="Times New Roman" panose="02020603050405020304" pitchFamily="18" charset="0"/>
                <a:ea typeface="华文中宋" panose="02010600040101010101" pitchFamily="2" charset="-122"/>
                <a:cs typeface="Times New Roman" panose="02020603050405020304" pitchFamily="18" charset="0"/>
              </a:rPr>
              <a:t>(V)</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 其他常用：千伏</a:t>
            </a:r>
            <a:r>
              <a:rPr lang="en-US" altLang="zh-CN" sz="2200" b="1" dirty="0">
                <a:latin typeface="Times New Roman" panose="02020603050405020304" pitchFamily="18" charset="0"/>
                <a:ea typeface="华文中宋" panose="02010600040101010101" pitchFamily="2" charset="-122"/>
                <a:cs typeface="Times New Roman" panose="02020603050405020304" pitchFamily="18" charset="0"/>
              </a:rPr>
              <a:t>(kV)</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，毫伏</a:t>
            </a:r>
            <a:r>
              <a:rPr lang="en-US" altLang="zh-CN" sz="2200" b="1" dirty="0">
                <a:latin typeface="Times New Roman" panose="02020603050405020304" pitchFamily="18" charset="0"/>
                <a:ea typeface="华文中宋" panose="02010600040101010101" pitchFamily="2" charset="-122"/>
                <a:cs typeface="Times New Roman" panose="02020603050405020304" pitchFamily="18" charset="0"/>
              </a:rPr>
              <a:t>(mV) ,</a:t>
            </a:r>
            <a:r>
              <a:rPr lang="en-US" altLang="zh-CN" sz="220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200" b="1" dirty="0">
                <a:latin typeface="Times New Roman" panose="02020603050405020304" pitchFamily="18" charset="0"/>
                <a:ea typeface="华文中宋" panose="02010600040101010101" pitchFamily="2" charset="-122"/>
                <a:cs typeface="Times New Roman" panose="02020603050405020304" pitchFamily="18" charset="0"/>
              </a:rPr>
              <a:t>微伏</a:t>
            </a:r>
            <a:r>
              <a:rPr lang="en-US" altLang="zh-CN" sz="22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200" b="1" dirty="0" err="1">
                <a:latin typeface="Times New Roman" panose="02020603050405020304" pitchFamily="18" charset="0"/>
                <a:ea typeface="华文中宋" panose="02010600040101010101" pitchFamily="2" charset="-122"/>
                <a:cs typeface="Times New Roman" panose="02020603050405020304" pitchFamily="18" charset="0"/>
              </a:rPr>
              <a:t>μV</a:t>
            </a:r>
            <a:r>
              <a:rPr lang="en-US" altLang="zh-CN" sz="2200" b="1" dirty="0">
                <a:latin typeface="Times New Roman" panose="02020603050405020304" pitchFamily="18" charset="0"/>
                <a:ea typeface="华文中宋" panose="02010600040101010101" pitchFamily="2" charset="-122"/>
                <a:cs typeface="Times New Roman" panose="02020603050405020304" pitchFamily="18" charset="0"/>
              </a:rPr>
              <a:t>)</a:t>
            </a:r>
          </a:p>
          <a:p>
            <a:pPr algn="just" eaLnBrk="1" hangingPunct="1">
              <a:spcBef>
                <a:spcPts val="600"/>
              </a:spcBef>
              <a:buFontTx/>
              <a:buNone/>
            </a:pPr>
            <a:endParaRPr lang="en-US" altLang="zh-CN" sz="2200" b="1"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41" name="Rectangle 11"/>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42" name="Rectangle 13"/>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43" name="Rectangle 14"/>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44" name="Rectangle 22"/>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45" name="Rectangle 24"/>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46" name="Rectangle 26"/>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47" name="Rectangle 28"/>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48" name="Text Box 35"/>
          <p:cNvSpPr txBox="1">
            <a:spLocks noChangeArrowheads="1"/>
          </p:cNvSpPr>
          <p:nvPr/>
        </p:nvSpPr>
        <p:spPr bwMode="auto">
          <a:xfrm>
            <a:off x="374650" y="1022821"/>
            <a:ext cx="8153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24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电压：</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电场力把</a:t>
            </a:r>
            <a:r>
              <a:rPr lang="zh-CN" altLang="en-US" sz="2400" b="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单位正电荷</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从一点移动到另外一点</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所做的功</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称为两</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点之间的电压。用符号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或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表示</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a:t>
            </a:r>
            <a:endParaRPr lang="zh-CN" altLang="en-US" sz="2400" b="1"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4349" name="Text Box 37"/>
          <p:cNvSpPr txBox="1">
            <a:spLocks noChangeArrowheads="1"/>
          </p:cNvSpPr>
          <p:nvPr/>
        </p:nvSpPr>
        <p:spPr bwMode="auto">
          <a:xfrm>
            <a:off x="755650" y="6034664"/>
            <a:ext cx="7391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800" b="1" dirty="0">
                <a:latin typeface="Times New Roman" panose="02020603050405020304" pitchFamily="18" charset="0"/>
                <a:ea typeface="华文中宋" panose="02010600040101010101" pitchFamily="2" charset="-122"/>
                <a:cs typeface="Times New Roman" panose="02020603050405020304" pitchFamily="18" charset="0"/>
              </a:rPr>
              <a:t>1kV=10</a:t>
            </a:r>
            <a:r>
              <a:rPr lang="en-US" altLang="zh-CN" sz="2800" b="1" baseline="30000" dirty="0">
                <a:latin typeface="Times New Roman" panose="02020603050405020304" pitchFamily="18" charset="0"/>
                <a:ea typeface="华文中宋" panose="02010600040101010101" pitchFamily="2" charset="-122"/>
                <a:cs typeface="Times New Roman" panose="02020603050405020304" pitchFamily="18" charset="0"/>
              </a:rPr>
              <a:t>3 </a:t>
            </a:r>
            <a:r>
              <a:rPr lang="en-US" altLang="zh-CN" sz="2800" b="1" dirty="0">
                <a:latin typeface="Times New Roman" panose="02020603050405020304" pitchFamily="18" charset="0"/>
                <a:ea typeface="华文中宋" panose="02010600040101010101" pitchFamily="2" charset="-122"/>
                <a:cs typeface="Times New Roman" panose="02020603050405020304" pitchFamily="18" charset="0"/>
              </a:rPr>
              <a:t>V </a:t>
            </a:r>
            <a:r>
              <a:rPr lang="zh-CN" altLang="en-US" sz="28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800" b="1" dirty="0">
                <a:latin typeface="Times New Roman" panose="02020603050405020304" pitchFamily="18" charset="0"/>
                <a:ea typeface="华文中宋" panose="02010600040101010101" pitchFamily="2" charset="-122"/>
                <a:cs typeface="Times New Roman" panose="02020603050405020304" pitchFamily="18" charset="0"/>
              </a:rPr>
              <a:t>1 mV=10</a:t>
            </a:r>
            <a:r>
              <a:rPr lang="zh-CN" altLang="en-US" sz="2800" b="1" baseline="300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800" b="1" baseline="30000" dirty="0">
                <a:latin typeface="Times New Roman" panose="02020603050405020304" pitchFamily="18" charset="0"/>
                <a:ea typeface="华文中宋" panose="02010600040101010101" pitchFamily="2" charset="-122"/>
                <a:cs typeface="Times New Roman" panose="02020603050405020304" pitchFamily="18" charset="0"/>
              </a:rPr>
              <a:t>3</a:t>
            </a:r>
            <a:r>
              <a:rPr lang="en-US" altLang="zh-CN" sz="2800" b="1" dirty="0">
                <a:latin typeface="Times New Roman" panose="02020603050405020304" pitchFamily="18" charset="0"/>
                <a:ea typeface="华文中宋" panose="02010600040101010101" pitchFamily="2" charset="-122"/>
                <a:cs typeface="Times New Roman" panose="02020603050405020304" pitchFamily="18" charset="0"/>
              </a:rPr>
              <a:t> V</a:t>
            </a:r>
            <a:r>
              <a:rPr lang="zh-CN" altLang="en-US" sz="28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800" b="1" dirty="0">
                <a:latin typeface="Times New Roman" panose="02020603050405020304" pitchFamily="18" charset="0"/>
                <a:ea typeface="华文中宋" panose="02010600040101010101" pitchFamily="2" charset="-122"/>
                <a:cs typeface="Times New Roman" panose="02020603050405020304" pitchFamily="18" charset="0"/>
              </a:rPr>
              <a:t>1μV =10</a:t>
            </a:r>
            <a:r>
              <a:rPr lang="zh-CN" altLang="en-US" sz="2800" b="1" baseline="300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800" b="1" baseline="30000" dirty="0">
                <a:latin typeface="Times New Roman" panose="02020603050405020304" pitchFamily="18" charset="0"/>
                <a:ea typeface="华文中宋" panose="02010600040101010101" pitchFamily="2" charset="-122"/>
                <a:cs typeface="Times New Roman" panose="02020603050405020304" pitchFamily="18" charset="0"/>
              </a:rPr>
              <a:t>6</a:t>
            </a:r>
            <a:r>
              <a:rPr lang="en-US" altLang="zh-CN" sz="2800" b="1" dirty="0">
                <a:latin typeface="Times New Roman" panose="02020603050405020304" pitchFamily="18" charset="0"/>
                <a:ea typeface="华文中宋" panose="02010600040101010101" pitchFamily="2" charset="-122"/>
                <a:cs typeface="Times New Roman" panose="02020603050405020304" pitchFamily="18" charset="0"/>
              </a:rPr>
              <a:t> V</a:t>
            </a:r>
          </a:p>
        </p:txBody>
      </p:sp>
      <p:graphicFrame>
        <p:nvGraphicFramePr>
          <p:cNvPr id="22566" name="Object 38"/>
          <p:cNvGraphicFramePr>
            <a:graphicFrameLocks noGrp="1" noChangeAspect="1"/>
          </p:cNvGraphicFramePr>
          <p:nvPr>
            <p:ph sz="half" idx="2"/>
            <p:extLst>
              <p:ext uri="{D42A27DB-BD31-4B8C-83A1-F6EECF244321}">
                <p14:modId xmlns:p14="http://schemas.microsoft.com/office/powerpoint/2010/main" val="3696577285"/>
              </p:ext>
            </p:extLst>
          </p:nvPr>
        </p:nvGraphicFramePr>
        <p:xfrm>
          <a:off x="2951162" y="2005866"/>
          <a:ext cx="3241675" cy="804010"/>
        </p:xfrm>
        <a:graphic>
          <a:graphicData uri="http://schemas.openxmlformats.org/presentationml/2006/ole">
            <mc:AlternateContent xmlns:mc="http://schemas.openxmlformats.org/markup-compatibility/2006">
              <mc:Choice xmlns:v="urn:schemas-microsoft-com:vml" Requires="v">
                <p:oleObj spid="_x0000_s14381" name="Equation" r:id="rId4" imgW="1047846" imgH="362070" progId="Equation.DSMT4">
                  <p:embed/>
                </p:oleObj>
              </mc:Choice>
              <mc:Fallback>
                <p:oleObj name="Equation" r:id="rId4" imgW="1047846" imgH="362070" progId="Equation.DSMT4">
                  <p:embed/>
                  <p:pic>
                    <p:nvPicPr>
                      <p:cNvPr id="0" name="Object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1162" y="2005866"/>
                        <a:ext cx="3241675" cy="804010"/>
                      </a:xfrm>
                      <a:prstGeom prst="rect">
                        <a:avLst/>
                      </a:prstGeom>
                      <a:noFill/>
                      <a:ln w="12700">
                        <a:solidFill>
                          <a:srgbClr val="FF0000"/>
                        </a:solidFill>
                        <a:miter lim="800000"/>
                        <a:headEnd/>
                        <a:tailEnd/>
                      </a:ln>
                      <a:effectLst/>
                      <a:extLst/>
                    </p:spPr>
                  </p:pic>
                </p:oleObj>
              </mc:Fallback>
            </mc:AlternateContent>
          </a:graphicData>
        </a:graphic>
      </p:graphicFrame>
      <p:sp>
        <p:nvSpPr>
          <p:cNvPr id="2" name="灯片编号占位符 1"/>
          <p:cNvSpPr>
            <a:spLocks noGrp="1"/>
          </p:cNvSpPr>
          <p:nvPr>
            <p:ph type="sldNum" sz="quarter" idx="12"/>
          </p:nvPr>
        </p:nvSpPr>
        <p:spPr/>
        <p:txBody>
          <a:bodyPr/>
          <a:lstStyle/>
          <a:p>
            <a:pPr>
              <a:defRPr/>
            </a:pPr>
            <a:fld id="{80B99985-1685-4831-85EC-51C986793D8E}" type="slidenum">
              <a:rPr lang="en-US" altLang="zh-CN" smtClean="0">
                <a:latin typeface="Times New Roman" panose="02020603050405020304" pitchFamily="18" charset="0"/>
                <a:ea typeface="华文中宋" panose="02010600040101010101" pitchFamily="2" charset="-122"/>
                <a:cs typeface="Times New Roman" panose="02020603050405020304" pitchFamily="18" charset="0"/>
              </a:rPr>
              <a:pPr>
                <a:defRPr/>
              </a:pPr>
              <a:t>10</a:t>
            </a:fld>
            <a:endParaRPr lang="en-US" altLang="zh-CN">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2566"/>
                                        </p:tgtEl>
                                        <p:attrNameLst>
                                          <p:attrName>style.visibility</p:attrName>
                                        </p:attrNameLst>
                                      </p:cBhvr>
                                      <p:to>
                                        <p:strVal val="visible"/>
                                      </p:to>
                                    </p:set>
                                    <p:anim calcmode="lin" valueType="num">
                                      <p:cBhvr additive="base">
                                        <p:cTn id="7" dur="500" fill="hold"/>
                                        <p:tgtEl>
                                          <p:spTgt spid="22566"/>
                                        </p:tgtEl>
                                        <p:attrNameLst>
                                          <p:attrName>ppt_x</p:attrName>
                                        </p:attrNameLst>
                                      </p:cBhvr>
                                      <p:tavLst>
                                        <p:tav tm="0">
                                          <p:val>
                                            <p:strVal val="0-#ppt_w/2"/>
                                          </p:val>
                                        </p:tav>
                                        <p:tav tm="100000">
                                          <p:val>
                                            <p:strVal val="#ppt_x"/>
                                          </p:val>
                                        </p:tav>
                                      </p:tavLst>
                                    </p:anim>
                                    <p:anim calcmode="lin" valueType="num">
                                      <p:cBhvr additive="base">
                                        <p:cTn id="8" dur="500" fill="hold"/>
                                        <p:tgtEl>
                                          <p:spTgt spid="225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Text Box 17"/>
          <p:cNvSpPr txBox="1">
            <a:spLocks noChangeArrowheads="1"/>
          </p:cNvSpPr>
          <p:nvPr/>
        </p:nvSpPr>
        <p:spPr bwMode="auto">
          <a:xfrm>
            <a:off x="533400" y="2576513"/>
            <a:ext cx="8229600" cy="154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buFontTx/>
              <a:buNone/>
            </a:pPr>
            <a:r>
              <a:rPr lang="zh-CN" altLang="en-US" sz="28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参考</a:t>
            </a:r>
            <a:r>
              <a:rPr kumimoji="1" lang="zh-CN" altLang="en-US" sz="28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极性</a:t>
            </a:r>
            <a:r>
              <a:rPr lang="zh-CN" altLang="en-US" sz="28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电压还可以用参考极性表示，简称极性。</a:t>
            </a:r>
          </a:p>
          <a:p>
            <a:pPr algn="just" eaLnBrk="1" hangingPunct="1">
              <a:buFontTx/>
              <a:buNone/>
            </a:pP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        参考极性与参考方向的关系为：参考方向是由</a:t>
            </a:r>
            <a:endPar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buFontTx/>
              <a:buNone/>
            </a:pP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正极性指向负极性。</a:t>
            </a:r>
            <a:endParaRPr lang="zh-CN" altLang="en-US" b="1">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15363" name="Group 70"/>
          <p:cNvGrpSpPr>
            <a:grpSpLocks/>
          </p:cNvGrpSpPr>
          <p:nvPr/>
        </p:nvGrpSpPr>
        <p:grpSpPr bwMode="auto">
          <a:xfrm>
            <a:off x="5753373" y="4570416"/>
            <a:ext cx="2062162" cy="1300163"/>
            <a:chOff x="960" y="2928"/>
            <a:chExt cx="1299" cy="819"/>
          </a:xfrm>
        </p:grpSpPr>
        <p:sp>
          <p:nvSpPr>
            <p:cNvPr id="15377" name="Text Box 41"/>
            <p:cNvSpPr txBox="1">
              <a:spLocks noChangeArrowheads="1"/>
            </p:cNvSpPr>
            <p:nvPr/>
          </p:nvSpPr>
          <p:spPr bwMode="auto">
            <a:xfrm>
              <a:off x="960" y="3340"/>
              <a:ext cx="22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15378" name="Text Box 42"/>
            <p:cNvSpPr txBox="1">
              <a:spLocks noChangeArrowheads="1"/>
            </p:cNvSpPr>
            <p:nvPr/>
          </p:nvSpPr>
          <p:spPr bwMode="auto">
            <a:xfrm>
              <a:off x="2016" y="3340"/>
              <a:ext cx="24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15379" name="Text Box 43"/>
            <p:cNvSpPr txBox="1">
              <a:spLocks noChangeArrowheads="1"/>
            </p:cNvSpPr>
            <p:nvPr/>
          </p:nvSpPr>
          <p:spPr bwMode="auto">
            <a:xfrm>
              <a:off x="1452" y="3417"/>
              <a:ext cx="26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R</a:t>
              </a: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5380" name="Line 44"/>
            <p:cNvSpPr>
              <a:spLocks noChangeShapeType="1"/>
            </p:cNvSpPr>
            <p:nvPr/>
          </p:nvSpPr>
          <p:spPr bwMode="auto">
            <a:xfrm>
              <a:off x="1078" y="3375"/>
              <a:ext cx="39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5381" name="Rectangle 45"/>
            <p:cNvSpPr>
              <a:spLocks noChangeArrowheads="1"/>
            </p:cNvSpPr>
            <p:nvPr/>
          </p:nvSpPr>
          <p:spPr bwMode="auto">
            <a:xfrm>
              <a:off x="1474" y="3315"/>
              <a:ext cx="264" cy="1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5382" name="Text Box 46"/>
            <p:cNvSpPr txBox="1">
              <a:spLocks noChangeArrowheads="1"/>
            </p:cNvSpPr>
            <p:nvPr/>
          </p:nvSpPr>
          <p:spPr bwMode="auto">
            <a:xfrm>
              <a:off x="1440" y="2928"/>
              <a:ext cx="81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baseline="-250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ab</a:t>
              </a:r>
            </a:p>
          </p:txBody>
        </p:sp>
        <p:sp>
          <p:nvSpPr>
            <p:cNvPr id="15383" name="Line 47"/>
            <p:cNvSpPr>
              <a:spLocks noChangeShapeType="1"/>
            </p:cNvSpPr>
            <p:nvPr/>
          </p:nvSpPr>
          <p:spPr bwMode="auto">
            <a:xfrm>
              <a:off x="1728" y="3379"/>
              <a:ext cx="384"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5384" name="Oval 48"/>
            <p:cNvSpPr>
              <a:spLocks noChangeArrowheads="1"/>
            </p:cNvSpPr>
            <p:nvPr/>
          </p:nvSpPr>
          <p:spPr bwMode="auto">
            <a:xfrm>
              <a:off x="1032" y="3353"/>
              <a:ext cx="54" cy="54"/>
            </a:xfrm>
            <a:prstGeom prst="ellipse">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5385" name="Oval 49"/>
            <p:cNvSpPr>
              <a:spLocks noChangeArrowheads="1"/>
            </p:cNvSpPr>
            <p:nvPr/>
          </p:nvSpPr>
          <p:spPr bwMode="auto">
            <a:xfrm>
              <a:off x="2112" y="3349"/>
              <a:ext cx="54" cy="54"/>
            </a:xfrm>
            <a:prstGeom prst="ellipse">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5386" name="Text Box 50"/>
            <p:cNvSpPr txBox="1">
              <a:spLocks noChangeArrowheads="1"/>
            </p:cNvSpPr>
            <p:nvPr/>
          </p:nvSpPr>
          <p:spPr bwMode="auto">
            <a:xfrm>
              <a:off x="1200" y="3013"/>
              <a:ext cx="25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5387" name="Text Box 51"/>
            <p:cNvSpPr txBox="1">
              <a:spLocks noChangeArrowheads="1"/>
            </p:cNvSpPr>
            <p:nvPr/>
          </p:nvSpPr>
          <p:spPr bwMode="auto">
            <a:xfrm>
              <a:off x="1824" y="3004"/>
              <a:ext cx="22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grpSp>
      <p:sp>
        <p:nvSpPr>
          <p:cNvPr id="15364" name="Text Box 55"/>
          <p:cNvSpPr txBox="1">
            <a:spLocks noChangeArrowheads="1"/>
          </p:cNvSpPr>
          <p:nvPr/>
        </p:nvSpPr>
        <p:spPr bwMode="auto">
          <a:xfrm>
            <a:off x="533400" y="879475"/>
            <a:ext cx="8077200" cy="154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buFontTx/>
              <a:buNone/>
            </a:pPr>
            <a:r>
              <a:rPr lang="zh-CN" altLang="en-US" sz="28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参考</a:t>
            </a:r>
            <a:r>
              <a:rPr kumimoji="1" lang="zh-CN" altLang="en-US" sz="28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方向</a:t>
            </a:r>
            <a:r>
              <a:rPr lang="zh-CN" altLang="en-US" sz="28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为了方便分析与运算，任意假定电压的</a:t>
            </a:r>
          </a:p>
          <a:p>
            <a:pPr algn="just" eaLnBrk="1" hangingPunct="1">
              <a:buFontTx/>
              <a:buNone/>
            </a:pP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方向。</a:t>
            </a: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任意假定的</a:t>
            </a: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方向称为</a:t>
            </a: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参考</a:t>
            </a: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方向，</a:t>
            </a:r>
          </a:p>
          <a:p>
            <a:pPr algn="just" eaLnBrk="1" hangingPunct="1">
              <a:buFontTx/>
              <a:buNone/>
            </a:pP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简称方向。</a:t>
            </a:r>
            <a:endParaRPr lang="zh-CN" altLang="en-US" sz="180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15365" name="Group 84"/>
          <p:cNvGrpSpPr>
            <a:grpSpLocks/>
          </p:cNvGrpSpPr>
          <p:nvPr/>
        </p:nvGrpSpPr>
        <p:grpSpPr bwMode="auto">
          <a:xfrm>
            <a:off x="2641080" y="4471991"/>
            <a:ext cx="2062162" cy="1376363"/>
            <a:chOff x="3024" y="2928"/>
            <a:chExt cx="1299" cy="867"/>
          </a:xfrm>
        </p:grpSpPr>
        <p:sp>
          <p:nvSpPr>
            <p:cNvPr id="15367" name="Text Box 72"/>
            <p:cNvSpPr txBox="1">
              <a:spLocks noChangeArrowheads="1"/>
            </p:cNvSpPr>
            <p:nvPr/>
          </p:nvSpPr>
          <p:spPr bwMode="auto">
            <a:xfrm>
              <a:off x="3024" y="3388"/>
              <a:ext cx="22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15368" name="Text Box 73"/>
            <p:cNvSpPr txBox="1">
              <a:spLocks noChangeArrowheads="1"/>
            </p:cNvSpPr>
            <p:nvPr/>
          </p:nvSpPr>
          <p:spPr bwMode="auto">
            <a:xfrm>
              <a:off x="4080" y="3388"/>
              <a:ext cx="24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15369" name="Text Box 74"/>
            <p:cNvSpPr txBox="1">
              <a:spLocks noChangeArrowheads="1"/>
            </p:cNvSpPr>
            <p:nvPr/>
          </p:nvSpPr>
          <p:spPr bwMode="auto">
            <a:xfrm>
              <a:off x="3516" y="3465"/>
              <a:ext cx="26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R</a:t>
              </a: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5370" name="Line 75"/>
            <p:cNvSpPr>
              <a:spLocks noChangeShapeType="1"/>
            </p:cNvSpPr>
            <p:nvPr/>
          </p:nvSpPr>
          <p:spPr bwMode="auto">
            <a:xfrm>
              <a:off x="3142" y="3423"/>
              <a:ext cx="39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5371" name="Rectangle 76"/>
            <p:cNvSpPr>
              <a:spLocks noChangeArrowheads="1"/>
            </p:cNvSpPr>
            <p:nvPr/>
          </p:nvSpPr>
          <p:spPr bwMode="auto">
            <a:xfrm>
              <a:off x="3538" y="3363"/>
              <a:ext cx="264" cy="1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5372" name="Text Box 77"/>
            <p:cNvSpPr txBox="1">
              <a:spLocks noChangeArrowheads="1"/>
            </p:cNvSpPr>
            <p:nvPr/>
          </p:nvSpPr>
          <p:spPr bwMode="auto">
            <a:xfrm>
              <a:off x="3408" y="2928"/>
              <a:ext cx="57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baseline="-250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ab</a:t>
              </a:r>
            </a:p>
          </p:txBody>
        </p:sp>
        <p:sp>
          <p:nvSpPr>
            <p:cNvPr id="15373" name="Line 78"/>
            <p:cNvSpPr>
              <a:spLocks noChangeShapeType="1"/>
            </p:cNvSpPr>
            <p:nvPr/>
          </p:nvSpPr>
          <p:spPr bwMode="auto">
            <a:xfrm>
              <a:off x="3792" y="3427"/>
              <a:ext cx="384"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5374" name="Oval 79"/>
            <p:cNvSpPr>
              <a:spLocks noChangeArrowheads="1"/>
            </p:cNvSpPr>
            <p:nvPr/>
          </p:nvSpPr>
          <p:spPr bwMode="auto">
            <a:xfrm>
              <a:off x="3096" y="3401"/>
              <a:ext cx="54" cy="54"/>
            </a:xfrm>
            <a:prstGeom prst="ellipse">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5375" name="Oval 80"/>
            <p:cNvSpPr>
              <a:spLocks noChangeArrowheads="1"/>
            </p:cNvSpPr>
            <p:nvPr/>
          </p:nvSpPr>
          <p:spPr bwMode="auto">
            <a:xfrm>
              <a:off x="4176" y="3397"/>
              <a:ext cx="54" cy="54"/>
            </a:xfrm>
            <a:prstGeom prst="ellipse">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5376" name="Line 83"/>
            <p:cNvSpPr>
              <a:spLocks noChangeShapeType="1"/>
            </p:cNvSpPr>
            <p:nvPr/>
          </p:nvSpPr>
          <p:spPr bwMode="auto">
            <a:xfrm>
              <a:off x="3312" y="3264"/>
              <a:ext cx="72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5366" name="Text Box 85"/>
          <p:cNvSpPr txBox="1">
            <a:spLocks noChangeArrowheads="1"/>
          </p:cNvSpPr>
          <p:nvPr/>
        </p:nvSpPr>
        <p:spPr bwMode="auto">
          <a:xfrm>
            <a:off x="2743200" y="5943600"/>
            <a:ext cx="426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电压的参考方向与参考极性</a:t>
            </a:r>
          </a:p>
        </p:txBody>
      </p:sp>
      <p:sp>
        <p:nvSpPr>
          <p:cNvPr id="2" name="灯片编号占位符 1"/>
          <p:cNvSpPr>
            <a:spLocks noGrp="1"/>
          </p:cNvSpPr>
          <p:nvPr>
            <p:ph type="sldNum" sz="quarter" idx="12"/>
          </p:nvPr>
        </p:nvSpPr>
        <p:spPr/>
        <p:txBody>
          <a:bodyPr/>
          <a:lstStyle/>
          <a:p>
            <a:pPr>
              <a:defRPr/>
            </a:pPr>
            <a:fld id="{7F6DAC6E-051E-43BF-A607-F6F4F9E2F096}" type="slidenum">
              <a:rPr lang="en-US" altLang="zh-CN" smtClean="0"/>
              <a:pPr>
                <a:defRPr/>
              </a:pPr>
              <a:t>11</a:t>
            </a:fld>
            <a:endParaRPr lang="en-US" altLang="zh-CN"/>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3"/>
          <p:cNvSpPr>
            <a:spLocks noChangeArrowheads="1"/>
          </p:cNvSpPr>
          <p:nvPr/>
        </p:nvSpPr>
        <p:spPr bwMode="auto">
          <a:xfrm>
            <a:off x="684213" y="908050"/>
            <a:ext cx="80645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实际</a:t>
            </a:r>
            <a:r>
              <a:rPr kumimoji="1" lang="zh-CN" altLang="en-US" sz="280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极性</a:t>
            </a: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与参考</a:t>
            </a:r>
            <a:r>
              <a:rPr kumimoji="1" lang="zh-CN" altLang="en-US" sz="280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极性</a:t>
            </a:r>
            <a:r>
              <a:rPr kumimoji="1" lang="zh-CN" altLang="en-US"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一致</a:t>
            </a: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，电压值为</a:t>
            </a:r>
            <a:r>
              <a:rPr kumimoji="1" lang="zh-CN" altLang="en-US"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正值</a:t>
            </a: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spcBef>
                <a:spcPct val="0"/>
              </a:spcBef>
              <a:buFontTx/>
              <a:buNone/>
            </a:pP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实际</a:t>
            </a:r>
            <a:r>
              <a:rPr kumimoji="1" lang="zh-CN" altLang="en-US" sz="280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极性</a:t>
            </a: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与参考</a:t>
            </a:r>
            <a:r>
              <a:rPr kumimoji="1" lang="zh-CN" altLang="en-US" sz="280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极性</a:t>
            </a:r>
            <a:r>
              <a:rPr kumimoji="1" lang="zh-CN" altLang="en-US"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相反</a:t>
            </a: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，电压值为</a:t>
            </a:r>
            <a:r>
              <a:rPr kumimoji="1" lang="zh-CN" altLang="en-US"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负值</a:t>
            </a:r>
            <a:r>
              <a:rPr kumimoji="1" lang="zh-CN" altLang="en-US" sz="28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6387" name="Text Box 4"/>
          <p:cNvSpPr txBox="1">
            <a:spLocks noChangeArrowheads="1"/>
          </p:cNvSpPr>
          <p:nvPr/>
        </p:nvSpPr>
        <p:spPr bwMode="auto">
          <a:xfrm>
            <a:off x="323850" y="2205038"/>
            <a:ext cx="10795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25000"/>
              </a:spcBef>
              <a:buFontTx/>
              <a:buNone/>
            </a:pPr>
            <a:r>
              <a:rPr kumimoji="1" lang="en-US" altLang="zh-CN" sz="28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8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例</a:t>
            </a:r>
            <a:r>
              <a:rPr kumimoji="1" lang="en-US" altLang="zh-CN" sz="28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16388" name="Group 20"/>
          <p:cNvGrpSpPr>
            <a:grpSpLocks/>
          </p:cNvGrpSpPr>
          <p:nvPr/>
        </p:nvGrpSpPr>
        <p:grpSpPr bwMode="auto">
          <a:xfrm>
            <a:off x="1908175" y="4149726"/>
            <a:ext cx="2062163" cy="1179513"/>
            <a:chOff x="864" y="2188"/>
            <a:chExt cx="1299" cy="743"/>
          </a:xfrm>
        </p:grpSpPr>
        <p:sp>
          <p:nvSpPr>
            <p:cNvPr id="16402" name="Text Box 21"/>
            <p:cNvSpPr txBox="1">
              <a:spLocks noChangeArrowheads="1"/>
            </p:cNvSpPr>
            <p:nvPr/>
          </p:nvSpPr>
          <p:spPr bwMode="auto">
            <a:xfrm>
              <a:off x="864" y="2524"/>
              <a:ext cx="22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16403" name="Text Box 22"/>
            <p:cNvSpPr txBox="1">
              <a:spLocks noChangeArrowheads="1"/>
            </p:cNvSpPr>
            <p:nvPr/>
          </p:nvSpPr>
          <p:spPr bwMode="auto">
            <a:xfrm>
              <a:off x="1920" y="2524"/>
              <a:ext cx="24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16404" name="Text Box 23"/>
            <p:cNvSpPr txBox="1">
              <a:spLocks noChangeArrowheads="1"/>
            </p:cNvSpPr>
            <p:nvPr/>
          </p:nvSpPr>
          <p:spPr bwMode="auto">
            <a:xfrm>
              <a:off x="1356" y="2601"/>
              <a:ext cx="26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R</a:t>
              </a: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6405" name="Line 24"/>
            <p:cNvSpPr>
              <a:spLocks noChangeShapeType="1"/>
            </p:cNvSpPr>
            <p:nvPr/>
          </p:nvSpPr>
          <p:spPr bwMode="auto">
            <a:xfrm>
              <a:off x="982" y="2559"/>
              <a:ext cx="39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6406" name="Rectangle 25"/>
            <p:cNvSpPr>
              <a:spLocks noChangeArrowheads="1"/>
            </p:cNvSpPr>
            <p:nvPr/>
          </p:nvSpPr>
          <p:spPr bwMode="auto">
            <a:xfrm>
              <a:off x="1378" y="2499"/>
              <a:ext cx="264" cy="1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6407" name="Text Box 26"/>
            <p:cNvSpPr txBox="1">
              <a:spLocks noChangeArrowheads="1"/>
            </p:cNvSpPr>
            <p:nvPr/>
          </p:nvSpPr>
          <p:spPr bwMode="auto">
            <a:xfrm>
              <a:off x="1392" y="2188"/>
              <a:ext cx="28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6408" name="Line 27"/>
            <p:cNvSpPr>
              <a:spLocks noChangeShapeType="1"/>
            </p:cNvSpPr>
            <p:nvPr/>
          </p:nvSpPr>
          <p:spPr bwMode="auto">
            <a:xfrm>
              <a:off x="1632" y="2563"/>
              <a:ext cx="384"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6409" name="Oval 28"/>
            <p:cNvSpPr>
              <a:spLocks noChangeArrowheads="1"/>
            </p:cNvSpPr>
            <p:nvPr/>
          </p:nvSpPr>
          <p:spPr bwMode="auto">
            <a:xfrm>
              <a:off x="936" y="2537"/>
              <a:ext cx="54" cy="54"/>
            </a:xfrm>
            <a:prstGeom prst="ellipse">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6410" name="Oval 29"/>
            <p:cNvSpPr>
              <a:spLocks noChangeArrowheads="1"/>
            </p:cNvSpPr>
            <p:nvPr/>
          </p:nvSpPr>
          <p:spPr bwMode="auto">
            <a:xfrm>
              <a:off x="2016" y="2533"/>
              <a:ext cx="54" cy="54"/>
            </a:xfrm>
            <a:prstGeom prst="ellipse">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6411" name="Text Box 30"/>
            <p:cNvSpPr txBox="1">
              <a:spLocks noChangeArrowheads="1"/>
            </p:cNvSpPr>
            <p:nvPr/>
          </p:nvSpPr>
          <p:spPr bwMode="auto">
            <a:xfrm>
              <a:off x="1104" y="2197"/>
              <a:ext cx="25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6412" name="Text Box 31"/>
            <p:cNvSpPr txBox="1">
              <a:spLocks noChangeArrowheads="1"/>
            </p:cNvSpPr>
            <p:nvPr/>
          </p:nvSpPr>
          <p:spPr bwMode="auto">
            <a:xfrm>
              <a:off x="1728" y="2188"/>
              <a:ext cx="22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grpSp>
      <p:sp>
        <p:nvSpPr>
          <p:cNvPr id="16389" name="Rectangle 32"/>
          <p:cNvSpPr>
            <a:spLocks noChangeArrowheads="1"/>
          </p:cNvSpPr>
          <p:nvPr/>
        </p:nvSpPr>
        <p:spPr bwMode="auto">
          <a:xfrm>
            <a:off x="1371600" y="2209800"/>
            <a:ext cx="69342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下图中若 </a:t>
            </a:r>
            <a:r>
              <a:rPr kumimoji="1" lang="en-US" altLang="zh-CN" sz="2800" b="1" i="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 = 5V</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，则电压的实际方向从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 </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指向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；若 </a:t>
            </a:r>
            <a:r>
              <a:rPr kumimoji="1" lang="en-US" altLang="zh-CN" sz="2800" b="1" i="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 –5V</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，则电压的实际方向从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 </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指向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 </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16390" name="Group 47"/>
          <p:cNvGrpSpPr>
            <a:grpSpLocks/>
          </p:cNvGrpSpPr>
          <p:nvPr/>
        </p:nvGrpSpPr>
        <p:grpSpPr bwMode="auto">
          <a:xfrm>
            <a:off x="4932363" y="4076702"/>
            <a:ext cx="2062162" cy="1255713"/>
            <a:chOff x="2880" y="2496"/>
            <a:chExt cx="1299" cy="791"/>
          </a:xfrm>
        </p:grpSpPr>
        <p:sp>
          <p:nvSpPr>
            <p:cNvPr id="16392" name="Text Box 35"/>
            <p:cNvSpPr txBox="1">
              <a:spLocks noChangeArrowheads="1"/>
            </p:cNvSpPr>
            <p:nvPr/>
          </p:nvSpPr>
          <p:spPr bwMode="auto">
            <a:xfrm>
              <a:off x="2880" y="2880"/>
              <a:ext cx="22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16393" name="Text Box 36"/>
            <p:cNvSpPr txBox="1">
              <a:spLocks noChangeArrowheads="1"/>
            </p:cNvSpPr>
            <p:nvPr/>
          </p:nvSpPr>
          <p:spPr bwMode="auto">
            <a:xfrm>
              <a:off x="3936" y="2880"/>
              <a:ext cx="24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16394" name="Text Box 37"/>
            <p:cNvSpPr txBox="1">
              <a:spLocks noChangeArrowheads="1"/>
            </p:cNvSpPr>
            <p:nvPr/>
          </p:nvSpPr>
          <p:spPr bwMode="auto">
            <a:xfrm>
              <a:off x="3372" y="2957"/>
              <a:ext cx="26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R</a:t>
              </a: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6395" name="Line 38"/>
            <p:cNvSpPr>
              <a:spLocks noChangeShapeType="1"/>
            </p:cNvSpPr>
            <p:nvPr/>
          </p:nvSpPr>
          <p:spPr bwMode="auto">
            <a:xfrm>
              <a:off x="2998" y="2915"/>
              <a:ext cx="39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6396" name="Rectangle 39"/>
            <p:cNvSpPr>
              <a:spLocks noChangeArrowheads="1"/>
            </p:cNvSpPr>
            <p:nvPr/>
          </p:nvSpPr>
          <p:spPr bwMode="auto">
            <a:xfrm>
              <a:off x="3394" y="2855"/>
              <a:ext cx="264" cy="1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6397" name="Text Box 40"/>
            <p:cNvSpPr txBox="1">
              <a:spLocks noChangeArrowheads="1"/>
            </p:cNvSpPr>
            <p:nvPr/>
          </p:nvSpPr>
          <p:spPr bwMode="auto">
            <a:xfrm>
              <a:off x="3312" y="2496"/>
              <a:ext cx="288"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6398" name="Line 41"/>
            <p:cNvSpPr>
              <a:spLocks noChangeShapeType="1"/>
            </p:cNvSpPr>
            <p:nvPr/>
          </p:nvSpPr>
          <p:spPr bwMode="auto">
            <a:xfrm>
              <a:off x="3648" y="2919"/>
              <a:ext cx="384"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6399" name="Oval 42"/>
            <p:cNvSpPr>
              <a:spLocks noChangeArrowheads="1"/>
            </p:cNvSpPr>
            <p:nvPr/>
          </p:nvSpPr>
          <p:spPr bwMode="auto">
            <a:xfrm>
              <a:off x="2952" y="2893"/>
              <a:ext cx="54" cy="54"/>
            </a:xfrm>
            <a:prstGeom prst="ellipse">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6400" name="Oval 43"/>
            <p:cNvSpPr>
              <a:spLocks noChangeArrowheads="1"/>
            </p:cNvSpPr>
            <p:nvPr/>
          </p:nvSpPr>
          <p:spPr bwMode="auto">
            <a:xfrm>
              <a:off x="4032" y="2889"/>
              <a:ext cx="54" cy="54"/>
            </a:xfrm>
            <a:prstGeom prst="ellipse">
              <a:avLst/>
            </a:prstGeom>
            <a:noFill/>
            <a:ln w="3810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6401" name="Line 46"/>
            <p:cNvSpPr>
              <a:spLocks noChangeShapeType="1"/>
            </p:cNvSpPr>
            <p:nvPr/>
          </p:nvSpPr>
          <p:spPr bwMode="auto">
            <a:xfrm>
              <a:off x="3120" y="2784"/>
              <a:ext cx="768"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6391" name="Text Box 48"/>
          <p:cNvSpPr txBox="1">
            <a:spLocks noChangeArrowheads="1"/>
          </p:cNvSpPr>
          <p:nvPr/>
        </p:nvSpPr>
        <p:spPr bwMode="auto">
          <a:xfrm>
            <a:off x="2268538" y="5589588"/>
            <a:ext cx="426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电压的参考方向与参考极性</a:t>
            </a:r>
          </a:p>
        </p:txBody>
      </p:sp>
      <p:sp>
        <p:nvSpPr>
          <p:cNvPr id="2" name="灯片编号占位符 1"/>
          <p:cNvSpPr>
            <a:spLocks noGrp="1"/>
          </p:cNvSpPr>
          <p:nvPr>
            <p:ph type="sldNum" sz="quarter" idx="12"/>
          </p:nvPr>
        </p:nvSpPr>
        <p:spPr/>
        <p:txBody>
          <a:bodyPr/>
          <a:lstStyle/>
          <a:p>
            <a:pPr>
              <a:defRPr/>
            </a:pPr>
            <a:fld id="{8483704B-B939-41F0-A9C6-BADB80BC3F1C}" type="slidenum">
              <a:rPr lang="en-US" altLang="zh-CN" smtClean="0"/>
              <a:pPr>
                <a:defRPr/>
              </a:pPr>
              <a:t>12</a:t>
            </a:fld>
            <a:endParaRPr lang="en-US" altLang="zh-C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D9545D7-C5E3-45C5-9EA4-8FA90F88CBBC}"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13</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7411" name="Rectangle 3"/>
          <p:cNvSpPr>
            <a:spLocks noGrp="1" noChangeArrowheads="1"/>
          </p:cNvSpPr>
          <p:nvPr>
            <p:ph type="subTitle" idx="1"/>
          </p:nvPr>
        </p:nvSpPr>
        <p:spPr>
          <a:xfrm>
            <a:off x="0" y="188913"/>
            <a:ext cx="2971800" cy="533400"/>
          </a:xfrm>
        </p:spPr>
        <p:txBody>
          <a:bodyPr/>
          <a:lstStyle/>
          <a:p>
            <a:pPr algn="l" eaLnBrk="1" hangingPunct="1"/>
            <a:r>
              <a:rPr lang="zh-CN" altLang="en-US" sz="2800" b="1"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关联参考方向</a:t>
            </a:r>
          </a:p>
        </p:txBody>
      </p:sp>
      <p:sp>
        <p:nvSpPr>
          <p:cNvPr id="17412" name="Text Box 5"/>
          <p:cNvSpPr txBox="1">
            <a:spLocks noChangeArrowheads="1"/>
          </p:cNvSpPr>
          <p:nvPr/>
        </p:nvSpPr>
        <p:spPr bwMode="auto">
          <a:xfrm>
            <a:off x="539750" y="765175"/>
            <a:ext cx="799941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en-US" altLang="zh-CN"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一个元件或者一段电路中电压和电流的方向均可以任意选定，二者可以一致，也可以不一致。如果一致称为</a:t>
            </a:r>
            <a:r>
              <a:rPr kumimoji="1" lang="zh-CN" altLang="en-US" sz="24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关联参考方向</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；如果不一致称为</a:t>
            </a:r>
            <a:r>
              <a:rPr kumimoji="1" lang="zh-CN" altLang="en-US" sz="24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非</a:t>
            </a:r>
            <a:r>
              <a:rPr kumimoji="1" lang="zh-CN" altLang="en-US" sz="2400" b="1" dirty="0" smtClean="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关联参考方向</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17413" name="Group 14"/>
          <p:cNvGrpSpPr>
            <a:grpSpLocks/>
          </p:cNvGrpSpPr>
          <p:nvPr/>
        </p:nvGrpSpPr>
        <p:grpSpPr bwMode="auto">
          <a:xfrm>
            <a:off x="1600200" y="4114800"/>
            <a:ext cx="1981200" cy="1219200"/>
            <a:chOff x="576" y="1968"/>
            <a:chExt cx="1248" cy="768"/>
          </a:xfrm>
        </p:grpSpPr>
        <p:grpSp>
          <p:nvGrpSpPr>
            <p:cNvPr id="17443" name="Group 10"/>
            <p:cNvGrpSpPr>
              <a:grpSpLocks/>
            </p:cNvGrpSpPr>
            <p:nvPr/>
          </p:nvGrpSpPr>
          <p:grpSpPr bwMode="auto">
            <a:xfrm>
              <a:off x="576" y="2352"/>
              <a:ext cx="1248" cy="96"/>
              <a:chOff x="576" y="2352"/>
              <a:chExt cx="1248" cy="96"/>
            </a:xfrm>
          </p:grpSpPr>
          <p:sp>
            <p:nvSpPr>
              <p:cNvPr id="17447" name="Line 6"/>
              <p:cNvSpPr>
                <a:spLocks noChangeShapeType="1"/>
              </p:cNvSpPr>
              <p:nvPr/>
            </p:nvSpPr>
            <p:spPr bwMode="auto">
              <a:xfrm>
                <a:off x="576" y="2400"/>
                <a:ext cx="124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7448" name="Rectangle 7"/>
              <p:cNvSpPr>
                <a:spLocks noChangeArrowheads="1"/>
              </p:cNvSpPr>
              <p:nvPr/>
            </p:nvSpPr>
            <p:spPr bwMode="auto">
              <a:xfrm>
                <a:off x="912" y="2352"/>
                <a:ext cx="336" cy="96"/>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7449" name="Line 9"/>
              <p:cNvSpPr>
                <a:spLocks noChangeShapeType="1"/>
              </p:cNvSpPr>
              <p:nvPr/>
            </p:nvSpPr>
            <p:spPr bwMode="auto">
              <a:xfrm>
                <a:off x="1248" y="2400"/>
                <a:ext cx="240"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7444" name="Line 11"/>
            <p:cNvSpPr>
              <a:spLocks noChangeShapeType="1"/>
            </p:cNvSpPr>
            <p:nvPr/>
          </p:nvSpPr>
          <p:spPr bwMode="auto">
            <a:xfrm>
              <a:off x="672" y="2256"/>
              <a:ext cx="912"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7445" name="Text Box 12"/>
            <p:cNvSpPr txBox="1">
              <a:spLocks noChangeArrowheads="1"/>
            </p:cNvSpPr>
            <p:nvPr/>
          </p:nvSpPr>
          <p:spPr bwMode="auto">
            <a:xfrm>
              <a:off x="1200" y="244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7446" name="Text Box 13"/>
            <p:cNvSpPr txBox="1">
              <a:spLocks noChangeArrowheads="1"/>
            </p:cNvSpPr>
            <p:nvPr/>
          </p:nvSpPr>
          <p:spPr bwMode="auto">
            <a:xfrm>
              <a:off x="960" y="1968"/>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p>
          </p:txBody>
        </p:sp>
      </p:grpSp>
      <p:grpSp>
        <p:nvGrpSpPr>
          <p:cNvPr id="17414" name="Group 39"/>
          <p:cNvGrpSpPr>
            <a:grpSpLocks/>
          </p:cNvGrpSpPr>
          <p:nvPr/>
        </p:nvGrpSpPr>
        <p:grpSpPr bwMode="auto">
          <a:xfrm>
            <a:off x="5105400" y="4114800"/>
            <a:ext cx="1981200" cy="1219200"/>
            <a:chOff x="3360" y="2064"/>
            <a:chExt cx="1248" cy="768"/>
          </a:xfrm>
        </p:grpSpPr>
        <p:grpSp>
          <p:nvGrpSpPr>
            <p:cNvPr id="17436" name="Group 32"/>
            <p:cNvGrpSpPr>
              <a:grpSpLocks/>
            </p:cNvGrpSpPr>
            <p:nvPr/>
          </p:nvGrpSpPr>
          <p:grpSpPr bwMode="auto">
            <a:xfrm>
              <a:off x="3360" y="2448"/>
              <a:ext cx="1248" cy="96"/>
              <a:chOff x="576" y="2352"/>
              <a:chExt cx="1248" cy="96"/>
            </a:xfrm>
          </p:grpSpPr>
          <p:sp>
            <p:nvSpPr>
              <p:cNvPr id="17440" name="Line 33"/>
              <p:cNvSpPr>
                <a:spLocks noChangeShapeType="1"/>
              </p:cNvSpPr>
              <p:nvPr/>
            </p:nvSpPr>
            <p:spPr bwMode="auto">
              <a:xfrm>
                <a:off x="576" y="2400"/>
                <a:ext cx="124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7441" name="Rectangle 34"/>
              <p:cNvSpPr>
                <a:spLocks noChangeArrowheads="1"/>
              </p:cNvSpPr>
              <p:nvPr/>
            </p:nvSpPr>
            <p:spPr bwMode="auto">
              <a:xfrm>
                <a:off x="912" y="2352"/>
                <a:ext cx="336" cy="96"/>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7442" name="Line 35"/>
              <p:cNvSpPr>
                <a:spLocks noChangeShapeType="1"/>
              </p:cNvSpPr>
              <p:nvPr/>
            </p:nvSpPr>
            <p:spPr bwMode="auto">
              <a:xfrm>
                <a:off x="1248" y="2400"/>
                <a:ext cx="240"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7437" name="Line 36"/>
            <p:cNvSpPr>
              <a:spLocks noChangeShapeType="1"/>
            </p:cNvSpPr>
            <p:nvPr/>
          </p:nvSpPr>
          <p:spPr bwMode="auto">
            <a:xfrm>
              <a:off x="3456" y="2352"/>
              <a:ext cx="912" cy="0"/>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7438" name="Text Box 37"/>
            <p:cNvSpPr txBox="1">
              <a:spLocks noChangeArrowheads="1"/>
            </p:cNvSpPr>
            <p:nvPr/>
          </p:nvSpPr>
          <p:spPr bwMode="auto">
            <a:xfrm>
              <a:off x="3984" y="2544"/>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7439" name="Text Box 38"/>
            <p:cNvSpPr txBox="1">
              <a:spLocks noChangeArrowheads="1"/>
            </p:cNvSpPr>
            <p:nvPr/>
          </p:nvSpPr>
          <p:spPr bwMode="auto">
            <a:xfrm>
              <a:off x="3744" y="2064"/>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p>
          </p:txBody>
        </p:sp>
      </p:grpSp>
      <p:grpSp>
        <p:nvGrpSpPr>
          <p:cNvPr id="17415" name="Group 41"/>
          <p:cNvGrpSpPr>
            <a:grpSpLocks/>
          </p:cNvGrpSpPr>
          <p:nvPr/>
        </p:nvGrpSpPr>
        <p:grpSpPr bwMode="auto">
          <a:xfrm>
            <a:off x="1524000" y="2438400"/>
            <a:ext cx="2057400" cy="1066800"/>
            <a:chOff x="672" y="3120"/>
            <a:chExt cx="1296" cy="672"/>
          </a:xfrm>
        </p:grpSpPr>
        <p:grpSp>
          <p:nvGrpSpPr>
            <p:cNvPr id="17429" name="Group 16"/>
            <p:cNvGrpSpPr>
              <a:grpSpLocks/>
            </p:cNvGrpSpPr>
            <p:nvPr/>
          </p:nvGrpSpPr>
          <p:grpSpPr bwMode="auto">
            <a:xfrm>
              <a:off x="720" y="3408"/>
              <a:ext cx="1248" cy="96"/>
              <a:chOff x="576" y="2352"/>
              <a:chExt cx="1248" cy="96"/>
            </a:xfrm>
          </p:grpSpPr>
          <p:sp>
            <p:nvSpPr>
              <p:cNvPr id="17433" name="Line 17"/>
              <p:cNvSpPr>
                <a:spLocks noChangeShapeType="1"/>
              </p:cNvSpPr>
              <p:nvPr/>
            </p:nvSpPr>
            <p:spPr bwMode="auto">
              <a:xfrm>
                <a:off x="576" y="2400"/>
                <a:ext cx="124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7434" name="Rectangle 18"/>
              <p:cNvSpPr>
                <a:spLocks noChangeArrowheads="1"/>
              </p:cNvSpPr>
              <p:nvPr/>
            </p:nvSpPr>
            <p:spPr bwMode="auto">
              <a:xfrm>
                <a:off x="912" y="2352"/>
                <a:ext cx="336" cy="96"/>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7435" name="Line 19"/>
              <p:cNvSpPr>
                <a:spLocks noChangeShapeType="1"/>
              </p:cNvSpPr>
              <p:nvPr/>
            </p:nvSpPr>
            <p:spPr bwMode="auto">
              <a:xfrm>
                <a:off x="1248" y="2400"/>
                <a:ext cx="240"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7430" name="Text Box 21"/>
            <p:cNvSpPr txBox="1">
              <a:spLocks noChangeArrowheads="1"/>
            </p:cNvSpPr>
            <p:nvPr/>
          </p:nvSpPr>
          <p:spPr bwMode="auto">
            <a:xfrm>
              <a:off x="1344" y="3504"/>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7431" name="Text Box 22"/>
            <p:cNvSpPr txBox="1">
              <a:spLocks noChangeArrowheads="1"/>
            </p:cNvSpPr>
            <p:nvPr/>
          </p:nvSpPr>
          <p:spPr bwMode="auto">
            <a:xfrm>
              <a:off x="1104" y="312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p>
          </p:txBody>
        </p:sp>
        <p:sp>
          <p:nvSpPr>
            <p:cNvPr id="17432" name="Text Box 40"/>
            <p:cNvSpPr txBox="1">
              <a:spLocks noChangeArrowheads="1"/>
            </p:cNvSpPr>
            <p:nvPr/>
          </p:nvSpPr>
          <p:spPr bwMode="auto">
            <a:xfrm>
              <a:off x="672" y="3120"/>
              <a:ext cx="129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p>
          </p:txBody>
        </p:sp>
      </p:grpSp>
      <p:grpSp>
        <p:nvGrpSpPr>
          <p:cNvPr id="17416" name="Group 50"/>
          <p:cNvGrpSpPr>
            <a:grpSpLocks/>
          </p:cNvGrpSpPr>
          <p:nvPr/>
        </p:nvGrpSpPr>
        <p:grpSpPr bwMode="auto">
          <a:xfrm>
            <a:off x="4953000" y="2438400"/>
            <a:ext cx="2057400" cy="1066800"/>
            <a:chOff x="3360" y="3216"/>
            <a:chExt cx="1296" cy="672"/>
          </a:xfrm>
        </p:grpSpPr>
        <p:grpSp>
          <p:nvGrpSpPr>
            <p:cNvPr id="17422" name="Group 43"/>
            <p:cNvGrpSpPr>
              <a:grpSpLocks/>
            </p:cNvGrpSpPr>
            <p:nvPr/>
          </p:nvGrpSpPr>
          <p:grpSpPr bwMode="auto">
            <a:xfrm>
              <a:off x="3408" y="3504"/>
              <a:ext cx="1248" cy="96"/>
              <a:chOff x="576" y="2352"/>
              <a:chExt cx="1248" cy="96"/>
            </a:xfrm>
          </p:grpSpPr>
          <p:sp>
            <p:nvSpPr>
              <p:cNvPr id="17426" name="Line 44"/>
              <p:cNvSpPr>
                <a:spLocks noChangeShapeType="1"/>
              </p:cNvSpPr>
              <p:nvPr/>
            </p:nvSpPr>
            <p:spPr bwMode="auto">
              <a:xfrm>
                <a:off x="576" y="2400"/>
                <a:ext cx="124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7427" name="Rectangle 45"/>
              <p:cNvSpPr>
                <a:spLocks noChangeArrowheads="1"/>
              </p:cNvSpPr>
              <p:nvPr/>
            </p:nvSpPr>
            <p:spPr bwMode="auto">
              <a:xfrm>
                <a:off x="912" y="2352"/>
                <a:ext cx="336" cy="96"/>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7428" name="Line 46"/>
              <p:cNvSpPr>
                <a:spLocks noChangeShapeType="1"/>
              </p:cNvSpPr>
              <p:nvPr/>
            </p:nvSpPr>
            <p:spPr bwMode="auto">
              <a:xfrm>
                <a:off x="1248" y="2400"/>
                <a:ext cx="240" cy="0"/>
              </a:xfrm>
              <a:prstGeom prst="line">
                <a:avLst/>
              </a:prstGeom>
              <a:noFill/>
              <a:ln w="381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7423" name="Text Box 47"/>
            <p:cNvSpPr txBox="1">
              <a:spLocks noChangeArrowheads="1"/>
            </p:cNvSpPr>
            <p:nvPr/>
          </p:nvSpPr>
          <p:spPr bwMode="auto">
            <a:xfrm>
              <a:off x="4032" y="360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7424" name="Text Box 48"/>
            <p:cNvSpPr txBox="1">
              <a:spLocks noChangeArrowheads="1"/>
            </p:cNvSpPr>
            <p:nvPr/>
          </p:nvSpPr>
          <p:spPr bwMode="auto">
            <a:xfrm>
              <a:off x="3792" y="3216"/>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p>
          </p:txBody>
        </p:sp>
        <p:sp>
          <p:nvSpPr>
            <p:cNvPr id="17425" name="Text Box 49"/>
            <p:cNvSpPr txBox="1">
              <a:spLocks noChangeArrowheads="1"/>
            </p:cNvSpPr>
            <p:nvPr/>
          </p:nvSpPr>
          <p:spPr bwMode="auto">
            <a:xfrm>
              <a:off x="3360" y="3216"/>
              <a:ext cx="129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p>
          </p:txBody>
        </p:sp>
      </p:grpSp>
      <p:sp>
        <p:nvSpPr>
          <p:cNvPr id="17417" name="Text Box 51"/>
          <p:cNvSpPr txBox="1">
            <a:spLocks noChangeArrowheads="1"/>
          </p:cNvSpPr>
          <p:nvPr/>
        </p:nvSpPr>
        <p:spPr bwMode="auto">
          <a:xfrm>
            <a:off x="1295400" y="5334000"/>
            <a:ext cx="2700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(c)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关联参考方向</a:t>
            </a:r>
          </a:p>
        </p:txBody>
      </p:sp>
      <p:sp>
        <p:nvSpPr>
          <p:cNvPr id="17418" name="Text Box 53"/>
          <p:cNvSpPr txBox="1">
            <a:spLocks noChangeArrowheads="1"/>
          </p:cNvSpPr>
          <p:nvPr/>
        </p:nvSpPr>
        <p:spPr bwMode="auto">
          <a:xfrm>
            <a:off x="1295400" y="3505200"/>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关联参考方向</a:t>
            </a:r>
          </a:p>
        </p:txBody>
      </p:sp>
      <p:sp>
        <p:nvSpPr>
          <p:cNvPr id="17419" name="Text Box 54"/>
          <p:cNvSpPr txBox="1">
            <a:spLocks noChangeArrowheads="1"/>
          </p:cNvSpPr>
          <p:nvPr/>
        </p:nvSpPr>
        <p:spPr bwMode="auto">
          <a:xfrm>
            <a:off x="4572000" y="35052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(b)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非关联参考方向</a:t>
            </a:r>
          </a:p>
        </p:txBody>
      </p:sp>
      <p:sp>
        <p:nvSpPr>
          <p:cNvPr id="17420" name="Text Box 55"/>
          <p:cNvSpPr txBox="1">
            <a:spLocks noChangeArrowheads="1"/>
          </p:cNvSpPr>
          <p:nvPr/>
        </p:nvSpPr>
        <p:spPr bwMode="auto">
          <a:xfrm>
            <a:off x="4495800" y="5318125"/>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(d)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非关联参考方向</a:t>
            </a:r>
          </a:p>
        </p:txBody>
      </p:sp>
      <p:sp>
        <p:nvSpPr>
          <p:cNvPr id="17421" name="Text Box 56"/>
          <p:cNvSpPr txBox="1">
            <a:spLocks noChangeArrowheads="1"/>
          </p:cNvSpPr>
          <p:nvPr/>
        </p:nvSpPr>
        <p:spPr bwMode="auto">
          <a:xfrm>
            <a:off x="2057400" y="6019800"/>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关联参考方向与非关联参考方向</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4"/>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3769ED2-440A-4544-A19C-AFC149BAE9B0}"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14</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35" name="Rectangle 2"/>
          <p:cNvSpPr>
            <a:spLocks noGrp="1" noChangeArrowheads="1"/>
          </p:cNvSpPr>
          <p:nvPr>
            <p:ph type="title"/>
          </p:nvPr>
        </p:nvSpPr>
        <p:spPr>
          <a:xfrm>
            <a:off x="250825" y="512763"/>
            <a:ext cx="7315200" cy="411162"/>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marL="342900" indent="-342900" algn="l" eaLnBrk="1" hangingPunct="1">
              <a:spcBef>
                <a:spcPct val="20000"/>
              </a:spcBef>
              <a:defRPr/>
            </a:pPr>
            <a:r>
              <a:rPr lang="en-US" altLang="zh-CN" sz="32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1.2.3  </a:t>
            </a:r>
            <a:r>
              <a:rPr lang="zh-CN" altLang="en-US" sz="32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电功率</a:t>
            </a:r>
          </a:p>
        </p:txBody>
      </p:sp>
      <p:sp>
        <p:nvSpPr>
          <p:cNvPr id="18436" name="Text Box 3"/>
          <p:cNvSpPr txBox="1">
            <a:spLocks noChangeArrowheads="1"/>
          </p:cNvSpPr>
          <p:nvPr/>
        </p:nvSpPr>
        <p:spPr bwMode="auto">
          <a:xfrm>
            <a:off x="914400" y="1235075"/>
            <a:ext cx="732948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8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电功率</a:t>
            </a:r>
            <a:r>
              <a:rPr lang="zh-CN" altLang="en-US" sz="2800" b="1" dirty="0">
                <a:latin typeface="Times New Roman" panose="02020603050405020304" pitchFamily="18" charset="0"/>
                <a:ea typeface="华文中宋" panose="02010600040101010101" pitchFamily="2" charset="-122"/>
                <a:cs typeface="Times New Roman" panose="02020603050405020304" pitchFamily="18" charset="0"/>
              </a:rPr>
              <a:t>是指单位时间内元件吸收或发出的电能，</a:t>
            </a:r>
            <a:r>
              <a:rPr lang="zh-CN" altLang="en-US" sz="2800" b="1" dirty="0" smtClean="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简称电功率</a:t>
            </a:r>
            <a:r>
              <a:rPr lang="zh-CN" altLang="en-US" sz="2800" b="1" dirty="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8437" name="Text Box 18"/>
          <p:cNvSpPr txBox="1">
            <a:spLocks noChangeArrowheads="1"/>
          </p:cNvSpPr>
          <p:nvPr/>
        </p:nvSpPr>
        <p:spPr bwMode="auto">
          <a:xfrm>
            <a:off x="3200400" y="2057400"/>
            <a:ext cx="5105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左图中电路电压与电流为关联参考方向，电阻元件吸收的电功率为</a:t>
            </a:r>
          </a:p>
        </p:txBody>
      </p:sp>
      <p:graphicFrame>
        <p:nvGraphicFramePr>
          <p:cNvPr id="18438" name="Object 20"/>
          <p:cNvGraphicFramePr>
            <a:graphicFrameLocks noChangeAspect="1"/>
          </p:cNvGraphicFramePr>
          <p:nvPr>
            <p:extLst>
              <p:ext uri="{D42A27DB-BD31-4B8C-83A1-F6EECF244321}">
                <p14:modId xmlns:p14="http://schemas.microsoft.com/office/powerpoint/2010/main" val="4045769368"/>
              </p:ext>
            </p:extLst>
          </p:nvPr>
        </p:nvGraphicFramePr>
        <p:xfrm>
          <a:off x="4730750" y="2971800"/>
          <a:ext cx="1212850" cy="554038"/>
        </p:xfrm>
        <a:graphic>
          <a:graphicData uri="http://schemas.openxmlformats.org/presentationml/2006/ole">
            <mc:AlternateContent xmlns:mc="http://schemas.openxmlformats.org/markup-compatibility/2006">
              <mc:Choice xmlns:v="urn:schemas-microsoft-com:vml" Requires="v">
                <p:oleObj spid="_x0000_s18543" name="Equation" r:id="rId3" imgW="444307" imgH="203112" progId="Equation.3">
                  <p:embed/>
                </p:oleObj>
              </mc:Choice>
              <mc:Fallback>
                <p:oleObj name="Equation" r:id="rId3" imgW="444307" imgH="203112"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0750" y="2971800"/>
                        <a:ext cx="1212850" cy="55403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9" name="Text Box 21"/>
          <p:cNvSpPr txBox="1">
            <a:spLocks noChangeArrowheads="1"/>
          </p:cNvSpPr>
          <p:nvPr/>
        </p:nvSpPr>
        <p:spPr bwMode="auto">
          <a:xfrm>
            <a:off x="3352800" y="3581400"/>
            <a:ext cx="502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如果是直流电压和电流，则用大写</a:t>
            </a:r>
          </a:p>
        </p:txBody>
      </p:sp>
      <p:graphicFrame>
        <p:nvGraphicFramePr>
          <p:cNvPr id="18440" name="Object 22"/>
          <p:cNvGraphicFramePr>
            <a:graphicFrameLocks noChangeAspect="1"/>
          </p:cNvGraphicFramePr>
          <p:nvPr>
            <p:extLst>
              <p:ext uri="{D42A27DB-BD31-4B8C-83A1-F6EECF244321}">
                <p14:modId xmlns:p14="http://schemas.microsoft.com/office/powerpoint/2010/main" val="1553813097"/>
              </p:ext>
            </p:extLst>
          </p:nvPr>
        </p:nvGraphicFramePr>
        <p:xfrm>
          <a:off x="4668838" y="4114800"/>
          <a:ext cx="1350962" cy="484188"/>
        </p:xfrm>
        <a:graphic>
          <a:graphicData uri="http://schemas.openxmlformats.org/presentationml/2006/ole">
            <mc:AlternateContent xmlns:mc="http://schemas.openxmlformats.org/markup-compatibility/2006">
              <mc:Choice xmlns:v="urn:schemas-microsoft-com:vml" Requires="v">
                <p:oleObj spid="_x0000_s18544" name="Equation" r:id="rId5" imgW="494870" imgH="177646" progId="Equation.3">
                  <p:embed/>
                </p:oleObj>
              </mc:Choice>
              <mc:Fallback>
                <p:oleObj name="Equation" r:id="rId5" imgW="494870" imgH="177646" progId="Equation.3">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68838" y="4114800"/>
                        <a:ext cx="1350962" cy="48418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1" name="Line 4"/>
          <p:cNvSpPr>
            <a:spLocks noChangeShapeType="1"/>
          </p:cNvSpPr>
          <p:nvPr/>
        </p:nvSpPr>
        <p:spPr bwMode="auto">
          <a:xfrm>
            <a:off x="1143000" y="2362200"/>
            <a:ext cx="1371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2" name="Line 5"/>
          <p:cNvSpPr>
            <a:spLocks noChangeShapeType="1"/>
          </p:cNvSpPr>
          <p:nvPr/>
        </p:nvSpPr>
        <p:spPr bwMode="auto">
          <a:xfrm>
            <a:off x="1143000" y="4495800"/>
            <a:ext cx="1371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3" name="Line 6"/>
          <p:cNvSpPr>
            <a:spLocks noChangeShapeType="1"/>
          </p:cNvSpPr>
          <p:nvPr/>
        </p:nvSpPr>
        <p:spPr bwMode="auto">
          <a:xfrm>
            <a:off x="2514600" y="2514600"/>
            <a:ext cx="0" cy="457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4" name="Oval 8"/>
          <p:cNvSpPr>
            <a:spLocks noChangeArrowheads="1"/>
          </p:cNvSpPr>
          <p:nvPr/>
        </p:nvSpPr>
        <p:spPr bwMode="auto">
          <a:xfrm>
            <a:off x="990600" y="2286000"/>
            <a:ext cx="152400" cy="152400"/>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5" name="Oval 10"/>
          <p:cNvSpPr>
            <a:spLocks noChangeArrowheads="1"/>
          </p:cNvSpPr>
          <p:nvPr/>
        </p:nvSpPr>
        <p:spPr bwMode="auto">
          <a:xfrm>
            <a:off x="990600" y="4419600"/>
            <a:ext cx="152400" cy="152400"/>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6" name="Text Box 13"/>
          <p:cNvSpPr txBox="1">
            <a:spLocks noChangeArrowheads="1"/>
          </p:cNvSpPr>
          <p:nvPr/>
        </p:nvSpPr>
        <p:spPr bwMode="auto">
          <a:xfrm>
            <a:off x="914400" y="2590800"/>
            <a:ext cx="762000" cy="179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lnSpc>
                <a:spcPct val="120000"/>
              </a:lnSpc>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p>
          <a:p>
            <a:pPr eaLnBrk="1" hangingPunct="1">
              <a:lnSpc>
                <a:spcPct val="120000"/>
              </a:lnSpc>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8447" name="Line 14"/>
          <p:cNvSpPr>
            <a:spLocks noChangeShapeType="1"/>
          </p:cNvSpPr>
          <p:nvPr/>
        </p:nvSpPr>
        <p:spPr bwMode="auto">
          <a:xfrm>
            <a:off x="2514600" y="2362200"/>
            <a:ext cx="0" cy="2133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8" name="Rectangle 7"/>
          <p:cNvSpPr>
            <a:spLocks noChangeArrowheads="1"/>
          </p:cNvSpPr>
          <p:nvPr/>
        </p:nvSpPr>
        <p:spPr bwMode="auto">
          <a:xfrm>
            <a:off x="2362200" y="3200400"/>
            <a:ext cx="304800" cy="533400"/>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49" name="Text Box 15"/>
          <p:cNvSpPr txBox="1">
            <a:spLocks noChangeArrowheads="1"/>
          </p:cNvSpPr>
          <p:nvPr/>
        </p:nvSpPr>
        <p:spPr bwMode="auto">
          <a:xfrm>
            <a:off x="2133600" y="24384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p>
        </p:txBody>
      </p:sp>
      <p:graphicFrame>
        <p:nvGraphicFramePr>
          <p:cNvPr id="18450" name="Object 23"/>
          <p:cNvGraphicFramePr>
            <a:graphicFrameLocks noChangeAspect="1"/>
          </p:cNvGraphicFramePr>
          <p:nvPr>
            <p:extLst>
              <p:ext uri="{D42A27DB-BD31-4B8C-83A1-F6EECF244321}">
                <p14:modId xmlns:p14="http://schemas.microsoft.com/office/powerpoint/2010/main" val="3361445633"/>
              </p:ext>
            </p:extLst>
          </p:nvPr>
        </p:nvGraphicFramePr>
        <p:xfrm>
          <a:off x="1981200" y="3733800"/>
          <a:ext cx="388938" cy="387350"/>
        </p:xfrm>
        <a:graphic>
          <a:graphicData uri="http://schemas.openxmlformats.org/presentationml/2006/ole">
            <mc:AlternateContent xmlns:mc="http://schemas.openxmlformats.org/markup-compatibility/2006">
              <mc:Choice xmlns:v="urn:schemas-microsoft-com:vml" Requires="v">
                <p:oleObj spid="_x0000_s18545" name="Equation" r:id="rId7" imgW="164885" imgH="164885" progId="Equation.3">
                  <p:embed/>
                </p:oleObj>
              </mc:Choice>
              <mc:Fallback>
                <p:oleObj name="Equation" r:id="rId7" imgW="164885" imgH="164885" progId="Equation.3">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3733800"/>
                        <a:ext cx="388938"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1" name="Text Box 24"/>
          <p:cNvSpPr txBox="1">
            <a:spLocks noChangeArrowheads="1"/>
          </p:cNvSpPr>
          <p:nvPr/>
        </p:nvSpPr>
        <p:spPr bwMode="auto">
          <a:xfrm>
            <a:off x="1066800" y="5029200"/>
            <a:ext cx="7315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1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8452" name="Text Box 25"/>
          <p:cNvSpPr txBox="1">
            <a:spLocks noChangeArrowheads="1"/>
          </p:cNvSpPr>
          <p:nvPr/>
        </p:nvSpPr>
        <p:spPr bwMode="auto">
          <a:xfrm>
            <a:off x="914400" y="4953000"/>
            <a:ext cx="7772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一个元件或者一段电路可能吸收电功率，也可能发出电功率。</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466A501-9BC4-423A-A718-9E2CB86046A7}"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15</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19459" name="Group 27"/>
          <p:cNvGrpSpPr>
            <a:grpSpLocks/>
          </p:cNvGrpSpPr>
          <p:nvPr/>
        </p:nvGrpSpPr>
        <p:grpSpPr bwMode="auto">
          <a:xfrm>
            <a:off x="1066800" y="838200"/>
            <a:ext cx="1905000" cy="1981200"/>
            <a:chOff x="672" y="528"/>
            <a:chExt cx="1200" cy="1248"/>
          </a:xfrm>
        </p:grpSpPr>
        <p:sp>
          <p:nvSpPr>
            <p:cNvPr id="19472" name="Line 2"/>
            <p:cNvSpPr>
              <a:spLocks noChangeShapeType="1"/>
            </p:cNvSpPr>
            <p:nvPr/>
          </p:nvSpPr>
          <p:spPr bwMode="auto">
            <a:xfrm>
              <a:off x="816" y="576"/>
              <a:ext cx="86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3" name="Line 3"/>
            <p:cNvSpPr>
              <a:spLocks noChangeShapeType="1"/>
            </p:cNvSpPr>
            <p:nvPr/>
          </p:nvSpPr>
          <p:spPr bwMode="auto">
            <a:xfrm>
              <a:off x="816" y="1728"/>
              <a:ext cx="86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4" name="Line 4"/>
            <p:cNvSpPr>
              <a:spLocks noChangeShapeType="1"/>
            </p:cNvSpPr>
            <p:nvPr/>
          </p:nvSpPr>
          <p:spPr bwMode="auto">
            <a:xfrm>
              <a:off x="1680" y="672"/>
              <a:ext cx="0" cy="2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5" name="Oval 5"/>
            <p:cNvSpPr>
              <a:spLocks noChangeArrowheads="1"/>
            </p:cNvSpPr>
            <p:nvPr/>
          </p:nvSpPr>
          <p:spPr bwMode="auto">
            <a:xfrm>
              <a:off x="720" y="528"/>
              <a:ext cx="96" cy="96"/>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6" name="Oval 6"/>
            <p:cNvSpPr>
              <a:spLocks noChangeArrowheads="1"/>
            </p:cNvSpPr>
            <p:nvPr/>
          </p:nvSpPr>
          <p:spPr bwMode="auto">
            <a:xfrm>
              <a:off x="720" y="1680"/>
              <a:ext cx="96" cy="96"/>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7" name="Text Box 7"/>
            <p:cNvSpPr txBox="1">
              <a:spLocks noChangeArrowheads="1"/>
            </p:cNvSpPr>
            <p:nvPr/>
          </p:nvSpPr>
          <p:spPr bwMode="auto">
            <a:xfrm>
              <a:off x="672" y="576"/>
              <a:ext cx="336" cy="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lnSpc>
                  <a:spcPct val="120000"/>
                </a:lnSpc>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p>
            <a:p>
              <a:pPr eaLnBrk="1" hangingPunct="1">
                <a:lnSpc>
                  <a:spcPct val="120000"/>
                </a:lnSpc>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9478" name="Line 8"/>
            <p:cNvSpPr>
              <a:spLocks noChangeShapeType="1"/>
            </p:cNvSpPr>
            <p:nvPr/>
          </p:nvSpPr>
          <p:spPr bwMode="auto">
            <a:xfrm>
              <a:off x="1680" y="576"/>
              <a:ext cx="0" cy="115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9" name="Rectangle 9"/>
            <p:cNvSpPr>
              <a:spLocks noChangeArrowheads="1"/>
            </p:cNvSpPr>
            <p:nvPr/>
          </p:nvSpPr>
          <p:spPr bwMode="auto">
            <a:xfrm>
              <a:off x="1536" y="1104"/>
              <a:ext cx="240" cy="240"/>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80" name="Text Box 10"/>
            <p:cNvSpPr txBox="1">
              <a:spLocks noChangeArrowheads="1"/>
            </p:cNvSpPr>
            <p:nvPr/>
          </p:nvSpPr>
          <p:spPr bwMode="auto">
            <a:xfrm>
              <a:off x="1488" y="624"/>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p>
          </p:txBody>
        </p:sp>
      </p:grpSp>
      <p:grpSp>
        <p:nvGrpSpPr>
          <p:cNvPr id="19460" name="Group 28"/>
          <p:cNvGrpSpPr>
            <a:grpSpLocks/>
          </p:cNvGrpSpPr>
          <p:nvPr/>
        </p:nvGrpSpPr>
        <p:grpSpPr bwMode="auto">
          <a:xfrm>
            <a:off x="1066800" y="3810000"/>
            <a:ext cx="1905000" cy="1981200"/>
            <a:chOff x="672" y="2400"/>
            <a:chExt cx="1200" cy="1248"/>
          </a:xfrm>
        </p:grpSpPr>
        <p:sp>
          <p:nvSpPr>
            <p:cNvPr id="19463" name="Line 12"/>
            <p:cNvSpPr>
              <a:spLocks noChangeShapeType="1"/>
            </p:cNvSpPr>
            <p:nvPr/>
          </p:nvSpPr>
          <p:spPr bwMode="auto">
            <a:xfrm>
              <a:off x="816" y="2448"/>
              <a:ext cx="86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64" name="Line 13"/>
            <p:cNvSpPr>
              <a:spLocks noChangeShapeType="1"/>
            </p:cNvSpPr>
            <p:nvPr/>
          </p:nvSpPr>
          <p:spPr bwMode="auto">
            <a:xfrm>
              <a:off x="816" y="3600"/>
              <a:ext cx="86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65" name="Line 14"/>
            <p:cNvSpPr>
              <a:spLocks noChangeShapeType="1"/>
            </p:cNvSpPr>
            <p:nvPr/>
          </p:nvSpPr>
          <p:spPr bwMode="auto">
            <a:xfrm>
              <a:off x="1680" y="2544"/>
              <a:ext cx="0" cy="288"/>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66" name="Oval 15"/>
            <p:cNvSpPr>
              <a:spLocks noChangeArrowheads="1"/>
            </p:cNvSpPr>
            <p:nvPr/>
          </p:nvSpPr>
          <p:spPr bwMode="auto">
            <a:xfrm>
              <a:off x="720" y="2400"/>
              <a:ext cx="96" cy="96"/>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67" name="Oval 16"/>
            <p:cNvSpPr>
              <a:spLocks noChangeArrowheads="1"/>
            </p:cNvSpPr>
            <p:nvPr/>
          </p:nvSpPr>
          <p:spPr bwMode="auto">
            <a:xfrm>
              <a:off x="720" y="3552"/>
              <a:ext cx="96" cy="96"/>
            </a:xfrm>
            <a:prstGeom prst="ellipse">
              <a:avLst/>
            </a:prstGeom>
            <a:solidFill>
              <a:schemeClr val="bg1"/>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68" name="Text Box 17"/>
            <p:cNvSpPr txBox="1">
              <a:spLocks noChangeArrowheads="1"/>
            </p:cNvSpPr>
            <p:nvPr/>
          </p:nvSpPr>
          <p:spPr bwMode="auto">
            <a:xfrm>
              <a:off x="672" y="2448"/>
              <a:ext cx="480" cy="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lnSpc>
                  <a:spcPct val="120000"/>
                </a:lnSpc>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p>
            <a:p>
              <a:pPr eaLnBrk="1" hangingPunct="1">
                <a:lnSpc>
                  <a:spcPct val="120000"/>
                </a:lnSpc>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9469" name="Line 18"/>
            <p:cNvSpPr>
              <a:spLocks noChangeShapeType="1"/>
            </p:cNvSpPr>
            <p:nvPr/>
          </p:nvSpPr>
          <p:spPr bwMode="auto">
            <a:xfrm>
              <a:off x="1680" y="2448"/>
              <a:ext cx="0" cy="115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0" name="Rectangle 19"/>
            <p:cNvSpPr>
              <a:spLocks noChangeArrowheads="1"/>
            </p:cNvSpPr>
            <p:nvPr/>
          </p:nvSpPr>
          <p:spPr bwMode="auto">
            <a:xfrm>
              <a:off x="1536" y="2976"/>
              <a:ext cx="240" cy="240"/>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471" name="Text Box 20"/>
            <p:cNvSpPr txBox="1">
              <a:spLocks noChangeArrowheads="1"/>
            </p:cNvSpPr>
            <p:nvPr/>
          </p:nvSpPr>
          <p:spPr bwMode="auto">
            <a:xfrm>
              <a:off x="1488" y="2640"/>
              <a:ext cx="3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p>
          </p:txBody>
        </p:sp>
      </p:grpSp>
      <p:sp>
        <p:nvSpPr>
          <p:cNvPr id="19461" name="Text Box 23"/>
          <p:cNvSpPr txBox="1">
            <a:spLocks noChangeArrowheads="1"/>
          </p:cNvSpPr>
          <p:nvPr/>
        </p:nvSpPr>
        <p:spPr bwMode="auto">
          <a:xfrm>
            <a:off x="3429000" y="533400"/>
            <a:ext cx="5410200" cy="2751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0"/>
              </a:spcBef>
              <a:buFontTx/>
              <a:buNone/>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左侧上图中电压与电流为</a:t>
            </a:r>
            <a:r>
              <a:rPr lang="zh-CN" altLang="en-US" sz="24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关联参考方向</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，电压与电流的乘积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i="1" dirty="0" err="1">
                <a:latin typeface="Times New Roman" panose="02020603050405020304" pitchFamily="18" charset="0"/>
                <a:ea typeface="华文中宋" panose="02010600040101010101" pitchFamily="2" charset="-122"/>
                <a:cs typeface="Times New Roman" panose="02020603050405020304" pitchFamily="18" charset="0"/>
              </a:rPr>
              <a:t>ui</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表示的是</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吸收的电功率</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p>
          <a:p>
            <a:pPr algn="just" eaLnBrk="1" hangingPunct="1">
              <a:lnSpc>
                <a:spcPct val="120000"/>
              </a:lnSpc>
              <a:spcBef>
                <a:spcPct val="0"/>
              </a:spcBef>
              <a:buFontTx/>
              <a:buNone/>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如果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i="1" dirty="0" err="1">
                <a:latin typeface="Times New Roman" panose="02020603050405020304" pitchFamily="18" charset="0"/>
                <a:ea typeface="华文中宋" panose="02010600040101010101" pitchFamily="2" charset="-122"/>
                <a:cs typeface="Times New Roman" panose="02020603050405020304" pitchFamily="18" charset="0"/>
              </a:rPr>
              <a:t>ui</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的数值为－</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5W</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，吸收的电功率为－</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5W</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，就是说实际上是发出了电功率</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+5W</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9462" name="Text Box 26"/>
          <p:cNvSpPr txBox="1">
            <a:spLocks noChangeArrowheads="1"/>
          </p:cNvSpPr>
          <p:nvPr/>
        </p:nvSpPr>
        <p:spPr bwMode="auto">
          <a:xfrm>
            <a:off x="3429000" y="3429000"/>
            <a:ext cx="5410200" cy="2751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0"/>
              </a:spcBef>
              <a:buFontTx/>
              <a:buNone/>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左侧下图中电压与电流为</a:t>
            </a:r>
            <a:r>
              <a:rPr lang="zh-CN" altLang="en-US" sz="24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非关联参考方向</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，电压与电流的乘积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i="1" dirty="0" err="1">
                <a:latin typeface="Times New Roman" panose="02020603050405020304" pitchFamily="18" charset="0"/>
                <a:ea typeface="华文中宋" panose="02010600040101010101" pitchFamily="2" charset="-122"/>
                <a:cs typeface="Times New Roman" panose="02020603050405020304" pitchFamily="18" charset="0"/>
              </a:rPr>
              <a:t>ui</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表示的是</a:t>
            </a:r>
            <a:r>
              <a:rPr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发出的电功率</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p>
          <a:p>
            <a:pPr algn="just" eaLnBrk="1" hangingPunct="1">
              <a:lnSpc>
                <a:spcPct val="120000"/>
              </a:lnSpc>
              <a:spcBef>
                <a:spcPct val="0"/>
              </a:spcBef>
              <a:buFontTx/>
              <a:buNone/>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如果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i="1" dirty="0" err="1">
                <a:latin typeface="Times New Roman" panose="02020603050405020304" pitchFamily="18" charset="0"/>
                <a:ea typeface="华文中宋" panose="02010600040101010101" pitchFamily="2" charset="-122"/>
                <a:cs typeface="Times New Roman" panose="02020603050405020304" pitchFamily="18" charset="0"/>
              </a:rPr>
              <a:t>ui</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的数值为－</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8W</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，发出的电功率为－</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8W</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，表明实际上是吸收了电功率</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8W</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7719942-F43D-46DB-B6CE-92F1FC5D30ED}"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16</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483" name="Text Box 2"/>
          <p:cNvSpPr txBox="1">
            <a:spLocks noChangeArrowheads="1"/>
          </p:cNvSpPr>
          <p:nvPr/>
        </p:nvSpPr>
        <p:spPr bwMode="auto">
          <a:xfrm>
            <a:off x="533400" y="457200"/>
            <a:ext cx="8431213"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0"/>
              </a:spcBef>
              <a:buFontTx/>
              <a:buNone/>
            </a:pPr>
            <a:r>
              <a:rPr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图中有</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和</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三个元件，其中有发出电功率的电池，</a:t>
            </a:r>
          </a:p>
          <a:p>
            <a:pPr algn="just" eaLnBrk="1" hangingPunct="1">
              <a:lnSpc>
                <a:spcPct val="120000"/>
              </a:lnSpc>
              <a:spcBef>
                <a:spcPct val="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       也有吸收电功率的小灯泡。试判断出分别是什么元件。</a:t>
            </a:r>
          </a:p>
        </p:txBody>
      </p:sp>
      <p:sp>
        <p:nvSpPr>
          <p:cNvPr id="20484" name="Text Box 22"/>
          <p:cNvSpPr txBox="1">
            <a:spLocks noChangeArrowheads="1"/>
          </p:cNvSpPr>
          <p:nvPr/>
        </p:nvSpPr>
        <p:spPr bwMode="auto">
          <a:xfrm>
            <a:off x="533400" y="1295400"/>
            <a:ext cx="43434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解：</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图中电流为顺时针方向。</a:t>
            </a:r>
          </a:p>
        </p:txBody>
      </p:sp>
      <p:sp>
        <p:nvSpPr>
          <p:cNvPr id="106519" name="Text Box 23"/>
          <p:cNvSpPr txBox="1">
            <a:spLocks noChangeArrowheads="1"/>
          </p:cNvSpPr>
          <p:nvPr/>
        </p:nvSpPr>
        <p:spPr bwMode="auto">
          <a:xfrm>
            <a:off x="4953000" y="2286000"/>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A</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A</a:t>
            </a: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A</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=6×2=12(W)</a:t>
            </a:r>
          </a:p>
        </p:txBody>
      </p:sp>
      <p:sp>
        <p:nvSpPr>
          <p:cNvPr id="106520" name="Text Box 24"/>
          <p:cNvSpPr txBox="1">
            <a:spLocks noChangeArrowheads="1"/>
          </p:cNvSpPr>
          <p:nvPr/>
        </p:nvSpPr>
        <p:spPr bwMode="auto">
          <a:xfrm>
            <a:off x="3635375" y="2835275"/>
            <a:ext cx="550862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吸收电功率</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12W</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，表明元件</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是小灯泡。</a:t>
            </a:r>
          </a:p>
        </p:txBody>
      </p:sp>
      <p:sp>
        <p:nvSpPr>
          <p:cNvPr id="106521" name="Text Box 25"/>
          <p:cNvSpPr txBox="1">
            <a:spLocks noChangeArrowheads="1"/>
          </p:cNvSpPr>
          <p:nvPr/>
        </p:nvSpPr>
        <p:spPr bwMode="auto">
          <a:xfrm>
            <a:off x="4284663" y="3581400"/>
            <a:ext cx="4679950" cy="97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元件</a:t>
            </a:r>
            <a:r>
              <a:rPr lang="en-US" altLang="zh-CN" sz="24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电压与电流方向相反</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，为非关联参考方向</a:t>
            </a:r>
          </a:p>
        </p:txBody>
      </p:sp>
      <p:sp>
        <p:nvSpPr>
          <p:cNvPr id="106522" name="Text Box 26"/>
          <p:cNvSpPr txBox="1">
            <a:spLocks noChangeArrowheads="1"/>
          </p:cNvSpPr>
          <p:nvPr/>
        </p:nvSpPr>
        <p:spPr bwMode="auto">
          <a:xfrm>
            <a:off x="4876800" y="4648200"/>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B</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=3×2=6(W)</a:t>
            </a:r>
          </a:p>
        </p:txBody>
      </p:sp>
      <p:sp>
        <p:nvSpPr>
          <p:cNvPr id="106523" name="Text Box 27"/>
          <p:cNvSpPr txBox="1">
            <a:spLocks noChangeArrowheads="1"/>
          </p:cNvSpPr>
          <p:nvPr/>
        </p:nvSpPr>
        <p:spPr bwMode="auto">
          <a:xfrm>
            <a:off x="4211638" y="5257800"/>
            <a:ext cx="4681537"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发出电功率</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6W,</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表明元件</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是电池。</a:t>
            </a:r>
          </a:p>
        </p:txBody>
      </p:sp>
      <p:sp>
        <p:nvSpPr>
          <p:cNvPr id="106524" name="Text Box 28"/>
          <p:cNvSpPr txBox="1">
            <a:spLocks noChangeArrowheads="1"/>
          </p:cNvSpPr>
          <p:nvPr/>
        </p:nvSpPr>
        <p:spPr bwMode="auto">
          <a:xfrm>
            <a:off x="914400" y="1828800"/>
            <a:ext cx="7848600"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元件</a:t>
            </a:r>
            <a:r>
              <a:rPr lang="en-US" altLang="zh-CN" sz="24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电压与电流方向相同</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，为关联参考方向</a:t>
            </a:r>
          </a:p>
        </p:txBody>
      </p:sp>
      <p:grpSp>
        <p:nvGrpSpPr>
          <p:cNvPr id="20491" name="Group 43"/>
          <p:cNvGrpSpPr>
            <a:grpSpLocks/>
          </p:cNvGrpSpPr>
          <p:nvPr/>
        </p:nvGrpSpPr>
        <p:grpSpPr bwMode="auto">
          <a:xfrm>
            <a:off x="990600" y="2971800"/>
            <a:ext cx="3505200" cy="3063875"/>
            <a:chOff x="624" y="1872"/>
            <a:chExt cx="2208" cy="1930"/>
          </a:xfrm>
        </p:grpSpPr>
        <p:sp>
          <p:nvSpPr>
            <p:cNvPr id="20492" name="Rectangle 30"/>
            <p:cNvSpPr>
              <a:spLocks noChangeArrowheads="1"/>
            </p:cNvSpPr>
            <p:nvPr/>
          </p:nvSpPr>
          <p:spPr bwMode="auto">
            <a:xfrm>
              <a:off x="768" y="2160"/>
              <a:ext cx="1392" cy="124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493" name="Rectangle 31"/>
            <p:cNvSpPr>
              <a:spLocks noChangeArrowheads="1"/>
            </p:cNvSpPr>
            <p:nvPr/>
          </p:nvSpPr>
          <p:spPr bwMode="auto">
            <a:xfrm>
              <a:off x="624" y="2736"/>
              <a:ext cx="288" cy="288"/>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494" name="Rectangle 32"/>
            <p:cNvSpPr>
              <a:spLocks noChangeArrowheads="1"/>
            </p:cNvSpPr>
            <p:nvPr/>
          </p:nvSpPr>
          <p:spPr bwMode="auto">
            <a:xfrm>
              <a:off x="2016" y="2736"/>
              <a:ext cx="288" cy="288"/>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495" name="Text Box 33"/>
            <p:cNvSpPr txBox="1">
              <a:spLocks noChangeArrowheads="1"/>
            </p:cNvSpPr>
            <p:nvPr/>
          </p:nvSpPr>
          <p:spPr bwMode="auto">
            <a:xfrm>
              <a:off x="2064" y="2774"/>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C</a:t>
              </a:r>
            </a:p>
          </p:txBody>
        </p:sp>
        <p:sp>
          <p:nvSpPr>
            <p:cNvPr id="20496" name="Text Box 34"/>
            <p:cNvSpPr txBox="1">
              <a:spLocks noChangeArrowheads="1"/>
            </p:cNvSpPr>
            <p:nvPr/>
          </p:nvSpPr>
          <p:spPr bwMode="auto">
            <a:xfrm>
              <a:off x="624" y="2784"/>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20497" name="Line 35"/>
            <p:cNvSpPr>
              <a:spLocks noChangeShapeType="1"/>
            </p:cNvSpPr>
            <p:nvPr/>
          </p:nvSpPr>
          <p:spPr bwMode="auto">
            <a:xfrm flipH="1">
              <a:off x="960" y="2160"/>
              <a:ext cx="288" cy="0"/>
            </a:xfrm>
            <a:prstGeom prst="line">
              <a:avLst/>
            </a:prstGeom>
            <a:noFill/>
            <a:ln w="38100">
              <a:solidFill>
                <a:schemeClr val="tx1"/>
              </a:solidFill>
              <a:round/>
              <a:headEnd type="stealth"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498" name="Text Box 36"/>
            <p:cNvSpPr txBox="1">
              <a:spLocks noChangeArrowheads="1"/>
            </p:cNvSpPr>
            <p:nvPr/>
          </p:nvSpPr>
          <p:spPr bwMode="auto">
            <a:xfrm>
              <a:off x="816" y="1872"/>
              <a:ext cx="5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2A</a:t>
              </a:r>
            </a:p>
          </p:txBody>
        </p:sp>
        <p:sp>
          <p:nvSpPr>
            <p:cNvPr id="20499" name="Text Box 37"/>
            <p:cNvSpPr txBox="1">
              <a:spLocks noChangeArrowheads="1"/>
            </p:cNvSpPr>
            <p:nvPr/>
          </p:nvSpPr>
          <p:spPr bwMode="auto">
            <a:xfrm>
              <a:off x="912" y="2448"/>
              <a:ext cx="480" cy="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 </a:t>
              </a:r>
            </a:p>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3V</a:t>
              </a:r>
            </a:p>
            <a:p>
              <a:pPr eaLnBrk="1" hangingPunct="1">
                <a:spcBef>
                  <a:spcPct val="50000"/>
                </a:spcBef>
                <a:buFontTx/>
                <a:buNone/>
              </a:pPr>
              <a:r>
                <a:rPr lang="zh-CN" altLang="en-US" sz="20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20500" name="Text Box 38"/>
            <p:cNvSpPr txBox="1">
              <a:spLocks noChangeArrowheads="1"/>
            </p:cNvSpPr>
            <p:nvPr/>
          </p:nvSpPr>
          <p:spPr bwMode="auto">
            <a:xfrm>
              <a:off x="2256" y="2448"/>
              <a:ext cx="576" cy="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 </a:t>
              </a:r>
            </a:p>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3V</a:t>
              </a:r>
            </a:p>
            <a:p>
              <a:pPr eaLnBrk="1" hangingPunct="1">
                <a:spcBef>
                  <a:spcPct val="50000"/>
                </a:spcBef>
                <a:buFontTx/>
                <a:buNone/>
              </a:pPr>
              <a:r>
                <a:rPr lang="zh-CN" altLang="en-US" sz="20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20501" name="Rectangle 39"/>
            <p:cNvSpPr>
              <a:spLocks noChangeArrowheads="1"/>
            </p:cNvSpPr>
            <p:nvPr/>
          </p:nvSpPr>
          <p:spPr bwMode="auto">
            <a:xfrm>
              <a:off x="1440" y="2016"/>
              <a:ext cx="288" cy="288"/>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0502" name="Text Box 40"/>
            <p:cNvSpPr txBox="1">
              <a:spLocks noChangeArrowheads="1"/>
            </p:cNvSpPr>
            <p:nvPr/>
          </p:nvSpPr>
          <p:spPr bwMode="auto">
            <a:xfrm>
              <a:off x="1488" y="2064"/>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20503" name="Text Box 41"/>
            <p:cNvSpPr txBox="1">
              <a:spLocks noChangeArrowheads="1"/>
            </p:cNvSpPr>
            <p:nvPr/>
          </p:nvSpPr>
          <p:spPr bwMode="auto">
            <a:xfrm>
              <a:off x="1152" y="2304"/>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   6V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20504" name="Text Box 42"/>
            <p:cNvSpPr txBox="1">
              <a:spLocks noChangeArrowheads="1"/>
            </p:cNvSpPr>
            <p:nvPr/>
          </p:nvSpPr>
          <p:spPr bwMode="auto">
            <a:xfrm>
              <a:off x="1152" y="3552"/>
              <a:ext cx="76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000" b="1">
                <a:latin typeface="Times New Roman" panose="02020603050405020304" pitchFamily="18" charset="0"/>
                <a:ea typeface="华文中宋" panose="02010600040101010101" pitchFamily="2" charset="-12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6519"/>
                                        </p:tgtEl>
                                        <p:attrNameLst>
                                          <p:attrName>style.visibility</p:attrName>
                                        </p:attrNameLst>
                                      </p:cBhvr>
                                      <p:to>
                                        <p:strVal val="visible"/>
                                      </p:to>
                                    </p:set>
                                    <p:animEffect transition="in" filter="blinds(horizontal)">
                                      <p:cBhvr>
                                        <p:cTn id="7" dur="500"/>
                                        <p:tgtEl>
                                          <p:spTgt spid="10651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6520"/>
                                        </p:tgtEl>
                                        <p:attrNameLst>
                                          <p:attrName>style.visibility</p:attrName>
                                        </p:attrNameLst>
                                      </p:cBhvr>
                                      <p:to>
                                        <p:strVal val="visible"/>
                                      </p:to>
                                    </p:set>
                                    <p:animEffect transition="in" filter="blinds(horizontal)">
                                      <p:cBhvr>
                                        <p:cTn id="10" dur="500"/>
                                        <p:tgtEl>
                                          <p:spTgt spid="10652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6524"/>
                                        </p:tgtEl>
                                        <p:attrNameLst>
                                          <p:attrName>style.visibility</p:attrName>
                                        </p:attrNameLst>
                                      </p:cBhvr>
                                      <p:to>
                                        <p:strVal val="visible"/>
                                      </p:to>
                                    </p:set>
                                    <p:animEffect transition="in" filter="blinds(horizontal)">
                                      <p:cBhvr>
                                        <p:cTn id="13" dur="500"/>
                                        <p:tgtEl>
                                          <p:spTgt spid="10652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06521"/>
                                        </p:tgtEl>
                                        <p:attrNameLst>
                                          <p:attrName>style.visibility</p:attrName>
                                        </p:attrNameLst>
                                      </p:cBhvr>
                                      <p:to>
                                        <p:strVal val="visible"/>
                                      </p:to>
                                    </p:set>
                                    <p:animEffect transition="in" filter="blinds(horizontal)">
                                      <p:cBhvr>
                                        <p:cTn id="18" dur="500"/>
                                        <p:tgtEl>
                                          <p:spTgt spid="106521"/>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06522"/>
                                        </p:tgtEl>
                                        <p:attrNameLst>
                                          <p:attrName>style.visibility</p:attrName>
                                        </p:attrNameLst>
                                      </p:cBhvr>
                                      <p:to>
                                        <p:strVal val="visible"/>
                                      </p:to>
                                    </p:set>
                                    <p:animEffect transition="in" filter="blinds(horizontal)">
                                      <p:cBhvr>
                                        <p:cTn id="21" dur="500"/>
                                        <p:tgtEl>
                                          <p:spTgt spid="106522"/>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06523"/>
                                        </p:tgtEl>
                                        <p:attrNameLst>
                                          <p:attrName>style.visibility</p:attrName>
                                        </p:attrNameLst>
                                      </p:cBhvr>
                                      <p:to>
                                        <p:strVal val="visible"/>
                                      </p:to>
                                    </p:set>
                                    <p:animEffect transition="in" filter="blinds(horizontal)">
                                      <p:cBhvr>
                                        <p:cTn id="24" dur="500"/>
                                        <p:tgtEl>
                                          <p:spTgt spid="106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19" grpId="0"/>
      <p:bldP spid="106520" grpId="0"/>
      <p:bldP spid="106521" grpId="0"/>
      <p:bldP spid="106522" grpId="0"/>
      <p:bldP spid="106523" grpId="0"/>
      <p:bldP spid="10652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4C91846-4743-4D5A-A206-45895F1E1BAD}"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17</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07" name="Rectangle 4"/>
          <p:cNvSpPr>
            <a:spLocks noChangeArrowheads="1"/>
          </p:cNvSpPr>
          <p:nvPr/>
        </p:nvSpPr>
        <p:spPr bwMode="auto">
          <a:xfrm>
            <a:off x="1143000" y="2971800"/>
            <a:ext cx="2209800" cy="19812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08" name="Rectangle 5"/>
          <p:cNvSpPr>
            <a:spLocks noChangeArrowheads="1"/>
          </p:cNvSpPr>
          <p:nvPr/>
        </p:nvSpPr>
        <p:spPr bwMode="auto">
          <a:xfrm>
            <a:off x="914400" y="3886200"/>
            <a:ext cx="457200" cy="457200"/>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09" name="Rectangle 6"/>
          <p:cNvSpPr>
            <a:spLocks noChangeArrowheads="1"/>
          </p:cNvSpPr>
          <p:nvPr/>
        </p:nvSpPr>
        <p:spPr bwMode="auto">
          <a:xfrm>
            <a:off x="3124200" y="3886200"/>
            <a:ext cx="457200" cy="457200"/>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10" name="Text Box 7"/>
          <p:cNvSpPr txBox="1">
            <a:spLocks noChangeArrowheads="1"/>
          </p:cNvSpPr>
          <p:nvPr/>
        </p:nvSpPr>
        <p:spPr bwMode="auto">
          <a:xfrm>
            <a:off x="3200400" y="39465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C</a:t>
            </a:r>
          </a:p>
        </p:txBody>
      </p:sp>
      <p:sp>
        <p:nvSpPr>
          <p:cNvPr id="21511" name="Text Box 8"/>
          <p:cNvSpPr txBox="1">
            <a:spLocks noChangeArrowheads="1"/>
          </p:cNvSpPr>
          <p:nvPr/>
        </p:nvSpPr>
        <p:spPr bwMode="auto">
          <a:xfrm>
            <a:off x="914400" y="3946525"/>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21512" name="Line 9"/>
          <p:cNvSpPr>
            <a:spLocks noChangeShapeType="1"/>
          </p:cNvSpPr>
          <p:nvPr/>
        </p:nvSpPr>
        <p:spPr bwMode="auto">
          <a:xfrm flipH="1">
            <a:off x="1447800" y="2971800"/>
            <a:ext cx="457200" cy="0"/>
          </a:xfrm>
          <a:prstGeom prst="line">
            <a:avLst/>
          </a:prstGeom>
          <a:noFill/>
          <a:ln w="38100">
            <a:solidFill>
              <a:schemeClr val="tx1"/>
            </a:solidFill>
            <a:round/>
            <a:headEnd type="stealth"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13" name="Text Box 10"/>
          <p:cNvSpPr txBox="1">
            <a:spLocks noChangeArrowheads="1"/>
          </p:cNvSpPr>
          <p:nvPr/>
        </p:nvSpPr>
        <p:spPr bwMode="auto">
          <a:xfrm>
            <a:off x="1219200" y="25908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2A</a:t>
            </a:r>
          </a:p>
        </p:txBody>
      </p:sp>
      <p:sp>
        <p:nvSpPr>
          <p:cNvPr id="21514" name="Text Box 11"/>
          <p:cNvSpPr txBox="1">
            <a:spLocks noChangeArrowheads="1"/>
          </p:cNvSpPr>
          <p:nvPr/>
        </p:nvSpPr>
        <p:spPr bwMode="auto">
          <a:xfrm>
            <a:off x="1371600" y="3489325"/>
            <a:ext cx="76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 </a:t>
            </a:r>
          </a:p>
          <a:p>
            <a:pPr eaLnBrk="1" hangingPunct="1">
              <a:spcBef>
                <a:spcPct val="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3V</a:t>
            </a:r>
          </a:p>
          <a:p>
            <a:pPr eaLnBrk="1" hangingPunct="1">
              <a:spcBef>
                <a:spcPct val="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21515" name="Text Box 12"/>
          <p:cNvSpPr txBox="1">
            <a:spLocks noChangeArrowheads="1"/>
          </p:cNvSpPr>
          <p:nvPr/>
        </p:nvSpPr>
        <p:spPr bwMode="auto">
          <a:xfrm>
            <a:off x="3581400" y="3429000"/>
            <a:ext cx="914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 </a:t>
            </a:r>
          </a:p>
          <a:p>
            <a:pPr eaLnBrk="1" hangingPunct="1">
              <a:spcBef>
                <a:spcPct val="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3V</a:t>
            </a:r>
          </a:p>
          <a:p>
            <a:pPr eaLnBrk="1" hangingPunct="1">
              <a:spcBef>
                <a:spcPct val="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21516" name="Rectangle 13"/>
          <p:cNvSpPr>
            <a:spLocks noChangeArrowheads="1"/>
          </p:cNvSpPr>
          <p:nvPr/>
        </p:nvSpPr>
        <p:spPr bwMode="auto">
          <a:xfrm>
            <a:off x="2209800" y="2743200"/>
            <a:ext cx="457200" cy="457200"/>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1517" name="Text Box 14"/>
          <p:cNvSpPr txBox="1">
            <a:spLocks noChangeArrowheads="1"/>
          </p:cNvSpPr>
          <p:nvPr/>
        </p:nvSpPr>
        <p:spPr bwMode="auto">
          <a:xfrm>
            <a:off x="2286000" y="281940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21518" name="Text Box 15"/>
          <p:cNvSpPr txBox="1">
            <a:spLocks noChangeArrowheads="1"/>
          </p:cNvSpPr>
          <p:nvPr/>
        </p:nvSpPr>
        <p:spPr bwMode="auto">
          <a:xfrm>
            <a:off x="1828800" y="3200400"/>
            <a:ext cx="167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  6V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21519" name="Text Box 17"/>
          <p:cNvSpPr txBox="1">
            <a:spLocks noChangeArrowheads="1"/>
          </p:cNvSpPr>
          <p:nvPr/>
        </p:nvSpPr>
        <p:spPr bwMode="auto">
          <a:xfrm>
            <a:off x="4648200" y="2057400"/>
            <a:ext cx="396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P</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C</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C</a:t>
            </a: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C</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3)×2=</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6(W)</a:t>
            </a:r>
          </a:p>
        </p:txBody>
      </p:sp>
      <p:sp>
        <p:nvSpPr>
          <p:cNvPr id="21520" name="Text Box 18"/>
          <p:cNvSpPr txBox="1">
            <a:spLocks noChangeArrowheads="1"/>
          </p:cNvSpPr>
          <p:nvPr/>
        </p:nvSpPr>
        <p:spPr bwMode="auto">
          <a:xfrm>
            <a:off x="4500563" y="2819400"/>
            <a:ext cx="4186237"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吸收电功率－</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6W</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，就是发出</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+6W</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，表明元件</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C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是电池。</a:t>
            </a:r>
          </a:p>
        </p:txBody>
      </p:sp>
      <p:sp>
        <p:nvSpPr>
          <p:cNvPr id="21521" name="Text Box 22"/>
          <p:cNvSpPr txBox="1">
            <a:spLocks noChangeArrowheads="1"/>
          </p:cNvSpPr>
          <p:nvPr/>
        </p:nvSpPr>
        <p:spPr bwMode="auto">
          <a:xfrm>
            <a:off x="914400" y="533400"/>
            <a:ext cx="7848600" cy="142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3</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元件</a:t>
            </a:r>
            <a:r>
              <a:rPr lang="en-US" altLang="zh-CN" sz="24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4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电压与电流的参考方向都是由上向下</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方向相同</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，为关联参考方向。关联参考方向时电压与电流的乘积为吸收的电功率</a:t>
            </a:r>
          </a:p>
        </p:txBody>
      </p:sp>
      <p:sp>
        <p:nvSpPr>
          <p:cNvPr id="21522" name="Text Box 24"/>
          <p:cNvSpPr txBox="1">
            <a:spLocks noChangeArrowheads="1"/>
          </p:cNvSpPr>
          <p:nvPr/>
        </p:nvSpPr>
        <p:spPr bwMode="auto">
          <a:xfrm>
            <a:off x="1676400" y="5257800"/>
            <a:ext cx="1219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000" b="1">
                <a:latin typeface="Times New Roman" panose="02020603050405020304" pitchFamily="18" charset="0"/>
                <a:ea typeface="华文中宋" panose="02010600040101010101" pitchFamily="2" charset="-122"/>
                <a:cs typeface="Times New Roman" panose="02020603050405020304" pitchFamily="18" charset="0"/>
              </a:rPr>
              <a:t>例题</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4"/>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118BFE5-79D0-4D05-8A7F-F6D769A8E271}"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18</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31" name="Rectangle 2"/>
          <p:cNvSpPr>
            <a:spLocks noGrp="1" noChangeArrowheads="1"/>
          </p:cNvSpPr>
          <p:nvPr>
            <p:ph type="title"/>
          </p:nvPr>
        </p:nvSpPr>
        <p:spPr>
          <a:xfrm>
            <a:off x="458788" y="209551"/>
            <a:ext cx="8229600" cy="487362"/>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sz="4000" b="1" dirty="0" smtClean="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1.3   </a:t>
            </a:r>
            <a:r>
              <a:rPr lang="zh-CN" altLang="en-US" sz="4000" b="1" dirty="0" smtClean="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电路基本元件</a:t>
            </a:r>
          </a:p>
        </p:txBody>
      </p:sp>
      <p:grpSp>
        <p:nvGrpSpPr>
          <p:cNvPr id="22532" name="Group 15"/>
          <p:cNvGrpSpPr>
            <a:grpSpLocks/>
          </p:cNvGrpSpPr>
          <p:nvPr/>
        </p:nvGrpSpPr>
        <p:grpSpPr bwMode="auto">
          <a:xfrm>
            <a:off x="1331913" y="4508500"/>
            <a:ext cx="2362200" cy="1177925"/>
            <a:chOff x="816" y="3024"/>
            <a:chExt cx="1488" cy="742"/>
          </a:xfrm>
        </p:grpSpPr>
        <p:sp>
          <p:nvSpPr>
            <p:cNvPr id="22538" name="Line 4"/>
            <p:cNvSpPr>
              <a:spLocks noChangeShapeType="1"/>
            </p:cNvSpPr>
            <p:nvPr/>
          </p:nvSpPr>
          <p:spPr bwMode="auto">
            <a:xfrm rot="-5400000">
              <a:off x="1464" y="2722"/>
              <a:ext cx="0" cy="12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39" name="Rectangle 5"/>
            <p:cNvSpPr>
              <a:spLocks noChangeArrowheads="1"/>
            </p:cNvSpPr>
            <p:nvPr/>
          </p:nvSpPr>
          <p:spPr bwMode="auto">
            <a:xfrm rot="-5400000">
              <a:off x="1464" y="3154"/>
              <a:ext cx="192" cy="432"/>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40" name="Text Box 6"/>
            <p:cNvSpPr txBox="1">
              <a:spLocks noChangeArrowheads="1"/>
            </p:cNvSpPr>
            <p:nvPr/>
          </p:nvSpPr>
          <p:spPr bwMode="auto">
            <a:xfrm>
              <a:off x="1488" y="302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R</a:t>
              </a:r>
            </a:p>
          </p:txBody>
        </p:sp>
        <p:sp>
          <p:nvSpPr>
            <p:cNvPr id="22541" name="Line 7"/>
            <p:cNvSpPr>
              <a:spLocks noChangeShapeType="1"/>
            </p:cNvSpPr>
            <p:nvPr/>
          </p:nvSpPr>
          <p:spPr bwMode="auto">
            <a:xfrm rot="-5400000">
              <a:off x="1008" y="3274"/>
              <a:ext cx="0" cy="192"/>
            </a:xfrm>
            <a:prstGeom prst="line">
              <a:avLst/>
            </a:prstGeom>
            <a:noFill/>
            <a:ln w="38100">
              <a:solidFill>
                <a:schemeClr val="tx1"/>
              </a:solidFill>
              <a:round/>
              <a:headEnd type="none" w="lg"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2542" name="Text Box 8"/>
            <p:cNvSpPr txBox="1">
              <a:spLocks noChangeArrowheads="1"/>
            </p:cNvSpPr>
            <p:nvPr/>
          </p:nvSpPr>
          <p:spPr bwMode="auto">
            <a:xfrm>
              <a:off x="912" y="3120"/>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22543" name="Text Box 9"/>
            <p:cNvSpPr txBox="1">
              <a:spLocks noChangeArrowheads="1"/>
            </p:cNvSpPr>
            <p:nvPr/>
          </p:nvSpPr>
          <p:spPr bwMode="auto">
            <a:xfrm>
              <a:off x="960" y="3514"/>
              <a:ext cx="13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u         </a:t>
              </a:r>
              <a:r>
                <a:rPr lang="zh-CN" altLang="en-US" sz="2000" b="1">
                  <a:latin typeface="Times New Roman" panose="02020603050405020304" pitchFamily="18" charset="0"/>
                  <a:ea typeface="华文中宋" panose="02010600040101010101" pitchFamily="2" charset="-122"/>
                  <a:cs typeface="Times New Roman" panose="02020603050405020304" pitchFamily="18" charset="0"/>
                </a:rPr>
                <a:t>－</a:t>
              </a:r>
            </a:p>
          </p:txBody>
        </p:sp>
      </p:grpSp>
      <p:sp>
        <p:nvSpPr>
          <p:cNvPr id="22533" name="Text Box 10"/>
          <p:cNvSpPr txBox="1">
            <a:spLocks noChangeArrowheads="1"/>
          </p:cNvSpPr>
          <p:nvPr/>
        </p:nvSpPr>
        <p:spPr bwMode="auto">
          <a:xfrm>
            <a:off x="631825" y="1539875"/>
            <a:ext cx="8054975"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180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有些实际部件如电阻器、电灯、电炉等在电路中工作时要消耗电能，并将电能不可逆地转换成热能、光能、机械能等。反映电能消耗的电路参数叫作</a:t>
            </a:r>
            <a:r>
              <a:rPr lang="zh-CN" altLang="en-US" sz="26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电阻</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22534" name="Text Box 11"/>
          <p:cNvSpPr txBox="1">
            <a:spLocks noChangeArrowheads="1"/>
          </p:cNvSpPr>
          <p:nvPr/>
        </p:nvSpPr>
        <p:spPr bwMode="auto">
          <a:xfrm>
            <a:off x="657225" y="2992438"/>
            <a:ext cx="817245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6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实际部件的电阻特性在电路中用电阻元件来模拟。电阻元件常常简称为电阻。通常“电阻”一词以及大写字母 </a:t>
            </a:r>
            <a:r>
              <a:rPr lang="en-US" altLang="zh-CN" sz="2600" b="1" dirty="0">
                <a:latin typeface="Times New Roman" panose="02020603050405020304" pitchFamily="18" charset="0"/>
                <a:ea typeface="华文中宋" panose="02010600040101010101" pitchFamily="2" charset="-122"/>
                <a:cs typeface="Times New Roman" panose="02020603050405020304" pitchFamily="18" charset="0"/>
              </a:rPr>
              <a:t>R </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既表示电阻元件，也表示该元件的参数。</a:t>
            </a:r>
          </a:p>
        </p:txBody>
      </p:sp>
      <p:sp>
        <p:nvSpPr>
          <p:cNvPr id="22535" name="Text Box 12"/>
          <p:cNvSpPr txBox="1">
            <a:spLocks noChangeArrowheads="1"/>
          </p:cNvSpPr>
          <p:nvPr/>
        </p:nvSpPr>
        <p:spPr bwMode="auto">
          <a:xfrm>
            <a:off x="4114800" y="4572000"/>
            <a:ext cx="441960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600" b="1">
                <a:latin typeface="Times New Roman" panose="02020603050405020304" pitchFamily="18" charset="0"/>
                <a:ea typeface="华文中宋" panose="02010600040101010101" pitchFamily="2" charset="-122"/>
                <a:cs typeface="Times New Roman" panose="02020603050405020304" pitchFamily="18" charset="0"/>
              </a:rPr>
              <a:t>电阻元件的图形符号是一个矩形框，文字符号是大写字母 </a:t>
            </a:r>
            <a:r>
              <a:rPr lang="en-US" altLang="zh-CN" sz="2600" b="1">
                <a:latin typeface="Times New Roman" panose="02020603050405020304" pitchFamily="18" charset="0"/>
                <a:ea typeface="华文中宋" panose="02010600040101010101" pitchFamily="2" charset="-122"/>
                <a:cs typeface="Times New Roman" panose="02020603050405020304" pitchFamily="18" charset="0"/>
              </a:rPr>
              <a:t>R </a:t>
            </a:r>
            <a:r>
              <a:rPr lang="zh-CN" altLang="en-US" sz="2600" b="1">
                <a:latin typeface="Times New Roman" panose="02020603050405020304" pitchFamily="18" charset="0"/>
                <a:ea typeface="华文中宋" panose="02010600040101010101" pitchFamily="2" charset="-122"/>
                <a:cs typeface="Times New Roman" panose="02020603050405020304" pitchFamily="18" charset="0"/>
              </a:rPr>
              <a:t>。见左图。</a:t>
            </a:r>
          </a:p>
        </p:txBody>
      </p:sp>
      <p:sp>
        <p:nvSpPr>
          <p:cNvPr id="22536" name="Text Box 13"/>
          <p:cNvSpPr txBox="1">
            <a:spLocks noChangeArrowheads="1"/>
          </p:cNvSpPr>
          <p:nvPr/>
        </p:nvSpPr>
        <p:spPr bwMode="auto">
          <a:xfrm>
            <a:off x="1763713" y="5805488"/>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电阻元件</a:t>
            </a:r>
          </a:p>
        </p:txBody>
      </p:sp>
      <p:sp>
        <p:nvSpPr>
          <p:cNvPr id="15" name="Rectangle 2"/>
          <p:cNvSpPr txBox="1">
            <a:spLocks noChangeArrowheads="1"/>
          </p:cNvSpPr>
          <p:nvPr/>
        </p:nvSpPr>
        <p:spPr bwMode="auto">
          <a:xfrm>
            <a:off x="458788" y="1025525"/>
            <a:ext cx="7315200"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342900" indent="-342900" algn="l" eaLnBrk="1" hangingPunct="1">
              <a:spcBef>
                <a:spcPct val="20000"/>
              </a:spcBef>
              <a:defRPr/>
            </a:pPr>
            <a:r>
              <a:rPr lang="en-US" altLang="zh-CN" sz="3200" b="1"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1.3.1  </a:t>
            </a:r>
            <a:r>
              <a:rPr lang="zh-CN" altLang="en-US" sz="3200" b="1"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电阻</a:t>
            </a:r>
            <a:endParaRPr lang="zh-CN" altLang="en-US" sz="32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7" name="Rectangle 4"/>
          <p:cNvSpPr>
            <a:spLocks noChangeArrowheads="1"/>
          </p:cNvSpPr>
          <p:nvPr/>
        </p:nvSpPr>
        <p:spPr bwMode="auto">
          <a:xfrm>
            <a:off x="323528" y="726539"/>
            <a:ext cx="8207375" cy="49727"/>
          </a:xfrm>
          <a:prstGeom prst="rect">
            <a:avLst/>
          </a:prstGeom>
          <a:gradFill rotWithShape="0">
            <a:gsLst>
              <a:gs pos="0">
                <a:srgbClr val="3366FF"/>
              </a:gs>
              <a:gs pos="12500">
                <a:srgbClr val="01A78F"/>
              </a:gs>
              <a:gs pos="25000">
                <a:srgbClr val="FFFF00"/>
              </a:gs>
              <a:gs pos="37500">
                <a:srgbClr val="FF6633"/>
              </a:gs>
              <a:gs pos="50000">
                <a:srgbClr val="FF3399"/>
              </a:gs>
              <a:gs pos="62500">
                <a:srgbClr val="FF6633"/>
              </a:gs>
              <a:gs pos="75000">
                <a:srgbClr val="FFFF00"/>
              </a:gs>
              <a:gs pos="87500">
                <a:srgbClr val="01A78F"/>
              </a:gs>
              <a:gs pos="100000">
                <a:srgbClr val="3366FF"/>
              </a:gs>
            </a:gsLst>
            <a:lin ang="0" scaled="1"/>
          </a:gradFill>
          <a:ln w="12700" cap="sq">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6"/>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15E06E6-11AE-4A44-A8E9-40E63F73A64B}"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19</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3555" name="Group 41"/>
          <p:cNvGrpSpPr>
            <a:grpSpLocks/>
          </p:cNvGrpSpPr>
          <p:nvPr/>
        </p:nvGrpSpPr>
        <p:grpSpPr bwMode="auto">
          <a:xfrm>
            <a:off x="4800600" y="3036888"/>
            <a:ext cx="3200400" cy="2921000"/>
            <a:chOff x="3024" y="1913"/>
            <a:chExt cx="1728" cy="1840"/>
          </a:xfrm>
        </p:grpSpPr>
        <p:sp>
          <p:nvSpPr>
            <p:cNvPr id="23567" name="Line 19"/>
            <p:cNvSpPr>
              <a:spLocks noChangeShapeType="1"/>
            </p:cNvSpPr>
            <p:nvPr/>
          </p:nvSpPr>
          <p:spPr bwMode="auto">
            <a:xfrm flipV="1">
              <a:off x="3792" y="2011"/>
              <a:ext cx="0" cy="1438"/>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568" name="Text Box 20"/>
            <p:cNvSpPr txBox="1">
              <a:spLocks noChangeArrowheads="1"/>
            </p:cNvSpPr>
            <p:nvPr/>
          </p:nvSpPr>
          <p:spPr bwMode="auto">
            <a:xfrm>
              <a:off x="3886" y="1913"/>
              <a:ext cx="15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endPar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569" name="Line 21"/>
            <p:cNvSpPr>
              <a:spLocks noChangeShapeType="1"/>
            </p:cNvSpPr>
            <p:nvPr/>
          </p:nvSpPr>
          <p:spPr bwMode="auto">
            <a:xfrm>
              <a:off x="3024" y="2748"/>
              <a:ext cx="1604"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570" name="Text Box 22"/>
            <p:cNvSpPr txBox="1">
              <a:spLocks noChangeArrowheads="1"/>
            </p:cNvSpPr>
            <p:nvPr/>
          </p:nvSpPr>
          <p:spPr bwMode="auto">
            <a:xfrm>
              <a:off x="4368" y="2736"/>
              <a:ext cx="26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sz="20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571" name="Line 23"/>
            <p:cNvSpPr>
              <a:spLocks noChangeShapeType="1"/>
            </p:cNvSpPr>
            <p:nvPr/>
          </p:nvSpPr>
          <p:spPr bwMode="auto">
            <a:xfrm flipH="1">
              <a:off x="3272" y="2164"/>
              <a:ext cx="1104" cy="1094"/>
            </a:xfrm>
            <a:prstGeom prst="line">
              <a:avLst/>
            </a:prstGeom>
            <a:noFill/>
            <a:ln w="38100">
              <a:solidFill>
                <a:srgbClr val="00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572" name="Text Box 24"/>
            <p:cNvSpPr txBox="1">
              <a:spLocks noChangeArrowheads="1"/>
            </p:cNvSpPr>
            <p:nvPr/>
          </p:nvSpPr>
          <p:spPr bwMode="auto">
            <a:xfrm>
              <a:off x="3796" y="2736"/>
              <a:ext cx="22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O</a:t>
              </a:r>
            </a:p>
          </p:txBody>
        </p:sp>
        <p:sp>
          <p:nvSpPr>
            <p:cNvPr id="23573" name="Text Box 25"/>
            <p:cNvSpPr txBox="1">
              <a:spLocks noChangeArrowheads="1"/>
            </p:cNvSpPr>
            <p:nvPr/>
          </p:nvSpPr>
          <p:spPr bwMode="auto">
            <a:xfrm>
              <a:off x="3120" y="3465"/>
              <a:ext cx="16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线性电阻的伏安特性</a:t>
              </a:r>
            </a:p>
          </p:txBody>
        </p:sp>
      </p:grpSp>
      <p:sp>
        <p:nvSpPr>
          <p:cNvPr id="23556" name="Text Box 35"/>
          <p:cNvSpPr txBox="1">
            <a:spLocks noChangeArrowheads="1"/>
          </p:cNvSpPr>
          <p:nvPr/>
        </p:nvSpPr>
        <p:spPr bwMode="auto">
          <a:xfrm>
            <a:off x="3886200" y="422275"/>
            <a:ext cx="457200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600" b="1">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600" b="1">
                <a:latin typeface="Times New Roman" panose="02020603050405020304" pitchFamily="18" charset="0"/>
                <a:ea typeface="华文中宋" panose="02010600040101010101" pitchFamily="2" charset="-122"/>
                <a:cs typeface="Times New Roman" panose="02020603050405020304" pitchFamily="18" charset="0"/>
              </a:rPr>
              <a:t>按左图所示，电压与电流取关联参考方向，电压与电流之间满足</a:t>
            </a:r>
            <a:r>
              <a:rPr lang="zh-CN" altLang="en-US" sz="2600" b="1">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欧姆定律</a:t>
            </a:r>
            <a:r>
              <a:rPr lang="zh-CN" altLang="en-US" sz="2600" b="1">
                <a:latin typeface="Times New Roman" panose="02020603050405020304" pitchFamily="18" charset="0"/>
                <a:ea typeface="华文中宋" panose="02010600040101010101" pitchFamily="2" charset="-122"/>
                <a:cs typeface="Times New Roman" panose="02020603050405020304" pitchFamily="18" charset="0"/>
              </a:rPr>
              <a:t>：</a:t>
            </a:r>
          </a:p>
        </p:txBody>
      </p:sp>
      <p:graphicFrame>
        <p:nvGraphicFramePr>
          <p:cNvPr id="23557" name="Object 36"/>
          <p:cNvGraphicFramePr>
            <a:graphicFrameLocks noChangeAspect="1"/>
          </p:cNvGraphicFramePr>
          <p:nvPr>
            <p:extLst>
              <p:ext uri="{D42A27DB-BD31-4B8C-83A1-F6EECF244321}">
                <p14:modId xmlns:p14="http://schemas.microsoft.com/office/powerpoint/2010/main" val="417610477"/>
              </p:ext>
            </p:extLst>
          </p:nvPr>
        </p:nvGraphicFramePr>
        <p:xfrm>
          <a:off x="4648200" y="1858963"/>
          <a:ext cx="3067050" cy="960437"/>
        </p:xfrm>
        <a:graphic>
          <a:graphicData uri="http://schemas.openxmlformats.org/presentationml/2006/ole">
            <mc:AlternateContent xmlns:mc="http://schemas.openxmlformats.org/markup-compatibility/2006">
              <mc:Choice xmlns:v="urn:schemas-microsoft-com:vml" Requires="v">
                <p:oleObj spid="_x0000_s23604" name="Equation" r:id="rId3" imgW="1200201" imgH="333450" progId="Equation.3">
                  <p:embed/>
                </p:oleObj>
              </mc:Choice>
              <mc:Fallback>
                <p:oleObj name="Equation" r:id="rId3" imgW="1200201" imgH="333450" progId="Equation.3">
                  <p:embed/>
                  <p:pic>
                    <p:nvPicPr>
                      <p:cNvPr id="0" name="Object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858963"/>
                        <a:ext cx="3067050" cy="960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8" name="Text Box 38"/>
          <p:cNvSpPr txBox="1">
            <a:spLocks noChangeArrowheads="1"/>
          </p:cNvSpPr>
          <p:nvPr/>
        </p:nvSpPr>
        <p:spPr bwMode="auto">
          <a:xfrm>
            <a:off x="762000" y="3276600"/>
            <a:ext cx="3733800"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600" b="1">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600" b="1">
                <a:latin typeface="Times New Roman" panose="02020603050405020304" pitchFamily="18" charset="0"/>
                <a:ea typeface="华文中宋" panose="02010600040101010101" pitchFamily="2" charset="-122"/>
                <a:cs typeface="Times New Roman" panose="02020603050405020304" pitchFamily="18" charset="0"/>
              </a:rPr>
              <a:t>电阻元件电压与电流之间的关系称为伏安关系，或称</a:t>
            </a:r>
            <a:r>
              <a:rPr lang="zh-CN" altLang="en-US" sz="26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伏安特性</a:t>
            </a:r>
            <a:r>
              <a:rPr lang="en-US" altLang="zh-CN" sz="2600" b="1">
                <a:latin typeface="Times New Roman" panose="02020603050405020304" pitchFamily="18" charset="0"/>
                <a:ea typeface="华文中宋" panose="02010600040101010101" pitchFamily="2" charset="-122"/>
                <a:cs typeface="Times New Roman" panose="02020603050405020304" pitchFamily="18" charset="0"/>
              </a:rPr>
              <a:t>(VAR)</a:t>
            </a:r>
            <a:r>
              <a:rPr lang="zh-CN" altLang="en-US" sz="2600" b="1">
                <a:latin typeface="Times New Roman" panose="02020603050405020304" pitchFamily="18" charset="0"/>
                <a:ea typeface="华文中宋" panose="02010600040101010101" pitchFamily="2" charset="-122"/>
                <a:cs typeface="Times New Roman" panose="02020603050405020304" pitchFamily="18" charset="0"/>
              </a:rPr>
              <a:t>。根据欧姆定律，在坐标上电阻元件的伏安特性是过原点的一条直线。见右图。</a:t>
            </a:r>
          </a:p>
        </p:txBody>
      </p:sp>
      <p:sp>
        <p:nvSpPr>
          <p:cNvPr id="23559" name="Text Box 43"/>
          <p:cNvSpPr txBox="1">
            <a:spLocks noChangeArrowheads="1"/>
          </p:cNvSpPr>
          <p:nvPr/>
        </p:nvSpPr>
        <p:spPr bwMode="auto">
          <a:xfrm>
            <a:off x="1371600" y="22860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电阻元件</a:t>
            </a:r>
          </a:p>
        </p:txBody>
      </p:sp>
      <p:grpSp>
        <p:nvGrpSpPr>
          <p:cNvPr id="23560" name="Group 45"/>
          <p:cNvGrpSpPr>
            <a:grpSpLocks/>
          </p:cNvGrpSpPr>
          <p:nvPr/>
        </p:nvGrpSpPr>
        <p:grpSpPr bwMode="auto">
          <a:xfrm>
            <a:off x="838200" y="1035050"/>
            <a:ext cx="2362200" cy="1177925"/>
            <a:chOff x="816" y="3024"/>
            <a:chExt cx="1488" cy="742"/>
          </a:xfrm>
        </p:grpSpPr>
        <p:sp>
          <p:nvSpPr>
            <p:cNvPr id="23561" name="Line 46"/>
            <p:cNvSpPr>
              <a:spLocks noChangeShapeType="1"/>
            </p:cNvSpPr>
            <p:nvPr/>
          </p:nvSpPr>
          <p:spPr bwMode="auto">
            <a:xfrm rot="-5400000">
              <a:off x="1464" y="2722"/>
              <a:ext cx="0" cy="12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562" name="Rectangle 47"/>
            <p:cNvSpPr>
              <a:spLocks noChangeArrowheads="1"/>
            </p:cNvSpPr>
            <p:nvPr/>
          </p:nvSpPr>
          <p:spPr bwMode="auto">
            <a:xfrm rot="-5400000">
              <a:off x="1464" y="3154"/>
              <a:ext cx="192" cy="432"/>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563" name="Text Box 48"/>
            <p:cNvSpPr txBox="1">
              <a:spLocks noChangeArrowheads="1"/>
            </p:cNvSpPr>
            <p:nvPr/>
          </p:nvSpPr>
          <p:spPr bwMode="auto">
            <a:xfrm>
              <a:off x="1488" y="302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R</a:t>
              </a:r>
            </a:p>
          </p:txBody>
        </p:sp>
        <p:sp>
          <p:nvSpPr>
            <p:cNvPr id="23564" name="Line 49"/>
            <p:cNvSpPr>
              <a:spLocks noChangeShapeType="1"/>
            </p:cNvSpPr>
            <p:nvPr/>
          </p:nvSpPr>
          <p:spPr bwMode="auto">
            <a:xfrm rot="-5400000">
              <a:off x="1008" y="3274"/>
              <a:ext cx="0" cy="192"/>
            </a:xfrm>
            <a:prstGeom prst="line">
              <a:avLst/>
            </a:prstGeom>
            <a:noFill/>
            <a:ln w="38100">
              <a:solidFill>
                <a:schemeClr val="tx1"/>
              </a:solidFill>
              <a:round/>
              <a:headEnd type="none" w="lg"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3565" name="Text Box 50"/>
            <p:cNvSpPr txBox="1">
              <a:spLocks noChangeArrowheads="1"/>
            </p:cNvSpPr>
            <p:nvPr/>
          </p:nvSpPr>
          <p:spPr bwMode="auto">
            <a:xfrm>
              <a:off x="912" y="3120"/>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23566" name="Text Box 51"/>
            <p:cNvSpPr txBox="1">
              <a:spLocks noChangeArrowheads="1"/>
            </p:cNvSpPr>
            <p:nvPr/>
          </p:nvSpPr>
          <p:spPr bwMode="auto">
            <a:xfrm>
              <a:off x="960" y="3514"/>
              <a:ext cx="13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u         </a:t>
              </a:r>
              <a:r>
                <a:rPr lang="zh-CN" altLang="en-US" sz="2000" b="1">
                  <a:latin typeface="Times New Roman" panose="02020603050405020304" pitchFamily="18" charset="0"/>
                  <a:ea typeface="华文中宋" panose="02010600040101010101" pitchFamily="2" charset="-122"/>
                  <a:cs typeface="Times New Roman" panose="02020603050405020304" pitchFamily="18" charset="0"/>
                </a:rPr>
                <a:t>－</a:t>
              </a:r>
            </a:p>
          </p:txBody>
        </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6"/>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9EA7C7A-B419-483D-852A-041C85CE483A}"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20</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4579" name="Text Box 14"/>
          <p:cNvSpPr txBox="1">
            <a:spLocks noChangeArrowheads="1"/>
          </p:cNvSpPr>
          <p:nvPr/>
        </p:nvSpPr>
        <p:spPr bwMode="auto">
          <a:xfrm>
            <a:off x="685800" y="533400"/>
            <a:ext cx="769620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6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有的电阻元件不遵循欧姆定律，电压与电流的比值不是</a:t>
            </a:r>
            <a:r>
              <a:rPr lang="zh-CN" altLang="en-US" sz="2600" b="1" dirty="0" smtClean="0">
                <a:latin typeface="Times New Roman" panose="02020603050405020304" pitchFamily="18" charset="0"/>
                <a:ea typeface="华文中宋" panose="02010600040101010101" pitchFamily="2" charset="-122"/>
                <a:cs typeface="Times New Roman" panose="02020603050405020304" pitchFamily="18" charset="0"/>
              </a:rPr>
              <a:t>常数；此时伏安关系表现为不过</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原点的一条直线。这样的电阻称为</a:t>
            </a:r>
            <a:r>
              <a:rPr lang="zh-CN" altLang="en-US" sz="26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非线形电阻</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24580" name="Text Box 35"/>
          <p:cNvSpPr txBox="1">
            <a:spLocks noChangeArrowheads="1"/>
          </p:cNvSpPr>
          <p:nvPr/>
        </p:nvSpPr>
        <p:spPr bwMode="auto">
          <a:xfrm>
            <a:off x="914400" y="2057400"/>
            <a:ext cx="7391400"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6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伏安关系是过原点的一条直线的电阻元件称为</a:t>
            </a:r>
            <a:r>
              <a:rPr lang="zh-CN" altLang="en-US"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线性电阻</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；伏安关系不是过原点的一条直线的电阻称为</a:t>
            </a:r>
            <a:r>
              <a:rPr lang="zh-CN" altLang="en-US" sz="26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非线性电阻（如热敏电阻、光敏电阻等都是非线性电阻）</a:t>
            </a:r>
            <a:r>
              <a:rPr lang="zh-CN" altLang="en-US" sz="2600" b="1" dirty="0" smtClean="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600" b="1" dirty="0">
                <a:latin typeface="Times New Roman" panose="02020603050405020304" pitchFamily="18" charset="0"/>
                <a:ea typeface="华文中宋" panose="02010600040101010101" pitchFamily="2" charset="-122"/>
                <a:cs typeface="Times New Roman" panose="02020603050405020304" pitchFamily="18" charset="0"/>
              </a:rPr>
              <a:t>下图为非线性电阻的符号和一个非线性电阻元件的伏安特性曲线。</a:t>
            </a:r>
          </a:p>
        </p:txBody>
      </p:sp>
      <p:sp>
        <p:nvSpPr>
          <p:cNvPr id="24581" name="Text Box 45"/>
          <p:cNvSpPr txBox="1">
            <a:spLocks noChangeArrowheads="1"/>
          </p:cNvSpPr>
          <p:nvPr/>
        </p:nvSpPr>
        <p:spPr bwMode="auto">
          <a:xfrm>
            <a:off x="4572000" y="6019800"/>
            <a:ext cx="30480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b="1">
                <a:latin typeface="Times New Roman" panose="02020603050405020304" pitchFamily="18" charset="0"/>
                <a:ea typeface="华文中宋" panose="02010600040101010101" pitchFamily="2" charset="-122"/>
                <a:cs typeface="Times New Roman" panose="02020603050405020304" pitchFamily="18" charset="0"/>
              </a:rPr>
              <a:t>非线性电阻的伏安特性</a:t>
            </a:r>
          </a:p>
        </p:txBody>
      </p:sp>
      <p:grpSp>
        <p:nvGrpSpPr>
          <p:cNvPr id="24582" name="Group 63"/>
          <p:cNvGrpSpPr>
            <a:grpSpLocks/>
          </p:cNvGrpSpPr>
          <p:nvPr/>
        </p:nvGrpSpPr>
        <p:grpSpPr bwMode="auto">
          <a:xfrm>
            <a:off x="4832350" y="3581400"/>
            <a:ext cx="2559050" cy="2438400"/>
            <a:chOff x="3044" y="2256"/>
            <a:chExt cx="1612" cy="1536"/>
          </a:xfrm>
        </p:grpSpPr>
        <p:sp>
          <p:nvSpPr>
            <p:cNvPr id="24594" name="Line 39"/>
            <p:cNvSpPr>
              <a:spLocks noChangeShapeType="1"/>
            </p:cNvSpPr>
            <p:nvPr/>
          </p:nvSpPr>
          <p:spPr bwMode="auto">
            <a:xfrm flipV="1">
              <a:off x="3812" y="2354"/>
              <a:ext cx="0" cy="1438"/>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4595" name="Text Box 40"/>
            <p:cNvSpPr txBox="1">
              <a:spLocks noChangeArrowheads="1"/>
            </p:cNvSpPr>
            <p:nvPr/>
          </p:nvSpPr>
          <p:spPr bwMode="auto">
            <a:xfrm>
              <a:off x="3906" y="2256"/>
              <a:ext cx="17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endPar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4596" name="Line 41"/>
            <p:cNvSpPr>
              <a:spLocks noChangeShapeType="1"/>
            </p:cNvSpPr>
            <p:nvPr/>
          </p:nvSpPr>
          <p:spPr bwMode="auto">
            <a:xfrm>
              <a:off x="3044" y="3091"/>
              <a:ext cx="1604" cy="0"/>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4597" name="Text Box 42"/>
            <p:cNvSpPr txBox="1">
              <a:spLocks noChangeArrowheads="1"/>
            </p:cNvSpPr>
            <p:nvPr/>
          </p:nvSpPr>
          <p:spPr bwMode="auto">
            <a:xfrm>
              <a:off x="4388" y="3079"/>
              <a:ext cx="26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000" b="1" i="1">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sz="20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4598" name="Text Box 44"/>
            <p:cNvSpPr txBox="1">
              <a:spLocks noChangeArrowheads="1"/>
            </p:cNvSpPr>
            <p:nvPr/>
          </p:nvSpPr>
          <p:spPr bwMode="auto">
            <a:xfrm>
              <a:off x="3799" y="3079"/>
              <a:ext cx="257"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O</a:t>
              </a:r>
            </a:p>
          </p:txBody>
        </p:sp>
        <p:sp>
          <p:nvSpPr>
            <p:cNvPr id="24599" name="Freeform 48"/>
            <p:cNvSpPr>
              <a:spLocks/>
            </p:cNvSpPr>
            <p:nvPr/>
          </p:nvSpPr>
          <p:spPr bwMode="auto">
            <a:xfrm>
              <a:off x="3284" y="2512"/>
              <a:ext cx="852" cy="624"/>
            </a:xfrm>
            <a:custGeom>
              <a:avLst/>
              <a:gdLst>
                <a:gd name="T0" fmla="*/ 0 w 852"/>
                <a:gd name="T1" fmla="*/ 624 h 624"/>
                <a:gd name="T2" fmla="*/ 528 w 852"/>
                <a:gd name="T3" fmla="*/ 576 h 624"/>
                <a:gd name="T4" fmla="*/ 684 w 852"/>
                <a:gd name="T5" fmla="*/ 474 h 624"/>
                <a:gd name="T6" fmla="*/ 768 w 852"/>
                <a:gd name="T7" fmla="*/ 336 h 624"/>
                <a:gd name="T8" fmla="*/ 816 w 852"/>
                <a:gd name="T9" fmla="*/ 192 h 624"/>
                <a:gd name="T10" fmla="*/ 852 w 852"/>
                <a:gd name="T11" fmla="*/ 0 h 6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52" h="624">
                  <a:moveTo>
                    <a:pt x="0" y="624"/>
                  </a:moveTo>
                  <a:cubicBezTo>
                    <a:pt x="208" y="612"/>
                    <a:pt x="414" y="601"/>
                    <a:pt x="528" y="576"/>
                  </a:cubicBezTo>
                  <a:cubicBezTo>
                    <a:pt x="642" y="551"/>
                    <a:pt x="644" y="514"/>
                    <a:pt x="684" y="474"/>
                  </a:cubicBezTo>
                  <a:cubicBezTo>
                    <a:pt x="724" y="434"/>
                    <a:pt x="746" y="383"/>
                    <a:pt x="768" y="336"/>
                  </a:cubicBezTo>
                  <a:cubicBezTo>
                    <a:pt x="790" y="289"/>
                    <a:pt x="802" y="248"/>
                    <a:pt x="816" y="192"/>
                  </a:cubicBezTo>
                  <a:cubicBezTo>
                    <a:pt x="830" y="136"/>
                    <a:pt x="844" y="40"/>
                    <a:pt x="852" y="0"/>
                  </a:cubicBezTo>
                </a:path>
              </a:pathLst>
            </a:custGeom>
            <a:noFill/>
            <a:ln w="38100" cmpd="sng">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4600" name="Freeform 49"/>
            <p:cNvSpPr>
              <a:spLocks/>
            </p:cNvSpPr>
            <p:nvPr/>
          </p:nvSpPr>
          <p:spPr bwMode="auto">
            <a:xfrm>
              <a:off x="3218" y="3143"/>
              <a:ext cx="66" cy="449"/>
            </a:xfrm>
            <a:custGeom>
              <a:avLst/>
              <a:gdLst>
                <a:gd name="T0" fmla="*/ 66 w 66"/>
                <a:gd name="T1" fmla="*/ 7 h 449"/>
                <a:gd name="T2" fmla="*/ 31 w 66"/>
                <a:gd name="T3" fmla="*/ 49 h 449"/>
                <a:gd name="T4" fmla="*/ 12 w 66"/>
                <a:gd name="T5" fmla="*/ 191 h 449"/>
                <a:gd name="T6" fmla="*/ 0 w 66"/>
                <a:gd name="T7" fmla="*/ 449 h 4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6" h="449">
                  <a:moveTo>
                    <a:pt x="66" y="7"/>
                  </a:moveTo>
                  <a:cubicBezTo>
                    <a:pt x="51" y="0"/>
                    <a:pt x="40" y="18"/>
                    <a:pt x="31" y="49"/>
                  </a:cubicBezTo>
                  <a:cubicBezTo>
                    <a:pt x="22" y="80"/>
                    <a:pt x="17" y="124"/>
                    <a:pt x="12" y="191"/>
                  </a:cubicBezTo>
                  <a:cubicBezTo>
                    <a:pt x="7" y="258"/>
                    <a:pt x="2" y="395"/>
                    <a:pt x="0" y="449"/>
                  </a:cubicBezTo>
                </a:path>
              </a:pathLst>
            </a:custGeom>
            <a:noFill/>
            <a:ln w="38100" cmpd="sng">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4583" name="Text Box 53"/>
          <p:cNvSpPr txBox="1">
            <a:spLocks noChangeArrowheads="1"/>
          </p:cNvSpPr>
          <p:nvPr/>
        </p:nvSpPr>
        <p:spPr bwMode="auto">
          <a:xfrm>
            <a:off x="1295400" y="6003925"/>
            <a:ext cx="2438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b="1">
                <a:latin typeface="Times New Roman" panose="02020603050405020304" pitchFamily="18" charset="0"/>
                <a:ea typeface="华文中宋" panose="02010600040101010101" pitchFamily="2" charset="-122"/>
                <a:cs typeface="Times New Roman" panose="02020603050405020304" pitchFamily="18" charset="0"/>
              </a:rPr>
              <a:t>非线性电阻的符号</a:t>
            </a:r>
          </a:p>
        </p:txBody>
      </p:sp>
      <p:grpSp>
        <p:nvGrpSpPr>
          <p:cNvPr id="24584" name="Group 62"/>
          <p:cNvGrpSpPr>
            <a:grpSpLocks/>
          </p:cNvGrpSpPr>
          <p:nvPr/>
        </p:nvGrpSpPr>
        <p:grpSpPr bwMode="auto">
          <a:xfrm>
            <a:off x="1143000" y="4648200"/>
            <a:ext cx="2362200" cy="1177925"/>
            <a:chOff x="720" y="2928"/>
            <a:chExt cx="1488" cy="742"/>
          </a:xfrm>
        </p:grpSpPr>
        <p:sp>
          <p:nvSpPr>
            <p:cNvPr id="24585" name="Line 52"/>
            <p:cNvSpPr>
              <a:spLocks noChangeShapeType="1"/>
            </p:cNvSpPr>
            <p:nvPr/>
          </p:nvSpPr>
          <p:spPr bwMode="auto">
            <a:xfrm>
              <a:off x="1344" y="3456"/>
              <a:ext cx="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4586" name="Group 54"/>
            <p:cNvGrpSpPr>
              <a:grpSpLocks/>
            </p:cNvGrpSpPr>
            <p:nvPr/>
          </p:nvGrpSpPr>
          <p:grpSpPr bwMode="auto">
            <a:xfrm>
              <a:off x="720" y="2928"/>
              <a:ext cx="1488" cy="742"/>
              <a:chOff x="816" y="3024"/>
              <a:chExt cx="1488" cy="742"/>
            </a:xfrm>
          </p:grpSpPr>
          <p:sp>
            <p:nvSpPr>
              <p:cNvPr id="24588" name="Line 55"/>
              <p:cNvSpPr>
                <a:spLocks noChangeShapeType="1"/>
              </p:cNvSpPr>
              <p:nvPr/>
            </p:nvSpPr>
            <p:spPr bwMode="auto">
              <a:xfrm rot="-5400000">
                <a:off x="1464" y="2722"/>
                <a:ext cx="0" cy="12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4589" name="Rectangle 56"/>
              <p:cNvSpPr>
                <a:spLocks noChangeArrowheads="1"/>
              </p:cNvSpPr>
              <p:nvPr/>
            </p:nvSpPr>
            <p:spPr bwMode="auto">
              <a:xfrm rot="-5400000">
                <a:off x="1464" y="3154"/>
                <a:ext cx="192" cy="432"/>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4590" name="Text Box 57"/>
              <p:cNvSpPr txBox="1">
                <a:spLocks noChangeArrowheads="1"/>
              </p:cNvSpPr>
              <p:nvPr/>
            </p:nvSpPr>
            <p:spPr bwMode="auto">
              <a:xfrm>
                <a:off x="1488" y="302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R</a:t>
                </a:r>
              </a:p>
            </p:txBody>
          </p:sp>
          <p:sp>
            <p:nvSpPr>
              <p:cNvPr id="24591" name="Line 58"/>
              <p:cNvSpPr>
                <a:spLocks noChangeShapeType="1"/>
              </p:cNvSpPr>
              <p:nvPr/>
            </p:nvSpPr>
            <p:spPr bwMode="auto">
              <a:xfrm rot="-5400000">
                <a:off x="1008" y="3274"/>
                <a:ext cx="0" cy="192"/>
              </a:xfrm>
              <a:prstGeom prst="line">
                <a:avLst/>
              </a:prstGeom>
              <a:noFill/>
              <a:ln w="38100">
                <a:solidFill>
                  <a:schemeClr val="tx1"/>
                </a:solidFill>
                <a:round/>
                <a:headEnd type="none" w="lg"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4592" name="Text Box 59"/>
              <p:cNvSpPr txBox="1">
                <a:spLocks noChangeArrowheads="1"/>
              </p:cNvSpPr>
              <p:nvPr/>
            </p:nvSpPr>
            <p:spPr bwMode="auto">
              <a:xfrm>
                <a:off x="912" y="3120"/>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24593" name="Text Box 60"/>
              <p:cNvSpPr txBox="1">
                <a:spLocks noChangeArrowheads="1"/>
              </p:cNvSpPr>
              <p:nvPr/>
            </p:nvSpPr>
            <p:spPr bwMode="auto">
              <a:xfrm>
                <a:off x="960" y="3514"/>
                <a:ext cx="134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u         </a:t>
                </a:r>
                <a:r>
                  <a:rPr lang="zh-CN" altLang="en-US" sz="2000" b="1">
                    <a:latin typeface="Times New Roman" panose="02020603050405020304" pitchFamily="18" charset="0"/>
                    <a:ea typeface="华文中宋" panose="02010600040101010101" pitchFamily="2" charset="-122"/>
                    <a:cs typeface="Times New Roman" panose="02020603050405020304" pitchFamily="18" charset="0"/>
                  </a:rPr>
                  <a:t>－</a:t>
                </a:r>
              </a:p>
            </p:txBody>
          </p:sp>
        </p:grpSp>
        <p:sp>
          <p:nvSpPr>
            <p:cNvPr id="24587" name="Line 51"/>
            <p:cNvSpPr>
              <a:spLocks noChangeShapeType="1"/>
            </p:cNvSpPr>
            <p:nvPr/>
          </p:nvSpPr>
          <p:spPr bwMode="auto">
            <a:xfrm flipH="1">
              <a:off x="1440" y="3024"/>
              <a:ext cx="240" cy="4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9F7681F-D94B-4EAA-8A8D-18E01FF2A911}"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21</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5603" name="Text Box 2"/>
          <p:cNvSpPr txBox="1">
            <a:spLocks noChangeArrowheads="1"/>
          </p:cNvSpPr>
          <p:nvPr/>
        </p:nvSpPr>
        <p:spPr bwMode="auto">
          <a:xfrm>
            <a:off x="762000" y="533400"/>
            <a:ext cx="79136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电导：</a:t>
            </a: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电阻的倒数称为电导，用大写字母</a:t>
            </a:r>
            <a:r>
              <a:rPr lang="en-US" altLang="zh-CN" sz="2800" b="1" i="1">
                <a:latin typeface="Times New Roman" panose="02020603050405020304" pitchFamily="18" charset="0"/>
                <a:ea typeface="华文中宋" panose="02010600040101010101" pitchFamily="2" charset="-122"/>
                <a:cs typeface="Times New Roman" panose="02020603050405020304" pitchFamily="18" charset="0"/>
              </a:rPr>
              <a:t>G</a:t>
            </a: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表示。</a:t>
            </a:r>
          </a:p>
        </p:txBody>
      </p:sp>
      <p:graphicFrame>
        <p:nvGraphicFramePr>
          <p:cNvPr id="25604" name="Object 3"/>
          <p:cNvGraphicFramePr>
            <a:graphicFrameLocks noChangeAspect="1"/>
          </p:cNvGraphicFramePr>
          <p:nvPr>
            <p:extLst>
              <p:ext uri="{D42A27DB-BD31-4B8C-83A1-F6EECF244321}">
                <p14:modId xmlns:p14="http://schemas.microsoft.com/office/powerpoint/2010/main" val="1102931679"/>
              </p:ext>
            </p:extLst>
          </p:nvPr>
        </p:nvGraphicFramePr>
        <p:xfrm>
          <a:off x="2987675" y="2205038"/>
          <a:ext cx="3317875" cy="925512"/>
        </p:xfrm>
        <a:graphic>
          <a:graphicData uri="http://schemas.openxmlformats.org/presentationml/2006/ole">
            <mc:AlternateContent xmlns:mc="http://schemas.openxmlformats.org/markup-compatibility/2006">
              <mc:Choice xmlns:v="urn:schemas-microsoft-com:vml" Requires="v">
                <p:oleObj spid="_x0000_s25731" name="Equation" r:id="rId3" imgW="1409088" imgH="393529" progId="Equation.3">
                  <p:embed/>
                </p:oleObj>
              </mc:Choice>
              <mc:Fallback>
                <p:oleObj name="Equation" r:id="rId3" imgW="1409088" imgH="39352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2205038"/>
                        <a:ext cx="3317875" cy="925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5" name="Text Box 4"/>
          <p:cNvSpPr txBox="1">
            <a:spLocks noChangeArrowheads="1"/>
          </p:cNvSpPr>
          <p:nvPr/>
        </p:nvSpPr>
        <p:spPr bwMode="auto">
          <a:xfrm>
            <a:off x="914400" y="1828800"/>
            <a:ext cx="3048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欧姆定律</a:t>
            </a: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表示为</a:t>
            </a:r>
          </a:p>
        </p:txBody>
      </p:sp>
      <p:graphicFrame>
        <p:nvGraphicFramePr>
          <p:cNvPr id="25606" name="Object 5"/>
          <p:cNvGraphicFramePr>
            <a:graphicFrameLocks noChangeAspect="1"/>
          </p:cNvGraphicFramePr>
          <p:nvPr>
            <p:extLst>
              <p:ext uri="{D42A27DB-BD31-4B8C-83A1-F6EECF244321}">
                <p14:modId xmlns:p14="http://schemas.microsoft.com/office/powerpoint/2010/main" val="2509806813"/>
              </p:ext>
            </p:extLst>
          </p:nvPr>
        </p:nvGraphicFramePr>
        <p:xfrm>
          <a:off x="4067175" y="908050"/>
          <a:ext cx="1219200" cy="1049338"/>
        </p:xfrm>
        <a:graphic>
          <a:graphicData uri="http://schemas.openxmlformats.org/presentationml/2006/ole">
            <mc:AlternateContent xmlns:mc="http://schemas.openxmlformats.org/markup-compatibility/2006">
              <mc:Choice xmlns:v="urn:schemas-microsoft-com:vml" Requires="v">
                <p:oleObj spid="_x0000_s25732" name="Equation" r:id="rId5" imgW="457002" imgH="393529" progId="Equation.3">
                  <p:embed/>
                </p:oleObj>
              </mc:Choice>
              <mc:Fallback>
                <p:oleObj name="Equation" r:id="rId5" imgW="457002" imgH="393529"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7175" y="908050"/>
                        <a:ext cx="1219200" cy="1049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7" name="Text Box 6"/>
          <p:cNvSpPr txBox="1">
            <a:spLocks noChangeArrowheads="1"/>
          </p:cNvSpPr>
          <p:nvPr/>
        </p:nvSpPr>
        <p:spPr bwMode="auto">
          <a:xfrm>
            <a:off x="914400" y="3276600"/>
            <a:ext cx="27209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电阻元件的功率</a:t>
            </a:r>
          </a:p>
        </p:txBody>
      </p:sp>
      <p:graphicFrame>
        <p:nvGraphicFramePr>
          <p:cNvPr id="25608" name="Object 8"/>
          <p:cNvGraphicFramePr>
            <a:graphicFrameLocks noChangeAspect="1"/>
          </p:cNvGraphicFramePr>
          <p:nvPr>
            <p:extLst>
              <p:ext uri="{D42A27DB-BD31-4B8C-83A1-F6EECF244321}">
                <p14:modId xmlns:p14="http://schemas.microsoft.com/office/powerpoint/2010/main" val="810233553"/>
              </p:ext>
            </p:extLst>
          </p:nvPr>
        </p:nvGraphicFramePr>
        <p:xfrm>
          <a:off x="2700338" y="5300663"/>
          <a:ext cx="3498850" cy="1066800"/>
        </p:xfrm>
        <a:graphic>
          <a:graphicData uri="http://schemas.openxmlformats.org/presentationml/2006/ole">
            <mc:AlternateContent xmlns:mc="http://schemas.openxmlformats.org/markup-compatibility/2006">
              <mc:Choice xmlns:v="urn:schemas-microsoft-com:vml" Requires="v">
                <p:oleObj spid="_x0000_s25733" name="Equation" r:id="rId7" imgW="1270000" imgH="419100" progId="Equation.3">
                  <p:embed/>
                </p:oleObj>
              </mc:Choice>
              <mc:Fallback>
                <p:oleObj name="Equation" r:id="rId7" imgW="1270000" imgH="4191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0338" y="5300663"/>
                        <a:ext cx="349885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9" name="Text Box 9"/>
          <p:cNvSpPr txBox="1">
            <a:spLocks noChangeArrowheads="1"/>
          </p:cNvSpPr>
          <p:nvPr/>
        </p:nvSpPr>
        <p:spPr bwMode="auto">
          <a:xfrm>
            <a:off x="827088" y="4724400"/>
            <a:ext cx="8001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在电压与电流不随时间变化的直流电路中用大写字母表示</a:t>
            </a:r>
          </a:p>
        </p:txBody>
      </p:sp>
      <p:graphicFrame>
        <p:nvGraphicFramePr>
          <p:cNvPr id="25610" name="Object 10"/>
          <p:cNvGraphicFramePr>
            <a:graphicFrameLocks noChangeAspect="1"/>
          </p:cNvGraphicFramePr>
          <p:nvPr>
            <p:extLst>
              <p:ext uri="{D42A27DB-BD31-4B8C-83A1-F6EECF244321}">
                <p14:modId xmlns:p14="http://schemas.microsoft.com/office/powerpoint/2010/main" val="3509680627"/>
              </p:ext>
            </p:extLst>
          </p:nvPr>
        </p:nvGraphicFramePr>
        <p:xfrm>
          <a:off x="2916238" y="3429000"/>
          <a:ext cx="3316287" cy="1203325"/>
        </p:xfrm>
        <a:graphic>
          <a:graphicData uri="http://schemas.openxmlformats.org/presentationml/2006/ole">
            <mc:AlternateContent xmlns:mc="http://schemas.openxmlformats.org/markup-compatibility/2006">
              <mc:Choice xmlns:v="urn:schemas-microsoft-com:vml" Requires="v">
                <p:oleObj spid="_x0000_s25734" name="Equation" r:id="rId9" imgW="1155700" imgH="419100" progId="Equation.3">
                  <p:embed/>
                </p:oleObj>
              </mc:Choice>
              <mc:Fallback>
                <p:oleObj name="Equation" r:id="rId9" imgW="1155700" imgH="4191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16238" y="3429000"/>
                        <a:ext cx="3316287" cy="1203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914" name="Rectangle 34"/>
          <p:cNvSpPr>
            <a:spLocks noGrp="1" noChangeArrowheads="1"/>
          </p:cNvSpPr>
          <p:nvPr>
            <p:ph type="subTitle" idx="1"/>
          </p:nvPr>
        </p:nvSpPr>
        <p:spPr>
          <a:xfrm>
            <a:off x="761999" y="1600200"/>
            <a:ext cx="5781675" cy="609600"/>
          </a:xfrm>
        </p:spPr>
        <p:txBody>
          <a:bodyPr/>
          <a:lstStyle/>
          <a:p>
            <a:pPr algn="l"/>
            <a:r>
              <a:rPr lang="zh-CN" altLang="en-US" sz="2800" b="1" dirty="0" smtClean="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电容是储存</a:t>
            </a:r>
            <a:r>
              <a:rPr lang="zh-CN" altLang="en-US" sz="2800" b="1" dirty="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电场能量的元件</a:t>
            </a:r>
            <a:endParaRPr lang="zh-CN" altLang="en-US" sz="2800" b="1" dirty="0" smtClean="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250889" name="Object 9"/>
          <p:cNvGraphicFramePr>
            <a:graphicFrameLocks noChangeAspect="1"/>
          </p:cNvGraphicFramePr>
          <p:nvPr>
            <p:extLst>
              <p:ext uri="{D42A27DB-BD31-4B8C-83A1-F6EECF244321}">
                <p14:modId xmlns:p14="http://schemas.microsoft.com/office/powerpoint/2010/main" val="786593942"/>
              </p:ext>
            </p:extLst>
          </p:nvPr>
        </p:nvGraphicFramePr>
        <p:xfrm>
          <a:off x="2705100" y="4464050"/>
          <a:ext cx="3238500" cy="908050"/>
        </p:xfrm>
        <a:graphic>
          <a:graphicData uri="http://schemas.openxmlformats.org/presentationml/2006/ole">
            <mc:AlternateContent xmlns:mc="http://schemas.openxmlformats.org/markup-compatibility/2006">
              <mc:Choice xmlns:v="urn:schemas-microsoft-com:vml" Requires="v">
                <p:oleObj spid="_x0000_s26782" name="Equation" r:id="rId3" imgW="1269449" imgH="355446" progId="Equation.DSMT4">
                  <p:embed/>
                </p:oleObj>
              </mc:Choice>
              <mc:Fallback>
                <p:oleObj name="Equation" r:id="rId3" imgW="1269449" imgH="355446"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5100" y="4464050"/>
                        <a:ext cx="3238500"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6628" name="Group 35"/>
          <p:cNvGrpSpPr>
            <a:grpSpLocks/>
          </p:cNvGrpSpPr>
          <p:nvPr/>
        </p:nvGrpSpPr>
        <p:grpSpPr bwMode="auto">
          <a:xfrm>
            <a:off x="5029200" y="2057400"/>
            <a:ext cx="2724150" cy="1096963"/>
            <a:chOff x="3168" y="1296"/>
            <a:chExt cx="1716" cy="691"/>
          </a:xfrm>
        </p:grpSpPr>
        <p:sp>
          <p:nvSpPr>
            <p:cNvPr id="26635" name="Line 10"/>
            <p:cNvSpPr>
              <a:spLocks noChangeShapeType="1"/>
            </p:cNvSpPr>
            <p:nvPr/>
          </p:nvSpPr>
          <p:spPr bwMode="auto">
            <a:xfrm>
              <a:off x="3168" y="1586"/>
              <a:ext cx="81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36" name="Line 11"/>
            <p:cNvSpPr>
              <a:spLocks noChangeShapeType="1"/>
            </p:cNvSpPr>
            <p:nvPr/>
          </p:nvSpPr>
          <p:spPr bwMode="auto">
            <a:xfrm>
              <a:off x="4074" y="1584"/>
              <a:ext cx="81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37" name="Line 12"/>
            <p:cNvSpPr>
              <a:spLocks noChangeShapeType="1"/>
            </p:cNvSpPr>
            <p:nvPr/>
          </p:nvSpPr>
          <p:spPr bwMode="auto">
            <a:xfrm>
              <a:off x="3977" y="1449"/>
              <a:ext cx="1" cy="27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38" name="Line 13"/>
            <p:cNvSpPr>
              <a:spLocks noChangeShapeType="1"/>
            </p:cNvSpPr>
            <p:nvPr/>
          </p:nvSpPr>
          <p:spPr bwMode="auto">
            <a:xfrm>
              <a:off x="4074" y="1449"/>
              <a:ext cx="1" cy="27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39" name="Line 14"/>
            <p:cNvSpPr>
              <a:spLocks noChangeShapeType="1"/>
            </p:cNvSpPr>
            <p:nvPr/>
          </p:nvSpPr>
          <p:spPr bwMode="auto">
            <a:xfrm>
              <a:off x="3288" y="1584"/>
              <a:ext cx="48" cy="1"/>
            </a:xfrm>
            <a:prstGeom prst="line">
              <a:avLst/>
            </a:prstGeom>
            <a:noFill/>
            <a:ln w="238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0" name="Rectangle 16"/>
            <p:cNvSpPr>
              <a:spLocks noChangeArrowheads="1"/>
            </p:cNvSpPr>
            <p:nvPr/>
          </p:nvSpPr>
          <p:spPr bwMode="auto">
            <a:xfrm>
              <a:off x="3294" y="1296"/>
              <a:ext cx="5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600" b="1" i="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1800" b="1" i="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1" name="Rectangle 17"/>
            <p:cNvSpPr>
              <a:spLocks noChangeArrowheads="1"/>
            </p:cNvSpPr>
            <p:nvPr/>
          </p:nvSpPr>
          <p:spPr bwMode="auto">
            <a:xfrm>
              <a:off x="3621" y="1326"/>
              <a:ext cx="106"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3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1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2" name="Rectangle 18"/>
            <p:cNvSpPr>
              <a:spLocks noChangeArrowheads="1"/>
            </p:cNvSpPr>
            <p:nvPr/>
          </p:nvSpPr>
          <p:spPr bwMode="auto">
            <a:xfrm>
              <a:off x="3729" y="1298"/>
              <a:ext cx="9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300" b="1" i="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q</a:t>
              </a:r>
              <a:endParaRPr lang="en-US" altLang="zh-CN" sz="1800" b="1" i="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3" name="Rectangle 19"/>
            <p:cNvSpPr>
              <a:spLocks noChangeArrowheads="1"/>
            </p:cNvSpPr>
            <p:nvPr/>
          </p:nvSpPr>
          <p:spPr bwMode="auto">
            <a:xfrm>
              <a:off x="4122" y="1305"/>
              <a:ext cx="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6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1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4" name="Rectangle 20"/>
            <p:cNvSpPr>
              <a:spLocks noChangeArrowheads="1"/>
            </p:cNvSpPr>
            <p:nvPr/>
          </p:nvSpPr>
          <p:spPr bwMode="auto">
            <a:xfrm>
              <a:off x="4218" y="1298"/>
              <a:ext cx="189"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300" b="1" i="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q</a:t>
              </a:r>
              <a:endParaRPr lang="en-US" altLang="zh-CN" sz="1800" b="1" i="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5" name="Rectangle 21"/>
            <p:cNvSpPr>
              <a:spLocks noChangeArrowheads="1"/>
            </p:cNvSpPr>
            <p:nvPr/>
          </p:nvSpPr>
          <p:spPr bwMode="auto">
            <a:xfrm>
              <a:off x="3624" y="1747"/>
              <a:ext cx="106"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3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1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6" name="Rectangle 22"/>
            <p:cNvSpPr>
              <a:spLocks noChangeArrowheads="1"/>
            </p:cNvSpPr>
            <p:nvPr/>
          </p:nvSpPr>
          <p:spPr bwMode="auto">
            <a:xfrm>
              <a:off x="4314" y="1720"/>
              <a:ext cx="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6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1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7" name="Rectangle 23"/>
            <p:cNvSpPr>
              <a:spLocks noChangeArrowheads="1"/>
            </p:cNvSpPr>
            <p:nvPr/>
          </p:nvSpPr>
          <p:spPr bwMode="auto">
            <a:xfrm>
              <a:off x="3930" y="1735"/>
              <a:ext cx="11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600" b="1" i="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u</a:t>
              </a:r>
              <a:endParaRPr lang="en-US" altLang="zh-CN" sz="1800" b="1" i="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8" name="Line 24"/>
            <p:cNvSpPr>
              <a:spLocks noChangeShapeType="1"/>
            </p:cNvSpPr>
            <p:nvPr/>
          </p:nvSpPr>
          <p:spPr bwMode="auto">
            <a:xfrm>
              <a:off x="3354" y="1538"/>
              <a:ext cx="96" cy="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6649" name="Line 25"/>
            <p:cNvSpPr>
              <a:spLocks noChangeShapeType="1"/>
            </p:cNvSpPr>
            <p:nvPr/>
          </p:nvSpPr>
          <p:spPr bwMode="auto">
            <a:xfrm flipV="1">
              <a:off x="3354" y="1586"/>
              <a:ext cx="96" cy="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aphicFrame>
        <p:nvGraphicFramePr>
          <p:cNvPr id="250908" name="Object 28"/>
          <p:cNvGraphicFramePr>
            <a:graphicFrameLocks noChangeAspect="1"/>
          </p:cNvGraphicFramePr>
          <p:nvPr>
            <p:extLst>
              <p:ext uri="{D42A27DB-BD31-4B8C-83A1-F6EECF244321}">
                <p14:modId xmlns:p14="http://schemas.microsoft.com/office/powerpoint/2010/main" val="2448865236"/>
              </p:ext>
            </p:extLst>
          </p:nvPr>
        </p:nvGraphicFramePr>
        <p:xfrm>
          <a:off x="1871663" y="2843213"/>
          <a:ext cx="1447800" cy="762000"/>
        </p:xfrm>
        <a:graphic>
          <a:graphicData uri="http://schemas.openxmlformats.org/presentationml/2006/ole">
            <mc:AlternateContent xmlns:mc="http://schemas.openxmlformats.org/markup-compatibility/2006">
              <mc:Choice xmlns:v="urn:schemas-microsoft-com:vml" Requires="v">
                <p:oleObj spid="_x0000_s26783" name="Equation" r:id="rId5" imgW="431613" imgH="393529" progId="Equation.3">
                  <p:embed/>
                </p:oleObj>
              </mc:Choice>
              <mc:Fallback>
                <p:oleObj name="Equation" r:id="rId5" imgW="431613" imgH="393529" progId="Equation.3">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1663" y="2843213"/>
                        <a:ext cx="144780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0909" name="Rectangle 29"/>
          <p:cNvSpPr>
            <a:spLocks noChangeArrowheads="1"/>
          </p:cNvSpPr>
          <p:nvPr/>
        </p:nvSpPr>
        <p:spPr bwMode="auto">
          <a:xfrm>
            <a:off x="876833" y="3658688"/>
            <a:ext cx="7330008" cy="937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accent1"/>
              </a:buClr>
              <a:buSzPct val="65000"/>
              <a:buNone/>
            </a:pP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     当电容两极板之间的电压发生变化时就会产生</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感应电流（电压与电流取关联参考</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方向）</a:t>
            </a:r>
            <a:endParaRPr lang="zh-CN" altLang="en-US" sz="2400" b="1" dirty="0">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250910" name="Object 30"/>
          <p:cNvGraphicFramePr>
            <a:graphicFrameLocks noChangeAspect="1"/>
          </p:cNvGraphicFramePr>
          <p:nvPr>
            <p:extLst>
              <p:ext uri="{D42A27DB-BD31-4B8C-83A1-F6EECF244321}">
                <p14:modId xmlns:p14="http://schemas.microsoft.com/office/powerpoint/2010/main" val="2137463027"/>
              </p:ext>
            </p:extLst>
          </p:nvPr>
        </p:nvGraphicFramePr>
        <p:xfrm>
          <a:off x="1916113" y="2259013"/>
          <a:ext cx="1576387" cy="392112"/>
        </p:xfrm>
        <a:graphic>
          <a:graphicData uri="http://schemas.openxmlformats.org/presentationml/2006/ole">
            <mc:AlternateContent xmlns:mc="http://schemas.openxmlformats.org/markup-compatibility/2006">
              <mc:Choice xmlns:v="urn:schemas-microsoft-com:vml" Requires="v">
                <p:oleObj spid="_x0000_s26784" name="Equation" r:id="rId7" imgW="469696" imgH="203112" progId="Equation.3">
                  <p:embed/>
                </p:oleObj>
              </mc:Choice>
              <mc:Fallback>
                <p:oleObj name="Equation" r:id="rId7" imgW="469696" imgH="203112" progId="Equation.3">
                  <p:embed/>
                  <p:pic>
                    <p:nvPicPr>
                      <p:cNvPr id="0" name="Object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6113" y="2259013"/>
                        <a:ext cx="1576387"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912" name="Object 32"/>
          <p:cNvGraphicFramePr>
            <a:graphicFrameLocks noChangeAspect="1"/>
          </p:cNvGraphicFramePr>
          <p:nvPr>
            <p:extLst>
              <p:ext uri="{D42A27DB-BD31-4B8C-83A1-F6EECF244321}">
                <p14:modId xmlns:p14="http://schemas.microsoft.com/office/powerpoint/2010/main" val="2999660675"/>
              </p:ext>
            </p:extLst>
          </p:nvPr>
        </p:nvGraphicFramePr>
        <p:xfrm>
          <a:off x="3762375" y="5499100"/>
          <a:ext cx="1558925" cy="876300"/>
        </p:xfrm>
        <a:graphic>
          <a:graphicData uri="http://schemas.openxmlformats.org/presentationml/2006/ole">
            <mc:AlternateContent xmlns:mc="http://schemas.openxmlformats.org/markup-compatibility/2006">
              <mc:Choice xmlns:v="urn:schemas-microsoft-com:vml" Requires="v">
                <p:oleObj spid="_x0000_s26785" name="Equation" r:id="rId9" imgW="466790" imgH="333450" progId="Equation.DSMT4">
                  <p:embed/>
                </p:oleObj>
              </mc:Choice>
              <mc:Fallback>
                <p:oleObj name="Equation" r:id="rId9" imgW="466790" imgH="333450" progId="Equation.DSMT4">
                  <p:embed/>
                  <p:pic>
                    <p:nvPicPr>
                      <p:cNvPr id="0" name="Object 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62375" y="5499100"/>
                        <a:ext cx="1558925" cy="876300"/>
                      </a:xfrm>
                      <a:prstGeom prst="rect">
                        <a:avLst/>
                      </a:prstGeom>
                      <a:solidFill>
                        <a:srgbClr val="CBC2E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0913" name="Rectangle 33"/>
          <p:cNvSpPr>
            <a:spLocks noChangeArrowheads="1"/>
          </p:cNvSpPr>
          <p:nvPr/>
        </p:nvSpPr>
        <p:spPr bwMode="auto">
          <a:xfrm>
            <a:off x="914400" y="5257800"/>
            <a:ext cx="4191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Clr>
                <a:schemeClr val="accent1"/>
              </a:buClr>
              <a:buSzPct val="65000"/>
              <a:buFont typeface="Wingdings" panose="05000000000000000000" pitchFamily="2" charset="2"/>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得到</a:t>
            </a:r>
          </a:p>
        </p:txBody>
      </p:sp>
      <p:sp>
        <p:nvSpPr>
          <p:cNvPr id="26" name="Rectangle 2"/>
          <p:cNvSpPr txBox="1">
            <a:spLocks noChangeArrowheads="1"/>
          </p:cNvSpPr>
          <p:nvPr/>
        </p:nvSpPr>
        <p:spPr bwMode="auto">
          <a:xfrm>
            <a:off x="438150" y="688975"/>
            <a:ext cx="7315200"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342900" indent="-342900" algn="l" eaLnBrk="1" hangingPunct="1">
              <a:spcBef>
                <a:spcPct val="20000"/>
              </a:spcBef>
              <a:defRPr/>
            </a:pPr>
            <a:r>
              <a:rPr lang="en-US" altLang="zh-CN" sz="3200" b="1"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1.3.2  </a:t>
            </a:r>
            <a:r>
              <a:rPr lang="zh-CN" altLang="en-US" sz="3200" b="1"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电容</a:t>
            </a:r>
            <a:endParaRPr lang="zh-CN" altLang="en-US" sz="32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1EB37889-8F7E-4958-A59C-C53B8E64853A}" type="slidenum">
              <a:rPr lang="en-US" altLang="zh-CN" smtClean="0"/>
              <a:pPr>
                <a:defRPr/>
              </a:pPr>
              <a:t>22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0914">
                                            <p:txEl>
                                              <p:pRg st="0" end="0"/>
                                            </p:txEl>
                                          </p:spTgt>
                                        </p:tgtEl>
                                        <p:attrNameLst>
                                          <p:attrName>style.visibility</p:attrName>
                                        </p:attrNameLst>
                                      </p:cBhvr>
                                      <p:to>
                                        <p:strVal val="visible"/>
                                      </p:to>
                                    </p:set>
                                    <p:anim calcmode="lin" valueType="num">
                                      <p:cBhvr additive="base">
                                        <p:cTn id="7" dur="500" fill="hold"/>
                                        <p:tgtEl>
                                          <p:spTgt spid="2509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09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50910"/>
                                        </p:tgtEl>
                                        <p:attrNameLst>
                                          <p:attrName>style.visibility</p:attrName>
                                        </p:attrNameLst>
                                      </p:cBhvr>
                                      <p:to>
                                        <p:strVal val="visible"/>
                                      </p:to>
                                    </p:set>
                                    <p:anim calcmode="lin" valueType="num">
                                      <p:cBhvr additive="base">
                                        <p:cTn id="13" dur="500" fill="hold"/>
                                        <p:tgtEl>
                                          <p:spTgt spid="250910"/>
                                        </p:tgtEl>
                                        <p:attrNameLst>
                                          <p:attrName>ppt_x</p:attrName>
                                        </p:attrNameLst>
                                      </p:cBhvr>
                                      <p:tavLst>
                                        <p:tav tm="0">
                                          <p:val>
                                            <p:strVal val="0-#ppt_w/2"/>
                                          </p:val>
                                        </p:tav>
                                        <p:tav tm="100000">
                                          <p:val>
                                            <p:strVal val="#ppt_x"/>
                                          </p:val>
                                        </p:tav>
                                      </p:tavLst>
                                    </p:anim>
                                    <p:anim calcmode="lin" valueType="num">
                                      <p:cBhvr additive="base">
                                        <p:cTn id="14" dur="500" fill="hold"/>
                                        <p:tgtEl>
                                          <p:spTgt spid="25091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50908"/>
                                        </p:tgtEl>
                                        <p:attrNameLst>
                                          <p:attrName>style.visibility</p:attrName>
                                        </p:attrNameLst>
                                      </p:cBhvr>
                                      <p:to>
                                        <p:strVal val="visible"/>
                                      </p:to>
                                    </p:set>
                                    <p:anim calcmode="lin" valueType="num">
                                      <p:cBhvr additive="base">
                                        <p:cTn id="19" dur="500" fill="hold"/>
                                        <p:tgtEl>
                                          <p:spTgt spid="250908"/>
                                        </p:tgtEl>
                                        <p:attrNameLst>
                                          <p:attrName>ppt_x</p:attrName>
                                        </p:attrNameLst>
                                      </p:cBhvr>
                                      <p:tavLst>
                                        <p:tav tm="0">
                                          <p:val>
                                            <p:strVal val="0-#ppt_w/2"/>
                                          </p:val>
                                        </p:tav>
                                        <p:tav tm="100000">
                                          <p:val>
                                            <p:strVal val="#ppt_x"/>
                                          </p:val>
                                        </p:tav>
                                      </p:tavLst>
                                    </p:anim>
                                    <p:anim calcmode="lin" valueType="num">
                                      <p:cBhvr additive="base">
                                        <p:cTn id="20" dur="500" fill="hold"/>
                                        <p:tgtEl>
                                          <p:spTgt spid="25090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50909"/>
                                        </p:tgtEl>
                                        <p:attrNameLst>
                                          <p:attrName>style.visibility</p:attrName>
                                        </p:attrNameLst>
                                      </p:cBhvr>
                                      <p:to>
                                        <p:strVal val="visible"/>
                                      </p:to>
                                    </p:set>
                                    <p:anim calcmode="lin" valueType="num">
                                      <p:cBhvr additive="base">
                                        <p:cTn id="25" dur="500" fill="hold"/>
                                        <p:tgtEl>
                                          <p:spTgt spid="250909"/>
                                        </p:tgtEl>
                                        <p:attrNameLst>
                                          <p:attrName>ppt_x</p:attrName>
                                        </p:attrNameLst>
                                      </p:cBhvr>
                                      <p:tavLst>
                                        <p:tav tm="0">
                                          <p:val>
                                            <p:strVal val="#ppt_x"/>
                                          </p:val>
                                        </p:tav>
                                        <p:tav tm="100000">
                                          <p:val>
                                            <p:strVal val="#ppt_x"/>
                                          </p:val>
                                        </p:tav>
                                      </p:tavLst>
                                    </p:anim>
                                    <p:anim calcmode="lin" valueType="num">
                                      <p:cBhvr additive="base">
                                        <p:cTn id="26" dur="500" fill="hold"/>
                                        <p:tgtEl>
                                          <p:spTgt spid="250909"/>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50889"/>
                                        </p:tgtEl>
                                        <p:attrNameLst>
                                          <p:attrName>style.visibility</p:attrName>
                                        </p:attrNameLst>
                                      </p:cBhvr>
                                      <p:to>
                                        <p:strVal val="visible"/>
                                      </p:to>
                                    </p:set>
                                    <p:anim calcmode="lin" valueType="num">
                                      <p:cBhvr additive="base">
                                        <p:cTn id="31" dur="500" fill="hold"/>
                                        <p:tgtEl>
                                          <p:spTgt spid="250889"/>
                                        </p:tgtEl>
                                        <p:attrNameLst>
                                          <p:attrName>ppt_x</p:attrName>
                                        </p:attrNameLst>
                                      </p:cBhvr>
                                      <p:tavLst>
                                        <p:tav tm="0">
                                          <p:val>
                                            <p:strVal val="0-#ppt_w/2"/>
                                          </p:val>
                                        </p:tav>
                                        <p:tav tm="100000">
                                          <p:val>
                                            <p:strVal val="#ppt_x"/>
                                          </p:val>
                                        </p:tav>
                                      </p:tavLst>
                                    </p:anim>
                                    <p:anim calcmode="lin" valueType="num">
                                      <p:cBhvr additive="base">
                                        <p:cTn id="32" dur="500" fill="hold"/>
                                        <p:tgtEl>
                                          <p:spTgt spid="250889"/>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50912"/>
                                        </p:tgtEl>
                                        <p:attrNameLst>
                                          <p:attrName>style.visibility</p:attrName>
                                        </p:attrNameLst>
                                      </p:cBhvr>
                                      <p:to>
                                        <p:strVal val="visible"/>
                                      </p:to>
                                    </p:set>
                                    <p:anim calcmode="lin" valueType="num">
                                      <p:cBhvr additive="base">
                                        <p:cTn id="37" dur="500" fill="hold"/>
                                        <p:tgtEl>
                                          <p:spTgt spid="250912"/>
                                        </p:tgtEl>
                                        <p:attrNameLst>
                                          <p:attrName>ppt_x</p:attrName>
                                        </p:attrNameLst>
                                      </p:cBhvr>
                                      <p:tavLst>
                                        <p:tav tm="0">
                                          <p:val>
                                            <p:strVal val="#ppt_x"/>
                                          </p:val>
                                        </p:tav>
                                        <p:tav tm="100000">
                                          <p:val>
                                            <p:strVal val="#ppt_x"/>
                                          </p:val>
                                        </p:tav>
                                      </p:tavLst>
                                    </p:anim>
                                    <p:anim calcmode="lin" valueType="num">
                                      <p:cBhvr additive="base">
                                        <p:cTn id="38" dur="500" fill="hold"/>
                                        <p:tgtEl>
                                          <p:spTgt spid="250912"/>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50913"/>
                                        </p:tgtEl>
                                        <p:attrNameLst>
                                          <p:attrName>style.visibility</p:attrName>
                                        </p:attrNameLst>
                                      </p:cBhvr>
                                      <p:to>
                                        <p:strVal val="visible"/>
                                      </p:to>
                                    </p:set>
                                    <p:anim calcmode="lin" valueType="num">
                                      <p:cBhvr additive="base">
                                        <p:cTn id="41" dur="500" fill="hold"/>
                                        <p:tgtEl>
                                          <p:spTgt spid="250913"/>
                                        </p:tgtEl>
                                        <p:attrNameLst>
                                          <p:attrName>ppt_x</p:attrName>
                                        </p:attrNameLst>
                                      </p:cBhvr>
                                      <p:tavLst>
                                        <p:tav tm="0">
                                          <p:val>
                                            <p:strVal val="#ppt_x"/>
                                          </p:val>
                                        </p:tav>
                                        <p:tav tm="100000">
                                          <p:val>
                                            <p:strVal val="#ppt_x"/>
                                          </p:val>
                                        </p:tav>
                                      </p:tavLst>
                                    </p:anim>
                                    <p:anim calcmode="lin" valueType="num">
                                      <p:cBhvr additive="base">
                                        <p:cTn id="42" dur="500" fill="hold"/>
                                        <p:tgtEl>
                                          <p:spTgt spid="2509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914"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53955" name="Object 3"/>
          <p:cNvGraphicFramePr>
            <a:graphicFrameLocks noGrp="1" noChangeAspect="1"/>
          </p:cNvGraphicFramePr>
          <p:nvPr>
            <p:ph type="body" idx="4294967295"/>
            <p:extLst>
              <p:ext uri="{D42A27DB-BD31-4B8C-83A1-F6EECF244321}">
                <p14:modId xmlns:p14="http://schemas.microsoft.com/office/powerpoint/2010/main" val="2773590842"/>
              </p:ext>
            </p:extLst>
          </p:nvPr>
        </p:nvGraphicFramePr>
        <p:xfrm>
          <a:off x="2638425" y="5319713"/>
          <a:ext cx="4094163" cy="922337"/>
        </p:xfrm>
        <a:graphic>
          <a:graphicData uri="http://schemas.openxmlformats.org/presentationml/2006/ole">
            <mc:AlternateContent xmlns:mc="http://schemas.openxmlformats.org/markup-compatibility/2006">
              <mc:Choice xmlns:v="urn:schemas-microsoft-com:vml" Requires="v">
                <p:oleObj spid="_x0000_s27811" name="Equation" r:id="rId3" imgW="1726451" imgH="355446" progId="Equation.DSMT4">
                  <p:embed/>
                </p:oleObj>
              </mc:Choice>
              <mc:Fallback>
                <p:oleObj name="Equation" r:id="rId3" imgW="1726451" imgH="355446"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8425" y="5319713"/>
                        <a:ext cx="4094163" cy="922337"/>
                      </a:xfrm>
                      <a:prstGeom prst="rect">
                        <a:avLst/>
                      </a:prstGeom>
                      <a:solidFill>
                        <a:srgbClr val="CBC2E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56" name="Object 4"/>
          <p:cNvGraphicFramePr>
            <a:graphicFrameLocks noChangeAspect="1"/>
          </p:cNvGraphicFramePr>
          <p:nvPr>
            <p:extLst>
              <p:ext uri="{D42A27DB-BD31-4B8C-83A1-F6EECF244321}">
                <p14:modId xmlns:p14="http://schemas.microsoft.com/office/powerpoint/2010/main" val="3113617168"/>
              </p:ext>
            </p:extLst>
          </p:nvPr>
        </p:nvGraphicFramePr>
        <p:xfrm>
          <a:off x="1928813" y="908050"/>
          <a:ext cx="5267325" cy="917575"/>
        </p:xfrm>
        <a:graphic>
          <a:graphicData uri="http://schemas.openxmlformats.org/presentationml/2006/ole">
            <mc:AlternateContent xmlns:mc="http://schemas.openxmlformats.org/markup-compatibility/2006">
              <mc:Choice xmlns:v="urn:schemas-microsoft-com:vml" Requires="v">
                <p:oleObj spid="_x0000_s27812" name="Equation" r:id="rId5" imgW="1968500" imgH="355600" progId="Equation.DSMT4">
                  <p:embed/>
                </p:oleObj>
              </mc:Choice>
              <mc:Fallback>
                <p:oleObj name="Equation" r:id="rId5" imgW="1968500" imgH="3556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8813" y="908050"/>
                        <a:ext cx="5267325" cy="91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58" name="Object 6"/>
          <p:cNvGraphicFramePr>
            <a:graphicFrameLocks noChangeAspect="1"/>
          </p:cNvGraphicFramePr>
          <p:nvPr>
            <p:extLst>
              <p:ext uri="{D42A27DB-BD31-4B8C-83A1-F6EECF244321}">
                <p14:modId xmlns:p14="http://schemas.microsoft.com/office/powerpoint/2010/main" val="156240614"/>
              </p:ext>
            </p:extLst>
          </p:nvPr>
        </p:nvGraphicFramePr>
        <p:xfrm>
          <a:off x="2384425" y="3829050"/>
          <a:ext cx="4137025" cy="769938"/>
        </p:xfrm>
        <a:graphic>
          <a:graphicData uri="http://schemas.openxmlformats.org/presentationml/2006/ole">
            <mc:AlternateContent xmlns:mc="http://schemas.openxmlformats.org/markup-compatibility/2006">
              <mc:Choice xmlns:v="urn:schemas-microsoft-com:vml" Requires="v">
                <p:oleObj spid="_x0000_s27813" name="Equation" r:id="rId7" imgW="1180588" imgH="291973" progId="Equation.DSMT4">
                  <p:embed/>
                </p:oleObj>
              </mc:Choice>
              <mc:Fallback>
                <p:oleObj name="Equation" r:id="rId7" imgW="1180588" imgH="291973"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4425" y="3829050"/>
                        <a:ext cx="4137025" cy="769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3" name="Rectangle 27"/>
          <p:cNvSpPr>
            <a:spLocks noChangeArrowheads="1"/>
          </p:cNvSpPr>
          <p:nvPr/>
        </p:nvSpPr>
        <p:spPr bwMode="auto">
          <a:xfrm>
            <a:off x="914400" y="3200400"/>
            <a:ext cx="388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电容元件存储的电荷量为</a:t>
            </a:r>
          </a:p>
        </p:txBody>
      </p:sp>
      <p:sp>
        <p:nvSpPr>
          <p:cNvPr id="27654" name="Rectangle 28"/>
          <p:cNvSpPr>
            <a:spLocks noChangeArrowheads="1"/>
          </p:cNvSpPr>
          <p:nvPr/>
        </p:nvSpPr>
        <p:spPr bwMode="auto">
          <a:xfrm>
            <a:off x="679947" y="4725144"/>
            <a:ext cx="74020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结合上面</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公式</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和            ，电容</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元件的</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电压可表示为</a:t>
            </a:r>
            <a:endParaRPr lang="zh-CN" altLang="en-US" sz="2400" b="1"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7655" name="Text Box 30"/>
          <p:cNvSpPr txBox="1">
            <a:spLocks noChangeArrowheads="1"/>
          </p:cNvSpPr>
          <p:nvPr/>
        </p:nvSpPr>
        <p:spPr bwMode="auto">
          <a:xfrm>
            <a:off x="838200" y="457200"/>
            <a:ext cx="7243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电容元件充电时，在</a:t>
            </a:r>
            <a:r>
              <a:rPr lang="en-US" altLang="zh-CN" sz="2400" b="1" dirty="0" err="1">
                <a:latin typeface="Times New Roman" panose="02020603050405020304" pitchFamily="18" charset="0"/>
                <a:ea typeface="华文中宋" panose="02010600040101010101" pitchFamily="2" charset="-122"/>
                <a:cs typeface="Times New Roman" panose="02020603050405020304" pitchFamily="18" charset="0"/>
              </a:rPr>
              <a:t>dt</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时间内电容元件存储的能量为</a:t>
            </a:r>
          </a:p>
        </p:txBody>
      </p:sp>
      <p:graphicFrame>
        <p:nvGraphicFramePr>
          <p:cNvPr id="253986" name="Object 34"/>
          <p:cNvGraphicFramePr>
            <a:graphicFrameLocks noGrp="1" noChangeAspect="1"/>
          </p:cNvGraphicFramePr>
          <p:nvPr>
            <p:ph sz="half" idx="2"/>
            <p:extLst>
              <p:ext uri="{D42A27DB-BD31-4B8C-83A1-F6EECF244321}">
                <p14:modId xmlns:p14="http://schemas.microsoft.com/office/powerpoint/2010/main" val="3905202215"/>
              </p:ext>
            </p:extLst>
          </p:nvPr>
        </p:nvGraphicFramePr>
        <p:xfrm>
          <a:off x="2892425" y="2303463"/>
          <a:ext cx="3086100" cy="900112"/>
        </p:xfrm>
        <a:graphic>
          <a:graphicData uri="http://schemas.openxmlformats.org/presentationml/2006/ole">
            <mc:AlternateContent xmlns:mc="http://schemas.openxmlformats.org/markup-compatibility/2006">
              <mc:Choice xmlns:v="urn:schemas-microsoft-com:vml" Requires="v">
                <p:oleObj spid="_x0000_s27814" name="Equation" r:id="rId9" imgW="1218671" imgH="355446" progId="Equation.DSMT4">
                  <p:embed/>
                </p:oleObj>
              </mc:Choice>
              <mc:Fallback>
                <p:oleObj name="Equation" r:id="rId9" imgW="1218671" imgH="355446" progId="Equation.DSMT4">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92425" y="2303463"/>
                        <a:ext cx="3086100" cy="90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7" name="Text Box 38"/>
          <p:cNvSpPr txBox="1">
            <a:spLocks noChangeArrowheads="1"/>
          </p:cNvSpPr>
          <p:nvPr/>
        </p:nvSpPr>
        <p:spPr bwMode="auto">
          <a:xfrm>
            <a:off x="856894" y="1849438"/>
            <a:ext cx="7243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电容电压由零增大到</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u,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所获得的能量</a:t>
            </a:r>
          </a:p>
        </p:txBody>
      </p:sp>
      <p:graphicFrame>
        <p:nvGraphicFramePr>
          <p:cNvPr id="12" name="Object 30"/>
          <p:cNvGraphicFramePr>
            <a:graphicFrameLocks noChangeAspect="1"/>
          </p:cNvGraphicFramePr>
          <p:nvPr>
            <p:extLst>
              <p:ext uri="{D42A27DB-BD31-4B8C-83A1-F6EECF244321}">
                <p14:modId xmlns:p14="http://schemas.microsoft.com/office/powerpoint/2010/main" val="1463173824"/>
              </p:ext>
            </p:extLst>
          </p:nvPr>
        </p:nvGraphicFramePr>
        <p:xfrm>
          <a:off x="2915816" y="4781004"/>
          <a:ext cx="1171753" cy="349944"/>
        </p:xfrm>
        <a:graphic>
          <a:graphicData uri="http://schemas.openxmlformats.org/presentationml/2006/ole">
            <mc:AlternateContent xmlns:mc="http://schemas.openxmlformats.org/markup-compatibility/2006">
              <mc:Choice xmlns:v="urn:schemas-microsoft-com:vml" Requires="v">
                <p:oleObj spid="_x0000_s27815" name="Equation" r:id="rId11" imgW="469696" imgH="203112" progId="Equation.3">
                  <p:embed/>
                </p:oleObj>
              </mc:Choice>
              <mc:Fallback>
                <p:oleObj name="Equation" r:id="rId11" imgW="469696" imgH="203112"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15816" y="4781004"/>
                        <a:ext cx="1171753" cy="349944"/>
                      </a:xfrm>
                      <a:prstGeom prst="rect">
                        <a:avLst/>
                      </a:prstGeom>
                      <a:noFill/>
                      <a:ln>
                        <a:noFill/>
                      </a:ln>
                      <a:effectLst/>
                      <a:extLst/>
                    </p:spPr>
                  </p:pic>
                </p:oleObj>
              </mc:Fallback>
            </mc:AlternateContent>
          </a:graphicData>
        </a:graphic>
      </p:graphicFrame>
      <p:sp>
        <p:nvSpPr>
          <p:cNvPr id="2" name="灯片编号占位符 1"/>
          <p:cNvSpPr>
            <a:spLocks noGrp="1"/>
          </p:cNvSpPr>
          <p:nvPr>
            <p:ph type="sldNum" sz="quarter" idx="12"/>
          </p:nvPr>
        </p:nvSpPr>
        <p:spPr/>
        <p:txBody>
          <a:bodyPr/>
          <a:lstStyle/>
          <a:p>
            <a:pPr>
              <a:defRPr/>
            </a:pPr>
            <a:fld id="{96CD904D-DCB6-4AC4-B959-E7608D4C7593}" type="slidenum">
              <a:rPr lang="en-US" altLang="zh-CN" smtClean="0"/>
              <a:pPr>
                <a:defRPr/>
              </a:pPr>
              <a:t>23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53956"/>
                                        </p:tgtEl>
                                        <p:attrNameLst>
                                          <p:attrName>style.visibility</p:attrName>
                                        </p:attrNameLst>
                                      </p:cBhvr>
                                      <p:to>
                                        <p:strVal val="visible"/>
                                      </p:to>
                                    </p:set>
                                    <p:anim calcmode="lin" valueType="num">
                                      <p:cBhvr additive="base">
                                        <p:cTn id="7" dur="500" fill="hold"/>
                                        <p:tgtEl>
                                          <p:spTgt spid="253956"/>
                                        </p:tgtEl>
                                        <p:attrNameLst>
                                          <p:attrName>ppt_x</p:attrName>
                                        </p:attrNameLst>
                                      </p:cBhvr>
                                      <p:tavLst>
                                        <p:tav tm="0">
                                          <p:val>
                                            <p:strVal val="0-#ppt_w/2"/>
                                          </p:val>
                                        </p:tav>
                                        <p:tav tm="100000">
                                          <p:val>
                                            <p:strVal val="#ppt_x"/>
                                          </p:val>
                                        </p:tav>
                                      </p:tavLst>
                                    </p:anim>
                                    <p:anim calcmode="lin" valueType="num">
                                      <p:cBhvr additive="base">
                                        <p:cTn id="8" dur="500" fill="hold"/>
                                        <p:tgtEl>
                                          <p:spTgt spid="25395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253986"/>
                                        </p:tgtEl>
                                        <p:attrNameLst>
                                          <p:attrName>style.visibility</p:attrName>
                                        </p:attrNameLst>
                                      </p:cBhvr>
                                      <p:to>
                                        <p:strVal val="visible"/>
                                      </p:to>
                                    </p:set>
                                    <p:animEffect transition="in" filter="blinds(horizontal)">
                                      <p:cBhvr>
                                        <p:cTn id="13" dur="500"/>
                                        <p:tgtEl>
                                          <p:spTgt spid="25398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253958"/>
                                        </p:tgtEl>
                                        <p:attrNameLst>
                                          <p:attrName>style.visibility</p:attrName>
                                        </p:attrNameLst>
                                      </p:cBhvr>
                                      <p:to>
                                        <p:strVal val="visible"/>
                                      </p:to>
                                    </p:set>
                                    <p:anim calcmode="lin" valueType="num">
                                      <p:cBhvr additive="base">
                                        <p:cTn id="18" dur="500" fill="hold"/>
                                        <p:tgtEl>
                                          <p:spTgt spid="253958"/>
                                        </p:tgtEl>
                                        <p:attrNameLst>
                                          <p:attrName>ppt_x</p:attrName>
                                        </p:attrNameLst>
                                      </p:cBhvr>
                                      <p:tavLst>
                                        <p:tav tm="0">
                                          <p:val>
                                            <p:strVal val="0-#ppt_w/2"/>
                                          </p:val>
                                        </p:tav>
                                        <p:tav tm="100000">
                                          <p:val>
                                            <p:strVal val="#ppt_x"/>
                                          </p:val>
                                        </p:tav>
                                      </p:tavLst>
                                    </p:anim>
                                    <p:anim calcmode="lin" valueType="num">
                                      <p:cBhvr additive="base">
                                        <p:cTn id="19" dur="500" fill="hold"/>
                                        <p:tgtEl>
                                          <p:spTgt spid="253958"/>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253955"/>
                                        </p:tgtEl>
                                        <p:attrNameLst>
                                          <p:attrName>style.visibility</p:attrName>
                                        </p:attrNameLst>
                                      </p:cBhvr>
                                      <p:to>
                                        <p:strVal val="visible"/>
                                      </p:to>
                                    </p:set>
                                    <p:anim calcmode="lin" valueType="num">
                                      <p:cBhvr additive="base">
                                        <p:cTn id="24" dur="500" fill="hold"/>
                                        <p:tgtEl>
                                          <p:spTgt spid="253955"/>
                                        </p:tgtEl>
                                        <p:attrNameLst>
                                          <p:attrName>ppt_x</p:attrName>
                                        </p:attrNameLst>
                                      </p:cBhvr>
                                      <p:tavLst>
                                        <p:tav tm="0">
                                          <p:val>
                                            <p:strVal val="0-#ppt_w/2"/>
                                          </p:val>
                                        </p:tav>
                                        <p:tav tm="100000">
                                          <p:val>
                                            <p:strVal val="#ppt_x"/>
                                          </p:val>
                                        </p:tav>
                                      </p:tavLst>
                                    </p:anim>
                                    <p:anim calcmode="lin" valueType="num">
                                      <p:cBhvr additive="base">
                                        <p:cTn id="25" dur="500" fill="hold"/>
                                        <p:tgtEl>
                                          <p:spTgt spid="2539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ChangeArrowheads="1"/>
          </p:cNvSpPr>
          <p:nvPr/>
        </p:nvSpPr>
        <p:spPr bwMode="auto">
          <a:xfrm>
            <a:off x="838199" y="1409462"/>
            <a:ext cx="5957889" cy="1685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None/>
            </a:pP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     线圈中导线有电流通过时，产生磁通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若线圈的匝数为</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N</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，则穿过线圈各匝的磁通的代数和</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为                ，    称为线圈的磁通链， 在此规则下，磁通链与电流的比值即</a:t>
            </a:r>
            <a:endParaRPr lang="zh-CN" altLang="en-US" sz="2400" b="1" dirty="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8675" name="Group 4"/>
          <p:cNvGrpSpPr>
            <a:grpSpLocks/>
          </p:cNvGrpSpPr>
          <p:nvPr/>
        </p:nvGrpSpPr>
        <p:grpSpPr bwMode="auto">
          <a:xfrm>
            <a:off x="7534919" y="3581400"/>
            <a:ext cx="522288" cy="441325"/>
            <a:chOff x="4368" y="672"/>
            <a:chExt cx="284" cy="240"/>
          </a:xfrm>
        </p:grpSpPr>
        <p:graphicFrame>
          <p:nvGraphicFramePr>
            <p:cNvPr id="28728" name="Object 5"/>
            <p:cNvGraphicFramePr>
              <a:graphicFrameLocks noChangeAspect="1"/>
            </p:cNvGraphicFramePr>
            <p:nvPr/>
          </p:nvGraphicFramePr>
          <p:xfrm>
            <a:off x="4416" y="672"/>
            <a:ext cx="132" cy="240"/>
          </p:xfrm>
          <a:graphic>
            <a:graphicData uri="http://schemas.openxmlformats.org/presentationml/2006/ole">
              <mc:AlternateContent xmlns:mc="http://schemas.openxmlformats.org/markup-compatibility/2006">
                <mc:Choice xmlns:v="urn:schemas-microsoft-com:vml" Requires="v">
                  <p:oleObj spid="_x0000_s29011" name="Equation" r:id="rId4" imgW="85632" imgH="162000" progId="Equation.3">
                    <p:embed/>
                  </p:oleObj>
                </mc:Choice>
                <mc:Fallback>
                  <p:oleObj name="Equation" r:id="rId4" imgW="85632" imgH="1620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6" y="672"/>
                          <a:ext cx="13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29" name="Line 6"/>
            <p:cNvSpPr>
              <a:spLocks noChangeShapeType="1"/>
            </p:cNvSpPr>
            <p:nvPr/>
          </p:nvSpPr>
          <p:spPr bwMode="auto">
            <a:xfrm>
              <a:off x="4368" y="912"/>
              <a:ext cx="284"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aphicFrame>
        <p:nvGraphicFramePr>
          <p:cNvPr id="28676" name="Object 7"/>
          <p:cNvGraphicFramePr>
            <a:graphicFrameLocks noChangeAspect="1"/>
          </p:cNvGraphicFramePr>
          <p:nvPr>
            <p:extLst>
              <p:ext uri="{D42A27DB-BD31-4B8C-83A1-F6EECF244321}">
                <p14:modId xmlns:p14="http://schemas.microsoft.com/office/powerpoint/2010/main" val="1173826902"/>
              </p:ext>
            </p:extLst>
          </p:nvPr>
        </p:nvGraphicFramePr>
        <p:xfrm>
          <a:off x="7195194" y="4800600"/>
          <a:ext cx="211138" cy="236538"/>
        </p:xfrm>
        <a:graphic>
          <a:graphicData uri="http://schemas.openxmlformats.org/presentationml/2006/ole">
            <mc:AlternateContent xmlns:mc="http://schemas.openxmlformats.org/markup-compatibility/2006">
              <mc:Choice xmlns:v="urn:schemas-microsoft-com:vml" Requires="v">
                <p:oleObj spid="_x0000_s29012" name="Equation" r:id="rId6" imgW="104812" imgH="123930" progId="Equation.3">
                  <p:embed/>
                </p:oleObj>
              </mc:Choice>
              <mc:Fallback>
                <p:oleObj name="Equation" r:id="rId6" imgW="104812" imgH="12393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95194" y="4800600"/>
                        <a:ext cx="211138" cy="236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7" name="Text Box 8"/>
          <p:cNvSpPr txBox="1">
            <a:spLocks noChangeArrowheads="1"/>
          </p:cNvSpPr>
          <p:nvPr/>
        </p:nvSpPr>
        <p:spPr bwMode="auto">
          <a:xfrm>
            <a:off x="7116102" y="4058772"/>
            <a:ext cx="40107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28678" name="Text Box 9"/>
          <p:cNvSpPr txBox="1">
            <a:spLocks noChangeArrowheads="1"/>
          </p:cNvSpPr>
          <p:nvPr/>
        </p:nvSpPr>
        <p:spPr bwMode="auto">
          <a:xfrm>
            <a:off x="7118871" y="5209888"/>
            <a:ext cx="3209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b="1">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28679" name="Group 10"/>
          <p:cNvGrpSpPr>
            <a:grpSpLocks/>
          </p:cNvGrpSpPr>
          <p:nvPr/>
        </p:nvGrpSpPr>
        <p:grpSpPr bwMode="auto">
          <a:xfrm>
            <a:off x="8314382" y="4152900"/>
            <a:ext cx="146050" cy="1589088"/>
            <a:chOff x="4127" y="671"/>
            <a:chExt cx="68" cy="918"/>
          </a:xfrm>
        </p:grpSpPr>
        <p:sp>
          <p:nvSpPr>
            <p:cNvPr id="28722" name="Freeform 11"/>
            <p:cNvSpPr>
              <a:spLocks/>
            </p:cNvSpPr>
            <p:nvPr/>
          </p:nvSpPr>
          <p:spPr bwMode="auto">
            <a:xfrm>
              <a:off x="4127" y="1006"/>
              <a:ext cx="68" cy="120"/>
            </a:xfrm>
            <a:custGeom>
              <a:avLst/>
              <a:gdLst>
                <a:gd name="T0" fmla="*/ 0 w 140"/>
                <a:gd name="T1" fmla="*/ 0 h 198"/>
                <a:gd name="T2" fmla="*/ 28 w 140"/>
                <a:gd name="T3" fmla="*/ 22 h 198"/>
                <a:gd name="T4" fmla="*/ 28 w 140"/>
                <a:gd name="T5" fmla="*/ 53 h 198"/>
                <a:gd name="T6" fmla="*/ 0 w 140"/>
                <a:gd name="T7" fmla="*/ 73 h 1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23" name="Freeform 12"/>
            <p:cNvSpPr>
              <a:spLocks/>
            </p:cNvSpPr>
            <p:nvPr/>
          </p:nvSpPr>
          <p:spPr bwMode="auto">
            <a:xfrm>
              <a:off x="4127" y="1126"/>
              <a:ext cx="68" cy="120"/>
            </a:xfrm>
            <a:custGeom>
              <a:avLst/>
              <a:gdLst>
                <a:gd name="T0" fmla="*/ 0 w 140"/>
                <a:gd name="T1" fmla="*/ 0 h 198"/>
                <a:gd name="T2" fmla="*/ 28 w 140"/>
                <a:gd name="T3" fmla="*/ 22 h 198"/>
                <a:gd name="T4" fmla="*/ 28 w 140"/>
                <a:gd name="T5" fmla="*/ 53 h 198"/>
                <a:gd name="T6" fmla="*/ 0 w 140"/>
                <a:gd name="T7" fmla="*/ 73 h 1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24" name="Freeform 13"/>
            <p:cNvSpPr>
              <a:spLocks/>
            </p:cNvSpPr>
            <p:nvPr/>
          </p:nvSpPr>
          <p:spPr bwMode="auto">
            <a:xfrm>
              <a:off x="4127" y="1246"/>
              <a:ext cx="68" cy="120"/>
            </a:xfrm>
            <a:custGeom>
              <a:avLst/>
              <a:gdLst>
                <a:gd name="T0" fmla="*/ 0 w 140"/>
                <a:gd name="T1" fmla="*/ 0 h 198"/>
                <a:gd name="T2" fmla="*/ 28 w 140"/>
                <a:gd name="T3" fmla="*/ 22 h 198"/>
                <a:gd name="T4" fmla="*/ 28 w 140"/>
                <a:gd name="T5" fmla="*/ 53 h 198"/>
                <a:gd name="T6" fmla="*/ 0 w 140"/>
                <a:gd name="T7" fmla="*/ 73 h 1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25" name="Line 14"/>
            <p:cNvSpPr>
              <a:spLocks noChangeShapeType="1"/>
            </p:cNvSpPr>
            <p:nvPr/>
          </p:nvSpPr>
          <p:spPr bwMode="auto">
            <a:xfrm>
              <a:off x="4132" y="1361"/>
              <a:ext cx="0" cy="2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26" name="Line 15"/>
            <p:cNvSpPr>
              <a:spLocks noChangeShapeType="1"/>
            </p:cNvSpPr>
            <p:nvPr/>
          </p:nvSpPr>
          <p:spPr bwMode="auto">
            <a:xfrm>
              <a:off x="4132" y="671"/>
              <a:ext cx="0" cy="2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27" name="Freeform 16"/>
            <p:cNvSpPr>
              <a:spLocks/>
            </p:cNvSpPr>
            <p:nvPr/>
          </p:nvSpPr>
          <p:spPr bwMode="auto">
            <a:xfrm>
              <a:off x="4127" y="892"/>
              <a:ext cx="68" cy="120"/>
            </a:xfrm>
            <a:custGeom>
              <a:avLst/>
              <a:gdLst>
                <a:gd name="T0" fmla="*/ 0 w 140"/>
                <a:gd name="T1" fmla="*/ 0 h 198"/>
                <a:gd name="T2" fmla="*/ 28 w 140"/>
                <a:gd name="T3" fmla="*/ 22 h 198"/>
                <a:gd name="T4" fmla="*/ 28 w 140"/>
                <a:gd name="T5" fmla="*/ 53 h 198"/>
                <a:gd name="T6" fmla="*/ 0 w 140"/>
                <a:gd name="T7" fmla="*/ 73 h 1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8680" name="Line 17"/>
          <p:cNvSpPr>
            <a:spLocks noChangeShapeType="1"/>
          </p:cNvSpPr>
          <p:nvPr/>
        </p:nvSpPr>
        <p:spPr bwMode="auto">
          <a:xfrm>
            <a:off x="7374582" y="4152900"/>
            <a:ext cx="939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681" name="Line 18"/>
          <p:cNvSpPr>
            <a:spLocks noChangeShapeType="1"/>
          </p:cNvSpPr>
          <p:nvPr/>
        </p:nvSpPr>
        <p:spPr bwMode="auto">
          <a:xfrm>
            <a:off x="7374582" y="5730875"/>
            <a:ext cx="9398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682" name="Oval 19"/>
          <p:cNvSpPr>
            <a:spLocks noChangeArrowheads="1"/>
          </p:cNvSpPr>
          <p:nvPr/>
        </p:nvSpPr>
        <p:spPr bwMode="auto">
          <a:xfrm>
            <a:off x="7307907" y="4110038"/>
            <a:ext cx="82550" cy="82550"/>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683" name="Text Box 20"/>
          <p:cNvSpPr txBox="1">
            <a:spLocks noChangeArrowheads="1"/>
          </p:cNvSpPr>
          <p:nvPr/>
        </p:nvSpPr>
        <p:spPr bwMode="auto">
          <a:xfrm>
            <a:off x="7909569" y="4716463"/>
            <a:ext cx="3698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L</a:t>
            </a:r>
          </a:p>
        </p:txBody>
      </p:sp>
      <p:sp>
        <p:nvSpPr>
          <p:cNvPr id="28684" name="Oval 21"/>
          <p:cNvSpPr>
            <a:spLocks noChangeArrowheads="1"/>
          </p:cNvSpPr>
          <p:nvPr/>
        </p:nvSpPr>
        <p:spPr bwMode="auto">
          <a:xfrm>
            <a:off x="7307907" y="5700713"/>
            <a:ext cx="82550" cy="82550"/>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365590" name="Object 22" descr="40%">
            <a:hlinkClick r:id="" action="ppaction://ole?verb=0"/>
          </p:cNvPr>
          <p:cNvGraphicFramePr>
            <a:graphicFrameLocks/>
          </p:cNvGraphicFramePr>
          <p:nvPr>
            <p:extLst>
              <p:ext uri="{D42A27DB-BD31-4B8C-83A1-F6EECF244321}">
                <p14:modId xmlns:p14="http://schemas.microsoft.com/office/powerpoint/2010/main" val="227772266"/>
              </p:ext>
            </p:extLst>
          </p:nvPr>
        </p:nvGraphicFramePr>
        <p:xfrm>
          <a:off x="2183773" y="2913270"/>
          <a:ext cx="1079500" cy="903287"/>
        </p:xfrm>
        <a:graphic>
          <a:graphicData uri="http://schemas.openxmlformats.org/presentationml/2006/ole">
            <mc:AlternateContent xmlns:mc="http://schemas.openxmlformats.org/markup-compatibility/2006">
              <mc:Choice xmlns:v="urn:schemas-microsoft-com:vml" Requires="v">
                <p:oleObj spid="_x0000_s29013" name="Equation" r:id="rId8" imgW="361978" imgH="333450" progId="Equation.DSMT4">
                  <p:embed/>
                </p:oleObj>
              </mc:Choice>
              <mc:Fallback>
                <p:oleObj name="Equation" r:id="rId8" imgW="361978" imgH="333450" progId="Equation.DSMT4">
                  <p:embed/>
                  <p:pic>
                    <p:nvPicPr>
                      <p:cNvPr id="0" name="Object 22" descr="4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83773" y="2913270"/>
                        <a:ext cx="1079500" cy="903287"/>
                      </a:xfrm>
                      <a:prstGeom prst="rect">
                        <a:avLst/>
                      </a:prstGeom>
                      <a:noFill/>
                      <a:ln>
                        <a:noFill/>
                      </a:ln>
                      <a:effectLst/>
                      <a:extLst>
                        <a:ext uri="{909E8E84-426E-40DD-AFC4-6F175D3DCCD1}">
                          <a14:hiddenFill xmlns:a14="http://schemas.microsoft.com/office/drawing/2010/main">
                            <a:pattFill prst="pct40">
                              <a:fgClr>
                                <a:srgbClr val="FF9966"/>
                              </a:fgClr>
                              <a:bgClr>
                                <a:srgbClr val="FFFFFF"/>
                              </a:bgClr>
                            </a:pattFill>
                          </a14:hiddenFill>
                        </a:ext>
                        <a:ext uri="{91240B29-F687-4F45-9708-019B960494DF}">
                          <a14:hiddenLine xmlns:a14="http://schemas.microsoft.com/office/drawing/2010/main" w="127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96" name="Line 26"/>
          <p:cNvSpPr>
            <a:spLocks noChangeShapeType="1"/>
          </p:cNvSpPr>
          <p:nvPr/>
        </p:nvSpPr>
        <p:spPr bwMode="auto">
          <a:xfrm>
            <a:off x="7032848" y="1381125"/>
            <a:ext cx="30480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697" name="Rectangle 27"/>
          <p:cNvSpPr>
            <a:spLocks noChangeArrowheads="1"/>
          </p:cNvSpPr>
          <p:nvPr/>
        </p:nvSpPr>
        <p:spPr bwMode="auto">
          <a:xfrm>
            <a:off x="7507511" y="1381125"/>
            <a:ext cx="762000" cy="13985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698" name="Freeform 28"/>
          <p:cNvSpPr>
            <a:spLocks/>
          </p:cNvSpPr>
          <p:nvPr/>
        </p:nvSpPr>
        <p:spPr bwMode="auto">
          <a:xfrm>
            <a:off x="8253636" y="1310631"/>
            <a:ext cx="74613" cy="461665"/>
          </a:xfrm>
          <a:custGeom>
            <a:avLst/>
            <a:gdLst>
              <a:gd name="T0" fmla="*/ 0 w 67"/>
              <a:gd name="T1" fmla="*/ 0 h 120"/>
              <a:gd name="T2" fmla="*/ 32 w 67"/>
              <a:gd name="T3" fmla="*/ 22 h 120"/>
              <a:gd name="T4" fmla="*/ 29 w 67"/>
              <a:gd name="T5" fmla="*/ 36 h 120"/>
              <a:gd name="T6" fmla="*/ 9 w 67"/>
              <a:gd name="T7" fmla="*/ 48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120">
                <a:moveTo>
                  <a:pt x="0" y="0"/>
                </a:moveTo>
                <a:cubicBezTo>
                  <a:pt x="38" y="8"/>
                  <a:pt x="54" y="17"/>
                  <a:pt x="66" y="54"/>
                </a:cubicBezTo>
                <a:cubicBezTo>
                  <a:pt x="64" y="66"/>
                  <a:pt x="67" y="80"/>
                  <a:pt x="60" y="90"/>
                </a:cubicBezTo>
                <a:cubicBezTo>
                  <a:pt x="50" y="104"/>
                  <a:pt x="30" y="108"/>
                  <a:pt x="18" y="120"/>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699" name="Line 29"/>
          <p:cNvSpPr>
            <a:spLocks noChangeShapeType="1"/>
          </p:cNvSpPr>
          <p:nvPr/>
        </p:nvSpPr>
        <p:spPr bwMode="auto">
          <a:xfrm flipV="1">
            <a:off x="7031261" y="1477963"/>
            <a:ext cx="1257300" cy="79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00" name="Freeform 30"/>
          <p:cNvSpPr>
            <a:spLocks/>
          </p:cNvSpPr>
          <p:nvPr/>
        </p:nvSpPr>
        <p:spPr bwMode="auto">
          <a:xfrm flipH="1" flipV="1">
            <a:off x="7440836" y="1436043"/>
            <a:ext cx="74613" cy="461665"/>
          </a:xfrm>
          <a:custGeom>
            <a:avLst/>
            <a:gdLst>
              <a:gd name="T0" fmla="*/ 0 w 67"/>
              <a:gd name="T1" fmla="*/ 0 h 120"/>
              <a:gd name="T2" fmla="*/ 32 w 67"/>
              <a:gd name="T3" fmla="*/ 22 h 120"/>
              <a:gd name="T4" fmla="*/ 29 w 67"/>
              <a:gd name="T5" fmla="*/ 36 h 120"/>
              <a:gd name="T6" fmla="*/ 9 w 67"/>
              <a:gd name="T7" fmla="*/ 48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120">
                <a:moveTo>
                  <a:pt x="0" y="0"/>
                </a:moveTo>
                <a:cubicBezTo>
                  <a:pt x="38" y="8"/>
                  <a:pt x="54" y="17"/>
                  <a:pt x="66" y="54"/>
                </a:cubicBezTo>
                <a:cubicBezTo>
                  <a:pt x="64" y="66"/>
                  <a:pt x="67" y="80"/>
                  <a:pt x="60" y="90"/>
                </a:cubicBezTo>
                <a:cubicBezTo>
                  <a:pt x="50" y="104"/>
                  <a:pt x="30" y="108"/>
                  <a:pt x="18" y="120"/>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01" name="Freeform 31"/>
          <p:cNvSpPr>
            <a:spLocks/>
          </p:cNvSpPr>
          <p:nvPr/>
        </p:nvSpPr>
        <p:spPr bwMode="auto">
          <a:xfrm>
            <a:off x="8253636" y="1559868"/>
            <a:ext cx="74613" cy="461665"/>
          </a:xfrm>
          <a:custGeom>
            <a:avLst/>
            <a:gdLst>
              <a:gd name="T0" fmla="*/ 0 w 67"/>
              <a:gd name="T1" fmla="*/ 0 h 120"/>
              <a:gd name="T2" fmla="*/ 32 w 67"/>
              <a:gd name="T3" fmla="*/ 22 h 120"/>
              <a:gd name="T4" fmla="*/ 29 w 67"/>
              <a:gd name="T5" fmla="*/ 36 h 120"/>
              <a:gd name="T6" fmla="*/ 9 w 67"/>
              <a:gd name="T7" fmla="*/ 48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120">
                <a:moveTo>
                  <a:pt x="0" y="0"/>
                </a:moveTo>
                <a:cubicBezTo>
                  <a:pt x="38" y="8"/>
                  <a:pt x="54" y="17"/>
                  <a:pt x="66" y="54"/>
                </a:cubicBezTo>
                <a:cubicBezTo>
                  <a:pt x="64" y="66"/>
                  <a:pt x="67" y="80"/>
                  <a:pt x="60" y="90"/>
                </a:cubicBezTo>
                <a:cubicBezTo>
                  <a:pt x="50" y="104"/>
                  <a:pt x="30" y="108"/>
                  <a:pt x="18" y="120"/>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02" name="Line 32"/>
          <p:cNvSpPr>
            <a:spLocks noChangeShapeType="1"/>
          </p:cNvSpPr>
          <p:nvPr/>
        </p:nvSpPr>
        <p:spPr bwMode="auto">
          <a:xfrm>
            <a:off x="7507511" y="1727200"/>
            <a:ext cx="7810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03" name="Freeform 33"/>
          <p:cNvSpPr>
            <a:spLocks/>
          </p:cNvSpPr>
          <p:nvPr/>
        </p:nvSpPr>
        <p:spPr bwMode="auto">
          <a:xfrm>
            <a:off x="8253636" y="1819425"/>
            <a:ext cx="74613" cy="461665"/>
          </a:xfrm>
          <a:custGeom>
            <a:avLst/>
            <a:gdLst>
              <a:gd name="T0" fmla="*/ 0 w 67"/>
              <a:gd name="T1" fmla="*/ 0 h 120"/>
              <a:gd name="T2" fmla="*/ 32 w 67"/>
              <a:gd name="T3" fmla="*/ 22 h 120"/>
              <a:gd name="T4" fmla="*/ 29 w 67"/>
              <a:gd name="T5" fmla="*/ 37 h 120"/>
              <a:gd name="T6" fmla="*/ 9 w 67"/>
              <a:gd name="T7" fmla="*/ 49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120">
                <a:moveTo>
                  <a:pt x="0" y="0"/>
                </a:moveTo>
                <a:cubicBezTo>
                  <a:pt x="38" y="8"/>
                  <a:pt x="54" y="17"/>
                  <a:pt x="66" y="54"/>
                </a:cubicBezTo>
                <a:cubicBezTo>
                  <a:pt x="64" y="66"/>
                  <a:pt x="67" y="80"/>
                  <a:pt x="60" y="90"/>
                </a:cubicBezTo>
                <a:cubicBezTo>
                  <a:pt x="50" y="104"/>
                  <a:pt x="30" y="108"/>
                  <a:pt x="18" y="120"/>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04" name="Freeform 34"/>
          <p:cNvSpPr>
            <a:spLocks/>
          </p:cNvSpPr>
          <p:nvPr/>
        </p:nvSpPr>
        <p:spPr bwMode="auto">
          <a:xfrm>
            <a:off x="8253636" y="2086918"/>
            <a:ext cx="74613" cy="461665"/>
          </a:xfrm>
          <a:custGeom>
            <a:avLst/>
            <a:gdLst>
              <a:gd name="T0" fmla="*/ 0 w 67"/>
              <a:gd name="T1" fmla="*/ 0 h 120"/>
              <a:gd name="T2" fmla="*/ 32 w 67"/>
              <a:gd name="T3" fmla="*/ 22 h 120"/>
              <a:gd name="T4" fmla="*/ 29 w 67"/>
              <a:gd name="T5" fmla="*/ 36 h 120"/>
              <a:gd name="T6" fmla="*/ 9 w 67"/>
              <a:gd name="T7" fmla="*/ 48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120">
                <a:moveTo>
                  <a:pt x="0" y="0"/>
                </a:moveTo>
                <a:cubicBezTo>
                  <a:pt x="38" y="8"/>
                  <a:pt x="54" y="17"/>
                  <a:pt x="66" y="54"/>
                </a:cubicBezTo>
                <a:cubicBezTo>
                  <a:pt x="64" y="66"/>
                  <a:pt x="67" y="80"/>
                  <a:pt x="60" y="90"/>
                </a:cubicBezTo>
                <a:cubicBezTo>
                  <a:pt x="50" y="104"/>
                  <a:pt x="30" y="108"/>
                  <a:pt x="18" y="120"/>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05" name="Freeform 35"/>
          <p:cNvSpPr>
            <a:spLocks/>
          </p:cNvSpPr>
          <p:nvPr/>
        </p:nvSpPr>
        <p:spPr bwMode="auto">
          <a:xfrm>
            <a:off x="8253636" y="2363143"/>
            <a:ext cx="74613" cy="461665"/>
          </a:xfrm>
          <a:custGeom>
            <a:avLst/>
            <a:gdLst>
              <a:gd name="T0" fmla="*/ 0 w 67"/>
              <a:gd name="T1" fmla="*/ 0 h 120"/>
              <a:gd name="T2" fmla="*/ 32 w 67"/>
              <a:gd name="T3" fmla="*/ 22 h 120"/>
              <a:gd name="T4" fmla="*/ 29 w 67"/>
              <a:gd name="T5" fmla="*/ 36 h 120"/>
              <a:gd name="T6" fmla="*/ 9 w 67"/>
              <a:gd name="T7" fmla="*/ 48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120">
                <a:moveTo>
                  <a:pt x="0" y="0"/>
                </a:moveTo>
                <a:cubicBezTo>
                  <a:pt x="38" y="8"/>
                  <a:pt x="54" y="17"/>
                  <a:pt x="66" y="54"/>
                </a:cubicBezTo>
                <a:cubicBezTo>
                  <a:pt x="64" y="66"/>
                  <a:pt x="67" y="80"/>
                  <a:pt x="60" y="90"/>
                </a:cubicBezTo>
                <a:cubicBezTo>
                  <a:pt x="50" y="104"/>
                  <a:pt x="30" y="108"/>
                  <a:pt x="18" y="120"/>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06" name="Freeform 36"/>
          <p:cNvSpPr>
            <a:spLocks/>
          </p:cNvSpPr>
          <p:nvPr/>
        </p:nvSpPr>
        <p:spPr bwMode="auto">
          <a:xfrm flipH="1" flipV="1">
            <a:off x="7450361" y="1695600"/>
            <a:ext cx="74613" cy="461665"/>
          </a:xfrm>
          <a:custGeom>
            <a:avLst/>
            <a:gdLst>
              <a:gd name="T0" fmla="*/ 0 w 67"/>
              <a:gd name="T1" fmla="*/ 0 h 120"/>
              <a:gd name="T2" fmla="*/ 32 w 67"/>
              <a:gd name="T3" fmla="*/ 22 h 120"/>
              <a:gd name="T4" fmla="*/ 29 w 67"/>
              <a:gd name="T5" fmla="*/ 37 h 120"/>
              <a:gd name="T6" fmla="*/ 9 w 67"/>
              <a:gd name="T7" fmla="*/ 49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120">
                <a:moveTo>
                  <a:pt x="0" y="0"/>
                </a:moveTo>
                <a:cubicBezTo>
                  <a:pt x="38" y="8"/>
                  <a:pt x="54" y="17"/>
                  <a:pt x="66" y="54"/>
                </a:cubicBezTo>
                <a:cubicBezTo>
                  <a:pt x="64" y="66"/>
                  <a:pt x="67" y="80"/>
                  <a:pt x="60" y="90"/>
                </a:cubicBezTo>
                <a:cubicBezTo>
                  <a:pt x="50" y="104"/>
                  <a:pt x="30" y="108"/>
                  <a:pt x="18" y="120"/>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07" name="Line 37"/>
          <p:cNvSpPr>
            <a:spLocks noChangeShapeType="1"/>
          </p:cNvSpPr>
          <p:nvPr/>
        </p:nvSpPr>
        <p:spPr bwMode="auto">
          <a:xfrm flipH="1" flipV="1">
            <a:off x="7499573" y="1989138"/>
            <a:ext cx="7715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08" name="Freeform 38"/>
          <p:cNvSpPr>
            <a:spLocks/>
          </p:cNvSpPr>
          <p:nvPr/>
        </p:nvSpPr>
        <p:spPr bwMode="auto">
          <a:xfrm flipH="1" flipV="1">
            <a:off x="7450361" y="1963093"/>
            <a:ext cx="74613" cy="461665"/>
          </a:xfrm>
          <a:custGeom>
            <a:avLst/>
            <a:gdLst>
              <a:gd name="T0" fmla="*/ 0 w 67"/>
              <a:gd name="T1" fmla="*/ 0 h 120"/>
              <a:gd name="T2" fmla="*/ 32 w 67"/>
              <a:gd name="T3" fmla="*/ 22 h 120"/>
              <a:gd name="T4" fmla="*/ 29 w 67"/>
              <a:gd name="T5" fmla="*/ 36 h 120"/>
              <a:gd name="T6" fmla="*/ 9 w 67"/>
              <a:gd name="T7" fmla="*/ 48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120">
                <a:moveTo>
                  <a:pt x="0" y="0"/>
                </a:moveTo>
                <a:cubicBezTo>
                  <a:pt x="38" y="8"/>
                  <a:pt x="54" y="17"/>
                  <a:pt x="66" y="54"/>
                </a:cubicBezTo>
                <a:cubicBezTo>
                  <a:pt x="64" y="66"/>
                  <a:pt x="67" y="80"/>
                  <a:pt x="60" y="90"/>
                </a:cubicBezTo>
                <a:cubicBezTo>
                  <a:pt x="50" y="104"/>
                  <a:pt x="30" y="108"/>
                  <a:pt x="18" y="120"/>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09" name="Line 39"/>
          <p:cNvSpPr>
            <a:spLocks noChangeShapeType="1"/>
          </p:cNvSpPr>
          <p:nvPr/>
        </p:nvSpPr>
        <p:spPr bwMode="auto">
          <a:xfrm flipH="1" flipV="1">
            <a:off x="7509098" y="2257425"/>
            <a:ext cx="762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10" name="Freeform 40"/>
          <p:cNvSpPr>
            <a:spLocks/>
          </p:cNvSpPr>
          <p:nvPr/>
        </p:nvSpPr>
        <p:spPr bwMode="auto">
          <a:xfrm flipH="1" flipV="1">
            <a:off x="7440836" y="2248050"/>
            <a:ext cx="74613" cy="461665"/>
          </a:xfrm>
          <a:custGeom>
            <a:avLst/>
            <a:gdLst>
              <a:gd name="T0" fmla="*/ 0 w 67"/>
              <a:gd name="T1" fmla="*/ 0 h 120"/>
              <a:gd name="T2" fmla="*/ 32 w 67"/>
              <a:gd name="T3" fmla="*/ 22 h 120"/>
              <a:gd name="T4" fmla="*/ 29 w 67"/>
              <a:gd name="T5" fmla="*/ 37 h 120"/>
              <a:gd name="T6" fmla="*/ 9 w 67"/>
              <a:gd name="T7" fmla="*/ 49 h 1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 h="120">
                <a:moveTo>
                  <a:pt x="0" y="0"/>
                </a:moveTo>
                <a:cubicBezTo>
                  <a:pt x="38" y="8"/>
                  <a:pt x="54" y="17"/>
                  <a:pt x="66" y="54"/>
                </a:cubicBezTo>
                <a:cubicBezTo>
                  <a:pt x="64" y="66"/>
                  <a:pt x="67" y="80"/>
                  <a:pt x="60" y="90"/>
                </a:cubicBezTo>
                <a:cubicBezTo>
                  <a:pt x="50" y="104"/>
                  <a:pt x="30" y="108"/>
                  <a:pt x="18" y="120"/>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11" name="Line 41"/>
          <p:cNvSpPr>
            <a:spLocks noChangeShapeType="1"/>
          </p:cNvSpPr>
          <p:nvPr/>
        </p:nvSpPr>
        <p:spPr bwMode="auto">
          <a:xfrm flipH="1" flipV="1">
            <a:off x="7499573" y="2533650"/>
            <a:ext cx="7715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12" name="Oval 42"/>
          <p:cNvSpPr>
            <a:spLocks noChangeArrowheads="1"/>
          </p:cNvSpPr>
          <p:nvPr/>
        </p:nvSpPr>
        <p:spPr bwMode="auto">
          <a:xfrm>
            <a:off x="6945536" y="1506351"/>
            <a:ext cx="259766" cy="649188"/>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13" name="Line 43"/>
          <p:cNvSpPr>
            <a:spLocks noChangeShapeType="1"/>
          </p:cNvSpPr>
          <p:nvPr/>
        </p:nvSpPr>
        <p:spPr bwMode="auto">
          <a:xfrm>
            <a:off x="7040786" y="2663825"/>
            <a:ext cx="4667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14" name="Oval 44"/>
          <p:cNvSpPr>
            <a:spLocks noChangeArrowheads="1"/>
          </p:cNvSpPr>
          <p:nvPr/>
        </p:nvSpPr>
        <p:spPr bwMode="auto">
          <a:xfrm>
            <a:off x="6964586" y="2680307"/>
            <a:ext cx="259766" cy="649188"/>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15" name="Text Box 45"/>
          <p:cNvSpPr txBox="1">
            <a:spLocks noChangeArrowheads="1"/>
          </p:cNvSpPr>
          <p:nvPr/>
        </p:nvSpPr>
        <p:spPr bwMode="auto">
          <a:xfrm>
            <a:off x="6804248" y="2182576"/>
            <a:ext cx="381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endPar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28716" name="Object 46"/>
          <p:cNvGraphicFramePr>
            <a:graphicFrameLocks noChangeAspect="1"/>
          </p:cNvGraphicFramePr>
          <p:nvPr>
            <p:extLst>
              <p:ext uri="{D42A27DB-BD31-4B8C-83A1-F6EECF244321}">
                <p14:modId xmlns:p14="http://schemas.microsoft.com/office/powerpoint/2010/main" val="2405325869"/>
              </p:ext>
            </p:extLst>
          </p:nvPr>
        </p:nvGraphicFramePr>
        <p:xfrm>
          <a:off x="7010623" y="990600"/>
          <a:ext cx="354013" cy="398463"/>
        </p:xfrm>
        <a:graphic>
          <a:graphicData uri="http://schemas.openxmlformats.org/presentationml/2006/ole">
            <mc:AlternateContent xmlns:mc="http://schemas.openxmlformats.org/markup-compatibility/2006">
              <mc:Choice xmlns:v="urn:schemas-microsoft-com:vml" Requires="v">
                <p:oleObj spid="_x0000_s29014" name="Equation" r:id="rId10" imgW="85632" imgH="162000" progId="Equation.3">
                  <p:embed/>
                </p:oleObj>
              </mc:Choice>
              <mc:Fallback>
                <p:oleObj name="Equation" r:id="rId10" imgW="85632" imgH="162000" progId="Equation.3">
                  <p:embed/>
                  <p:pic>
                    <p:nvPicPr>
                      <p:cNvPr id="0" name="Object 4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10623" y="990600"/>
                        <a:ext cx="354013" cy="398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17" name="Line 47"/>
          <p:cNvSpPr>
            <a:spLocks noChangeShapeType="1"/>
          </p:cNvSpPr>
          <p:nvPr/>
        </p:nvSpPr>
        <p:spPr bwMode="auto">
          <a:xfrm>
            <a:off x="7718648" y="1106488"/>
            <a:ext cx="0" cy="1865313"/>
          </a:xfrm>
          <a:prstGeom prst="line">
            <a:avLst/>
          </a:prstGeom>
          <a:noFill/>
          <a:ln w="28575">
            <a:solidFill>
              <a:srgbClr val="FF0000"/>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18" name="Line 48"/>
          <p:cNvSpPr>
            <a:spLocks noChangeShapeType="1"/>
          </p:cNvSpPr>
          <p:nvPr/>
        </p:nvSpPr>
        <p:spPr bwMode="auto">
          <a:xfrm>
            <a:off x="8023448" y="1122363"/>
            <a:ext cx="0" cy="1865313"/>
          </a:xfrm>
          <a:prstGeom prst="line">
            <a:avLst/>
          </a:prstGeom>
          <a:noFill/>
          <a:ln w="28575">
            <a:solidFill>
              <a:srgbClr val="FF0000"/>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8719" name="Rectangle 49"/>
          <p:cNvSpPr>
            <a:spLocks noChangeArrowheads="1"/>
          </p:cNvSpPr>
          <p:nvPr/>
        </p:nvSpPr>
        <p:spPr bwMode="auto">
          <a:xfrm>
            <a:off x="7602310" y="835647"/>
            <a:ext cx="42159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dirty="0">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p:txBody>
      </p:sp>
      <p:sp>
        <p:nvSpPr>
          <p:cNvPr id="28720" name="Text Box 50"/>
          <p:cNvSpPr txBox="1">
            <a:spLocks noChangeArrowheads="1"/>
          </p:cNvSpPr>
          <p:nvPr/>
        </p:nvSpPr>
        <p:spPr bwMode="auto">
          <a:xfrm>
            <a:off x="6797387" y="1701098"/>
            <a:ext cx="40107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28721" name="Text Box 51"/>
          <p:cNvSpPr txBox="1">
            <a:spLocks noChangeArrowheads="1"/>
          </p:cNvSpPr>
          <p:nvPr/>
        </p:nvSpPr>
        <p:spPr bwMode="auto">
          <a:xfrm>
            <a:off x="6803331" y="2519633"/>
            <a:ext cx="3209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b="1">
                <a:latin typeface="Times New Roman" panose="02020603050405020304" pitchFamily="18" charset="0"/>
                <a:ea typeface="华文中宋" panose="02010600040101010101" pitchFamily="2" charset="-122"/>
                <a:cs typeface="Times New Roman" panose="02020603050405020304" pitchFamily="18" charset="0"/>
              </a:rPr>
              <a:t>-</a:t>
            </a:r>
          </a:p>
        </p:txBody>
      </p:sp>
      <p:graphicFrame>
        <p:nvGraphicFramePr>
          <p:cNvPr id="365620" name="Object 52" descr="40%">
            <a:hlinkClick r:id="" action="ppaction://ole?verb=0"/>
          </p:cNvPr>
          <p:cNvGraphicFramePr>
            <a:graphicFrameLocks/>
          </p:cNvGraphicFramePr>
          <p:nvPr>
            <p:extLst>
              <p:ext uri="{D42A27DB-BD31-4B8C-83A1-F6EECF244321}">
                <p14:modId xmlns:p14="http://schemas.microsoft.com/office/powerpoint/2010/main" val="3126218355"/>
              </p:ext>
            </p:extLst>
          </p:nvPr>
        </p:nvGraphicFramePr>
        <p:xfrm>
          <a:off x="3683225" y="3101739"/>
          <a:ext cx="1304925" cy="493712"/>
        </p:xfrm>
        <a:graphic>
          <a:graphicData uri="http://schemas.openxmlformats.org/presentationml/2006/ole">
            <mc:AlternateContent xmlns:mc="http://schemas.openxmlformats.org/markup-compatibility/2006">
              <mc:Choice xmlns:v="urn:schemas-microsoft-com:vml" Requires="v">
                <p:oleObj spid="_x0000_s29015" name="Equation" r:id="rId12" imgW="390612" imgH="142830" progId="Equation.DSMT4">
                  <p:embed/>
                </p:oleObj>
              </mc:Choice>
              <mc:Fallback>
                <p:oleObj name="Equation" r:id="rId12" imgW="390612" imgH="142830" progId="Equation.DSMT4">
                  <p:embed/>
                  <p:pic>
                    <p:nvPicPr>
                      <p:cNvPr id="0" name="Object 52" descr="4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83225" y="3101739"/>
                        <a:ext cx="1304925" cy="493712"/>
                      </a:xfrm>
                      <a:prstGeom prst="rect">
                        <a:avLst/>
                      </a:prstGeom>
                      <a:noFill/>
                      <a:ln>
                        <a:noFill/>
                      </a:ln>
                      <a:effectLst/>
                      <a:extLst>
                        <a:ext uri="{909E8E84-426E-40DD-AFC4-6F175D3DCCD1}">
                          <a14:hiddenFill xmlns:a14="http://schemas.microsoft.com/office/drawing/2010/main">
                            <a:pattFill prst="pct40">
                              <a:fgClr>
                                <a:srgbClr val="FF9966"/>
                              </a:fgClr>
                              <a:bgClr>
                                <a:srgbClr val="FFFFFF"/>
                              </a:bgClr>
                            </a:pattFill>
                          </a14:hiddenFill>
                        </a:ext>
                        <a:ext uri="{91240B29-F687-4F45-9708-019B960494DF}">
                          <a14:hiddenLine xmlns:a14="http://schemas.microsoft.com/office/drawing/2010/main" w="127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5621" name="Object 53" descr="40%">
            <a:hlinkClick r:id="" action="ppaction://ole?verb=0"/>
          </p:cNvPr>
          <p:cNvGraphicFramePr>
            <a:graphicFrameLocks/>
          </p:cNvGraphicFramePr>
          <p:nvPr>
            <p:extLst>
              <p:ext uri="{D42A27DB-BD31-4B8C-83A1-F6EECF244321}">
                <p14:modId xmlns:p14="http://schemas.microsoft.com/office/powerpoint/2010/main" val="4170296582"/>
              </p:ext>
            </p:extLst>
          </p:nvPr>
        </p:nvGraphicFramePr>
        <p:xfrm>
          <a:off x="2183773" y="4967696"/>
          <a:ext cx="2986088" cy="692709"/>
        </p:xfrm>
        <a:graphic>
          <a:graphicData uri="http://schemas.openxmlformats.org/presentationml/2006/ole">
            <mc:AlternateContent xmlns:mc="http://schemas.openxmlformats.org/markup-compatibility/2006">
              <mc:Choice xmlns:v="urn:schemas-microsoft-com:vml" Requires="v">
                <p:oleObj spid="_x0000_s29016" name="Equation" r:id="rId14" imgW="1238289" imgH="362070" progId="Equation.DSMT4">
                  <p:embed/>
                </p:oleObj>
              </mc:Choice>
              <mc:Fallback>
                <p:oleObj name="Equation" r:id="rId14" imgW="1238289" imgH="362070" progId="Equation.DSMT4">
                  <p:embed/>
                  <p:pic>
                    <p:nvPicPr>
                      <p:cNvPr id="0" name="Object 53" descr="40%"/>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83773" y="4967696"/>
                        <a:ext cx="2986088" cy="692709"/>
                      </a:xfrm>
                      <a:prstGeom prst="rect">
                        <a:avLst/>
                      </a:prstGeom>
                      <a:noFill/>
                      <a:ln>
                        <a:noFill/>
                      </a:ln>
                      <a:effectLst/>
                      <a:extLst/>
                    </p:spPr>
                  </p:pic>
                </p:oleObj>
              </mc:Fallback>
            </mc:AlternateContent>
          </a:graphicData>
        </a:graphic>
      </p:graphicFrame>
      <p:sp>
        <p:nvSpPr>
          <p:cNvPr id="28689" name="Rectangle 54"/>
          <p:cNvSpPr>
            <a:spLocks noChangeArrowheads="1"/>
          </p:cNvSpPr>
          <p:nvPr/>
        </p:nvSpPr>
        <p:spPr bwMode="auto">
          <a:xfrm>
            <a:off x="795350" y="3773123"/>
            <a:ext cx="6352967" cy="1027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None/>
            </a:pPr>
            <a:r>
              <a:rPr lang="zh-CN" altLang="en-US" sz="2200" b="1" dirty="0" smtClean="0">
                <a:latin typeface="Times New Roman" panose="02020603050405020304" pitchFamily="18" charset="0"/>
                <a:ea typeface="华文中宋" panose="02010600040101010101" pitchFamily="2" charset="-122"/>
                <a:cs typeface="Times New Roman" panose="02020603050405020304" pitchFamily="18" charset="0"/>
              </a:rPr>
              <a:t>当通过线圈的电流随时间变化时，穿过线圈的磁通也要随时间变化，就要在线圈中产生感应电压（电压与电流取关联参考方向）</a:t>
            </a:r>
            <a:endParaRPr lang="zh-CN" altLang="en-US" sz="2200" b="1" dirty="0">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365623" name="Object 55" descr="40%">
            <a:hlinkClick r:id="" action="ppaction://ole?verb=0"/>
          </p:cNvPr>
          <p:cNvGraphicFramePr>
            <a:graphicFrameLocks/>
          </p:cNvGraphicFramePr>
          <p:nvPr>
            <p:extLst>
              <p:ext uri="{D42A27DB-BD31-4B8C-83A1-F6EECF244321}">
                <p14:modId xmlns:p14="http://schemas.microsoft.com/office/powerpoint/2010/main" val="3402198100"/>
              </p:ext>
            </p:extLst>
          </p:nvPr>
        </p:nvGraphicFramePr>
        <p:xfrm>
          <a:off x="2422557" y="2182576"/>
          <a:ext cx="1219200" cy="449262"/>
        </p:xfrm>
        <a:graphic>
          <a:graphicData uri="http://schemas.openxmlformats.org/presentationml/2006/ole">
            <mc:AlternateContent xmlns:mc="http://schemas.openxmlformats.org/markup-compatibility/2006">
              <mc:Choice xmlns:v="urn:schemas-microsoft-com:vml" Requires="v">
                <p:oleObj spid="_x0000_s29017" name="Equation" r:id="rId16" imgW="466790" imgH="142830" progId="Equation.DSMT4">
                  <p:embed/>
                </p:oleObj>
              </mc:Choice>
              <mc:Fallback>
                <p:oleObj name="Equation" r:id="rId16" imgW="466790" imgH="142830" progId="Equation.DSMT4">
                  <p:embed/>
                  <p:pic>
                    <p:nvPicPr>
                      <p:cNvPr id="0" name="Object 55" descr="40%"/>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22557" y="2182576"/>
                        <a:ext cx="1219200" cy="449262"/>
                      </a:xfrm>
                      <a:prstGeom prst="rect">
                        <a:avLst/>
                      </a:prstGeom>
                      <a:noFill/>
                      <a:ln>
                        <a:noFill/>
                      </a:ln>
                      <a:effectLst/>
                      <a:extLst>
                        <a:ext uri="{909E8E84-426E-40DD-AFC4-6F175D3DCCD1}">
                          <a14:hiddenFill xmlns:a14="http://schemas.microsoft.com/office/drawing/2010/main">
                            <a:pattFill prst="pct40">
                              <a:fgClr>
                                <a:srgbClr val="FF9966"/>
                              </a:fgClr>
                              <a:bgClr>
                                <a:srgbClr val="FFFFFF"/>
                              </a:bgClr>
                            </a:pattFill>
                          </a14:hiddenFill>
                        </a:ext>
                        <a:ext uri="{91240B29-F687-4F45-9708-019B960494DF}">
                          <a14:hiddenLine xmlns:a14="http://schemas.microsoft.com/office/drawing/2010/main" w="127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5627" name="Text Box 59"/>
          <p:cNvSpPr txBox="1">
            <a:spLocks noChangeArrowheads="1"/>
          </p:cNvSpPr>
          <p:nvPr/>
        </p:nvSpPr>
        <p:spPr bwMode="auto">
          <a:xfrm>
            <a:off x="748673" y="5910298"/>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即</a:t>
            </a:r>
          </a:p>
        </p:txBody>
      </p:sp>
      <p:graphicFrame>
        <p:nvGraphicFramePr>
          <p:cNvPr id="365628" name="Object 60">
            <a:hlinkClick r:id="" action="ppaction://ole?verb=0"/>
          </p:cNvPr>
          <p:cNvGraphicFramePr>
            <a:graphicFrameLocks/>
          </p:cNvGraphicFramePr>
          <p:nvPr>
            <p:extLst>
              <p:ext uri="{D42A27DB-BD31-4B8C-83A1-F6EECF244321}">
                <p14:modId xmlns:p14="http://schemas.microsoft.com/office/powerpoint/2010/main" val="2485900377"/>
              </p:ext>
            </p:extLst>
          </p:nvPr>
        </p:nvGraphicFramePr>
        <p:xfrm>
          <a:off x="2959498" y="5778392"/>
          <a:ext cx="1462088" cy="779462"/>
        </p:xfrm>
        <a:graphic>
          <a:graphicData uri="http://schemas.openxmlformats.org/presentationml/2006/ole">
            <mc:AlternateContent xmlns:mc="http://schemas.openxmlformats.org/markup-compatibility/2006">
              <mc:Choice xmlns:v="urn:schemas-microsoft-com:vml" Requires="v">
                <p:oleObj spid="_x0000_s29018" name="Equation" r:id="rId18" imgW="466790" imgH="333450" progId="Equation.DSMT4">
                  <p:embed/>
                </p:oleObj>
              </mc:Choice>
              <mc:Fallback>
                <p:oleObj name="Equation" r:id="rId18" imgW="466790" imgH="333450" progId="Equation.DSMT4">
                  <p:embed/>
                  <p:pic>
                    <p:nvPicPr>
                      <p:cNvPr id="0" name="Object 60"/>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59498" y="5778392"/>
                        <a:ext cx="1462088" cy="779462"/>
                      </a:xfrm>
                      <a:prstGeom prst="rect">
                        <a:avLst/>
                      </a:prstGeom>
                      <a:solidFill>
                        <a:srgbClr val="CBC2EA"/>
                      </a:solidFill>
                      <a:ln>
                        <a:noFill/>
                      </a:ln>
                      <a:effectLst/>
                      <a:extLst>
                        <a:ext uri="{91240B29-F687-4F45-9708-019B960494DF}">
                          <a14:hiddenLine xmlns:a14="http://schemas.microsoft.com/office/drawing/2010/main" w="127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 name="Rectangle 2"/>
          <p:cNvSpPr txBox="1">
            <a:spLocks noChangeArrowheads="1"/>
          </p:cNvSpPr>
          <p:nvPr/>
        </p:nvSpPr>
        <p:spPr bwMode="auto">
          <a:xfrm>
            <a:off x="379413" y="458788"/>
            <a:ext cx="7315200"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342900" indent="-342900" algn="l" eaLnBrk="1" hangingPunct="1">
              <a:spcBef>
                <a:spcPct val="20000"/>
              </a:spcBef>
              <a:defRPr/>
            </a:pPr>
            <a:r>
              <a:rPr lang="en-US" altLang="zh-CN" sz="3200" b="1"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1.3.3  </a:t>
            </a:r>
            <a:r>
              <a:rPr lang="zh-CN" altLang="en-US" sz="3200" b="1" dirty="0"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电感</a:t>
            </a:r>
            <a:endParaRPr lang="zh-CN" altLang="en-US" sz="32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 name="Rectangle 49"/>
          <p:cNvSpPr>
            <a:spLocks noChangeArrowheads="1"/>
          </p:cNvSpPr>
          <p:nvPr/>
        </p:nvSpPr>
        <p:spPr bwMode="auto">
          <a:xfrm>
            <a:off x="6170273" y="1400209"/>
            <a:ext cx="42159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dirty="0">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p:txBody>
      </p:sp>
      <p:graphicFrame>
        <p:nvGraphicFramePr>
          <p:cNvPr id="61" name="Object 55" descr="40%">
            <a:hlinkClick r:id="" action="ppaction://ole?verb=0"/>
          </p:cNvPr>
          <p:cNvGraphicFramePr>
            <a:graphicFrameLocks/>
          </p:cNvGraphicFramePr>
          <p:nvPr>
            <p:extLst>
              <p:ext uri="{D42A27DB-BD31-4B8C-83A1-F6EECF244321}">
                <p14:modId xmlns:p14="http://schemas.microsoft.com/office/powerpoint/2010/main" val="33383011"/>
              </p:ext>
            </p:extLst>
          </p:nvPr>
        </p:nvGraphicFramePr>
        <p:xfrm>
          <a:off x="3893757" y="2202014"/>
          <a:ext cx="396875" cy="371475"/>
        </p:xfrm>
        <a:graphic>
          <a:graphicData uri="http://schemas.openxmlformats.org/presentationml/2006/ole">
            <mc:AlternateContent xmlns:mc="http://schemas.openxmlformats.org/markup-compatibility/2006">
              <mc:Choice xmlns:v="urn:schemas-microsoft-com:vml" Requires="v">
                <p:oleObj spid="_x0000_s29019" name="Equation" r:id="rId20" imgW="152280" imgH="152280" progId="Equation.DSMT4">
                  <p:embed/>
                </p:oleObj>
              </mc:Choice>
              <mc:Fallback>
                <p:oleObj name="Equation" r:id="rId20" imgW="152280" imgH="152280" progId="Equation.DSMT4">
                  <p:embed/>
                  <p:pic>
                    <p:nvPicPr>
                      <p:cNvPr id="0" name=""/>
                      <p:cNvPicPr>
                        <a:picLocks noChangeArrowheads="1"/>
                      </p:cNvPicPr>
                      <p:nvPr/>
                    </p:nvPicPr>
                    <p:blipFill>
                      <a:blip r:embed="rId21"/>
                      <a:srcRect/>
                      <a:stretch>
                        <a:fillRect/>
                      </a:stretch>
                    </p:blipFill>
                    <p:spPr bwMode="auto">
                      <a:xfrm>
                        <a:off x="3893757" y="2202014"/>
                        <a:ext cx="396875" cy="371475"/>
                      </a:xfrm>
                      <a:prstGeom prst="rect">
                        <a:avLst/>
                      </a:prstGeom>
                      <a:noFill/>
                      <a:ln>
                        <a:noFill/>
                      </a:ln>
                      <a:effectLst/>
                      <a:extLst/>
                    </p:spPr>
                  </p:pic>
                </p:oleObj>
              </mc:Fallback>
            </mc:AlternateContent>
          </a:graphicData>
        </a:graphic>
      </p:graphicFrame>
      <p:sp>
        <p:nvSpPr>
          <p:cNvPr id="4" name="矩形 3"/>
          <p:cNvSpPr/>
          <p:nvPr/>
        </p:nvSpPr>
        <p:spPr>
          <a:xfrm>
            <a:off x="1010888" y="976888"/>
            <a:ext cx="3897221" cy="461665"/>
          </a:xfrm>
          <a:prstGeom prst="rect">
            <a:avLst/>
          </a:prstGeom>
        </p:spPr>
        <p:txBody>
          <a:bodyPr wrap="none">
            <a:spAutoFit/>
          </a:bodyPr>
          <a:lstStyle/>
          <a:p>
            <a:pPr marL="342900" indent="-342900" eaLnBrk="1" hangingPunct="1">
              <a:spcBef>
                <a:spcPct val="20000"/>
              </a:spcBef>
              <a:defRPr/>
            </a:pPr>
            <a:r>
              <a:rPr lang="zh-CN" altLang="en-US" b="1" dirty="0" smtClean="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电感是储存磁场</a:t>
            </a:r>
            <a:r>
              <a:rPr lang="zh-CN" altLang="en-US" b="1" dirty="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能量的元件</a:t>
            </a:r>
          </a:p>
        </p:txBody>
      </p:sp>
      <p:sp>
        <p:nvSpPr>
          <p:cNvPr id="2" name="灯片编号占位符 1"/>
          <p:cNvSpPr>
            <a:spLocks noGrp="1"/>
          </p:cNvSpPr>
          <p:nvPr>
            <p:ph type="sldNum" sz="quarter" idx="12"/>
          </p:nvPr>
        </p:nvSpPr>
        <p:spPr/>
        <p:txBody>
          <a:bodyPr/>
          <a:lstStyle/>
          <a:p>
            <a:pPr>
              <a:defRPr/>
            </a:pPr>
            <a:fld id="{7F6DAC6E-051E-43BF-A607-F6F4F9E2F096}" type="slidenum">
              <a:rPr lang="en-US" altLang="zh-CN" smtClean="0"/>
              <a:pPr>
                <a:defRPr/>
              </a:pPr>
              <a:t>24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65590"/>
                                        </p:tgtEl>
                                        <p:attrNameLst>
                                          <p:attrName>style.visibility</p:attrName>
                                        </p:attrNameLst>
                                      </p:cBhvr>
                                      <p:to>
                                        <p:strVal val="visible"/>
                                      </p:to>
                                    </p:set>
                                    <p:animEffect transition="in" filter="wipe(left)">
                                      <p:cBhvr>
                                        <p:cTn id="7" dur="500"/>
                                        <p:tgtEl>
                                          <p:spTgt spid="3655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65620"/>
                                        </p:tgtEl>
                                        <p:attrNameLst>
                                          <p:attrName>style.visibility</p:attrName>
                                        </p:attrNameLst>
                                      </p:cBhvr>
                                      <p:to>
                                        <p:strVal val="visible"/>
                                      </p:to>
                                    </p:set>
                                    <p:animEffect transition="in" filter="wipe(left)">
                                      <p:cBhvr>
                                        <p:cTn id="12" dur="500"/>
                                        <p:tgtEl>
                                          <p:spTgt spid="3656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65621"/>
                                        </p:tgtEl>
                                        <p:attrNameLst>
                                          <p:attrName>style.visibility</p:attrName>
                                        </p:attrNameLst>
                                      </p:cBhvr>
                                      <p:to>
                                        <p:strVal val="visible"/>
                                      </p:to>
                                    </p:set>
                                    <p:animEffect transition="in" filter="wipe(left)">
                                      <p:cBhvr>
                                        <p:cTn id="17" dur="500"/>
                                        <p:tgtEl>
                                          <p:spTgt spid="3656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65627"/>
                                        </p:tgtEl>
                                        <p:attrNameLst>
                                          <p:attrName>style.visibility</p:attrName>
                                        </p:attrNameLst>
                                      </p:cBhvr>
                                      <p:to>
                                        <p:strVal val="visible"/>
                                      </p:to>
                                    </p:set>
                                    <p:anim calcmode="lin" valueType="num">
                                      <p:cBhvr additive="base">
                                        <p:cTn id="22" dur="500" fill="hold"/>
                                        <p:tgtEl>
                                          <p:spTgt spid="365627"/>
                                        </p:tgtEl>
                                        <p:attrNameLst>
                                          <p:attrName>ppt_x</p:attrName>
                                        </p:attrNameLst>
                                      </p:cBhvr>
                                      <p:tavLst>
                                        <p:tav tm="0">
                                          <p:val>
                                            <p:strVal val="#ppt_x"/>
                                          </p:val>
                                        </p:tav>
                                        <p:tav tm="100000">
                                          <p:val>
                                            <p:strVal val="#ppt_x"/>
                                          </p:val>
                                        </p:tav>
                                      </p:tavLst>
                                    </p:anim>
                                    <p:anim calcmode="lin" valueType="num">
                                      <p:cBhvr additive="base">
                                        <p:cTn id="23" dur="500" fill="hold"/>
                                        <p:tgtEl>
                                          <p:spTgt spid="365627"/>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65628"/>
                                        </p:tgtEl>
                                        <p:attrNameLst>
                                          <p:attrName>style.visibility</p:attrName>
                                        </p:attrNameLst>
                                      </p:cBhvr>
                                      <p:to>
                                        <p:strVal val="visible"/>
                                      </p:to>
                                    </p:set>
                                    <p:anim calcmode="lin" valueType="num">
                                      <p:cBhvr additive="base">
                                        <p:cTn id="26" dur="500" fill="hold"/>
                                        <p:tgtEl>
                                          <p:spTgt spid="365628"/>
                                        </p:tgtEl>
                                        <p:attrNameLst>
                                          <p:attrName>ppt_x</p:attrName>
                                        </p:attrNameLst>
                                      </p:cBhvr>
                                      <p:tavLst>
                                        <p:tav tm="0">
                                          <p:val>
                                            <p:strVal val="#ppt_x"/>
                                          </p:val>
                                        </p:tav>
                                        <p:tav tm="100000">
                                          <p:val>
                                            <p:strVal val="#ppt_x"/>
                                          </p:val>
                                        </p:tav>
                                      </p:tavLst>
                                    </p:anim>
                                    <p:anim calcmode="lin" valueType="num">
                                      <p:cBhvr additive="base">
                                        <p:cTn id="27" dur="500" fill="hold"/>
                                        <p:tgtEl>
                                          <p:spTgt spid="3656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62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8"/>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DF79A3D-3FA2-48EE-AA49-70D8E9321191}"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25</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23" name="Text Box 4"/>
          <p:cNvSpPr txBox="1">
            <a:spLocks noChangeArrowheads="1"/>
          </p:cNvSpPr>
          <p:nvPr/>
        </p:nvSpPr>
        <p:spPr bwMode="auto">
          <a:xfrm>
            <a:off x="836613" y="503238"/>
            <a:ext cx="7243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电感元件充电时，在</a:t>
            </a:r>
            <a:r>
              <a:rPr lang="en-US" altLang="zh-CN" sz="2400" b="1" dirty="0" err="1">
                <a:latin typeface="Times New Roman" panose="02020603050405020304" pitchFamily="18" charset="0"/>
                <a:ea typeface="华文中宋" panose="02010600040101010101" pitchFamily="2" charset="-122"/>
                <a:cs typeface="Times New Roman" panose="02020603050405020304" pitchFamily="18" charset="0"/>
              </a:rPr>
              <a:t>dt</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时间内电感元件存储的能量为</a:t>
            </a:r>
          </a:p>
        </p:txBody>
      </p:sp>
      <p:graphicFrame>
        <p:nvGraphicFramePr>
          <p:cNvPr id="393221" name="Object 5"/>
          <p:cNvGraphicFramePr>
            <a:graphicFrameLocks noGrp="1" noChangeAspect="1"/>
          </p:cNvGraphicFramePr>
          <p:nvPr>
            <p:ph sz="quarter" idx="1"/>
            <p:extLst>
              <p:ext uri="{D42A27DB-BD31-4B8C-83A1-F6EECF244321}">
                <p14:modId xmlns:p14="http://schemas.microsoft.com/office/powerpoint/2010/main" val="1023653328"/>
              </p:ext>
            </p:extLst>
          </p:nvPr>
        </p:nvGraphicFramePr>
        <p:xfrm>
          <a:off x="2006600" y="998538"/>
          <a:ext cx="4905375" cy="799306"/>
        </p:xfrm>
        <a:graphic>
          <a:graphicData uri="http://schemas.openxmlformats.org/presentationml/2006/ole">
            <mc:AlternateContent xmlns:mc="http://schemas.openxmlformats.org/markup-compatibility/2006">
              <mc:Choice xmlns:v="urn:schemas-microsoft-com:vml" Requires="v">
                <p:oleObj spid="_x0000_s30882" name="Equation" r:id="rId3" imgW="1828800" imgH="355600" progId="Equation.DSMT4">
                  <p:embed/>
                </p:oleObj>
              </mc:Choice>
              <mc:Fallback>
                <p:oleObj name="Equation" r:id="rId3" imgW="1828800" imgH="3556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6600" y="998538"/>
                        <a:ext cx="4905375" cy="799306"/>
                      </a:xfrm>
                      <a:prstGeom prst="rect">
                        <a:avLst/>
                      </a:prstGeom>
                      <a:noFill/>
                      <a:ln>
                        <a:noFill/>
                      </a:ln>
                      <a:effectLst/>
                      <a:extLst/>
                    </p:spPr>
                  </p:pic>
                </p:oleObj>
              </mc:Fallback>
            </mc:AlternateContent>
          </a:graphicData>
        </a:graphic>
      </p:graphicFrame>
      <p:graphicFrame>
        <p:nvGraphicFramePr>
          <p:cNvPr id="393224" name="Object 8"/>
          <p:cNvGraphicFramePr>
            <a:graphicFrameLocks noGrp="1" noChangeAspect="1"/>
          </p:cNvGraphicFramePr>
          <p:nvPr>
            <p:ph sz="quarter" idx="2"/>
            <p:extLst>
              <p:ext uri="{D42A27DB-BD31-4B8C-83A1-F6EECF244321}">
                <p14:modId xmlns:p14="http://schemas.microsoft.com/office/powerpoint/2010/main" val="3146586448"/>
              </p:ext>
            </p:extLst>
          </p:nvPr>
        </p:nvGraphicFramePr>
        <p:xfrm>
          <a:off x="2997200" y="2456656"/>
          <a:ext cx="3060700" cy="883444"/>
        </p:xfrm>
        <a:graphic>
          <a:graphicData uri="http://schemas.openxmlformats.org/presentationml/2006/ole">
            <mc:AlternateContent xmlns:mc="http://schemas.openxmlformats.org/markup-compatibility/2006">
              <mc:Choice xmlns:v="urn:schemas-microsoft-com:vml" Requires="v">
                <p:oleObj spid="_x0000_s30883" name="Equation" r:id="rId5" imgW="1079032" imgH="355446" progId="Equation.DSMT4">
                  <p:embed/>
                </p:oleObj>
              </mc:Choice>
              <mc:Fallback>
                <p:oleObj name="Equation" r:id="rId5" imgW="1079032" imgH="355446"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7200" y="2456656"/>
                        <a:ext cx="3060700" cy="883444"/>
                      </a:xfrm>
                      <a:prstGeom prst="rect">
                        <a:avLst/>
                      </a:prstGeom>
                      <a:noFill/>
                      <a:ln>
                        <a:noFill/>
                      </a:ln>
                      <a:effectLst/>
                      <a:extLst/>
                    </p:spPr>
                  </p:pic>
                </p:oleObj>
              </mc:Fallback>
            </mc:AlternateContent>
          </a:graphicData>
        </a:graphic>
      </p:graphicFrame>
      <p:graphicFrame>
        <p:nvGraphicFramePr>
          <p:cNvPr id="393228" name="Object 12"/>
          <p:cNvGraphicFramePr>
            <a:graphicFrameLocks noGrp="1" noChangeAspect="1"/>
          </p:cNvGraphicFramePr>
          <p:nvPr>
            <p:ph sz="quarter" idx="3"/>
            <p:extLst>
              <p:ext uri="{D42A27DB-BD31-4B8C-83A1-F6EECF244321}">
                <p14:modId xmlns:p14="http://schemas.microsoft.com/office/powerpoint/2010/main" val="2992462492"/>
              </p:ext>
            </p:extLst>
          </p:nvPr>
        </p:nvGraphicFramePr>
        <p:xfrm>
          <a:off x="2699792" y="5159673"/>
          <a:ext cx="4005263" cy="901700"/>
        </p:xfrm>
        <a:graphic>
          <a:graphicData uri="http://schemas.openxmlformats.org/presentationml/2006/ole">
            <mc:AlternateContent xmlns:mc="http://schemas.openxmlformats.org/markup-compatibility/2006">
              <mc:Choice xmlns:v="urn:schemas-microsoft-com:vml" Requires="v">
                <p:oleObj spid="_x0000_s30884" name="Equation" r:id="rId7" imgW="1371600" imgH="355600" progId="Equation.DSMT4">
                  <p:embed/>
                </p:oleObj>
              </mc:Choice>
              <mc:Fallback>
                <p:oleObj name="Equation" r:id="rId7" imgW="1371600" imgH="355600"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9792" y="5159673"/>
                        <a:ext cx="4005263" cy="901700"/>
                      </a:xfrm>
                      <a:prstGeom prst="rect">
                        <a:avLst/>
                      </a:prstGeom>
                      <a:solidFill>
                        <a:srgbClr val="CBC2E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7" name="Text Box 7"/>
          <p:cNvSpPr txBox="1">
            <a:spLocks noChangeArrowheads="1"/>
          </p:cNvSpPr>
          <p:nvPr/>
        </p:nvSpPr>
        <p:spPr bwMode="auto">
          <a:xfrm>
            <a:off x="701675" y="1898650"/>
            <a:ext cx="7243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电感</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电流由</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零增大到</a:t>
            </a:r>
            <a:r>
              <a:rPr lang="en-US" altLang="zh-CN" sz="2400" b="1" dirty="0" err="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所获得的能量</a:t>
            </a:r>
          </a:p>
        </p:txBody>
      </p:sp>
      <p:sp>
        <p:nvSpPr>
          <p:cNvPr id="30729" name="Rectangle 15"/>
          <p:cNvSpPr>
            <a:spLocks noChangeArrowheads="1"/>
          </p:cNvSpPr>
          <p:nvPr/>
        </p:nvSpPr>
        <p:spPr bwMode="auto">
          <a:xfrm>
            <a:off x="611188" y="3384550"/>
            <a:ext cx="388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电感元件存储的磁通链为</a:t>
            </a:r>
          </a:p>
        </p:txBody>
      </p:sp>
      <p:graphicFrame>
        <p:nvGraphicFramePr>
          <p:cNvPr id="393241" name="Object 25"/>
          <p:cNvGraphicFramePr>
            <a:graphicFrameLocks noGrp="1" noChangeAspect="1"/>
          </p:cNvGraphicFramePr>
          <p:nvPr>
            <p:ph sz="quarter" idx="4"/>
            <p:extLst>
              <p:ext uri="{D42A27DB-BD31-4B8C-83A1-F6EECF244321}">
                <p14:modId xmlns:p14="http://schemas.microsoft.com/office/powerpoint/2010/main" val="3380375680"/>
              </p:ext>
            </p:extLst>
          </p:nvPr>
        </p:nvGraphicFramePr>
        <p:xfrm>
          <a:off x="2882900" y="3841749"/>
          <a:ext cx="3489325" cy="735013"/>
        </p:xfrm>
        <a:graphic>
          <a:graphicData uri="http://schemas.openxmlformats.org/presentationml/2006/ole">
            <mc:AlternateContent xmlns:mc="http://schemas.openxmlformats.org/markup-compatibility/2006">
              <mc:Choice xmlns:v="urn:schemas-microsoft-com:vml" Requires="v">
                <p:oleObj spid="_x0000_s30885" name="Equation" r:id="rId9" imgW="1257300" imgH="292100" progId="Equation.DSMT4">
                  <p:embed/>
                </p:oleObj>
              </mc:Choice>
              <mc:Fallback>
                <p:oleObj name="Equation" r:id="rId9" imgW="1257300" imgH="292100" progId="Equation.DSMT4">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82900" y="3841749"/>
                        <a:ext cx="3489325" cy="735013"/>
                      </a:xfrm>
                      <a:prstGeom prst="rect">
                        <a:avLst/>
                      </a:prstGeom>
                      <a:noFill/>
                      <a:ln>
                        <a:noFill/>
                      </a:ln>
                      <a:effectLst/>
                      <a:extLst/>
                    </p:spPr>
                  </p:pic>
                </p:oleObj>
              </mc:Fallback>
            </mc:AlternateContent>
          </a:graphicData>
        </a:graphic>
      </p:graphicFrame>
      <p:sp>
        <p:nvSpPr>
          <p:cNvPr id="12" name="Rectangle 28"/>
          <p:cNvSpPr>
            <a:spLocks noChangeArrowheads="1"/>
          </p:cNvSpPr>
          <p:nvPr/>
        </p:nvSpPr>
        <p:spPr bwMode="auto">
          <a:xfrm>
            <a:off x="581971" y="4635659"/>
            <a:ext cx="74020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结合上面</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公式</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和                 ，电感元件</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电流可表示为</a:t>
            </a:r>
            <a:endParaRPr lang="zh-CN" altLang="en-US" sz="2400" b="1" dirty="0">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13" name="Object 52" descr="40%">
            <a:hlinkClick r:id="" action="ppaction://ole?verb=0"/>
          </p:cNvPr>
          <p:cNvGraphicFramePr>
            <a:graphicFrameLocks/>
          </p:cNvGraphicFramePr>
          <p:nvPr>
            <p:extLst>
              <p:ext uri="{D42A27DB-BD31-4B8C-83A1-F6EECF244321}">
                <p14:modId xmlns:p14="http://schemas.microsoft.com/office/powerpoint/2010/main" val="4123492233"/>
              </p:ext>
            </p:extLst>
          </p:nvPr>
        </p:nvGraphicFramePr>
        <p:xfrm>
          <a:off x="2997200" y="4626082"/>
          <a:ext cx="1214760" cy="390822"/>
        </p:xfrm>
        <a:graphic>
          <a:graphicData uri="http://schemas.openxmlformats.org/presentationml/2006/ole">
            <mc:AlternateContent xmlns:mc="http://schemas.openxmlformats.org/markup-compatibility/2006">
              <mc:Choice xmlns:v="urn:schemas-microsoft-com:vml" Requires="v">
                <p:oleObj spid="_x0000_s30886" name="Equation" r:id="rId11" imgW="390612" imgH="142830" progId="Equation.DSMT4">
                  <p:embed/>
                </p:oleObj>
              </mc:Choice>
              <mc:Fallback>
                <p:oleObj name="Equation" r:id="rId11" imgW="390612" imgH="142830" progId="Equation.DSMT4">
                  <p:embed/>
                  <p:pic>
                    <p:nvPicPr>
                      <p:cNvPr id="0" name=""/>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97200" y="4626082"/>
                        <a:ext cx="1214760" cy="390822"/>
                      </a:xfrm>
                      <a:prstGeom prst="rect">
                        <a:avLst/>
                      </a:prstGeom>
                      <a:noFill/>
                      <a:ln>
                        <a:noFill/>
                      </a:ln>
                      <a:effectLs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93221"/>
                                        </p:tgtEl>
                                        <p:attrNameLst>
                                          <p:attrName>style.visibility</p:attrName>
                                        </p:attrNameLst>
                                      </p:cBhvr>
                                      <p:to>
                                        <p:strVal val="visible"/>
                                      </p:to>
                                    </p:set>
                                    <p:anim calcmode="lin" valueType="num">
                                      <p:cBhvr additive="base">
                                        <p:cTn id="7" dur="500" fill="hold"/>
                                        <p:tgtEl>
                                          <p:spTgt spid="393221"/>
                                        </p:tgtEl>
                                        <p:attrNameLst>
                                          <p:attrName>ppt_x</p:attrName>
                                        </p:attrNameLst>
                                      </p:cBhvr>
                                      <p:tavLst>
                                        <p:tav tm="0">
                                          <p:val>
                                            <p:strVal val="0-#ppt_w/2"/>
                                          </p:val>
                                        </p:tav>
                                        <p:tav tm="100000">
                                          <p:val>
                                            <p:strVal val="#ppt_x"/>
                                          </p:val>
                                        </p:tav>
                                      </p:tavLst>
                                    </p:anim>
                                    <p:anim calcmode="lin" valueType="num">
                                      <p:cBhvr additive="base">
                                        <p:cTn id="8" dur="500" fill="hold"/>
                                        <p:tgtEl>
                                          <p:spTgt spid="39322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393224"/>
                                        </p:tgtEl>
                                        <p:attrNameLst>
                                          <p:attrName>style.visibility</p:attrName>
                                        </p:attrNameLst>
                                      </p:cBhvr>
                                      <p:to>
                                        <p:strVal val="visible"/>
                                      </p:to>
                                    </p:set>
                                    <p:animEffect transition="in" filter="blinds(horizontal)">
                                      <p:cBhvr>
                                        <p:cTn id="13" dur="500"/>
                                        <p:tgtEl>
                                          <p:spTgt spid="39322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393241"/>
                                        </p:tgtEl>
                                        <p:attrNameLst>
                                          <p:attrName>style.visibility</p:attrName>
                                        </p:attrNameLst>
                                      </p:cBhvr>
                                      <p:to>
                                        <p:strVal val="visible"/>
                                      </p:to>
                                    </p:set>
                                    <p:anim calcmode="lin" valueType="num">
                                      <p:cBhvr additive="base">
                                        <p:cTn id="18" dur="500" fill="hold"/>
                                        <p:tgtEl>
                                          <p:spTgt spid="393241"/>
                                        </p:tgtEl>
                                        <p:attrNameLst>
                                          <p:attrName>ppt_x</p:attrName>
                                        </p:attrNameLst>
                                      </p:cBhvr>
                                      <p:tavLst>
                                        <p:tav tm="0">
                                          <p:val>
                                            <p:strVal val="0-#ppt_w/2"/>
                                          </p:val>
                                        </p:tav>
                                        <p:tav tm="100000">
                                          <p:val>
                                            <p:strVal val="#ppt_x"/>
                                          </p:val>
                                        </p:tav>
                                      </p:tavLst>
                                    </p:anim>
                                    <p:anim calcmode="lin" valueType="num">
                                      <p:cBhvr additive="base">
                                        <p:cTn id="19" dur="500" fill="hold"/>
                                        <p:tgtEl>
                                          <p:spTgt spid="393241"/>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393228"/>
                                        </p:tgtEl>
                                        <p:attrNameLst>
                                          <p:attrName>style.visibility</p:attrName>
                                        </p:attrNameLst>
                                      </p:cBhvr>
                                      <p:to>
                                        <p:strVal val="visible"/>
                                      </p:to>
                                    </p:set>
                                    <p:anim calcmode="lin" valueType="num">
                                      <p:cBhvr additive="base">
                                        <p:cTn id="24" dur="500" fill="hold"/>
                                        <p:tgtEl>
                                          <p:spTgt spid="393228"/>
                                        </p:tgtEl>
                                        <p:attrNameLst>
                                          <p:attrName>ppt_x</p:attrName>
                                        </p:attrNameLst>
                                      </p:cBhvr>
                                      <p:tavLst>
                                        <p:tav tm="0">
                                          <p:val>
                                            <p:strVal val="0-#ppt_w/2"/>
                                          </p:val>
                                        </p:tav>
                                        <p:tav tm="100000">
                                          <p:val>
                                            <p:strVal val="#ppt_x"/>
                                          </p:val>
                                        </p:tav>
                                      </p:tavLst>
                                    </p:anim>
                                    <p:anim calcmode="lin" valueType="num">
                                      <p:cBhvr additive="base">
                                        <p:cTn id="25" dur="500" fill="hold"/>
                                        <p:tgtEl>
                                          <p:spTgt spid="3932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67618" name="Object 2"/>
          <p:cNvGraphicFramePr>
            <a:graphicFrameLocks noChangeAspect="1"/>
          </p:cNvGraphicFramePr>
          <p:nvPr>
            <p:extLst>
              <p:ext uri="{D42A27DB-BD31-4B8C-83A1-F6EECF244321}">
                <p14:modId xmlns:p14="http://schemas.microsoft.com/office/powerpoint/2010/main" val="3144332903"/>
              </p:ext>
            </p:extLst>
          </p:nvPr>
        </p:nvGraphicFramePr>
        <p:xfrm>
          <a:off x="1738313" y="4075113"/>
          <a:ext cx="4454525" cy="928687"/>
        </p:xfrm>
        <a:graphic>
          <a:graphicData uri="http://schemas.openxmlformats.org/presentationml/2006/ole">
            <mc:AlternateContent xmlns:mc="http://schemas.openxmlformats.org/markup-compatibility/2006">
              <mc:Choice xmlns:v="urn:schemas-microsoft-com:vml" Requires="v">
                <p:oleObj spid="_x0000_s32087" name="Equation" r:id="rId4" imgW="1371600" imgH="355600" progId="Equation.DSMT4">
                  <p:embed/>
                </p:oleObj>
              </mc:Choice>
              <mc:Fallback>
                <p:oleObj name="Equation" r:id="rId4" imgW="1371600" imgH="3556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38313" y="4075113"/>
                        <a:ext cx="4454525" cy="928687"/>
                      </a:xfrm>
                      <a:prstGeom prst="rect">
                        <a:avLst/>
                      </a:prstGeom>
                      <a:solidFill>
                        <a:srgbClr val="FFCC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747" name="Group 91"/>
          <p:cNvGrpSpPr>
            <a:grpSpLocks/>
          </p:cNvGrpSpPr>
          <p:nvPr/>
        </p:nvGrpSpPr>
        <p:grpSpPr bwMode="auto">
          <a:xfrm>
            <a:off x="6799263" y="3581400"/>
            <a:ext cx="1430337" cy="2201863"/>
            <a:chOff x="4283" y="2256"/>
            <a:chExt cx="901" cy="1387"/>
          </a:xfrm>
        </p:grpSpPr>
        <p:grpSp>
          <p:nvGrpSpPr>
            <p:cNvPr id="31769" name="Group 4"/>
            <p:cNvGrpSpPr>
              <a:grpSpLocks/>
            </p:cNvGrpSpPr>
            <p:nvPr/>
          </p:nvGrpSpPr>
          <p:grpSpPr bwMode="auto">
            <a:xfrm>
              <a:off x="4601" y="2256"/>
              <a:ext cx="329" cy="278"/>
              <a:chOff x="4368" y="672"/>
              <a:chExt cx="284" cy="240"/>
            </a:xfrm>
          </p:grpSpPr>
          <p:graphicFrame>
            <p:nvGraphicFramePr>
              <p:cNvPr id="31785" name="Object 5"/>
              <p:cNvGraphicFramePr>
                <a:graphicFrameLocks noChangeAspect="1"/>
              </p:cNvGraphicFramePr>
              <p:nvPr/>
            </p:nvGraphicFramePr>
            <p:xfrm>
              <a:off x="4416" y="672"/>
              <a:ext cx="132" cy="240"/>
            </p:xfrm>
            <a:graphic>
              <a:graphicData uri="http://schemas.openxmlformats.org/presentationml/2006/ole">
                <mc:AlternateContent xmlns:mc="http://schemas.openxmlformats.org/markup-compatibility/2006">
                  <mc:Choice xmlns:v="urn:schemas-microsoft-com:vml" Requires="v">
                    <p:oleObj spid="_x0000_s32088" name="Equation" r:id="rId6" imgW="85632" imgH="162000" progId="Equation.3">
                      <p:embed/>
                    </p:oleObj>
                  </mc:Choice>
                  <mc:Fallback>
                    <p:oleObj name="Equation" r:id="rId6" imgW="85632" imgH="1620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16" y="672"/>
                            <a:ext cx="13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86" name="Line 6"/>
              <p:cNvSpPr>
                <a:spLocks noChangeShapeType="1"/>
              </p:cNvSpPr>
              <p:nvPr/>
            </p:nvSpPr>
            <p:spPr bwMode="auto">
              <a:xfrm>
                <a:off x="4368" y="912"/>
                <a:ext cx="284"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aphicFrame>
          <p:nvGraphicFramePr>
            <p:cNvPr id="31770" name="Object 7"/>
            <p:cNvGraphicFramePr>
              <a:graphicFrameLocks noChangeAspect="1"/>
            </p:cNvGraphicFramePr>
            <p:nvPr/>
          </p:nvGraphicFramePr>
          <p:xfrm>
            <a:off x="4387" y="3024"/>
            <a:ext cx="214" cy="240"/>
          </p:xfrm>
          <a:graphic>
            <a:graphicData uri="http://schemas.openxmlformats.org/presentationml/2006/ole">
              <mc:AlternateContent xmlns:mc="http://schemas.openxmlformats.org/markup-compatibility/2006">
                <mc:Choice xmlns:v="urn:schemas-microsoft-com:vml" Requires="v">
                  <p:oleObj spid="_x0000_s32089" name="Equation" r:id="rId8" imgW="104812" imgH="123930" progId="Equation.3">
                    <p:embed/>
                  </p:oleObj>
                </mc:Choice>
                <mc:Fallback>
                  <p:oleObj name="Equation" r:id="rId8" imgW="104812" imgH="12393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87" y="3024"/>
                          <a:ext cx="214"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71" name="Text Box 8"/>
            <p:cNvSpPr txBox="1">
              <a:spLocks noChangeArrowheads="1"/>
            </p:cNvSpPr>
            <p:nvPr/>
          </p:nvSpPr>
          <p:spPr bwMode="auto">
            <a:xfrm>
              <a:off x="4337" y="2591"/>
              <a:ext cx="253"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1772" name="Text Box 9"/>
            <p:cNvSpPr txBox="1">
              <a:spLocks noChangeArrowheads="1"/>
            </p:cNvSpPr>
            <p:nvPr/>
          </p:nvSpPr>
          <p:spPr bwMode="auto">
            <a:xfrm>
              <a:off x="4283" y="3264"/>
              <a:ext cx="373"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zh-CN" altLang="en-US" b="1">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31773" name="Group 10"/>
            <p:cNvGrpSpPr>
              <a:grpSpLocks/>
            </p:cNvGrpSpPr>
            <p:nvPr/>
          </p:nvGrpSpPr>
          <p:grpSpPr bwMode="auto">
            <a:xfrm>
              <a:off x="5092" y="2616"/>
              <a:ext cx="92" cy="1001"/>
              <a:chOff x="4127" y="671"/>
              <a:chExt cx="68" cy="918"/>
            </a:xfrm>
          </p:grpSpPr>
          <p:sp>
            <p:nvSpPr>
              <p:cNvPr id="31779" name="Freeform 11"/>
              <p:cNvSpPr>
                <a:spLocks/>
              </p:cNvSpPr>
              <p:nvPr/>
            </p:nvSpPr>
            <p:spPr bwMode="auto">
              <a:xfrm>
                <a:off x="4127" y="1006"/>
                <a:ext cx="68" cy="120"/>
              </a:xfrm>
              <a:custGeom>
                <a:avLst/>
                <a:gdLst>
                  <a:gd name="T0" fmla="*/ 0 w 140"/>
                  <a:gd name="T1" fmla="*/ 0 h 198"/>
                  <a:gd name="T2" fmla="*/ 28 w 140"/>
                  <a:gd name="T3" fmla="*/ 22 h 198"/>
                  <a:gd name="T4" fmla="*/ 28 w 140"/>
                  <a:gd name="T5" fmla="*/ 53 h 198"/>
                  <a:gd name="T6" fmla="*/ 0 w 140"/>
                  <a:gd name="T7" fmla="*/ 73 h 1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80" name="Freeform 12"/>
              <p:cNvSpPr>
                <a:spLocks/>
              </p:cNvSpPr>
              <p:nvPr/>
            </p:nvSpPr>
            <p:spPr bwMode="auto">
              <a:xfrm>
                <a:off x="4127" y="1126"/>
                <a:ext cx="68" cy="120"/>
              </a:xfrm>
              <a:custGeom>
                <a:avLst/>
                <a:gdLst>
                  <a:gd name="T0" fmla="*/ 0 w 140"/>
                  <a:gd name="T1" fmla="*/ 0 h 198"/>
                  <a:gd name="T2" fmla="*/ 28 w 140"/>
                  <a:gd name="T3" fmla="*/ 22 h 198"/>
                  <a:gd name="T4" fmla="*/ 28 w 140"/>
                  <a:gd name="T5" fmla="*/ 53 h 198"/>
                  <a:gd name="T6" fmla="*/ 0 w 140"/>
                  <a:gd name="T7" fmla="*/ 73 h 1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81" name="Freeform 13"/>
              <p:cNvSpPr>
                <a:spLocks/>
              </p:cNvSpPr>
              <p:nvPr/>
            </p:nvSpPr>
            <p:spPr bwMode="auto">
              <a:xfrm>
                <a:off x="4127" y="1246"/>
                <a:ext cx="68" cy="120"/>
              </a:xfrm>
              <a:custGeom>
                <a:avLst/>
                <a:gdLst>
                  <a:gd name="T0" fmla="*/ 0 w 140"/>
                  <a:gd name="T1" fmla="*/ 0 h 198"/>
                  <a:gd name="T2" fmla="*/ 28 w 140"/>
                  <a:gd name="T3" fmla="*/ 22 h 198"/>
                  <a:gd name="T4" fmla="*/ 28 w 140"/>
                  <a:gd name="T5" fmla="*/ 53 h 198"/>
                  <a:gd name="T6" fmla="*/ 0 w 140"/>
                  <a:gd name="T7" fmla="*/ 73 h 1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82" name="Line 14"/>
              <p:cNvSpPr>
                <a:spLocks noChangeShapeType="1"/>
              </p:cNvSpPr>
              <p:nvPr/>
            </p:nvSpPr>
            <p:spPr bwMode="auto">
              <a:xfrm>
                <a:off x="4132" y="1361"/>
                <a:ext cx="0" cy="2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83" name="Line 15"/>
              <p:cNvSpPr>
                <a:spLocks noChangeShapeType="1"/>
              </p:cNvSpPr>
              <p:nvPr/>
            </p:nvSpPr>
            <p:spPr bwMode="auto">
              <a:xfrm>
                <a:off x="4132" y="671"/>
                <a:ext cx="0" cy="2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84" name="Freeform 16"/>
              <p:cNvSpPr>
                <a:spLocks/>
              </p:cNvSpPr>
              <p:nvPr/>
            </p:nvSpPr>
            <p:spPr bwMode="auto">
              <a:xfrm>
                <a:off x="4127" y="892"/>
                <a:ext cx="68" cy="120"/>
              </a:xfrm>
              <a:custGeom>
                <a:avLst/>
                <a:gdLst>
                  <a:gd name="T0" fmla="*/ 0 w 140"/>
                  <a:gd name="T1" fmla="*/ 0 h 198"/>
                  <a:gd name="T2" fmla="*/ 28 w 140"/>
                  <a:gd name="T3" fmla="*/ 22 h 198"/>
                  <a:gd name="T4" fmla="*/ 28 w 140"/>
                  <a:gd name="T5" fmla="*/ 53 h 198"/>
                  <a:gd name="T6" fmla="*/ 0 w 140"/>
                  <a:gd name="T7" fmla="*/ 73 h 1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198">
                    <a:moveTo>
                      <a:pt x="0" y="0"/>
                    </a:moveTo>
                    <a:cubicBezTo>
                      <a:pt x="50" y="18"/>
                      <a:pt x="100" y="36"/>
                      <a:pt x="120" y="60"/>
                    </a:cubicBezTo>
                    <a:cubicBezTo>
                      <a:pt x="140" y="84"/>
                      <a:pt x="140" y="121"/>
                      <a:pt x="120" y="144"/>
                    </a:cubicBezTo>
                    <a:cubicBezTo>
                      <a:pt x="100" y="167"/>
                      <a:pt x="20" y="189"/>
                      <a:pt x="0" y="198"/>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1774" name="Line 17"/>
            <p:cNvSpPr>
              <a:spLocks noChangeShapeType="1"/>
            </p:cNvSpPr>
            <p:nvPr/>
          </p:nvSpPr>
          <p:spPr bwMode="auto">
            <a:xfrm>
              <a:off x="4500" y="2616"/>
              <a:ext cx="59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75" name="Line 18"/>
            <p:cNvSpPr>
              <a:spLocks noChangeShapeType="1"/>
            </p:cNvSpPr>
            <p:nvPr/>
          </p:nvSpPr>
          <p:spPr bwMode="auto">
            <a:xfrm>
              <a:off x="4500" y="3610"/>
              <a:ext cx="59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76" name="Oval 19"/>
            <p:cNvSpPr>
              <a:spLocks noChangeArrowheads="1"/>
            </p:cNvSpPr>
            <p:nvPr/>
          </p:nvSpPr>
          <p:spPr bwMode="auto">
            <a:xfrm>
              <a:off x="4458" y="2589"/>
              <a:ext cx="52" cy="52"/>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77" name="Text Box 20"/>
            <p:cNvSpPr txBox="1">
              <a:spLocks noChangeArrowheads="1"/>
            </p:cNvSpPr>
            <p:nvPr/>
          </p:nvSpPr>
          <p:spPr bwMode="auto">
            <a:xfrm>
              <a:off x="4837" y="2971"/>
              <a:ext cx="23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L</a:t>
              </a:r>
            </a:p>
          </p:txBody>
        </p:sp>
        <p:sp>
          <p:nvSpPr>
            <p:cNvPr id="31778" name="Oval 21"/>
            <p:cNvSpPr>
              <a:spLocks noChangeArrowheads="1"/>
            </p:cNvSpPr>
            <p:nvPr/>
          </p:nvSpPr>
          <p:spPr bwMode="auto">
            <a:xfrm>
              <a:off x="4458" y="3591"/>
              <a:ext cx="52" cy="52"/>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1748" name="Rectangle 55"/>
          <p:cNvSpPr>
            <a:spLocks noGrp="1" noChangeArrowheads="1"/>
          </p:cNvSpPr>
          <p:nvPr>
            <p:ph type="title"/>
          </p:nvPr>
        </p:nvSpPr>
        <p:spPr>
          <a:xfrm>
            <a:off x="609600" y="381000"/>
            <a:ext cx="5715000" cy="609600"/>
          </a:xfrm>
        </p:spPr>
        <p:txBody>
          <a:bodyPr/>
          <a:lstStyle/>
          <a:p>
            <a:r>
              <a:rPr lang="zh-CN" altLang="en-US" sz="2800" b="1" smtClean="0">
                <a:solidFill>
                  <a:schemeClr val="tx1"/>
                </a:solidFill>
                <a:latin typeface="Times New Roman" panose="02020603050405020304" pitchFamily="18" charset="0"/>
                <a:ea typeface="华文中宋" panose="02010600040101010101" pitchFamily="2" charset="-122"/>
                <a:cs typeface="Times New Roman" panose="02020603050405020304" pitchFamily="18" charset="0"/>
              </a:rPr>
              <a:t>对照电容元件与电感元件</a:t>
            </a:r>
          </a:p>
        </p:txBody>
      </p:sp>
      <p:graphicFrame>
        <p:nvGraphicFramePr>
          <p:cNvPr id="367675" name="Object 59">
            <a:hlinkClick r:id="" action="ppaction://ole?verb=0"/>
          </p:cNvPr>
          <p:cNvGraphicFramePr>
            <a:graphicFrameLocks/>
          </p:cNvGraphicFramePr>
          <p:nvPr>
            <p:extLst>
              <p:ext uri="{D42A27DB-BD31-4B8C-83A1-F6EECF244321}">
                <p14:modId xmlns:p14="http://schemas.microsoft.com/office/powerpoint/2010/main" val="1330819286"/>
              </p:ext>
            </p:extLst>
          </p:nvPr>
        </p:nvGraphicFramePr>
        <p:xfrm>
          <a:off x="2727325" y="3068638"/>
          <a:ext cx="2541588" cy="930275"/>
        </p:xfrm>
        <a:graphic>
          <a:graphicData uri="http://schemas.openxmlformats.org/presentationml/2006/ole">
            <mc:AlternateContent xmlns:mc="http://schemas.openxmlformats.org/markup-compatibility/2006">
              <mc:Choice xmlns:v="urn:schemas-microsoft-com:vml" Requires="v">
                <p:oleObj spid="_x0000_s32090" name="Equation" r:id="rId10" imgW="466790" imgH="333450" progId="Equation.DSMT4">
                  <p:embed/>
                </p:oleObj>
              </mc:Choice>
              <mc:Fallback>
                <p:oleObj name="Equation" r:id="rId10" imgW="466790" imgH="333450" progId="Equation.DSMT4">
                  <p:embed/>
                  <p:pic>
                    <p:nvPicPr>
                      <p:cNvPr id="0" name="Object 5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27325" y="3068638"/>
                        <a:ext cx="2541588" cy="930275"/>
                      </a:xfrm>
                      <a:prstGeom prst="rect">
                        <a:avLst/>
                      </a:prstGeom>
                      <a:solidFill>
                        <a:srgbClr val="FFCCCC"/>
                      </a:solidFill>
                      <a:ln>
                        <a:noFill/>
                      </a:ln>
                      <a:effectLst/>
                      <a:extLst>
                        <a:ext uri="{91240B29-F687-4F45-9708-019B960494DF}">
                          <a14:hiddenLine xmlns:a14="http://schemas.microsoft.com/office/drawing/2010/main" w="127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1750" name="Group 92"/>
          <p:cNvGrpSpPr>
            <a:grpSpLocks/>
          </p:cNvGrpSpPr>
          <p:nvPr/>
        </p:nvGrpSpPr>
        <p:grpSpPr bwMode="auto">
          <a:xfrm>
            <a:off x="6796088" y="685800"/>
            <a:ext cx="1509712" cy="2201863"/>
            <a:chOff x="4281" y="432"/>
            <a:chExt cx="951" cy="1387"/>
          </a:xfrm>
        </p:grpSpPr>
        <p:graphicFrame>
          <p:nvGraphicFramePr>
            <p:cNvPr id="31755" name="Object 64"/>
            <p:cNvGraphicFramePr>
              <a:graphicFrameLocks noChangeAspect="1"/>
            </p:cNvGraphicFramePr>
            <p:nvPr/>
          </p:nvGraphicFramePr>
          <p:xfrm>
            <a:off x="4638" y="432"/>
            <a:ext cx="153" cy="278"/>
          </p:xfrm>
          <a:graphic>
            <a:graphicData uri="http://schemas.openxmlformats.org/presentationml/2006/ole">
              <mc:AlternateContent xmlns:mc="http://schemas.openxmlformats.org/markup-compatibility/2006">
                <mc:Choice xmlns:v="urn:schemas-microsoft-com:vml" Requires="v">
                  <p:oleObj spid="_x0000_s32091" name="Equation" r:id="rId12" imgW="85632" imgH="162000" progId="Equation.3">
                    <p:embed/>
                  </p:oleObj>
                </mc:Choice>
                <mc:Fallback>
                  <p:oleObj name="Equation" r:id="rId12" imgW="85632" imgH="162000" progId="Equation.3">
                    <p:embed/>
                    <p:pic>
                      <p:nvPicPr>
                        <p:cNvPr id="0" name="Object 6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38" y="432"/>
                          <a:ext cx="153"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6" name="Line 65"/>
            <p:cNvSpPr>
              <a:spLocks noChangeShapeType="1"/>
            </p:cNvSpPr>
            <p:nvPr/>
          </p:nvSpPr>
          <p:spPr bwMode="auto">
            <a:xfrm>
              <a:off x="4582" y="710"/>
              <a:ext cx="329"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31757" name="Object 66"/>
            <p:cNvGraphicFramePr>
              <a:graphicFrameLocks noChangeAspect="1"/>
            </p:cNvGraphicFramePr>
            <p:nvPr/>
          </p:nvGraphicFramePr>
          <p:xfrm>
            <a:off x="4320" y="1200"/>
            <a:ext cx="214" cy="240"/>
          </p:xfrm>
          <a:graphic>
            <a:graphicData uri="http://schemas.openxmlformats.org/presentationml/2006/ole">
              <mc:AlternateContent xmlns:mc="http://schemas.openxmlformats.org/markup-compatibility/2006">
                <mc:Choice xmlns:v="urn:schemas-microsoft-com:vml" Requires="v">
                  <p:oleObj spid="_x0000_s32092" name="Equation" r:id="rId14" imgW="104812" imgH="123930" progId="Equation.3">
                    <p:embed/>
                  </p:oleObj>
                </mc:Choice>
                <mc:Fallback>
                  <p:oleObj name="Equation" r:id="rId14" imgW="104812" imgH="123930" progId="Equation.3">
                    <p:embed/>
                    <p:pic>
                      <p:nvPicPr>
                        <p:cNvPr id="0" name="Object 6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20" y="1200"/>
                          <a:ext cx="214"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8" name="Text Box 67"/>
            <p:cNvSpPr txBox="1">
              <a:spLocks noChangeArrowheads="1"/>
            </p:cNvSpPr>
            <p:nvPr/>
          </p:nvSpPr>
          <p:spPr bwMode="auto">
            <a:xfrm>
              <a:off x="4327" y="815"/>
              <a:ext cx="23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1759" name="Text Box 68"/>
            <p:cNvSpPr txBox="1">
              <a:spLocks noChangeArrowheads="1"/>
            </p:cNvSpPr>
            <p:nvPr/>
          </p:nvSpPr>
          <p:spPr bwMode="auto">
            <a:xfrm>
              <a:off x="4281" y="1516"/>
              <a:ext cx="27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zh-CN" altLang="en-US" sz="20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1760" name="Line 74"/>
            <p:cNvSpPr>
              <a:spLocks noChangeShapeType="1"/>
            </p:cNvSpPr>
            <p:nvPr/>
          </p:nvSpPr>
          <p:spPr bwMode="auto">
            <a:xfrm>
              <a:off x="5080" y="768"/>
              <a:ext cx="8" cy="38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61" name="Line 76"/>
            <p:cNvSpPr>
              <a:spLocks noChangeShapeType="1"/>
            </p:cNvSpPr>
            <p:nvPr/>
          </p:nvSpPr>
          <p:spPr bwMode="auto">
            <a:xfrm>
              <a:off x="4481" y="792"/>
              <a:ext cx="59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62" name="Line 77"/>
            <p:cNvSpPr>
              <a:spLocks noChangeShapeType="1"/>
            </p:cNvSpPr>
            <p:nvPr/>
          </p:nvSpPr>
          <p:spPr bwMode="auto">
            <a:xfrm>
              <a:off x="4481" y="1786"/>
              <a:ext cx="59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63" name="Oval 78"/>
            <p:cNvSpPr>
              <a:spLocks noChangeArrowheads="1"/>
            </p:cNvSpPr>
            <p:nvPr/>
          </p:nvSpPr>
          <p:spPr bwMode="auto">
            <a:xfrm>
              <a:off x="4439" y="765"/>
              <a:ext cx="52" cy="52"/>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64" name="Text Box 79"/>
            <p:cNvSpPr txBox="1">
              <a:spLocks noChangeArrowheads="1"/>
            </p:cNvSpPr>
            <p:nvPr/>
          </p:nvSpPr>
          <p:spPr bwMode="auto">
            <a:xfrm>
              <a:off x="4608" y="1147"/>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C</a:t>
              </a:r>
            </a:p>
          </p:txBody>
        </p:sp>
        <p:sp>
          <p:nvSpPr>
            <p:cNvPr id="31765" name="Oval 80"/>
            <p:cNvSpPr>
              <a:spLocks noChangeArrowheads="1"/>
            </p:cNvSpPr>
            <p:nvPr/>
          </p:nvSpPr>
          <p:spPr bwMode="auto">
            <a:xfrm>
              <a:off x="4439" y="1767"/>
              <a:ext cx="52" cy="52"/>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66" name="Line 81"/>
            <p:cNvSpPr>
              <a:spLocks noChangeShapeType="1"/>
            </p:cNvSpPr>
            <p:nvPr/>
          </p:nvSpPr>
          <p:spPr bwMode="auto">
            <a:xfrm>
              <a:off x="4944" y="1152"/>
              <a:ext cx="28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67" name="Line 82"/>
            <p:cNvSpPr>
              <a:spLocks noChangeShapeType="1"/>
            </p:cNvSpPr>
            <p:nvPr/>
          </p:nvSpPr>
          <p:spPr bwMode="auto">
            <a:xfrm flipV="1">
              <a:off x="5088" y="1248"/>
              <a:ext cx="0" cy="52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768" name="Line 83"/>
            <p:cNvSpPr>
              <a:spLocks noChangeShapeType="1"/>
            </p:cNvSpPr>
            <p:nvPr/>
          </p:nvSpPr>
          <p:spPr bwMode="auto">
            <a:xfrm>
              <a:off x="4944" y="1248"/>
              <a:ext cx="28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aphicFrame>
        <p:nvGraphicFramePr>
          <p:cNvPr id="367702" name="Object 86"/>
          <p:cNvGraphicFramePr>
            <a:graphicFrameLocks noChangeAspect="1"/>
          </p:cNvGraphicFramePr>
          <p:nvPr>
            <p:extLst>
              <p:ext uri="{D42A27DB-BD31-4B8C-83A1-F6EECF244321}">
                <p14:modId xmlns:p14="http://schemas.microsoft.com/office/powerpoint/2010/main" val="1846024110"/>
              </p:ext>
            </p:extLst>
          </p:nvPr>
        </p:nvGraphicFramePr>
        <p:xfrm>
          <a:off x="2771775" y="998538"/>
          <a:ext cx="2312988" cy="930275"/>
        </p:xfrm>
        <a:graphic>
          <a:graphicData uri="http://schemas.openxmlformats.org/presentationml/2006/ole">
            <mc:AlternateContent xmlns:mc="http://schemas.openxmlformats.org/markup-compatibility/2006">
              <mc:Choice xmlns:v="urn:schemas-microsoft-com:vml" Requires="v">
                <p:oleObj spid="_x0000_s32093" name="Equation" r:id="rId16" imgW="466790" imgH="333450" progId="Equation.DSMT4">
                  <p:embed/>
                </p:oleObj>
              </mc:Choice>
              <mc:Fallback>
                <p:oleObj name="Equation" r:id="rId16" imgW="466790" imgH="333450" progId="Equation.DSMT4">
                  <p:embed/>
                  <p:pic>
                    <p:nvPicPr>
                      <p:cNvPr id="0" name="Object 8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71775" y="998538"/>
                        <a:ext cx="2312988" cy="930275"/>
                      </a:xfrm>
                      <a:prstGeom prst="rect">
                        <a:avLst/>
                      </a:prstGeom>
                      <a:solidFill>
                        <a:srgbClr val="CBC2E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7703" name="Object 87"/>
          <p:cNvGraphicFramePr>
            <a:graphicFrameLocks noGrp="1" noChangeAspect="1"/>
          </p:cNvGraphicFramePr>
          <p:nvPr>
            <p:ph type="body" idx="1"/>
            <p:extLst>
              <p:ext uri="{D42A27DB-BD31-4B8C-83A1-F6EECF244321}">
                <p14:modId xmlns:p14="http://schemas.microsoft.com/office/powerpoint/2010/main" val="1495459234"/>
              </p:ext>
            </p:extLst>
          </p:nvPr>
        </p:nvGraphicFramePr>
        <p:xfrm>
          <a:off x="1795463" y="2032000"/>
          <a:ext cx="4081462" cy="992188"/>
        </p:xfrm>
        <a:graphic>
          <a:graphicData uri="http://schemas.openxmlformats.org/presentationml/2006/ole">
            <mc:AlternateContent xmlns:mc="http://schemas.openxmlformats.org/markup-compatibility/2006">
              <mc:Choice xmlns:v="urn:schemas-microsoft-com:vml" Requires="v">
                <p:oleObj spid="_x0000_s32094" name="Equation" r:id="rId18" imgW="1371600" imgH="355600" progId="Equation.DSMT4">
                  <p:embed/>
                </p:oleObj>
              </mc:Choice>
              <mc:Fallback>
                <p:oleObj name="Equation" r:id="rId18" imgW="1371600" imgH="355600" progId="Equation.DSMT4">
                  <p:embed/>
                  <p:pic>
                    <p:nvPicPr>
                      <p:cNvPr id="0" name="Object 8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95463" y="2032000"/>
                        <a:ext cx="4081462" cy="992188"/>
                      </a:xfrm>
                      <a:prstGeom prst="rect">
                        <a:avLst/>
                      </a:prstGeom>
                      <a:solidFill>
                        <a:srgbClr val="CBC2EA"/>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7704" name="Object 88"/>
          <p:cNvGraphicFramePr>
            <a:graphicFrameLocks noChangeAspect="1"/>
          </p:cNvGraphicFramePr>
          <p:nvPr>
            <p:extLst>
              <p:ext uri="{D42A27DB-BD31-4B8C-83A1-F6EECF244321}">
                <p14:modId xmlns:p14="http://schemas.microsoft.com/office/powerpoint/2010/main" val="2563076062"/>
              </p:ext>
            </p:extLst>
          </p:nvPr>
        </p:nvGraphicFramePr>
        <p:xfrm>
          <a:off x="2727325" y="4914900"/>
          <a:ext cx="2320925" cy="990600"/>
        </p:xfrm>
        <a:graphic>
          <a:graphicData uri="http://schemas.openxmlformats.org/presentationml/2006/ole">
            <mc:AlternateContent xmlns:mc="http://schemas.openxmlformats.org/markup-compatibility/2006">
              <mc:Choice xmlns:v="urn:schemas-microsoft-com:vml" Requires="v">
                <p:oleObj spid="_x0000_s32095" name="Equation" r:id="rId20" imgW="660113" imgH="355446" progId="Equation.DSMT4">
                  <p:embed/>
                </p:oleObj>
              </mc:Choice>
              <mc:Fallback>
                <p:oleObj name="Equation" r:id="rId20" imgW="660113" imgH="355446" progId="Equation.DSMT4">
                  <p:embed/>
                  <p:pic>
                    <p:nvPicPr>
                      <p:cNvPr id="0" name="Object 8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27325" y="4914900"/>
                        <a:ext cx="2320925"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7705" name="Object 89"/>
          <p:cNvGraphicFramePr>
            <a:graphicFrameLocks noChangeAspect="1"/>
          </p:cNvGraphicFramePr>
          <p:nvPr>
            <p:extLst>
              <p:ext uri="{D42A27DB-BD31-4B8C-83A1-F6EECF244321}">
                <p14:modId xmlns:p14="http://schemas.microsoft.com/office/powerpoint/2010/main" val="3704796298"/>
              </p:ext>
            </p:extLst>
          </p:nvPr>
        </p:nvGraphicFramePr>
        <p:xfrm>
          <a:off x="2951163" y="5589588"/>
          <a:ext cx="2349500" cy="1106487"/>
        </p:xfrm>
        <a:graphic>
          <a:graphicData uri="http://schemas.openxmlformats.org/presentationml/2006/ole">
            <mc:AlternateContent xmlns:mc="http://schemas.openxmlformats.org/markup-compatibility/2006">
              <mc:Choice xmlns:v="urn:schemas-microsoft-com:vml" Requires="v">
                <p:oleObj spid="_x0000_s32096" name="Equation" r:id="rId22" imgW="634725" imgH="355446" progId="Equation.DSMT4">
                  <p:embed/>
                </p:oleObj>
              </mc:Choice>
              <mc:Fallback>
                <p:oleObj name="Equation" r:id="rId22" imgW="634725" imgH="355446" progId="Equation.DSMT4">
                  <p:embed/>
                  <p:pic>
                    <p:nvPicPr>
                      <p:cNvPr id="0" name="Object 8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951163" y="5589588"/>
                        <a:ext cx="2349500" cy="1106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pPr>
              <a:defRPr/>
            </a:pPr>
            <a:fld id="{7F6DAC6E-051E-43BF-A607-F6F4F9E2F096}" type="slidenum">
              <a:rPr lang="en-US" altLang="zh-CN" smtClean="0"/>
              <a:pPr>
                <a:defRPr/>
              </a:pPr>
              <a:t>26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7702"/>
                                        </p:tgtEl>
                                        <p:attrNameLst>
                                          <p:attrName>style.visibility</p:attrName>
                                        </p:attrNameLst>
                                      </p:cBhvr>
                                      <p:to>
                                        <p:strVal val="visible"/>
                                      </p:to>
                                    </p:set>
                                    <p:anim calcmode="lin" valueType="num">
                                      <p:cBhvr additive="base">
                                        <p:cTn id="7" dur="500" fill="hold"/>
                                        <p:tgtEl>
                                          <p:spTgt spid="367702"/>
                                        </p:tgtEl>
                                        <p:attrNameLst>
                                          <p:attrName>ppt_x</p:attrName>
                                        </p:attrNameLst>
                                      </p:cBhvr>
                                      <p:tavLst>
                                        <p:tav tm="0">
                                          <p:val>
                                            <p:strVal val="#ppt_x"/>
                                          </p:val>
                                        </p:tav>
                                        <p:tav tm="100000">
                                          <p:val>
                                            <p:strVal val="#ppt_x"/>
                                          </p:val>
                                        </p:tav>
                                      </p:tavLst>
                                    </p:anim>
                                    <p:anim calcmode="lin" valueType="num">
                                      <p:cBhvr additive="base">
                                        <p:cTn id="8" dur="500" fill="hold"/>
                                        <p:tgtEl>
                                          <p:spTgt spid="36770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67703"/>
                                        </p:tgtEl>
                                        <p:attrNameLst>
                                          <p:attrName>style.visibility</p:attrName>
                                        </p:attrNameLst>
                                      </p:cBhvr>
                                      <p:to>
                                        <p:strVal val="visible"/>
                                      </p:to>
                                    </p:set>
                                    <p:anim calcmode="lin" valueType="num">
                                      <p:cBhvr additive="base">
                                        <p:cTn id="13" dur="500" fill="hold"/>
                                        <p:tgtEl>
                                          <p:spTgt spid="367703"/>
                                        </p:tgtEl>
                                        <p:attrNameLst>
                                          <p:attrName>ppt_x</p:attrName>
                                        </p:attrNameLst>
                                      </p:cBhvr>
                                      <p:tavLst>
                                        <p:tav tm="0">
                                          <p:val>
                                            <p:strVal val="#ppt_x"/>
                                          </p:val>
                                        </p:tav>
                                        <p:tav tm="100000">
                                          <p:val>
                                            <p:strVal val="#ppt_x"/>
                                          </p:val>
                                        </p:tav>
                                      </p:tavLst>
                                    </p:anim>
                                    <p:anim calcmode="lin" valueType="num">
                                      <p:cBhvr additive="base">
                                        <p:cTn id="14" dur="500" fill="hold"/>
                                        <p:tgtEl>
                                          <p:spTgt spid="36770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67675"/>
                                        </p:tgtEl>
                                        <p:attrNameLst>
                                          <p:attrName>style.visibility</p:attrName>
                                        </p:attrNameLst>
                                      </p:cBhvr>
                                      <p:to>
                                        <p:strVal val="visible"/>
                                      </p:to>
                                    </p:set>
                                    <p:anim calcmode="lin" valueType="num">
                                      <p:cBhvr additive="base">
                                        <p:cTn id="19" dur="500" fill="hold"/>
                                        <p:tgtEl>
                                          <p:spTgt spid="367675"/>
                                        </p:tgtEl>
                                        <p:attrNameLst>
                                          <p:attrName>ppt_x</p:attrName>
                                        </p:attrNameLst>
                                      </p:cBhvr>
                                      <p:tavLst>
                                        <p:tav tm="0">
                                          <p:val>
                                            <p:strVal val="#ppt_x"/>
                                          </p:val>
                                        </p:tav>
                                        <p:tav tm="100000">
                                          <p:val>
                                            <p:strVal val="#ppt_x"/>
                                          </p:val>
                                        </p:tav>
                                      </p:tavLst>
                                    </p:anim>
                                    <p:anim calcmode="lin" valueType="num">
                                      <p:cBhvr additive="base">
                                        <p:cTn id="20" dur="500" fill="hold"/>
                                        <p:tgtEl>
                                          <p:spTgt spid="36767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67618"/>
                                        </p:tgtEl>
                                        <p:attrNameLst>
                                          <p:attrName>style.visibility</p:attrName>
                                        </p:attrNameLst>
                                      </p:cBhvr>
                                      <p:to>
                                        <p:strVal val="visible"/>
                                      </p:to>
                                    </p:set>
                                    <p:anim calcmode="lin" valueType="num">
                                      <p:cBhvr additive="base">
                                        <p:cTn id="25" dur="500" fill="hold"/>
                                        <p:tgtEl>
                                          <p:spTgt spid="367618"/>
                                        </p:tgtEl>
                                        <p:attrNameLst>
                                          <p:attrName>ppt_x</p:attrName>
                                        </p:attrNameLst>
                                      </p:cBhvr>
                                      <p:tavLst>
                                        <p:tav tm="0">
                                          <p:val>
                                            <p:strVal val="#ppt_x"/>
                                          </p:val>
                                        </p:tav>
                                        <p:tav tm="100000">
                                          <p:val>
                                            <p:strVal val="#ppt_x"/>
                                          </p:val>
                                        </p:tav>
                                      </p:tavLst>
                                    </p:anim>
                                    <p:anim calcmode="lin" valueType="num">
                                      <p:cBhvr additive="base">
                                        <p:cTn id="26" dur="500" fill="hold"/>
                                        <p:tgtEl>
                                          <p:spTgt spid="367618"/>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67704"/>
                                        </p:tgtEl>
                                        <p:attrNameLst>
                                          <p:attrName>style.visibility</p:attrName>
                                        </p:attrNameLst>
                                      </p:cBhvr>
                                      <p:to>
                                        <p:strVal val="visible"/>
                                      </p:to>
                                    </p:set>
                                    <p:anim calcmode="lin" valueType="num">
                                      <p:cBhvr additive="base">
                                        <p:cTn id="31" dur="500" fill="hold"/>
                                        <p:tgtEl>
                                          <p:spTgt spid="367704"/>
                                        </p:tgtEl>
                                        <p:attrNameLst>
                                          <p:attrName>ppt_x</p:attrName>
                                        </p:attrNameLst>
                                      </p:cBhvr>
                                      <p:tavLst>
                                        <p:tav tm="0">
                                          <p:val>
                                            <p:strVal val="#ppt_x"/>
                                          </p:val>
                                        </p:tav>
                                        <p:tav tm="100000">
                                          <p:val>
                                            <p:strVal val="#ppt_x"/>
                                          </p:val>
                                        </p:tav>
                                      </p:tavLst>
                                    </p:anim>
                                    <p:anim calcmode="lin" valueType="num">
                                      <p:cBhvr additive="base">
                                        <p:cTn id="32" dur="500" fill="hold"/>
                                        <p:tgtEl>
                                          <p:spTgt spid="367704"/>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67705"/>
                                        </p:tgtEl>
                                        <p:attrNameLst>
                                          <p:attrName>style.visibility</p:attrName>
                                        </p:attrNameLst>
                                      </p:cBhvr>
                                      <p:to>
                                        <p:strVal val="visible"/>
                                      </p:to>
                                    </p:set>
                                    <p:anim calcmode="lin" valueType="num">
                                      <p:cBhvr additive="base">
                                        <p:cTn id="37" dur="500" fill="hold"/>
                                        <p:tgtEl>
                                          <p:spTgt spid="367705"/>
                                        </p:tgtEl>
                                        <p:attrNameLst>
                                          <p:attrName>ppt_x</p:attrName>
                                        </p:attrNameLst>
                                      </p:cBhvr>
                                      <p:tavLst>
                                        <p:tav tm="0">
                                          <p:val>
                                            <p:strVal val="#ppt_x"/>
                                          </p:val>
                                        </p:tav>
                                        <p:tav tm="100000">
                                          <p:val>
                                            <p:strVal val="#ppt_x"/>
                                          </p:val>
                                        </p:tav>
                                      </p:tavLst>
                                    </p:anim>
                                    <p:anim calcmode="lin" valueType="num">
                                      <p:cBhvr additive="base">
                                        <p:cTn id="38" dur="500" fill="hold"/>
                                        <p:tgtEl>
                                          <p:spTgt spid="3677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3D70DBB-25FE-4872-8576-2154C9F8A784}"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27</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795" name="Rectangle 3"/>
          <p:cNvSpPr>
            <a:spLocks noGrp="1" noChangeArrowheads="1"/>
          </p:cNvSpPr>
          <p:nvPr>
            <p:ph type="subTitle" idx="1"/>
          </p:nvPr>
        </p:nvSpPr>
        <p:spPr>
          <a:xfrm>
            <a:off x="38100" y="623888"/>
            <a:ext cx="3276600" cy="519112"/>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spAutoFit/>
          </a:bodyPr>
          <a:lstStyle/>
          <a:p>
            <a:pPr algn="just" eaLnBrk="1" hangingPunct="1">
              <a:spcBef>
                <a:spcPct val="50000"/>
              </a:spcBef>
            </a:pPr>
            <a:r>
              <a:rPr lang="en-US" altLang="zh-CN" sz="2800" b="1"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1.3.4</a:t>
            </a:r>
            <a:r>
              <a:rPr lang="zh-CN" altLang="en-US" sz="2800" b="1"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理想电压源</a:t>
            </a:r>
            <a:r>
              <a:rPr lang="zh-CN" altLang="en-US" sz="2800" b="1" smtClean="0">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33796" name="Text Box 4"/>
          <p:cNvSpPr txBox="1">
            <a:spLocks noChangeArrowheads="1"/>
          </p:cNvSpPr>
          <p:nvPr/>
        </p:nvSpPr>
        <p:spPr bwMode="auto">
          <a:xfrm>
            <a:off x="647700" y="1393825"/>
            <a:ext cx="79248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理想电压源简称</a:t>
            </a:r>
            <a:r>
              <a:rPr lang="zh-CN" altLang="en-US" sz="24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电压源</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，是一个</a:t>
            </a:r>
            <a:r>
              <a:rPr lang="zh-CN" altLang="en-US" sz="24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二端元件</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电压源输出的电压恒定，与外接的电路无关；其输出的电流与外接的电路有关。</a:t>
            </a:r>
          </a:p>
        </p:txBody>
      </p:sp>
      <p:sp>
        <p:nvSpPr>
          <p:cNvPr id="33797" name="Text Box 5"/>
          <p:cNvSpPr txBox="1">
            <a:spLocks noChangeArrowheads="1"/>
          </p:cNvSpPr>
          <p:nvPr/>
        </p:nvSpPr>
        <p:spPr bwMode="auto">
          <a:xfrm>
            <a:off x="685800" y="2895600"/>
            <a:ext cx="7848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电压源的符号见下面图</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。习惯上也有用图</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中符号的。图</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是电压源的伏安特性。</a:t>
            </a:r>
          </a:p>
        </p:txBody>
      </p:sp>
      <p:grpSp>
        <p:nvGrpSpPr>
          <p:cNvPr id="33798" name="Group 141"/>
          <p:cNvGrpSpPr>
            <a:grpSpLocks/>
          </p:cNvGrpSpPr>
          <p:nvPr/>
        </p:nvGrpSpPr>
        <p:grpSpPr bwMode="auto">
          <a:xfrm>
            <a:off x="914400" y="3886200"/>
            <a:ext cx="1752600" cy="1752600"/>
            <a:chOff x="576" y="2448"/>
            <a:chExt cx="1104" cy="1104"/>
          </a:xfrm>
        </p:grpSpPr>
        <p:sp>
          <p:nvSpPr>
            <p:cNvPr id="33826" name="Text Box 83"/>
            <p:cNvSpPr txBox="1">
              <a:spLocks noChangeArrowheads="1"/>
            </p:cNvSpPr>
            <p:nvPr/>
          </p:nvSpPr>
          <p:spPr bwMode="auto">
            <a:xfrm>
              <a:off x="1344" y="2736"/>
              <a:ext cx="336" cy="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U</a:t>
              </a:r>
              <a:endPar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spcBef>
                  <a:spcPct val="50000"/>
                </a:spcBef>
                <a:buFontTx/>
                <a:buNone/>
              </a:pPr>
              <a:r>
                <a:rPr lang="zh-CN" altLang="en-US" sz="2000" b="1" baseline="-2500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3827" name="Text Box 84"/>
            <p:cNvSpPr txBox="1">
              <a:spLocks noChangeArrowheads="1"/>
            </p:cNvSpPr>
            <p:nvPr/>
          </p:nvSpPr>
          <p:spPr bwMode="auto">
            <a:xfrm>
              <a:off x="960" y="244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8" name="Text Box 85"/>
            <p:cNvSpPr txBox="1">
              <a:spLocks noChangeArrowheads="1"/>
            </p:cNvSpPr>
            <p:nvPr/>
          </p:nvSpPr>
          <p:spPr bwMode="auto">
            <a:xfrm>
              <a:off x="576" y="2976"/>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rPr>
                <a:t>S</a:t>
              </a:r>
            </a:p>
          </p:txBody>
        </p:sp>
        <p:grpSp>
          <p:nvGrpSpPr>
            <p:cNvPr id="33829" name="Group 140"/>
            <p:cNvGrpSpPr>
              <a:grpSpLocks/>
            </p:cNvGrpSpPr>
            <p:nvPr/>
          </p:nvGrpSpPr>
          <p:grpSpPr bwMode="auto">
            <a:xfrm>
              <a:off x="759" y="2688"/>
              <a:ext cx="729" cy="864"/>
              <a:chOff x="759" y="2688"/>
              <a:chExt cx="729" cy="864"/>
            </a:xfrm>
          </p:grpSpPr>
          <p:grpSp>
            <p:nvGrpSpPr>
              <p:cNvPr id="33830" name="Group 72"/>
              <p:cNvGrpSpPr>
                <a:grpSpLocks/>
              </p:cNvGrpSpPr>
              <p:nvPr/>
            </p:nvGrpSpPr>
            <p:grpSpPr bwMode="auto">
              <a:xfrm>
                <a:off x="759" y="2700"/>
                <a:ext cx="729" cy="852"/>
                <a:chOff x="1898" y="3240"/>
                <a:chExt cx="1397" cy="1650"/>
              </a:xfrm>
            </p:grpSpPr>
            <p:grpSp>
              <p:nvGrpSpPr>
                <p:cNvPr id="33832" name="Group 73"/>
                <p:cNvGrpSpPr>
                  <a:grpSpLocks/>
                </p:cNvGrpSpPr>
                <p:nvPr/>
              </p:nvGrpSpPr>
              <p:grpSpPr bwMode="auto">
                <a:xfrm flipH="1">
                  <a:off x="1898" y="3240"/>
                  <a:ext cx="694" cy="1650"/>
                  <a:chOff x="4417" y="567"/>
                  <a:chExt cx="693" cy="1650"/>
                </a:xfrm>
              </p:grpSpPr>
              <p:grpSp>
                <p:nvGrpSpPr>
                  <p:cNvPr id="33835" name="Group 74"/>
                  <p:cNvGrpSpPr>
                    <a:grpSpLocks/>
                  </p:cNvGrpSpPr>
                  <p:nvPr/>
                </p:nvGrpSpPr>
                <p:grpSpPr bwMode="auto">
                  <a:xfrm>
                    <a:off x="4417" y="567"/>
                    <a:ext cx="550" cy="1650"/>
                    <a:chOff x="4417" y="567"/>
                    <a:chExt cx="550" cy="1650"/>
                  </a:xfrm>
                </p:grpSpPr>
                <p:sp>
                  <p:nvSpPr>
                    <p:cNvPr id="33840" name="Oval 75"/>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41" name="Line 76"/>
                    <p:cNvSpPr>
                      <a:spLocks noChangeShapeType="1"/>
                    </p:cNvSpPr>
                    <p:nvPr/>
                  </p:nvSpPr>
                  <p:spPr bwMode="auto">
                    <a:xfrm>
                      <a:off x="4692" y="567"/>
                      <a:ext cx="0" cy="16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3836" name="Group 77"/>
                  <p:cNvGrpSpPr>
                    <a:grpSpLocks/>
                  </p:cNvGrpSpPr>
                  <p:nvPr/>
                </p:nvGrpSpPr>
                <p:grpSpPr bwMode="auto">
                  <a:xfrm>
                    <a:off x="4956" y="853"/>
                    <a:ext cx="154" cy="979"/>
                    <a:chOff x="4956" y="853"/>
                    <a:chExt cx="154" cy="979"/>
                  </a:xfrm>
                </p:grpSpPr>
                <p:sp>
                  <p:nvSpPr>
                    <p:cNvPr id="33837" name="Line 78"/>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38" name="Line 79"/>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39" name="Line 80"/>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33833" name="Line 81"/>
                <p:cNvSpPr>
                  <a:spLocks noChangeShapeType="1"/>
                </p:cNvSpPr>
                <p:nvPr/>
              </p:nvSpPr>
              <p:spPr bwMode="auto">
                <a:xfrm>
                  <a:off x="2305" y="3240"/>
                  <a:ext cx="97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34" name="Line 82"/>
                <p:cNvSpPr>
                  <a:spLocks noChangeShapeType="1"/>
                </p:cNvSpPr>
                <p:nvPr/>
              </p:nvSpPr>
              <p:spPr bwMode="auto">
                <a:xfrm>
                  <a:off x="2316" y="4879"/>
                  <a:ext cx="97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831" name="Line 86"/>
              <p:cNvSpPr>
                <a:spLocks noChangeShapeType="1"/>
              </p:cNvSpPr>
              <p:nvPr/>
            </p:nvSpPr>
            <p:spPr bwMode="auto">
              <a:xfrm>
                <a:off x="1056" y="2688"/>
                <a:ext cx="192" cy="0"/>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33799" name="Group 143"/>
          <p:cNvGrpSpPr>
            <a:grpSpLocks/>
          </p:cNvGrpSpPr>
          <p:nvPr/>
        </p:nvGrpSpPr>
        <p:grpSpPr bwMode="auto">
          <a:xfrm>
            <a:off x="3276600" y="3946525"/>
            <a:ext cx="1752600" cy="1616075"/>
            <a:chOff x="2064" y="2486"/>
            <a:chExt cx="1104" cy="1018"/>
          </a:xfrm>
        </p:grpSpPr>
        <p:sp>
          <p:nvSpPr>
            <p:cNvPr id="33811" name="Text Box 90"/>
            <p:cNvSpPr txBox="1">
              <a:spLocks noChangeArrowheads="1"/>
            </p:cNvSpPr>
            <p:nvPr/>
          </p:nvSpPr>
          <p:spPr bwMode="auto">
            <a:xfrm>
              <a:off x="2832" y="2736"/>
              <a:ext cx="336" cy="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U</a:t>
              </a:r>
              <a:endPar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spcBef>
                  <a:spcPct val="50000"/>
                </a:spcBef>
                <a:buFontTx/>
                <a:buNone/>
              </a:pPr>
              <a:r>
                <a:rPr lang="zh-CN" altLang="en-US" sz="2000" b="1" baseline="-2500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3812" name="Text Box 91"/>
            <p:cNvSpPr txBox="1">
              <a:spLocks noChangeArrowheads="1"/>
            </p:cNvSpPr>
            <p:nvPr/>
          </p:nvSpPr>
          <p:spPr bwMode="auto">
            <a:xfrm>
              <a:off x="2448" y="248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13" name="Text Box 92"/>
            <p:cNvSpPr txBox="1">
              <a:spLocks noChangeArrowheads="1"/>
            </p:cNvSpPr>
            <p:nvPr/>
          </p:nvSpPr>
          <p:spPr bwMode="auto">
            <a:xfrm>
              <a:off x="2064" y="2976"/>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rPr>
                <a:t>S</a:t>
              </a:r>
            </a:p>
          </p:txBody>
        </p:sp>
        <p:grpSp>
          <p:nvGrpSpPr>
            <p:cNvPr id="33814" name="Group 142"/>
            <p:cNvGrpSpPr>
              <a:grpSpLocks/>
            </p:cNvGrpSpPr>
            <p:nvPr/>
          </p:nvGrpSpPr>
          <p:grpSpPr bwMode="auto">
            <a:xfrm>
              <a:off x="2225" y="2736"/>
              <a:ext cx="751" cy="768"/>
              <a:chOff x="2225" y="2736"/>
              <a:chExt cx="751" cy="768"/>
            </a:xfrm>
          </p:grpSpPr>
          <p:grpSp>
            <p:nvGrpSpPr>
              <p:cNvPr id="33815" name="Group 107"/>
              <p:cNvGrpSpPr>
                <a:grpSpLocks/>
              </p:cNvGrpSpPr>
              <p:nvPr/>
            </p:nvGrpSpPr>
            <p:grpSpPr bwMode="auto">
              <a:xfrm>
                <a:off x="2225" y="2741"/>
                <a:ext cx="751" cy="763"/>
                <a:chOff x="6947" y="3097"/>
                <a:chExt cx="1397" cy="1639"/>
              </a:xfrm>
            </p:grpSpPr>
            <p:sp>
              <p:nvSpPr>
                <p:cNvPr id="33817" name="Line 108"/>
                <p:cNvSpPr>
                  <a:spLocks noChangeShapeType="1"/>
                </p:cNvSpPr>
                <p:nvPr/>
              </p:nvSpPr>
              <p:spPr bwMode="auto">
                <a:xfrm flipH="1">
                  <a:off x="7365" y="3097"/>
                  <a:ext cx="1" cy="74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18" name="Line 109"/>
                <p:cNvSpPr>
                  <a:spLocks noChangeShapeType="1"/>
                </p:cNvSpPr>
                <p:nvPr/>
              </p:nvSpPr>
              <p:spPr bwMode="auto">
                <a:xfrm flipH="1">
                  <a:off x="6947" y="346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19" name="Line 110"/>
                <p:cNvSpPr>
                  <a:spLocks noChangeShapeType="1"/>
                </p:cNvSpPr>
                <p:nvPr/>
              </p:nvSpPr>
              <p:spPr bwMode="auto">
                <a:xfrm flipH="1">
                  <a:off x="6947" y="425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0" name="Line 111"/>
                <p:cNvSpPr>
                  <a:spLocks noChangeShapeType="1"/>
                </p:cNvSpPr>
                <p:nvPr/>
              </p:nvSpPr>
              <p:spPr bwMode="auto">
                <a:xfrm rot="16200000" flipH="1">
                  <a:off x="6936" y="346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1" name="Line 112"/>
                <p:cNvSpPr>
                  <a:spLocks noChangeShapeType="1"/>
                </p:cNvSpPr>
                <p:nvPr/>
              </p:nvSpPr>
              <p:spPr bwMode="auto">
                <a:xfrm>
                  <a:off x="7354" y="3097"/>
                  <a:ext cx="97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2" name="Line 113"/>
                <p:cNvSpPr>
                  <a:spLocks noChangeShapeType="1"/>
                </p:cNvSpPr>
                <p:nvPr/>
              </p:nvSpPr>
              <p:spPr bwMode="auto">
                <a:xfrm>
                  <a:off x="7365" y="4736"/>
                  <a:ext cx="97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3" name="Line 114"/>
                <p:cNvSpPr>
                  <a:spLocks noChangeShapeType="1"/>
                </p:cNvSpPr>
                <p:nvPr/>
              </p:nvSpPr>
              <p:spPr bwMode="auto">
                <a:xfrm flipH="1">
                  <a:off x="7376" y="3988"/>
                  <a:ext cx="1" cy="74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4" name="Line 115"/>
                <p:cNvSpPr>
                  <a:spLocks noChangeShapeType="1"/>
                </p:cNvSpPr>
                <p:nvPr/>
              </p:nvSpPr>
              <p:spPr bwMode="auto">
                <a:xfrm flipV="1">
                  <a:off x="7134" y="3823"/>
                  <a:ext cx="50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25" name="Line 116"/>
                <p:cNvSpPr>
                  <a:spLocks noChangeShapeType="1"/>
                </p:cNvSpPr>
                <p:nvPr/>
              </p:nvSpPr>
              <p:spPr bwMode="auto">
                <a:xfrm flipV="1">
                  <a:off x="7266" y="3977"/>
                  <a:ext cx="231"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816" name="Line 117"/>
              <p:cNvSpPr>
                <a:spLocks noChangeShapeType="1"/>
              </p:cNvSpPr>
              <p:nvPr/>
            </p:nvSpPr>
            <p:spPr bwMode="auto">
              <a:xfrm>
                <a:off x="2556" y="2736"/>
                <a:ext cx="231" cy="0"/>
              </a:xfrm>
              <a:prstGeom prst="line">
                <a:avLst/>
              </a:prstGeom>
              <a:noFill/>
              <a:ln w="38100">
                <a:solidFill>
                  <a:srgbClr val="0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33800" name="Group 144"/>
          <p:cNvGrpSpPr>
            <a:grpSpLocks/>
          </p:cNvGrpSpPr>
          <p:nvPr/>
        </p:nvGrpSpPr>
        <p:grpSpPr bwMode="auto">
          <a:xfrm>
            <a:off x="6096000" y="4137025"/>
            <a:ext cx="1447800" cy="1817688"/>
            <a:chOff x="3840" y="2606"/>
            <a:chExt cx="912" cy="1145"/>
          </a:xfrm>
        </p:grpSpPr>
        <p:sp>
          <p:nvSpPr>
            <p:cNvPr id="33804" name="Line 119"/>
            <p:cNvSpPr>
              <a:spLocks noChangeShapeType="1"/>
            </p:cNvSpPr>
            <p:nvPr/>
          </p:nvSpPr>
          <p:spPr bwMode="auto">
            <a:xfrm flipV="1">
              <a:off x="4080" y="2638"/>
              <a:ext cx="1" cy="1113"/>
            </a:xfrm>
            <a:prstGeom prst="line">
              <a:avLst/>
            </a:prstGeom>
            <a:noFill/>
            <a:ln w="38100" cap="rnd">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05" name="Rectangle 126"/>
            <p:cNvSpPr>
              <a:spLocks noChangeArrowheads="1"/>
            </p:cNvSpPr>
            <p:nvPr/>
          </p:nvSpPr>
          <p:spPr bwMode="auto">
            <a:xfrm>
              <a:off x="4176" y="2606"/>
              <a:ext cx="1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U</a:t>
              </a:r>
              <a:endParaRPr lang="en-US" altLang="zh-CN" sz="2000" b="1" i="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06" name="Rectangle 127"/>
            <p:cNvSpPr>
              <a:spLocks noChangeArrowheads="1"/>
            </p:cNvSpPr>
            <p:nvPr/>
          </p:nvSpPr>
          <p:spPr bwMode="auto">
            <a:xfrm>
              <a:off x="3875" y="2894"/>
              <a:ext cx="18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0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s</a:t>
              </a:r>
              <a:endParaRPr lang="en-US" altLang="zh-CN" sz="20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07" name="Rectangle 128"/>
            <p:cNvSpPr>
              <a:spLocks noChangeArrowheads="1"/>
            </p:cNvSpPr>
            <p:nvPr/>
          </p:nvSpPr>
          <p:spPr bwMode="auto">
            <a:xfrm>
              <a:off x="3936" y="3422"/>
              <a:ext cx="11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O</a:t>
              </a:r>
              <a:endParaRPr lang="en-US" altLang="zh-CN" sz="2000" b="1" i="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08" name="Rectangle 129"/>
            <p:cNvSpPr>
              <a:spLocks noChangeArrowheads="1"/>
            </p:cNvSpPr>
            <p:nvPr/>
          </p:nvSpPr>
          <p:spPr bwMode="auto">
            <a:xfrm>
              <a:off x="4568" y="3470"/>
              <a:ext cx="1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000" b="1" i="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09" name="Line 131"/>
            <p:cNvSpPr>
              <a:spLocks noChangeShapeType="1"/>
            </p:cNvSpPr>
            <p:nvPr/>
          </p:nvSpPr>
          <p:spPr bwMode="auto">
            <a:xfrm>
              <a:off x="3888" y="3086"/>
              <a:ext cx="81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3810" name="Line 132"/>
            <p:cNvSpPr>
              <a:spLocks noChangeShapeType="1"/>
            </p:cNvSpPr>
            <p:nvPr/>
          </p:nvSpPr>
          <p:spPr bwMode="auto">
            <a:xfrm>
              <a:off x="3840" y="3408"/>
              <a:ext cx="912" cy="0"/>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3801" name="Text Box 136"/>
          <p:cNvSpPr txBox="1">
            <a:spLocks noChangeArrowheads="1"/>
          </p:cNvSpPr>
          <p:nvPr/>
        </p:nvSpPr>
        <p:spPr bwMode="auto">
          <a:xfrm>
            <a:off x="1331913" y="5867400"/>
            <a:ext cx="1030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3802" name="Text Box 137"/>
          <p:cNvSpPr txBox="1">
            <a:spLocks noChangeArrowheads="1"/>
          </p:cNvSpPr>
          <p:nvPr/>
        </p:nvSpPr>
        <p:spPr bwMode="auto">
          <a:xfrm>
            <a:off x="3779838" y="5867400"/>
            <a:ext cx="1020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3803" name="Text Box 139"/>
          <p:cNvSpPr txBox="1">
            <a:spLocks noChangeArrowheads="1"/>
          </p:cNvSpPr>
          <p:nvPr/>
        </p:nvSpPr>
        <p:spPr bwMode="auto">
          <a:xfrm>
            <a:off x="6019800" y="6019800"/>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1FAA55F-85B9-4C87-9BB2-C5411354FFFF}"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28</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19" name="Rectangle 3"/>
          <p:cNvSpPr>
            <a:spLocks noGrp="1" noChangeArrowheads="1"/>
          </p:cNvSpPr>
          <p:nvPr>
            <p:ph type="subTitle" idx="1"/>
          </p:nvPr>
        </p:nvSpPr>
        <p:spPr>
          <a:xfrm>
            <a:off x="0" y="404813"/>
            <a:ext cx="3276600" cy="519112"/>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spAutoFit/>
          </a:bodyPr>
          <a:lstStyle/>
          <a:p>
            <a:pPr algn="just" eaLnBrk="1" hangingPunct="1">
              <a:spcBef>
                <a:spcPct val="50000"/>
              </a:spcBef>
            </a:pPr>
            <a:r>
              <a:rPr lang="en-US" altLang="zh-CN" sz="2800" b="1"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1.3.5</a:t>
            </a:r>
            <a:r>
              <a:rPr lang="zh-CN" altLang="en-US" sz="2800" b="1"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理想电流源 </a:t>
            </a:r>
          </a:p>
        </p:txBody>
      </p:sp>
      <p:sp>
        <p:nvSpPr>
          <p:cNvPr id="34820" name="Text Box 4"/>
          <p:cNvSpPr txBox="1">
            <a:spLocks noChangeArrowheads="1"/>
          </p:cNvSpPr>
          <p:nvPr/>
        </p:nvSpPr>
        <p:spPr bwMode="auto">
          <a:xfrm>
            <a:off x="685800" y="1066800"/>
            <a:ext cx="79248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理想电流源简称</a:t>
            </a:r>
            <a:r>
              <a:rPr lang="zh-CN" altLang="en-US" sz="24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电流源</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，是一个</a:t>
            </a:r>
            <a:r>
              <a:rPr lang="zh-CN" altLang="en-US" sz="24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二端元件</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电流源输出的电流恒定，与外接的电路无关；其输出的电压与外接的电路有关。</a:t>
            </a:r>
          </a:p>
        </p:txBody>
      </p:sp>
      <p:sp>
        <p:nvSpPr>
          <p:cNvPr id="34821" name="Text Box 5"/>
          <p:cNvSpPr txBox="1">
            <a:spLocks noChangeArrowheads="1"/>
          </p:cNvSpPr>
          <p:nvPr/>
        </p:nvSpPr>
        <p:spPr bwMode="auto">
          <a:xfrm>
            <a:off x="762000" y="2286000"/>
            <a:ext cx="7848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电流源</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的符号见下面图（</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），也可以画成图（</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 。图（</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）是电流源的伏安特性。</a:t>
            </a:r>
          </a:p>
        </p:txBody>
      </p:sp>
      <p:sp>
        <p:nvSpPr>
          <p:cNvPr id="34822" name="Text Box 49"/>
          <p:cNvSpPr txBox="1">
            <a:spLocks noChangeArrowheads="1"/>
          </p:cNvSpPr>
          <p:nvPr/>
        </p:nvSpPr>
        <p:spPr bwMode="auto">
          <a:xfrm>
            <a:off x="6396038" y="5472113"/>
            <a:ext cx="1266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4823" name="Line 40"/>
          <p:cNvSpPr>
            <a:spLocks noChangeShapeType="1"/>
          </p:cNvSpPr>
          <p:nvPr/>
        </p:nvSpPr>
        <p:spPr bwMode="auto">
          <a:xfrm>
            <a:off x="6421438" y="3476625"/>
            <a:ext cx="1587" cy="1766888"/>
          </a:xfrm>
          <a:prstGeom prst="line">
            <a:avLst/>
          </a:prstGeom>
          <a:noFill/>
          <a:ln w="38100" cap="rnd">
            <a:solidFill>
              <a:srgbClr val="000000"/>
            </a:solidFill>
            <a:round/>
            <a:headEnd type="stealth" w="med" len="lg"/>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24" name="Rectangle 42"/>
          <p:cNvSpPr>
            <a:spLocks noChangeArrowheads="1"/>
          </p:cNvSpPr>
          <p:nvPr/>
        </p:nvSpPr>
        <p:spPr bwMode="auto">
          <a:xfrm>
            <a:off x="6548438" y="3425825"/>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U</a:t>
            </a:r>
            <a:endParaRPr lang="en-US" altLang="zh-CN" sz="2000" b="1" i="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25" name="Rectangle 43"/>
          <p:cNvSpPr>
            <a:spLocks noChangeArrowheads="1"/>
          </p:cNvSpPr>
          <p:nvPr/>
        </p:nvSpPr>
        <p:spPr bwMode="auto">
          <a:xfrm>
            <a:off x="6961188" y="4786313"/>
            <a:ext cx="1987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0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s</a:t>
            </a:r>
            <a:endParaRPr lang="en-US" altLang="zh-CN" sz="20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26" name="Rectangle 44"/>
          <p:cNvSpPr>
            <a:spLocks noChangeArrowheads="1"/>
          </p:cNvSpPr>
          <p:nvPr/>
        </p:nvSpPr>
        <p:spPr bwMode="auto">
          <a:xfrm>
            <a:off x="6167438" y="4721225"/>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O</a:t>
            </a:r>
            <a:endParaRPr lang="en-US" altLang="zh-CN" sz="2000" b="1" i="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27" name="Rectangle 45"/>
          <p:cNvSpPr>
            <a:spLocks noChangeArrowheads="1"/>
          </p:cNvSpPr>
          <p:nvPr/>
        </p:nvSpPr>
        <p:spPr bwMode="auto">
          <a:xfrm>
            <a:off x="7932738" y="4797425"/>
            <a:ext cx="215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i="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000" b="1" i="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28" name="Line 52"/>
          <p:cNvSpPr>
            <a:spLocks noChangeShapeType="1"/>
          </p:cNvSpPr>
          <p:nvPr/>
        </p:nvSpPr>
        <p:spPr bwMode="auto">
          <a:xfrm>
            <a:off x="6091238" y="4710113"/>
            <a:ext cx="1752600" cy="0"/>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29" name="Line 53"/>
          <p:cNvSpPr>
            <a:spLocks noChangeShapeType="1"/>
          </p:cNvSpPr>
          <p:nvPr/>
        </p:nvSpPr>
        <p:spPr bwMode="auto">
          <a:xfrm>
            <a:off x="7234238" y="3719513"/>
            <a:ext cx="0" cy="1219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30" name="Line 15"/>
          <p:cNvSpPr>
            <a:spLocks noChangeShapeType="1"/>
          </p:cNvSpPr>
          <p:nvPr/>
        </p:nvSpPr>
        <p:spPr bwMode="auto">
          <a:xfrm flipH="1">
            <a:off x="1866900" y="3814763"/>
            <a:ext cx="0" cy="13525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31" name="Text Box 7"/>
          <p:cNvSpPr txBox="1">
            <a:spLocks noChangeArrowheads="1"/>
          </p:cNvSpPr>
          <p:nvPr/>
        </p:nvSpPr>
        <p:spPr bwMode="auto">
          <a:xfrm>
            <a:off x="2433638" y="3871913"/>
            <a:ext cx="533400"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U</a:t>
            </a:r>
            <a:endPar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spcBef>
                <a:spcPct val="50000"/>
              </a:spcBef>
              <a:buFontTx/>
              <a:buNone/>
            </a:pPr>
            <a:r>
              <a:rPr lang="zh-CN" altLang="en-US" sz="2000" b="1" baseline="-2500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4832" name="Text Box 8"/>
          <p:cNvSpPr txBox="1">
            <a:spLocks noChangeArrowheads="1"/>
          </p:cNvSpPr>
          <p:nvPr/>
        </p:nvSpPr>
        <p:spPr bwMode="auto">
          <a:xfrm>
            <a:off x="1824038" y="3414713"/>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33" name="Text Box 9"/>
          <p:cNvSpPr txBox="1">
            <a:spLocks noChangeArrowheads="1"/>
          </p:cNvSpPr>
          <p:nvPr/>
        </p:nvSpPr>
        <p:spPr bwMode="auto">
          <a:xfrm>
            <a:off x="1214438" y="4313238"/>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34834" name="Oval 14"/>
          <p:cNvSpPr>
            <a:spLocks noChangeArrowheads="1"/>
          </p:cNvSpPr>
          <p:nvPr/>
        </p:nvSpPr>
        <p:spPr bwMode="auto">
          <a:xfrm flipH="1">
            <a:off x="1638300" y="4252913"/>
            <a:ext cx="455613" cy="450850"/>
          </a:xfrm>
          <a:prstGeom prst="ellipse">
            <a:avLst/>
          </a:prstGeom>
          <a:solidFill>
            <a:schemeClr val="bg1"/>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35" name="Line 20"/>
          <p:cNvSpPr>
            <a:spLocks noChangeShapeType="1"/>
          </p:cNvSpPr>
          <p:nvPr/>
        </p:nvSpPr>
        <p:spPr bwMode="auto">
          <a:xfrm>
            <a:off x="1855788" y="3814763"/>
            <a:ext cx="81121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36" name="Line 21"/>
          <p:cNvSpPr>
            <a:spLocks noChangeShapeType="1"/>
          </p:cNvSpPr>
          <p:nvPr/>
        </p:nvSpPr>
        <p:spPr bwMode="auto">
          <a:xfrm>
            <a:off x="1865313" y="5157788"/>
            <a:ext cx="81121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37" name="Line 22"/>
          <p:cNvSpPr>
            <a:spLocks noChangeShapeType="1"/>
          </p:cNvSpPr>
          <p:nvPr/>
        </p:nvSpPr>
        <p:spPr bwMode="auto">
          <a:xfrm>
            <a:off x="2052638" y="3795713"/>
            <a:ext cx="304800" cy="0"/>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38" name="Text Box 48"/>
          <p:cNvSpPr txBox="1">
            <a:spLocks noChangeArrowheads="1"/>
          </p:cNvSpPr>
          <p:nvPr/>
        </p:nvSpPr>
        <p:spPr bwMode="auto">
          <a:xfrm>
            <a:off x="1543050" y="5395913"/>
            <a:ext cx="1042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4839" name="Line 54"/>
          <p:cNvSpPr>
            <a:spLocks noChangeShapeType="1"/>
          </p:cNvSpPr>
          <p:nvPr/>
        </p:nvSpPr>
        <p:spPr bwMode="auto">
          <a:xfrm>
            <a:off x="1671638" y="4481513"/>
            <a:ext cx="381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40" name="Line 59"/>
          <p:cNvSpPr>
            <a:spLocks noChangeShapeType="1"/>
          </p:cNvSpPr>
          <p:nvPr/>
        </p:nvSpPr>
        <p:spPr bwMode="auto">
          <a:xfrm>
            <a:off x="1519238" y="4100513"/>
            <a:ext cx="0" cy="762000"/>
          </a:xfrm>
          <a:prstGeom prst="line">
            <a:avLst/>
          </a:prstGeom>
          <a:noFill/>
          <a:ln w="38100">
            <a:solidFill>
              <a:schemeClr val="tx1"/>
            </a:solidFill>
            <a:round/>
            <a:headEnd type="stealth"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41" name="Line 62"/>
          <p:cNvSpPr>
            <a:spLocks noChangeShapeType="1"/>
          </p:cNvSpPr>
          <p:nvPr/>
        </p:nvSpPr>
        <p:spPr bwMode="auto">
          <a:xfrm flipH="1">
            <a:off x="4033838" y="3814763"/>
            <a:ext cx="0" cy="13525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42" name="Text Box 63"/>
          <p:cNvSpPr txBox="1">
            <a:spLocks noChangeArrowheads="1"/>
          </p:cNvSpPr>
          <p:nvPr/>
        </p:nvSpPr>
        <p:spPr bwMode="auto">
          <a:xfrm>
            <a:off x="4643438" y="3871913"/>
            <a:ext cx="533400"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U</a:t>
            </a:r>
            <a:endPar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spcBef>
                <a:spcPct val="50000"/>
              </a:spcBef>
              <a:buFontTx/>
              <a:buNone/>
            </a:pPr>
            <a:r>
              <a:rPr lang="zh-CN" altLang="en-US" sz="2000" b="1" baseline="-2500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4843" name="Text Box 64"/>
          <p:cNvSpPr txBox="1">
            <a:spLocks noChangeArrowheads="1"/>
          </p:cNvSpPr>
          <p:nvPr/>
        </p:nvSpPr>
        <p:spPr bwMode="auto">
          <a:xfrm>
            <a:off x="4033838" y="3414713"/>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44" name="Text Box 65"/>
          <p:cNvSpPr txBox="1">
            <a:spLocks noChangeArrowheads="1"/>
          </p:cNvSpPr>
          <p:nvPr/>
        </p:nvSpPr>
        <p:spPr bwMode="auto">
          <a:xfrm>
            <a:off x="3500438" y="4557713"/>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34845" name="Oval 66"/>
          <p:cNvSpPr>
            <a:spLocks noChangeArrowheads="1"/>
          </p:cNvSpPr>
          <p:nvPr/>
        </p:nvSpPr>
        <p:spPr bwMode="auto">
          <a:xfrm flipH="1">
            <a:off x="3805238" y="4411663"/>
            <a:ext cx="455612" cy="450850"/>
          </a:xfrm>
          <a:prstGeom prst="ellipse">
            <a:avLst/>
          </a:prstGeom>
          <a:solidFill>
            <a:schemeClr val="bg1"/>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46" name="Line 67"/>
          <p:cNvSpPr>
            <a:spLocks noChangeShapeType="1"/>
          </p:cNvSpPr>
          <p:nvPr/>
        </p:nvSpPr>
        <p:spPr bwMode="auto">
          <a:xfrm>
            <a:off x="4065588" y="3814763"/>
            <a:ext cx="81121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47" name="Line 68"/>
          <p:cNvSpPr>
            <a:spLocks noChangeShapeType="1"/>
          </p:cNvSpPr>
          <p:nvPr/>
        </p:nvSpPr>
        <p:spPr bwMode="auto">
          <a:xfrm>
            <a:off x="4075113" y="5157788"/>
            <a:ext cx="811212"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48" name="Line 69"/>
          <p:cNvSpPr>
            <a:spLocks noChangeShapeType="1"/>
          </p:cNvSpPr>
          <p:nvPr/>
        </p:nvSpPr>
        <p:spPr bwMode="auto">
          <a:xfrm>
            <a:off x="4338638" y="3795713"/>
            <a:ext cx="304800" cy="0"/>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49" name="Text Box 70"/>
          <p:cNvSpPr txBox="1">
            <a:spLocks noChangeArrowheads="1"/>
          </p:cNvSpPr>
          <p:nvPr/>
        </p:nvSpPr>
        <p:spPr bwMode="auto">
          <a:xfrm>
            <a:off x="3846513" y="5414963"/>
            <a:ext cx="1081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4850" name="Line 71"/>
          <p:cNvSpPr>
            <a:spLocks noChangeShapeType="1"/>
          </p:cNvSpPr>
          <p:nvPr/>
        </p:nvSpPr>
        <p:spPr bwMode="auto">
          <a:xfrm>
            <a:off x="3805238" y="4633913"/>
            <a:ext cx="381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4851" name="Line 72"/>
          <p:cNvSpPr>
            <a:spLocks noChangeShapeType="1"/>
          </p:cNvSpPr>
          <p:nvPr/>
        </p:nvSpPr>
        <p:spPr bwMode="auto">
          <a:xfrm>
            <a:off x="4033838" y="3871913"/>
            <a:ext cx="0" cy="304800"/>
          </a:xfrm>
          <a:prstGeom prst="line">
            <a:avLst/>
          </a:prstGeom>
          <a:noFill/>
          <a:ln w="38100">
            <a:solidFill>
              <a:schemeClr val="tx1"/>
            </a:solidFill>
            <a:round/>
            <a:headEnd type="stealth"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6C1C9C5-F413-45B2-BAC8-A197DF642E8D}"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29</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43" name="Text Box 31"/>
          <p:cNvSpPr txBox="1">
            <a:spLocks noChangeArrowheads="1"/>
          </p:cNvSpPr>
          <p:nvPr/>
        </p:nvSpPr>
        <p:spPr bwMode="auto">
          <a:xfrm>
            <a:off x="762000" y="381000"/>
            <a:ext cx="76200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电压源的电压可以为零，</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电压为零的电压源相当于</a:t>
            </a:r>
            <a:r>
              <a:rPr lang="zh-CN" altLang="en-US" sz="2400" b="1" dirty="0">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短路</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，而不是相当于断路。</a:t>
            </a:r>
          </a:p>
        </p:txBody>
      </p:sp>
      <p:sp>
        <p:nvSpPr>
          <p:cNvPr id="35844" name="Text Box 32"/>
          <p:cNvSpPr txBox="1">
            <a:spLocks noChangeArrowheads="1"/>
          </p:cNvSpPr>
          <p:nvPr/>
        </p:nvSpPr>
        <p:spPr bwMode="auto">
          <a:xfrm>
            <a:off x="762000" y="1216025"/>
            <a:ext cx="76200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电流源的电流可以为零，</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电流为零的电流源相当于</a:t>
            </a:r>
            <a:r>
              <a:rPr lang="zh-CN" altLang="en-US" sz="2400" b="1">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断路</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，而不是相当于短路。</a:t>
            </a:r>
          </a:p>
        </p:txBody>
      </p:sp>
      <p:sp>
        <p:nvSpPr>
          <p:cNvPr id="35845" name="Text Box 53"/>
          <p:cNvSpPr txBox="1">
            <a:spLocks noChangeArrowheads="1"/>
          </p:cNvSpPr>
          <p:nvPr/>
        </p:nvSpPr>
        <p:spPr bwMode="auto">
          <a:xfrm>
            <a:off x="762000" y="2122488"/>
            <a:ext cx="7620000" cy="175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显然，下面图（</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）中的电压源不允许短路，电流无穷大，在断路时输出电流等于零；</a:t>
            </a:r>
            <a:endParaRPr lang="en-US" altLang="zh-CN" sz="2400" b="1">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类似的，图（</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）中的电流源不允许断路，断路时不工作，在短路时输出电压流等于零。 </a:t>
            </a:r>
          </a:p>
        </p:txBody>
      </p:sp>
      <p:sp>
        <p:nvSpPr>
          <p:cNvPr id="35846" name="Line 65"/>
          <p:cNvSpPr>
            <a:spLocks noChangeShapeType="1"/>
          </p:cNvSpPr>
          <p:nvPr/>
        </p:nvSpPr>
        <p:spPr bwMode="auto">
          <a:xfrm flipH="1">
            <a:off x="5453063" y="4540250"/>
            <a:ext cx="0" cy="13525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47" name="Text Box 66"/>
          <p:cNvSpPr txBox="1">
            <a:spLocks noChangeArrowheads="1"/>
          </p:cNvSpPr>
          <p:nvPr/>
        </p:nvSpPr>
        <p:spPr bwMode="auto">
          <a:xfrm>
            <a:off x="6019800" y="4597400"/>
            <a:ext cx="533400"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U</a:t>
            </a:r>
            <a:endPar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spcBef>
                <a:spcPct val="50000"/>
              </a:spcBef>
              <a:buFontTx/>
              <a:buNone/>
            </a:pPr>
            <a:r>
              <a:rPr lang="zh-CN" altLang="en-US" sz="2000" b="1" baseline="-2500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5848" name="Text Box 67"/>
          <p:cNvSpPr txBox="1">
            <a:spLocks noChangeArrowheads="1"/>
          </p:cNvSpPr>
          <p:nvPr/>
        </p:nvSpPr>
        <p:spPr bwMode="auto">
          <a:xfrm>
            <a:off x="5410200" y="4140200"/>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49" name="Text Box 68"/>
          <p:cNvSpPr txBox="1">
            <a:spLocks noChangeArrowheads="1"/>
          </p:cNvSpPr>
          <p:nvPr/>
        </p:nvSpPr>
        <p:spPr bwMode="auto">
          <a:xfrm>
            <a:off x="4800600" y="5038725"/>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35850" name="Oval 69"/>
          <p:cNvSpPr>
            <a:spLocks noChangeArrowheads="1"/>
          </p:cNvSpPr>
          <p:nvPr/>
        </p:nvSpPr>
        <p:spPr bwMode="auto">
          <a:xfrm flipH="1">
            <a:off x="5224463" y="4978400"/>
            <a:ext cx="455612" cy="450850"/>
          </a:xfrm>
          <a:prstGeom prst="ellipse">
            <a:avLst/>
          </a:prstGeom>
          <a:solidFill>
            <a:schemeClr val="bg1"/>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51" name="Line 70"/>
          <p:cNvSpPr>
            <a:spLocks noChangeShapeType="1"/>
          </p:cNvSpPr>
          <p:nvPr/>
        </p:nvSpPr>
        <p:spPr bwMode="auto">
          <a:xfrm>
            <a:off x="5435600" y="4525963"/>
            <a:ext cx="81121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52" name="Line 71"/>
          <p:cNvSpPr>
            <a:spLocks noChangeShapeType="1"/>
          </p:cNvSpPr>
          <p:nvPr/>
        </p:nvSpPr>
        <p:spPr bwMode="auto">
          <a:xfrm>
            <a:off x="5451475" y="5883275"/>
            <a:ext cx="81121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53" name="Line 72"/>
          <p:cNvSpPr>
            <a:spLocks noChangeShapeType="1"/>
          </p:cNvSpPr>
          <p:nvPr/>
        </p:nvSpPr>
        <p:spPr bwMode="auto">
          <a:xfrm>
            <a:off x="5638800" y="4521200"/>
            <a:ext cx="304800" cy="0"/>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54" name="Text Box 73"/>
          <p:cNvSpPr txBox="1">
            <a:spLocks noChangeArrowheads="1"/>
          </p:cNvSpPr>
          <p:nvPr/>
        </p:nvSpPr>
        <p:spPr bwMode="auto">
          <a:xfrm>
            <a:off x="5364163" y="6110288"/>
            <a:ext cx="1330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5855" name="Line 74"/>
          <p:cNvSpPr>
            <a:spLocks noChangeShapeType="1"/>
          </p:cNvSpPr>
          <p:nvPr/>
        </p:nvSpPr>
        <p:spPr bwMode="auto">
          <a:xfrm>
            <a:off x="5257800" y="5207000"/>
            <a:ext cx="3810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56" name="Line 75"/>
          <p:cNvSpPr>
            <a:spLocks noChangeShapeType="1"/>
          </p:cNvSpPr>
          <p:nvPr/>
        </p:nvSpPr>
        <p:spPr bwMode="auto">
          <a:xfrm>
            <a:off x="5105400" y="4826000"/>
            <a:ext cx="0" cy="762000"/>
          </a:xfrm>
          <a:prstGeom prst="line">
            <a:avLst/>
          </a:prstGeom>
          <a:noFill/>
          <a:ln w="38100">
            <a:solidFill>
              <a:schemeClr val="tx1"/>
            </a:solidFill>
            <a:round/>
            <a:headEnd type="stealth"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57" name="Line 76"/>
          <p:cNvSpPr>
            <a:spLocks noChangeShapeType="1"/>
          </p:cNvSpPr>
          <p:nvPr/>
        </p:nvSpPr>
        <p:spPr bwMode="auto">
          <a:xfrm>
            <a:off x="6248400" y="4521200"/>
            <a:ext cx="381000"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58" name="Line 77"/>
          <p:cNvSpPr>
            <a:spLocks noChangeShapeType="1"/>
          </p:cNvSpPr>
          <p:nvPr/>
        </p:nvSpPr>
        <p:spPr bwMode="auto">
          <a:xfrm>
            <a:off x="6248400" y="5892800"/>
            <a:ext cx="381000"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59" name="Line 78"/>
          <p:cNvSpPr>
            <a:spLocks noChangeShapeType="1"/>
          </p:cNvSpPr>
          <p:nvPr/>
        </p:nvSpPr>
        <p:spPr bwMode="auto">
          <a:xfrm>
            <a:off x="6629400" y="4521200"/>
            <a:ext cx="0" cy="137160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5860" name="Group 99"/>
          <p:cNvGrpSpPr>
            <a:grpSpLocks/>
          </p:cNvGrpSpPr>
          <p:nvPr/>
        </p:nvGrpSpPr>
        <p:grpSpPr bwMode="auto">
          <a:xfrm>
            <a:off x="1447800" y="4064000"/>
            <a:ext cx="2438400" cy="2362200"/>
            <a:chOff x="912" y="2640"/>
            <a:chExt cx="1536" cy="1488"/>
          </a:xfrm>
        </p:grpSpPr>
        <p:grpSp>
          <p:nvGrpSpPr>
            <p:cNvPr id="35861" name="Group 97"/>
            <p:cNvGrpSpPr>
              <a:grpSpLocks/>
            </p:cNvGrpSpPr>
            <p:nvPr/>
          </p:nvGrpSpPr>
          <p:grpSpPr bwMode="auto">
            <a:xfrm>
              <a:off x="912" y="2640"/>
              <a:ext cx="1536" cy="1104"/>
              <a:chOff x="912" y="2640"/>
              <a:chExt cx="1536" cy="1104"/>
            </a:xfrm>
          </p:grpSpPr>
          <p:sp>
            <p:nvSpPr>
              <p:cNvPr id="35863" name="Line 56"/>
              <p:cNvSpPr>
                <a:spLocks noChangeShapeType="1"/>
              </p:cNvSpPr>
              <p:nvPr/>
            </p:nvSpPr>
            <p:spPr bwMode="auto">
              <a:xfrm>
                <a:off x="1776" y="2880"/>
                <a:ext cx="336"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64" name="Line 57"/>
              <p:cNvSpPr>
                <a:spLocks noChangeShapeType="1"/>
              </p:cNvSpPr>
              <p:nvPr/>
            </p:nvSpPr>
            <p:spPr bwMode="auto">
              <a:xfrm>
                <a:off x="1776" y="3744"/>
                <a:ext cx="336"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65" name="Line 58"/>
              <p:cNvSpPr>
                <a:spLocks noChangeShapeType="1"/>
              </p:cNvSpPr>
              <p:nvPr/>
            </p:nvSpPr>
            <p:spPr bwMode="auto">
              <a:xfrm>
                <a:off x="2112" y="2880"/>
                <a:ext cx="0" cy="864"/>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66" name="Rectangle 59"/>
              <p:cNvSpPr>
                <a:spLocks noChangeArrowheads="1"/>
              </p:cNvSpPr>
              <p:nvPr/>
            </p:nvSpPr>
            <p:spPr bwMode="auto">
              <a:xfrm>
                <a:off x="2064" y="3120"/>
                <a:ext cx="96" cy="240"/>
              </a:xfrm>
              <a:prstGeom prst="rect">
                <a:avLst/>
              </a:prstGeom>
              <a:solidFill>
                <a:schemeClr val="bg1"/>
              </a:solidFill>
              <a:ln w="381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67" name="Text Box 60"/>
              <p:cNvSpPr txBox="1">
                <a:spLocks noChangeArrowheads="1"/>
              </p:cNvSpPr>
              <p:nvPr/>
            </p:nvSpPr>
            <p:spPr bwMode="auto">
              <a:xfrm>
                <a:off x="1920" y="3350"/>
                <a:ext cx="5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R</a:t>
                </a:r>
              </a:p>
            </p:txBody>
          </p:sp>
          <p:grpSp>
            <p:nvGrpSpPr>
              <p:cNvPr id="35868" name="Group 80"/>
              <p:cNvGrpSpPr>
                <a:grpSpLocks/>
              </p:cNvGrpSpPr>
              <p:nvPr/>
            </p:nvGrpSpPr>
            <p:grpSpPr bwMode="auto">
              <a:xfrm>
                <a:off x="912" y="2640"/>
                <a:ext cx="1104" cy="1104"/>
                <a:chOff x="576" y="2448"/>
                <a:chExt cx="1104" cy="1104"/>
              </a:xfrm>
            </p:grpSpPr>
            <p:sp>
              <p:nvSpPr>
                <p:cNvPr id="35869" name="Text Box 81"/>
                <p:cNvSpPr txBox="1">
                  <a:spLocks noChangeArrowheads="1"/>
                </p:cNvSpPr>
                <p:nvPr/>
              </p:nvSpPr>
              <p:spPr bwMode="auto">
                <a:xfrm>
                  <a:off x="1344" y="2736"/>
                  <a:ext cx="336" cy="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U</a:t>
                  </a:r>
                  <a:endPar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spcBef>
                      <a:spcPct val="50000"/>
                    </a:spcBef>
                    <a:buFontTx/>
                    <a:buNone/>
                  </a:pPr>
                  <a:r>
                    <a:rPr lang="zh-CN" altLang="en-US" sz="2000" b="1" baseline="-2500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5870" name="Text Box 82"/>
                <p:cNvSpPr txBox="1">
                  <a:spLocks noChangeArrowheads="1"/>
                </p:cNvSpPr>
                <p:nvPr/>
              </p:nvSpPr>
              <p:spPr bwMode="auto">
                <a:xfrm>
                  <a:off x="960" y="244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71" name="Text Box 83"/>
                <p:cNvSpPr txBox="1">
                  <a:spLocks noChangeArrowheads="1"/>
                </p:cNvSpPr>
                <p:nvPr/>
              </p:nvSpPr>
              <p:spPr bwMode="auto">
                <a:xfrm>
                  <a:off x="576" y="2976"/>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rPr>
                    <a:t>S</a:t>
                  </a:r>
                </a:p>
              </p:txBody>
            </p:sp>
            <p:grpSp>
              <p:nvGrpSpPr>
                <p:cNvPr id="35872" name="Group 84"/>
                <p:cNvGrpSpPr>
                  <a:grpSpLocks/>
                </p:cNvGrpSpPr>
                <p:nvPr/>
              </p:nvGrpSpPr>
              <p:grpSpPr bwMode="auto">
                <a:xfrm>
                  <a:off x="759" y="2688"/>
                  <a:ext cx="729" cy="864"/>
                  <a:chOff x="759" y="2688"/>
                  <a:chExt cx="729" cy="864"/>
                </a:xfrm>
              </p:grpSpPr>
              <p:grpSp>
                <p:nvGrpSpPr>
                  <p:cNvPr id="35873" name="Group 85"/>
                  <p:cNvGrpSpPr>
                    <a:grpSpLocks/>
                  </p:cNvGrpSpPr>
                  <p:nvPr/>
                </p:nvGrpSpPr>
                <p:grpSpPr bwMode="auto">
                  <a:xfrm>
                    <a:off x="759" y="2700"/>
                    <a:ext cx="729" cy="852"/>
                    <a:chOff x="1898" y="3240"/>
                    <a:chExt cx="1397" cy="1650"/>
                  </a:xfrm>
                </p:grpSpPr>
                <p:grpSp>
                  <p:nvGrpSpPr>
                    <p:cNvPr id="35875" name="Group 86"/>
                    <p:cNvGrpSpPr>
                      <a:grpSpLocks/>
                    </p:cNvGrpSpPr>
                    <p:nvPr/>
                  </p:nvGrpSpPr>
                  <p:grpSpPr bwMode="auto">
                    <a:xfrm flipH="1">
                      <a:off x="1898" y="3240"/>
                      <a:ext cx="694" cy="1650"/>
                      <a:chOff x="4417" y="567"/>
                      <a:chExt cx="693" cy="1650"/>
                    </a:xfrm>
                  </p:grpSpPr>
                  <p:grpSp>
                    <p:nvGrpSpPr>
                      <p:cNvPr id="35878" name="Group 87"/>
                      <p:cNvGrpSpPr>
                        <a:grpSpLocks/>
                      </p:cNvGrpSpPr>
                      <p:nvPr/>
                    </p:nvGrpSpPr>
                    <p:grpSpPr bwMode="auto">
                      <a:xfrm>
                        <a:off x="4417" y="567"/>
                        <a:ext cx="550" cy="1650"/>
                        <a:chOff x="4417" y="567"/>
                        <a:chExt cx="550" cy="1650"/>
                      </a:xfrm>
                    </p:grpSpPr>
                    <p:sp>
                      <p:nvSpPr>
                        <p:cNvPr id="35883" name="Oval 88"/>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84" name="Line 89"/>
                        <p:cNvSpPr>
                          <a:spLocks noChangeShapeType="1"/>
                        </p:cNvSpPr>
                        <p:nvPr/>
                      </p:nvSpPr>
                      <p:spPr bwMode="auto">
                        <a:xfrm>
                          <a:off x="4692" y="567"/>
                          <a:ext cx="0" cy="16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5879" name="Group 90"/>
                      <p:cNvGrpSpPr>
                        <a:grpSpLocks/>
                      </p:cNvGrpSpPr>
                      <p:nvPr/>
                    </p:nvGrpSpPr>
                    <p:grpSpPr bwMode="auto">
                      <a:xfrm>
                        <a:off x="4956" y="853"/>
                        <a:ext cx="154" cy="979"/>
                        <a:chOff x="4956" y="853"/>
                        <a:chExt cx="154" cy="979"/>
                      </a:xfrm>
                    </p:grpSpPr>
                    <p:sp>
                      <p:nvSpPr>
                        <p:cNvPr id="35880" name="Line 91"/>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81" name="Line 92"/>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82" name="Line 93"/>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35876" name="Line 94"/>
                    <p:cNvSpPr>
                      <a:spLocks noChangeShapeType="1"/>
                    </p:cNvSpPr>
                    <p:nvPr/>
                  </p:nvSpPr>
                  <p:spPr bwMode="auto">
                    <a:xfrm>
                      <a:off x="2305" y="3240"/>
                      <a:ext cx="97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5877" name="Line 95"/>
                    <p:cNvSpPr>
                      <a:spLocks noChangeShapeType="1"/>
                    </p:cNvSpPr>
                    <p:nvPr/>
                  </p:nvSpPr>
                  <p:spPr bwMode="auto">
                    <a:xfrm>
                      <a:off x="2316" y="4879"/>
                      <a:ext cx="97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5874" name="Line 96"/>
                  <p:cNvSpPr>
                    <a:spLocks noChangeShapeType="1"/>
                  </p:cNvSpPr>
                  <p:nvPr/>
                </p:nvSpPr>
                <p:spPr bwMode="auto">
                  <a:xfrm>
                    <a:off x="1056" y="2688"/>
                    <a:ext cx="192" cy="0"/>
                  </a:xfrm>
                  <a:prstGeom prst="line">
                    <a:avLst/>
                  </a:prstGeom>
                  <a:noFill/>
                  <a:ln w="38100">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sp>
          <p:nvSpPr>
            <p:cNvPr id="35862" name="Text Box 98"/>
            <p:cNvSpPr txBox="1">
              <a:spLocks noChangeArrowheads="1"/>
            </p:cNvSpPr>
            <p:nvPr/>
          </p:nvSpPr>
          <p:spPr bwMode="auto">
            <a:xfrm>
              <a:off x="1392" y="3840"/>
              <a:ext cx="7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gr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B92BCE5-FF4E-45A5-A88C-6786B1AD61AC}"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30</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6868" name="Rectangle 3"/>
          <p:cNvSpPr>
            <a:spLocks noGrp="1" noRot="1" noChangeArrowheads="1"/>
          </p:cNvSpPr>
          <p:nvPr>
            <p:ph type="subTitle" idx="1"/>
          </p:nvPr>
        </p:nvSpPr>
        <p:spPr>
          <a:xfrm>
            <a:off x="395288" y="476250"/>
            <a:ext cx="4968875" cy="5334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spcBef>
                <a:spcPct val="50000"/>
              </a:spcBef>
            </a:pPr>
            <a:r>
              <a:rPr lang="en-US" altLang="zh-CN" sz="2800" b="1"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1.3.6   </a:t>
            </a:r>
            <a:r>
              <a:rPr lang="zh-CN" altLang="en-US" sz="2800" b="1" smtClean="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受控电源</a:t>
            </a:r>
          </a:p>
        </p:txBody>
      </p:sp>
      <p:sp>
        <p:nvSpPr>
          <p:cNvPr id="612356" name="Text Box 4"/>
          <p:cNvSpPr txBox="1">
            <a:spLocks noChangeArrowheads="1"/>
          </p:cNvSpPr>
          <p:nvPr/>
        </p:nvSpPr>
        <p:spPr bwMode="auto">
          <a:xfrm>
            <a:off x="247650" y="1196975"/>
            <a:ext cx="8443913" cy="1125538"/>
          </a:xfrm>
          <a:prstGeom prst="rect">
            <a:avLst/>
          </a:prstGeom>
          <a:noFill/>
          <a:ln w="9525">
            <a:noFill/>
            <a:miter lim="800000"/>
            <a:headEnd/>
            <a:tailEnd/>
          </a:ln>
          <a:effectLst/>
        </p:spPr>
        <p:txBody>
          <a:bodyPr>
            <a:spAutoFit/>
          </a:bodyPr>
          <a:lstStyle/>
          <a:p>
            <a:pPr>
              <a:lnSpc>
                <a:spcPct val="120000"/>
              </a:lnSpc>
              <a:defRPr/>
            </a:pPr>
            <a:r>
              <a:rPr kumimoji="1" lang="zh-CN" altLang="en-US" sz="2800" dirty="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独立电源：</a:t>
            </a:r>
            <a:r>
              <a:rPr kumimoji="1" lang="zh-CN" altLang="en-US" sz="28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指电压源的电压或电流源的电流不受外电路的控制而独立存在的电源。</a:t>
            </a:r>
          </a:p>
        </p:txBody>
      </p:sp>
      <p:sp>
        <p:nvSpPr>
          <p:cNvPr id="612357" name="Text Box 5"/>
          <p:cNvSpPr txBox="1">
            <a:spLocks noChangeArrowheads="1"/>
          </p:cNvSpPr>
          <p:nvPr/>
        </p:nvSpPr>
        <p:spPr bwMode="auto">
          <a:xfrm>
            <a:off x="157163" y="4241800"/>
            <a:ext cx="8534400" cy="1125538"/>
          </a:xfrm>
          <a:prstGeom prst="rect">
            <a:avLst/>
          </a:prstGeom>
          <a:noFill/>
          <a:ln w="9525">
            <a:noFill/>
            <a:miter lim="800000"/>
            <a:headEnd/>
            <a:tailEnd/>
          </a:ln>
          <a:effectLst/>
        </p:spPr>
        <p:txBody>
          <a:bodyPr>
            <a:spAutoFit/>
          </a:bodyPr>
          <a:lstStyle/>
          <a:p>
            <a:pPr>
              <a:lnSpc>
                <a:spcPct val="120000"/>
              </a:lnSpc>
              <a:defRPr/>
            </a:pPr>
            <a:r>
              <a:rPr kumimoji="1" lang="zh-CN" altLang="en-US" sz="2800" dirty="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受控源的特点：</a:t>
            </a:r>
            <a:r>
              <a:rPr kumimoji="1" lang="zh-CN" altLang="en-US" sz="28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当控制量（电压或电流）消失或等于零时，受控量（电压或电流）也就为零。</a:t>
            </a:r>
            <a:endParaRPr kumimoji="1" lang="zh-CN" altLang="en-US" sz="2800" dirty="0">
              <a:solidFill>
                <a:srgbClr val="0000CC"/>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2358" name="Text Box 6"/>
          <p:cNvSpPr txBox="1">
            <a:spLocks noChangeArrowheads="1"/>
          </p:cNvSpPr>
          <p:nvPr/>
        </p:nvSpPr>
        <p:spPr bwMode="auto">
          <a:xfrm>
            <a:off x="233363" y="2794000"/>
            <a:ext cx="8370887" cy="1117600"/>
          </a:xfrm>
          <a:prstGeom prst="rect">
            <a:avLst/>
          </a:prstGeom>
          <a:noFill/>
          <a:ln w="9525">
            <a:noFill/>
            <a:miter lim="800000"/>
            <a:headEnd/>
            <a:tailEnd/>
          </a:ln>
          <a:effectLst/>
        </p:spPr>
        <p:txBody>
          <a:bodyPr>
            <a:spAutoFit/>
          </a:bodyPr>
          <a:lstStyle/>
          <a:p>
            <a:pPr>
              <a:lnSpc>
                <a:spcPct val="120000"/>
              </a:lnSpc>
              <a:defRPr/>
            </a:pPr>
            <a:r>
              <a:rPr kumimoji="1" lang="zh-CN" altLang="en-US" sz="2800" dirty="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受控电源：</a:t>
            </a:r>
            <a:r>
              <a:rPr kumimoji="1" lang="zh-CN" altLang="en-US" sz="28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指电压源的电压或电流源的电流受电路中其它部分的电流或电压控制的电源。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2356"/>
                                        </p:tgtEl>
                                        <p:attrNameLst>
                                          <p:attrName>style.visibility</p:attrName>
                                        </p:attrNameLst>
                                      </p:cBhvr>
                                      <p:to>
                                        <p:strVal val="visible"/>
                                      </p:to>
                                    </p:set>
                                    <p:animEffect transition="in" filter="wipe(left)">
                                      <p:cBhvr>
                                        <p:cTn id="7" dur="500"/>
                                        <p:tgtEl>
                                          <p:spTgt spid="6123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2358"/>
                                        </p:tgtEl>
                                        <p:attrNameLst>
                                          <p:attrName>style.visibility</p:attrName>
                                        </p:attrNameLst>
                                      </p:cBhvr>
                                      <p:to>
                                        <p:strVal val="visible"/>
                                      </p:to>
                                    </p:set>
                                    <p:animEffect transition="in" filter="wipe(left)">
                                      <p:cBhvr>
                                        <p:cTn id="12" dur="500"/>
                                        <p:tgtEl>
                                          <p:spTgt spid="6123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2357"/>
                                        </p:tgtEl>
                                        <p:attrNameLst>
                                          <p:attrName>style.visibility</p:attrName>
                                        </p:attrNameLst>
                                      </p:cBhvr>
                                      <p:to>
                                        <p:strVal val="visible"/>
                                      </p:to>
                                    </p:set>
                                    <p:animEffect transition="in" filter="wipe(left)">
                                      <p:cBhvr>
                                        <p:cTn id="17" dur="500"/>
                                        <p:tgtEl>
                                          <p:spTgt spid="612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356" grpId="0" autoUpdateAnimBg="0"/>
      <p:bldP spid="612357" grpId="0" autoUpdateAnimBg="0"/>
      <p:bldP spid="612358"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4D1DA1C-0776-4DA1-9546-68E01852C48A}"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31</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892" name="Text Box 2"/>
          <p:cNvSpPr txBox="1">
            <a:spLocks noChangeArrowheads="1"/>
          </p:cNvSpPr>
          <p:nvPr/>
        </p:nvSpPr>
        <p:spPr bwMode="auto">
          <a:xfrm>
            <a:off x="914400" y="685800"/>
            <a:ext cx="26495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受控源实例</a:t>
            </a:r>
          </a:p>
        </p:txBody>
      </p:sp>
      <p:graphicFrame>
        <p:nvGraphicFramePr>
          <p:cNvPr id="613379" name="Object 3"/>
          <p:cNvGraphicFramePr>
            <a:graphicFrameLocks noChangeAspect="1"/>
          </p:cNvGraphicFramePr>
          <p:nvPr>
            <p:extLst>
              <p:ext uri="{D42A27DB-BD31-4B8C-83A1-F6EECF244321}">
                <p14:modId xmlns:p14="http://schemas.microsoft.com/office/powerpoint/2010/main" val="1909150555"/>
              </p:ext>
            </p:extLst>
          </p:nvPr>
        </p:nvGraphicFramePr>
        <p:xfrm>
          <a:off x="6477000" y="2209800"/>
          <a:ext cx="1376363" cy="603250"/>
        </p:xfrm>
        <a:graphic>
          <a:graphicData uri="http://schemas.openxmlformats.org/presentationml/2006/ole">
            <mc:AlternateContent xmlns:mc="http://schemas.openxmlformats.org/markup-compatibility/2006">
              <mc:Choice xmlns:v="urn:schemas-microsoft-com:vml" Requires="v">
                <p:oleObj spid="_x0000_s38013" name="Equation" r:id="rId3" imgW="520700" imgH="228600" progId="Equation.3">
                  <p:embed/>
                </p:oleObj>
              </mc:Choice>
              <mc:Fallback>
                <p:oleObj name="Equation" r:id="rId3" imgW="52070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2209800"/>
                        <a:ext cx="1376363"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3380" name="Text Box 4"/>
          <p:cNvSpPr txBox="1">
            <a:spLocks noChangeArrowheads="1"/>
          </p:cNvSpPr>
          <p:nvPr/>
        </p:nvSpPr>
        <p:spPr bwMode="auto">
          <a:xfrm>
            <a:off x="1066800" y="2286000"/>
            <a:ext cx="1981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zh-CN" sz="2800" b="1">
                <a:latin typeface="Times New Roman" panose="02020603050405020304" pitchFamily="18" charset="0"/>
                <a:ea typeface="华文中宋" panose="02010600040101010101" pitchFamily="2" charset="-122"/>
                <a:cs typeface="Times New Roman" panose="02020603050405020304" pitchFamily="18" charset="0"/>
              </a:rPr>
              <a:t>晶体三极管</a:t>
            </a:r>
            <a:endParaRPr kumimoji="1" lang="zh-CN" altLang="en-US" sz="2800" b="1" i="1">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5"/>
          <p:cNvGrpSpPr>
            <a:grpSpLocks/>
          </p:cNvGrpSpPr>
          <p:nvPr/>
        </p:nvGrpSpPr>
        <p:grpSpPr bwMode="auto">
          <a:xfrm>
            <a:off x="3581400" y="1524000"/>
            <a:ext cx="2286000" cy="1905000"/>
            <a:chOff x="3600" y="912"/>
            <a:chExt cx="1440" cy="1200"/>
          </a:xfrm>
        </p:grpSpPr>
        <p:graphicFrame>
          <p:nvGraphicFramePr>
            <p:cNvPr id="37916" name="Object 6"/>
            <p:cNvGraphicFramePr>
              <a:graphicFrameLocks noChangeAspect="1"/>
            </p:cNvGraphicFramePr>
            <p:nvPr/>
          </p:nvGraphicFramePr>
          <p:xfrm>
            <a:off x="3600" y="966"/>
            <a:ext cx="1356" cy="1146"/>
          </p:xfrm>
          <a:graphic>
            <a:graphicData uri="http://schemas.openxmlformats.org/presentationml/2006/ole">
              <mc:AlternateContent xmlns:mc="http://schemas.openxmlformats.org/markup-compatibility/2006">
                <mc:Choice xmlns:v="urn:schemas-microsoft-com:vml" Requires="v">
                  <p:oleObj spid="_x0000_s38014" name="VISIO" r:id="rId5" imgW="864192" imgH="778990" progId="Visio.Drawing.4">
                    <p:embed/>
                  </p:oleObj>
                </mc:Choice>
                <mc:Fallback>
                  <p:oleObj name="VISIO" r:id="rId5" imgW="864192" imgH="778990" progId="Visio.Drawing.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0" y="966"/>
                          <a:ext cx="1356" cy="1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917" name="Text Box 7"/>
            <p:cNvSpPr txBox="1">
              <a:spLocks noChangeArrowheads="1"/>
            </p:cNvSpPr>
            <p:nvPr/>
          </p:nvSpPr>
          <p:spPr bwMode="auto">
            <a:xfrm>
              <a:off x="3657" y="1127"/>
              <a:ext cx="6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37918" name="Line 8"/>
            <p:cNvSpPr>
              <a:spLocks noChangeShapeType="1"/>
            </p:cNvSpPr>
            <p:nvPr/>
          </p:nvSpPr>
          <p:spPr bwMode="auto">
            <a:xfrm>
              <a:off x="3657" y="1502"/>
              <a:ext cx="3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19" name="Line 9"/>
            <p:cNvSpPr>
              <a:spLocks noChangeShapeType="1"/>
            </p:cNvSpPr>
            <p:nvPr/>
          </p:nvSpPr>
          <p:spPr bwMode="auto">
            <a:xfrm>
              <a:off x="4573" y="1019"/>
              <a:ext cx="0" cy="26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20" name="Text Box 10"/>
            <p:cNvSpPr txBox="1">
              <a:spLocks noChangeArrowheads="1"/>
            </p:cNvSpPr>
            <p:nvPr/>
          </p:nvSpPr>
          <p:spPr bwMode="auto">
            <a:xfrm>
              <a:off x="4630" y="912"/>
              <a:ext cx="4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C</a:t>
              </a:r>
            </a:p>
          </p:txBody>
        </p:sp>
        <p:sp>
          <p:nvSpPr>
            <p:cNvPr id="37921" name="Line 11"/>
            <p:cNvSpPr>
              <a:spLocks noChangeShapeType="1"/>
            </p:cNvSpPr>
            <p:nvPr/>
          </p:nvSpPr>
          <p:spPr bwMode="auto">
            <a:xfrm>
              <a:off x="4512" y="1776"/>
              <a:ext cx="0" cy="26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22" name="Text Box 12"/>
            <p:cNvSpPr txBox="1">
              <a:spLocks noChangeArrowheads="1"/>
            </p:cNvSpPr>
            <p:nvPr/>
          </p:nvSpPr>
          <p:spPr bwMode="auto">
            <a:xfrm>
              <a:off x="4560" y="1689"/>
              <a:ext cx="4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E</a:t>
              </a:r>
            </a:p>
          </p:txBody>
        </p:sp>
      </p:grpSp>
      <p:grpSp>
        <p:nvGrpSpPr>
          <p:cNvPr id="3" name="Group 13"/>
          <p:cNvGrpSpPr>
            <a:grpSpLocks/>
          </p:cNvGrpSpPr>
          <p:nvPr/>
        </p:nvGrpSpPr>
        <p:grpSpPr bwMode="auto">
          <a:xfrm>
            <a:off x="1143000" y="3900488"/>
            <a:ext cx="5908675" cy="2147887"/>
            <a:chOff x="816" y="2457"/>
            <a:chExt cx="3722" cy="1353"/>
          </a:xfrm>
        </p:grpSpPr>
        <p:sp>
          <p:nvSpPr>
            <p:cNvPr id="37897" name="Text Box 14"/>
            <p:cNvSpPr txBox="1">
              <a:spLocks noChangeArrowheads="1"/>
            </p:cNvSpPr>
            <p:nvPr/>
          </p:nvSpPr>
          <p:spPr bwMode="auto">
            <a:xfrm>
              <a:off x="816" y="2688"/>
              <a:ext cx="10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电路模型</a:t>
              </a:r>
            </a:p>
          </p:txBody>
        </p:sp>
        <p:grpSp>
          <p:nvGrpSpPr>
            <p:cNvPr id="37898" name="Group 15"/>
            <p:cNvGrpSpPr>
              <a:grpSpLocks/>
            </p:cNvGrpSpPr>
            <p:nvPr/>
          </p:nvGrpSpPr>
          <p:grpSpPr bwMode="auto">
            <a:xfrm>
              <a:off x="2544" y="2457"/>
              <a:ext cx="1994" cy="1353"/>
              <a:chOff x="2544" y="2457"/>
              <a:chExt cx="1994" cy="1353"/>
            </a:xfrm>
          </p:grpSpPr>
          <p:grpSp>
            <p:nvGrpSpPr>
              <p:cNvPr id="37899" name="Group 16"/>
              <p:cNvGrpSpPr>
                <a:grpSpLocks/>
              </p:cNvGrpSpPr>
              <p:nvPr/>
            </p:nvGrpSpPr>
            <p:grpSpPr bwMode="auto">
              <a:xfrm>
                <a:off x="2592" y="2736"/>
                <a:ext cx="1760" cy="1074"/>
                <a:chOff x="2074" y="3163"/>
                <a:chExt cx="4400" cy="2684"/>
              </a:xfrm>
            </p:grpSpPr>
            <p:grpSp>
              <p:nvGrpSpPr>
                <p:cNvPr id="37904" name="Group 17"/>
                <p:cNvGrpSpPr>
                  <a:grpSpLocks/>
                </p:cNvGrpSpPr>
                <p:nvPr/>
              </p:nvGrpSpPr>
              <p:grpSpPr bwMode="auto">
                <a:xfrm>
                  <a:off x="3455" y="3351"/>
                  <a:ext cx="310" cy="2496"/>
                  <a:chOff x="743" y="567"/>
                  <a:chExt cx="187" cy="1639"/>
                </a:xfrm>
              </p:grpSpPr>
              <p:sp>
                <p:nvSpPr>
                  <p:cNvPr id="37914" name="Line 18"/>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15" name="Rectangle 19"/>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7905" name="Line 20"/>
                <p:cNvSpPr>
                  <a:spLocks noChangeShapeType="1"/>
                </p:cNvSpPr>
                <p:nvPr/>
              </p:nvSpPr>
              <p:spPr bwMode="auto">
                <a:xfrm flipV="1">
                  <a:off x="2074" y="5847"/>
                  <a:ext cx="4400"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06" name="Line 21"/>
                <p:cNvSpPr>
                  <a:spLocks noChangeShapeType="1"/>
                </p:cNvSpPr>
                <p:nvPr/>
              </p:nvSpPr>
              <p:spPr bwMode="auto">
                <a:xfrm>
                  <a:off x="2092" y="3368"/>
                  <a:ext cx="154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07" name="Line 22"/>
                <p:cNvSpPr>
                  <a:spLocks noChangeShapeType="1"/>
                </p:cNvSpPr>
                <p:nvPr/>
              </p:nvSpPr>
              <p:spPr bwMode="auto">
                <a:xfrm>
                  <a:off x="4910" y="3351"/>
                  <a:ext cx="0" cy="246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08" name="Line 23"/>
                <p:cNvSpPr>
                  <a:spLocks noChangeShapeType="1"/>
                </p:cNvSpPr>
                <p:nvPr/>
              </p:nvSpPr>
              <p:spPr bwMode="auto">
                <a:xfrm>
                  <a:off x="4928" y="3368"/>
                  <a:ext cx="154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09" name="AutoShape 24"/>
                <p:cNvSpPr>
                  <a:spLocks noChangeArrowheads="1"/>
                </p:cNvSpPr>
                <p:nvPr/>
              </p:nvSpPr>
              <p:spPr bwMode="auto">
                <a:xfrm>
                  <a:off x="4582" y="3954"/>
                  <a:ext cx="619" cy="1206"/>
                </a:xfrm>
                <a:prstGeom prst="diamond">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10" name="Line 25"/>
                <p:cNvSpPr>
                  <a:spLocks noChangeShapeType="1"/>
                </p:cNvSpPr>
                <p:nvPr/>
              </p:nvSpPr>
              <p:spPr bwMode="auto">
                <a:xfrm flipV="1">
                  <a:off x="4619" y="4557"/>
                  <a:ext cx="582"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11" name="Line 26"/>
                <p:cNvSpPr>
                  <a:spLocks noChangeShapeType="1"/>
                </p:cNvSpPr>
                <p:nvPr/>
              </p:nvSpPr>
              <p:spPr bwMode="auto">
                <a:xfrm flipV="1">
                  <a:off x="2734" y="3163"/>
                  <a:ext cx="749" cy="26"/>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12" name="Line 27"/>
                <p:cNvSpPr>
                  <a:spLocks noChangeShapeType="1"/>
                </p:cNvSpPr>
                <p:nvPr/>
              </p:nvSpPr>
              <p:spPr bwMode="auto">
                <a:xfrm rot="-5400000" flipH="1" flipV="1">
                  <a:off x="4899" y="4619"/>
                  <a:ext cx="929" cy="26"/>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7913" name="Line 28"/>
                <p:cNvSpPr>
                  <a:spLocks noChangeShapeType="1"/>
                </p:cNvSpPr>
                <p:nvPr/>
              </p:nvSpPr>
              <p:spPr bwMode="auto">
                <a:xfrm rot="10800000">
                  <a:off x="5073" y="3174"/>
                  <a:ext cx="740" cy="1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7900" name="Text Box 29"/>
              <p:cNvSpPr txBox="1">
                <a:spLocks noChangeArrowheads="1"/>
              </p:cNvSpPr>
              <p:nvPr/>
            </p:nvSpPr>
            <p:spPr bwMode="auto">
              <a:xfrm>
                <a:off x="4128" y="2496"/>
                <a:ext cx="41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C</a:t>
                </a:r>
              </a:p>
            </p:txBody>
          </p:sp>
          <p:sp>
            <p:nvSpPr>
              <p:cNvPr id="37901" name="Text Box 30"/>
              <p:cNvSpPr txBox="1">
                <a:spLocks noChangeArrowheads="1"/>
              </p:cNvSpPr>
              <p:nvPr/>
            </p:nvSpPr>
            <p:spPr bwMode="auto">
              <a:xfrm>
                <a:off x="2544" y="2457"/>
                <a:ext cx="3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B</a:t>
                </a:r>
              </a:p>
            </p:txBody>
          </p:sp>
          <p:graphicFrame>
            <p:nvGraphicFramePr>
              <p:cNvPr id="37902" name="Object 31"/>
              <p:cNvGraphicFramePr>
                <a:graphicFrameLocks noChangeAspect="1"/>
              </p:cNvGraphicFramePr>
              <p:nvPr/>
            </p:nvGraphicFramePr>
            <p:xfrm>
              <a:off x="3936" y="3082"/>
              <a:ext cx="402" cy="359"/>
            </p:xfrm>
            <a:graphic>
              <a:graphicData uri="http://schemas.openxmlformats.org/presentationml/2006/ole">
                <mc:AlternateContent xmlns:mc="http://schemas.openxmlformats.org/markup-compatibility/2006">
                  <mc:Choice xmlns:v="urn:schemas-microsoft-com:vml" Requires="v">
                    <p:oleObj spid="_x0000_s38015" name="Equation" r:id="rId7" imgW="241091" imgH="215713" progId="Equation.3">
                      <p:embed/>
                    </p:oleObj>
                  </mc:Choice>
                  <mc:Fallback>
                    <p:oleObj name="Equation" r:id="rId7" imgW="241091" imgH="215713" progId="Equation.3">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36" y="3082"/>
                            <a:ext cx="402" cy="3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03" name="Text Box 32"/>
              <p:cNvSpPr txBox="1">
                <a:spLocks noChangeArrowheads="1"/>
              </p:cNvSpPr>
              <p:nvPr/>
            </p:nvSpPr>
            <p:spPr bwMode="auto">
              <a:xfrm>
                <a:off x="2784" y="3168"/>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B</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13380"/>
                                        </p:tgtEl>
                                        <p:attrNameLst>
                                          <p:attrName>style.visibility</p:attrName>
                                        </p:attrNameLst>
                                      </p:cBhvr>
                                      <p:to>
                                        <p:strVal val="visible"/>
                                      </p:to>
                                    </p:set>
                                    <p:anim calcmode="lin" valueType="num">
                                      <p:cBhvr>
                                        <p:cTn id="7" dur="500" fill="hold"/>
                                        <p:tgtEl>
                                          <p:spTgt spid="613380"/>
                                        </p:tgtEl>
                                        <p:attrNameLst>
                                          <p:attrName>ppt_w</p:attrName>
                                        </p:attrNameLst>
                                      </p:cBhvr>
                                      <p:tavLst>
                                        <p:tav tm="0">
                                          <p:val>
                                            <p:fltVal val="0"/>
                                          </p:val>
                                        </p:tav>
                                        <p:tav tm="100000">
                                          <p:val>
                                            <p:strVal val="#ppt_w"/>
                                          </p:val>
                                        </p:tav>
                                      </p:tavLst>
                                    </p:anim>
                                    <p:anim calcmode="lin" valueType="num">
                                      <p:cBhvr>
                                        <p:cTn id="8" dur="500" fill="hold"/>
                                        <p:tgtEl>
                                          <p:spTgt spid="613380"/>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613379"/>
                                        </p:tgtEl>
                                        <p:attrNameLst>
                                          <p:attrName>style.visibility</p:attrName>
                                        </p:attrNameLst>
                                      </p:cBhvr>
                                      <p:to>
                                        <p:strVal val="visible"/>
                                      </p:to>
                                    </p:set>
                                    <p:anim calcmode="lin" valueType="num">
                                      <p:cBhvr>
                                        <p:cTn id="18" dur="500" fill="hold"/>
                                        <p:tgtEl>
                                          <p:spTgt spid="613379"/>
                                        </p:tgtEl>
                                        <p:attrNameLst>
                                          <p:attrName>ppt_w</p:attrName>
                                        </p:attrNameLst>
                                      </p:cBhvr>
                                      <p:tavLst>
                                        <p:tav tm="0">
                                          <p:val>
                                            <p:fltVal val="0"/>
                                          </p:val>
                                        </p:tav>
                                        <p:tav tm="100000">
                                          <p:val>
                                            <p:strVal val="#ppt_w"/>
                                          </p:val>
                                        </p:tav>
                                      </p:tavLst>
                                    </p:anim>
                                    <p:anim calcmode="lin" valueType="num">
                                      <p:cBhvr>
                                        <p:cTn id="19" dur="500" fill="hold"/>
                                        <p:tgtEl>
                                          <p:spTgt spid="613379"/>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380"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8A9D934-B507-44B0-8DD0-241DBD5EAE1A}"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32</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2" name="Group 2"/>
          <p:cNvGrpSpPr>
            <a:grpSpLocks/>
          </p:cNvGrpSpPr>
          <p:nvPr/>
        </p:nvGrpSpPr>
        <p:grpSpPr bwMode="auto">
          <a:xfrm>
            <a:off x="1081088" y="779463"/>
            <a:ext cx="3402012" cy="2835275"/>
            <a:chOff x="593" y="1586"/>
            <a:chExt cx="2143" cy="1786"/>
          </a:xfrm>
        </p:grpSpPr>
        <p:sp>
          <p:nvSpPr>
            <p:cNvPr id="614403" name="Text Box 3"/>
            <p:cNvSpPr txBox="1">
              <a:spLocks noChangeArrowheads="1"/>
            </p:cNvSpPr>
            <p:nvPr/>
          </p:nvSpPr>
          <p:spPr bwMode="auto">
            <a:xfrm>
              <a:off x="1721" y="2523"/>
              <a:ext cx="433" cy="291"/>
            </a:xfrm>
            <a:prstGeom prst="rect">
              <a:avLst/>
            </a:prstGeom>
            <a:noFill/>
            <a:ln w="38100">
              <a:noFill/>
              <a:miter lim="800000"/>
              <a:headEnd/>
              <a:tailEnd/>
            </a:ln>
            <a:effectLst/>
          </p:spPr>
          <p:txBody>
            <a:bodyPr wrap="none" anchor="ctr">
              <a:spAutoFit/>
            </a:bodyPr>
            <a:lstStyle/>
            <a:p>
              <a:pPr>
                <a:spcBef>
                  <a:spcPct val="50000"/>
                </a:spcBef>
                <a:defRPr/>
              </a:pPr>
              <a:r>
                <a:rPr kumimoji="1" lang="zh-CN"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a:t>
              </a: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9018" name="Group 4"/>
            <p:cNvGrpSpPr>
              <a:grpSpLocks/>
            </p:cNvGrpSpPr>
            <p:nvPr/>
          </p:nvGrpSpPr>
          <p:grpSpPr bwMode="auto">
            <a:xfrm>
              <a:off x="1668" y="2074"/>
              <a:ext cx="866" cy="68"/>
              <a:chOff x="1668" y="2074"/>
              <a:chExt cx="866" cy="68"/>
            </a:xfrm>
          </p:grpSpPr>
          <p:sp>
            <p:nvSpPr>
              <p:cNvPr id="39047" name="Oval 5"/>
              <p:cNvSpPr>
                <a:spLocks noChangeArrowheads="1"/>
              </p:cNvSpPr>
              <p:nvPr/>
            </p:nvSpPr>
            <p:spPr bwMode="auto">
              <a:xfrm>
                <a:off x="2466" y="2074"/>
                <a:ext cx="68" cy="6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048" name="Line 6"/>
              <p:cNvSpPr>
                <a:spLocks noChangeShapeType="1"/>
              </p:cNvSpPr>
              <p:nvPr/>
            </p:nvSpPr>
            <p:spPr bwMode="auto">
              <a:xfrm flipH="1">
                <a:off x="1668" y="2086"/>
                <a:ext cx="79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9019" name="Group 7"/>
            <p:cNvGrpSpPr>
              <a:grpSpLocks/>
            </p:cNvGrpSpPr>
            <p:nvPr/>
          </p:nvGrpSpPr>
          <p:grpSpPr bwMode="auto">
            <a:xfrm>
              <a:off x="720" y="2869"/>
              <a:ext cx="688" cy="74"/>
              <a:chOff x="720" y="2869"/>
              <a:chExt cx="688" cy="74"/>
            </a:xfrm>
          </p:grpSpPr>
          <p:sp>
            <p:nvSpPr>
              <p:cNvPr id="39044" name="Oval 8"/>
              <p:cNvSpPr>
                <a:spLocks noChangeArrowheads="1"/>
              </p:cNvSpPr>
              <p:nvPr/>
            </p:nvSpPr>
            <p:spPr bwMode="auto">
              <a:xfrm>
                <a:off x="720" y="2869"/>
                <a:ext cx="63" cy="5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045" name="Oval 9"/>
              <p:cNvSpPr>
                <a:spLocks noChangeArrowheads="1"/>
              </p:cNvSpPr>
              <p:nvPr/>
            </p:nvSpPr>
            <p:spPr bwMode="auto">
              <a:xfrm>
                <a:off x="1345" y="2884"/>
                <a:ext cx="63" cy="5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046" name="Line 10"/>
              <p:cNvSpPr>
                <a:spLocks noChangeShapeType="1"/>
              </p:cNvSpPr>
              <p:nvPr/>
            </p:nvSpPr>
            <p:spPr bwMode="auto">
              <a:xfrm flipH="1">
                <a:off x="758" y="2919"/>
                <a:ext cx="58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9020" name="Group 11"/>
            <p:cNvGrpSpPr>
              <a:grpSpLocks/>
            </p:cNvGrpSpPr>
            <p:nvPr/>
          </p:nvGrpSpPr>
          <p:grpSpPr bwMode="auto">
            <a:xfrm>
              <a:off x="1460" y="2092"/>
              <a:ext cx="328" cy="864"/>
              <a:chOff x="1460" y="2092"/>
              <a:chExt cx="328" cy="864"/>
            </a:xfrm>
          </p:grpSpPr>
          <p:grpSp>
            <p:nvGrpSpPr>
              <p:cNvPr id="39040" name="Group 12"/>
              <p:cNvGrpSpPr>
                <a:grpSpLocks/>
              </p:cNvGrpSpPr>
              <p:nvPr/>
            </p:nvGrpSpPr>
            <p:grpSpPr bwMode="auto">
              <a:xfrm>
                <a:off x="1539" y="2092"/>
                <a:ext cx="249" cy="864"/>
                <a:chOff x="1266" y="2184"/>
                <a:chExt cx="312" cy="864"/>
              </a:xfrm>
            </p:grpSpPr>
            <p:sp>
              <p:nvSpPr>
                <p:cNvPr id="39042" name="Line 13"/>
                <p:cNvSpPr>
                  <a:spLocks noChangeShapeType="1"/>
                </p:cNvSpPr>
                <p:nvPr/>
              </p:nvSpPr>
              <p:spPr bwMode="auto">
                <a:xfrm>
                  <a:off x="1428" y="2184"/>
                  <a:ext cx="0" cy="864"/>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043" name="AutoShape 14"/>
                <p:cNvSpPr>
                  <a:spLocks noChangeArrowheads="1"/>
                </p:cNvSpPr>
                <p:nvPr/>
              </p:nvSpPr>
              <p:spPr bwMode="auto">
                <a:xfrm rot="-5400000">
                  <a:off x="1218" y="2454"/>
                  <a:ext cx="408" cy="312"/>
                </a:xfrm>
                <a:prstGeom prst="flowChartDecision">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14415" name="Text Box 15"/>
              <p:cNvSpPr txBox="1">
                <a:spLocks noChangeArrowheads="1"/>
              </p:cNvSpPr>
              <p:nvPr/>
            </p:nvSpPr>
            <p:spPr bwMode="auto">
              <a:xfrm>
                <a:off x="1460" y="2203"/>
                <a:ext cx="232" cy="523"/>
              </a:xfrm>
              <a:prstGeom prst="rect">
                <a:avLst/>
              </a:prstGeom>
              <a:noFill/>
              <a:ln w="38100">
                <a:noFill/>
                <a:miter lim="800000"/>
                <a:headEnd/>
                <a:tailEnd/>
              </a:ln>
              <a:effectLst/>
            </p:spPr>
            <p:txBody>
              <a:bodyPr wrap="none" anchor="ct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eaLnBrk="1" hangingPunct="1">
                  <a:lnSpc>
                    <a:spcPct val="75000"/>
                  </a:lnSpc>
                  <a:spcBef>
                    <a:spcPct val="50000"/>
                  </a:spcBef>
                  <a:defRPr/>
                </a:pPr>
                <a:r>
                  <a:rPr kumimoji="1"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lnSpc>
                    <a:spcPct val="75000"/>
                  </a:lnSpc>
                  <a:spcBef>
                    <a:spcPct val="50000"/>
                  </a:spcBef>
                  <a:defRPr/>
                </a:pPr>
                <a:r>
                  <a:rPr kumimoji="1"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_</a:t>
                </a:r>
              </a:p>
            </p:txBody>
          </p:sp>
        </p:grpSp>
        <p:sp>
          <p:nvSpPr>
            <p:cNvPr id="614416" name="Text Box 16"/>
            <p:cNvSpPr txBox="1">
              <a:spLocks noChangeArrowheads="1"/>
            </p:cNvSpPr>
            <p:nvPr/>
          </p:nvSpPr>
          <p:spPr bwMode="auto">
            <a:xfrm>
              <a:off x="593" y="2300"/>
              <a:ext cx="321" cy="291"/>
            </a:xfrm>
            <a:prstGeom prst="rect">
              <a:avLst/>
            </a:prstGeom>
            <a:noFill/>
            <a:ln w="38100">
              <a:noFill/>
              <a:miter lim="800000"/>
              <a:headEnd/>
              <a:tailEnd/>
            </a:ln>
            <a:effectLst/>
          </p:spPr>
          <p:txBody>
            <a:bodyPr wrap="none"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417" name="Text Box 17"/>
            <p:cNvSpPr txBox="1">
              <a:spLocks noChangeArrowheads="1"/>
            </p:cNvSpPr>
            <p:nvPr/>
          </p:nvSpPr>
          <p:spPr bwMode="auto">
            <a:xfrm>
              <a:off x="2289" y="2331"/>
              <a:ext cx="447"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023" name="Line 18"/>
            <p:cNvSpPr>
              <a:spLocks noChangeShapeType="1"/>
            </p:cNvSpPr>
            <p:nvPr/>
          </p:nvSpPr>
          <p:spPr bwMode="auto">
            <a:xfrm>
              <a:off x="720" y="1948"/>
              <a:ext cx="348"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024" name="Line 19"/>
            <p:cNvSpPr>
              <a:spLocks noChangeShapeType="1"/>
            </p:cNvSpPr>
            <p:nvPr/>
          </p:nvSpPr>
          <p:spPr bwMode="auto">
            <a:xfrm flipH="1">
              <a:off x="2244" y="1948"/>
              <a:ext cx="300"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420" name="Text Box 20"/>
            <p:cNvSpPr txBox="1">
              <a:spLocks noChangeArrowheads="1"/>
            </p:cNvSpPr>
            <p:nvPr/>
          </p:nvSpPr>
          <p:spPr bwMode="auto">
            <a:xfrm>
              <a:off x="2171" y="1586"/>
              <a:ext cx="421"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421" name="Text Box 21"/>
            <p:cNvSpPr txBox="1">
              <a:spLocks noChangeArrowheads="1"/>
            </p:cNvSpPr>
            <p:nvPr/>
          </p:nvSpPr>
          <p:spPr bwMode="auto">
            <a:xfrm>
              <a:off x="624" y="1616"/>
              <a:ext cx="664"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p>
          </p:txBody>
        </p:sp>
        <p:sp>
          <p:nvSpPr>
            <p:cNvPr id="614422" name="Text Box 22"/>
            <p:cNvSpPr txBox="1">
              <a:spLocks noChangeArrowheads="1"/>
            </p:cNvSpPr>
            <p:nvPr/>
          </p:nvSpPr>
          <p:spPr bwMode="auto">
            <a:xfrm>
              <a:off x="1100" y="3084"/>
              <a:ext cx="1156"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(a)VCVS</a:t>
              </a:r>
              <a:endParaRPr kumimoji="1" lang="en-US" altLang="zh-CN">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423" name="Text Box 23"/>
            <p:cNvSpPr txBox="1">
              <a:spLocks noChangeArrowheads="1"/>
            </p:cNvSpPr>
            <p:nvPr/>
          </p:nvSpPr>
          <p:spPr bwMode="auto">
            <a:xfrm>
              <a:off x="672" y="2025"/>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39029" name="Group 24"/>
            <p:cNvGrpSpPr>
              <a:grpSpLocks/>
            </p:cNvGrpSpPr>
            <p:nvPr/>
          </p:nvGrpSpPr>
          <p:grpSpPr bwMode="auto">
            <a:xfrm>
              <a:off x="696" y="2039"/>
              <a:ext cx="702" cy="74"/>
              <a:chOff x="696" y="2039"/>
              <a:chExt cx="702" cy="74"/>
            </a:xfrm>
          </p:grpSpPr>
          <p:sp>
            <p:nvSpPr>
              <p:cNvPr id="39037" name="Oval 25"/>
              <p:cNvSpPr>
                <a:spLocks noChangeArrowheads="1"/>
              </p:cNvSpPr>
              <p:nvPr/>
            </p:nvSpPr>
            <p:spPr bwMode="auto">
              <a:xfrm>
                <a:off x="696" y="2039"/>
                <a:ext cx="64" cy="5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038" name="Oval 26"/>
              <p:cNvSpPr>
                <a:spLocks noChangeArrowheads="1"/>
              </p:cNvSpPr>
              <p:nvPr/>
            </p:nvSpPr>
            <p:spPr bwMode="auto">
              <a:xfrm>
                <a:off x="1334" y="2054"/>
                <a:ext cx="64" cy="5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039" name="Line 27"/>
              <p:cNvSpPr>
                <a:spLocks noChangeShapeType="1"/>
              </p:cNvSpPr>
              <p:nvPr/>
            </p:nvSpPr>
            <p:spPr bwMode="auto">
              <a:xfrm flipH="1">
                <a:off x="734" y="2089"/>
                <a:ext cx="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14428" name="Text Box 28"/>
            <p:cNvSpPr txBox="1">
              <a:spLocks noChangeArrowheads="1"/>
            </p:cNvSpPr>
            <p:nvPr/>
          </p:nvSpPr>
          <p:spPr bwMode="auto">
            <a:xfrm>
              <a:off x="672" y="2544"/>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4429" name="Text Box 29"/>
            <p:cNvSpPr txBox="1">
              <a:spLocks noChangeArrowheads="1"/>
            </p:cNvSpPr>
            <p:nvPr/>
          </p:nvSpPr>
          <p:spPr bwMode="auto">
            <a:xfrm>
              <a:off x="2418" y="2073"/>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4430" name="Text Box 30"/>
            <p:cNvSpPr txBox="1">
              <a:spLocks noChangeArrowheads="1"/>
            </p:cNvSpPr>
            <p:nvPr/>
          </p:nvSpPr>
          <p:spPr bwMode="auto">
            <a:xfrm>
              <a:off x="2418" y="2592"/>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9033" name="Rectangle 31"/>
            <p:cNvSpPr>
              <a:spLocks noChangeArrowheads="1"/>
            </p:cNvSpPr>
            <p:nvPr/>
          </p:nvSpPr>
          <p:spPr bwMode="auto">
            <a:xfrm>
              <a:off x="1136" y="1775"/>
              <a:ext cx="1042" cy="1290"/>
            </a:xfrm>
            <a:prstGeom prst="rect">
              <a:avLst/>
            </a:prstGeom>
            <a:noFill/>
            <a:ln w="38100">
              <a:solidFill>
                <a:schemeClr val="accent2"/>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9034" name="Group 32"/>
            <p:cNvGrpSpPr>
              <a:grpSpLocks/>
            </p:cNvGrpSpPr>
            <p:nvPr/>
          </p:nvGrpSpPr>
          <p:grpSpPr bwMode="auto">
            <a:xfrm>
              <a:off x="1678" y="2919"/>
              <a:ext cx="866" cy="68"/>
              <a:chOff x="1678" y="2919"/>
              <a:chExt cx="866" cy="68"/>
            </a:xfrm>
          </p:grpSpPr>
          <p:sp>
            <p:nvSpPr>
              <p:cNvPr id="39035" name="Oval 33"/>
              <p:cNvSpPr>
                <a:spLocks noChangeArrowheads="1"/>
              </p:cNvSpPr>
              <p:nvPr/>
            </p:nvSpPr>
            <p:spPr bwMode="auto">
              <a:xfrm>
                <a:off x="2476" y="2919"/>
                <a:ext cx="68" cy="6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036" name="Line 34"/>
              <p:cNvSpPr>
                <a:spLocks noChangeShapeType="1"/>
              </p:cNvSpPr>
              <p:nvPr/>
            </p:nvSpPr>
            <p:spPr bwMode="auto">
              <a:xfrm flipH="1">
                <a:off x="1678" y="2931"/>
                <a:ext cx="79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9" name="Group 35"/>
          <p:cNvGrpSpPr>
            <a:grpSpLocks/>
          </p:cNvGrpSpPr>
          <p:nvPr/>
        </p:nvGrpSpPr>
        <p:grpSpPr bwMode="auto">
          <a:xfrm>
            <a:off x="5529263" y="703263"/>
            <a:ext cx="3327400" cy="2884487"/>
            <a:chOff x="3395" y="1507"/>
            <a:chExt cx="2096" cy="1817"/>
          </a:xfrm>
        </p:grpSpPr>
        <p:sp>
          <p:nvSpPr>
            <p:cNvPr id="614436" name="Text Box 36"/>
            <p:cNvSpPr txBox="1">
              <a:spLocks noChangeArrowheads="1"/>
            </p:cNvSpPr>
            <p:nvPr/>
          </p:nvSpPr>
          <p:spPr bwMode="auto">
            <a:xfrm>
              <a:off x="4514" y="2444"/>
              <a:ext cx="728"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r</a:t>
              </a:r>
              <a:r>
                <a:rPr kumimoji="1" lang="zh-CN"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 </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437" name="Text Box 37"/>
            <p:cNvSpPr txBox="1">
              <a:spLocks noChangeArrowheads="1"/>
            </p:cNvSpPr>
            <p:nvPr/>
          </p:nvSpPr>
          <p:spPr bwMode="auto">
            <a:xfrm>
              <a:off x="3810" y="3036"/>
              <a:ext cx="1085"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(b)CCVS</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8990" name="Group 38"/>
            <p:cNvGrpSpPr>
              <a:grpSpLocks/>
            </p:cNvGrpSpPr>
            <p:nvPr/>
          </p:nvGrpSpPr>
          <p:grpSpPr bwMode="auto">
            <a:xfrm>
              <a:off x="4423" y="1995"/>
              <a:ext cx="866" cy="68"/>
              <a:chOff x="4423" y="1995"/>
              <a:chExt cx="866" cy="68"/>
            </a:xfrm>
          </p:grpSpPr>
          <p:sp>
            <p:nvSpPr>
              <p:cNvPr id="39015" name="Oval 39"/>
              <p:cNvSpPr>
                <a:spLocks noChangeArrowheads="1"/>
              </p:cNvSpPr>
              <p:nvPr/>
            </p:nvSpPr>
            <p:spPr bwMode="auto">
              <a:xfrm>
                <a:off x="5221" y="1995"/>
                <a:ext cx="68" cy="6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016" name="Line 40"/>
              <p:cNvSpPr>
                <a:spLocks noChangeShapeType="1"/>
              </p:cNvSpPr>
              <p:nvPr/>
            </p:nvSpPr>
            <p:spPr bwMode="auto">
              <a:xfrm flipH="1">
                <a:off x="4423" y="2007"/>
                <a:ext cx="79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8991" name="Oval 41"/>
            <p:cNvSpPr>
              <a:spLocks noChangeArrowheads="1"/>
            </p:cNvSpPr>
            <p:nvPr/>
          </p:nvSpPr>
          <p:spPr bwMode="auto">
            <a:xfrm>
              <a:off x="3475" y="2790"/>
              <a:ext cx="63" cy="5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92" name="Line 42"/>
            <p:cNvSpPr>
              <a:spLocks noChangeShapeType="1"/>
            </p:cNvSpPr>
            <p:nvPr/>
          </p:nvSpPr>
          <p:spPr bwMode="auto">
            <a:xfrm flipH="1">
              <a:off x="3513" y="2840"/>
              <a:ext cx="58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8993" name="Group 43"/>
            <p:cNvGrpSpPr>
              <a:grpSpLocks/>
            </p:cNvGrpSpPr>
            <p:nvPr/>
          </p:nvGrpSpPr>
          <p:grpSpPr bwMode="auto">
            <a:xfrm>
              <a:off x="4215" y="2013"/>
              <a:ext cx="328" cy="864"/>
              <a:chOff x="4215" y="2013"/>
              <a:chExt cx="328" cy="864"/>
            </a:xfrm>
          </p:grpSpPr>
          <p:grpSp>
            <p:nvGrpSpPr>
              <p:cNvPr id="39011" name="Group 44"/>
              <p:cNvGrpSpPr>
                <a:grpSpLocks/>
              </p:cNvGrpSpPr>
              <p:nvPr/>
            </p:nvGrpSpPr>
            <p:grpSpPr bwMode="auto">
              <a:xfrm>
                <a:off x="4294" y="2013"/>
                <a:ext cx="249" cy="864"/>
                <a:chOff x="1266" y="2184"/>
                <a:chExt cx="312" cy="864"/>
              </a:xfrm>
            </p:grpSpPr>
            <p:sp>
              <p:nvSpPr>
                <p:cNvPr id="39013" name="Line 45"/>
                <p:cNvSpPr>
                  <a:spLocks noChangeShapeType="1"/>
                </p:cNvSpPr>
                <p:nvPr/>
              </p:nvSpPr>
              <p:spPr bwMode="auto">
                <a:xfrm>
                  <a:off x="1428" y="2184"/>
                  <a:ext cx="0" cy="864"/>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014" name="AutoShape 46"/>
                <p:cNvSpPr>
                  <a:spLocks noChangeArrowheads="1"/>
                </p:cNvSpPr>
                <p:nvPr/>
              </p:nvSpPr>
              <p:spPr bwMode="auto">
                <a:xfrm rot="-5400000">
                  <a:off x="1218" y="2454"/>
                  <a:ext cx="408" cy="312"/>
                </a:xfrm>
                <a:prstGeom prst="flowChartDecision">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14447" name="Text Box 47"/>
              <p:cNvSpPr txBox="1">
                <a:spLocks noChangeArrowheads="1"/>
              </p:cNvSpPr>
              <p:nvPr/>
            </p:nvSpPr>
            <p:spPr bwMode="auto">
              <a:xfrm>
                <a:off x="4215" y="2124"/>
                <a:ext cx="232" cy="523"/>
              </a:xfrm>
              <a:prstGeom prst="rect">
                <a:avLst/>
              </a:prstGeom>
              <a:noFill/>
              <a:ln w="38100">
                <a:noFill/>
                <a:miter lim="800000"/>
                <a:headEnd/>
                <a:tailEnd/>
              </a:ln>
              <a:effectLst/>
            </p:spPr>
            <p:txBody>
              <a:bodyPr wrap="none" anchor="ct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eaLnBrk="1" hangingPunct="1">
                  <a:lnSpc>
                    <a:spcPct val="75000"/>
                  </a:lnSpc>
                  <a:spcBef>
                    <a:spcPct val="50000"/>
                  </a:spcBef>
                  <a:defRPr/>
                </a:pPr>
                <a:r>
                  <a:rPr kumimoji="1"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lnSpc>
                    <a:spcPct val="75000"/>
                  </a:lnSpc>
                  <a:spcBef>
                    <a:spcPct val="50000"/>
                  </a:spcBef>
                  <a:defRPr/>
                </a:pPr>
                <a:r>
                  <a:rPr kumimoji="1"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_</a:t>
                </a:r>
              </a:p>
            </p:txBody>
          </p:sp>
        </p:grpSp>
        <p:sp>
          <p:nvSpPr>
            <p:cNvPr id="614448" name="Text Box 48"/>
            <p:cNvSpPr txBox="1">
              <a:spLocks noChangeArrowheads="1"/>
            </p:cNvSpPr>
            <p:nvPr/>
          </p:nvSpPr>
          <p:spPr bwMode="auto">
            <a:xfrm>
              <a:off x="3395" y="2235"/>
              <a:ext cx="527" cy="291"/>
            </a:xfrm>
            <a:prstGeom prst="rect">
              <a:avLst/>
            </a:prstGeom>
            <a:noFill/>
            <a:ln w="38100">
              <a:noFill/>
              <a:miter lim="800000"/>
              <a:headEnd/>
              <a:tailEnd/>
            </a:ln>
            <a:effectLst/>
          </p:spPr>
          <p:txBody>
            <a:bodyPr wrap="none"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p>
          </p:txBody>
        </p:sp>
        <p:sp>
          <p:nvSpPr>
            <p:cNvPr id="614449" name="Text Box 49"/>
            <p:cNvSpPr txBox="1">
              <a:spLocks noChangeArrowheads="1"/>
            </p:cNvSpPr>
            <p:nvPr/>
          </p:nvSpPr>
          <p:spPr bwMode="auto">
            <a:xfrm>
              <a:off x="5044" y="2252"/>
              <a:ext cx="447"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96" name="Line 50"/>
            <p:cNvSpPr>
              <a:spLocks noChangeShapeType="1"/>
            </p:cNvSpPr>
            <p:nvPr/>
          </p:nvSpPr>
          <p:spPr bwMode="auto">
            <a:xfrm>
              <a:off x="3475" y="1869"/>
              <a:ext cx="348"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97" name="Line 51"/>
            <p:cNvSpPr>
              <a:spLocks noChangeShapeType="1"/>
            </p:cNvSpPr>
            <p:nvPr/>
          </p:nvSpPr>
          <p:spPr bwMode="auto">
            <a:xfrm flipH="1">
              <a:off x="4999" y="1869"/>
              <a:ext cx="300"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452" name="Text Box 52"/>
            <p:cNvSpPr txBox="1">
              <a:spLocks noChangeArrowheads="1"/>
            </p:cNvSpPr>
            <p:nvPr/>
          </p:nvSpPr>
          <p:spPr bwMode="auto">
            <a:xfrm>
              <a:off x="4926" y="1507"/>
              <a:ext cx="421"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453" name="Text Box 53"/>
            <p:cNvSpPr txBox="1">
              <a:spLocks noChangeArrowheads="1"/>
            </p:cNvSpPr>
            <p:nvPr/>
          </p:nvSpPr>
          <p:spPr bwMode="auto">
            <a:xfrm>
              <a:off x="3482" y="1537"/>
              <a:ext cx="664"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454" name="Text Box 54"/>
            <p:cNvSpPr txBox="1">
              <a:spLocks noChangeArrowheads="1"/>
            </p:cNvSpPr>
            <p:nvPr/>
          </p:nvSpPr>
          <p:spPr bwMode="auto">
            <a:xfrm>
              <a:off x="3427" y="1946"/>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9001" name="Oval 55"/>
            <p:cNvSpPr>
              <a:spLocks noChangeArrowheads="1"/>
            </p:cNvSpPr>
            <p:nvPr/>
          </p:nvSpPr>
          <p:spPr bwMode="auto">
            <a:xfrm>
              <a:off x="3451" y="1960"/>
              <a:ext cx="64" cy="5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002" name="Line 56"/>
            <p:cNvSpPr>
              <a:spLocks noChangeShapeType="1"/>
            </p:cNvSpPr>
            <p:nvPr/>
          </p:nvSpPr>
          <p:spPr bwMode="auto">
            <a:xfrm flipH="1">
              <a:off x="3489" y="2010"/>
              <a:ext cx="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457" name="Text Box 57"/>
            <p:cNvSpPr txBox="1">
              <a:spLocks noChangeArrowheads="1"/>
            </p:cNvSpPr>
            <p:nvPr/>
          </p:nvSpPr>
          <p:spPr bwMode="auto">
            <a:xfrm>
              <a:off x="3427" y="2465"/>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4458" name="Text Box 58"/>
            <p:cNvSpPr txBox="1">
              <a:spLocks noChangeArrowheads="1"/>
            </p:cNvSpPr>
            <p:nvPr/>
          </p:nvSpPr>
          <p:spPr bwMode="auto">
            <a:xfrm>
              <a:off x="5173" y="1994"/>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4459" name="Text Box 59"/>
            <p:cNvSpPr txBox="1">
              <a:spLocks noChangeArrowheads="1"/>
            </p:cNvSpPr>
            <p:nvPr/>
          </p:nvSpPr>
          <p:spPr bwMode="auto">
            <a:xfrm>
              <a:off x="5173" y="2513"/>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9006" name="Rectangle 60"/>
            <p:cNvSpPr>
              <a:spLocks noChangeArrowheads="1"/>
            </p:cNvSpPr>
            <p:nvPr/>
          </p:nvSpPr>
          <p:spPr bwMode="auto">
            <a:xfrm>
              <a:off x="3954" y="1696"/>
              <a:ext cx="979" cy="1290"/>
            </a:xfrm>
            <a:prstGeom prst="rect">
              <a:avLst/>
            </a:prstGeom>
            <a:noFill/>
            <a:ln w="38100">
              <a:solidFill>
                <a:schemeClr val="accent2"/>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9007" name="Group 61"/>
            <p:cNvGrpSpPr>
              <a:grpSpLocks/>
            </p:cNvGrpSpPr>
            <p:nvPr/>
          </p:nvGrpSpPr>
          <p:grpSpPr bwMode="auto">
            <a:xfrm>
              <a:off x="4433" y="2840"/>
              <a:ext cx="866" cy="68"/>
              <a:chOff x="4433" y="2840"/>
              <a:chExt cx="866" cy="68"/>
            </a:xfrm>
          </p:grpSpPr>
          <p:sp>
            <p:nvSpPr>
              <p:cNvPr id="39009" name="Oval 62"/>
              <p:cNvSpPr>
                <a:spLocks noChangeArrowheads="1"/>
              </p:cNvSpPr>
              <p:nvPr/>
            </p:nvSpPr>
            <p:spPr bwMode="auto">
              <a:xfrm>
                <a:off x="5231" y="2840"/>
                <a:ext cx="68" cy="6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9010" name="Line 63"/>
              <p:cNvSpPr>
                <a:spLocks noChangeShapeType="1"/>
              </p:cNvSpPr>
              <p:nvPr/>
            </p:nvSpPr>
            <p:spPr bwMode="auto">
              <a:xfrm flipH="1">
                <a:off x="4433" y="2852"/>
                <a:ext cx="79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9008" name="Line 64"/>
            <p:cNvSpPr>
              <a:spLocks noChangeShapeType="1"/>
            </p:cNvSpPr>
            <p:nvPr/>
          </p:nvSpPr>
          <p:spPr bwMode="auto">
            <a:xfrm>
              <a:off x="4100" y="2010"/>
              <a:ext cx="0" cy="83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14465" name="Rectangle 65"/>
          <p:cNvSpPr>
            <a:spLocks noChangeArrowheads="1"/>
          </p:cNvSpPr>
          <p:nvPr/>
        </p:nvSpPr>
        <p:spPr bwMode="auto">
          <a:xfrm>
            <a:off x="381000" y="304800"/>
            <a:ext cx="4800600" cy="533400"/>
          </a:xfrm>
          <a:prstGeom prst="rect">
            <a:avLst/>
          </a:prstGeom>
          <a:noFill/>
          <a:ln w="9525">
            <a:noFill/>
            <a:miter lim="800000"/>
            <a:headEnd/>
            <a:tailEnd/>
          </a:ln>
        </p:spPr>
        <p:txBody>
          <a:bodyPr/>
          <a:lstStyle/>
          <a:p>
            <a:pPr>
              <a:defRPr/>
            </a:pPr>
            <a:r>
              <a:rPr lang="zh-CN" altLang="en-US">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四种受控电源的模型</a:t>
            </a:r>
          </a:p>
        </p:txBody>
      </p:sp>
      <p:grpSp>
        <p:nvGrpSpPr>
          <p:cNvPr id="14" name="Group 66"/>
          <p:cNvGrpSpPr>
            <a:grpSpLocks/>
          </p:cNvGrpSpPr>
          <p:nvPr/>
        </p:nvGrpSpPr>
        <p:grpSpPr bwMode="auto">
          <a:xfrm>
            <a:off x="1111250" y="3648075"/>
            <a:ext cx="3402013" cy="2925763"/>
            <a:chOff x="700" y="2298"/>
            <a:chExt cx="2143" cy="1843"/>
          </a:xfrm>
        </p:grpSpPr>
        <p:sp>
          <p:nvSpPr>
            <p:cNvPr id="614467" name="Text Box 67"/>
            <p:cNvSpPr txBox="1">
              <a:spLocks noChangeArrowheads="1"/>
            </p:cNvSpPr>
            <p:nvPr/>
          </p:nvSpPr>
          <p:spPr bwMode="auto">
            <a:xfrm>
              <a:off x="1102" y="3853"/>
              <a:ext cx="1464"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 VCCS</a:t>
              </a:r>
              <a:endParaRPr kumimoji="1" lang="en-US" altLang="zh-CN">
                <a:solidFill>
                  <a:schemeClr val="accent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468" name="Text Box 68"/>
            <p:cNvSpPr txBox="1">
              <a:spLocks noChangeArrowheads="1"/>
            </p:cNvSpPr>
            <p:nvPr/>
          </p:nvSpPr>
          <p:spPr bwMode="auto">
            <a:xfrm>
              <a:off x="1920" y="3087"/>
              <a:ext cx="418" cy="291"/>
            </a:xfrm>
            <a:prstGeom prst="rect">
              <a:avLst/>
            </a:prstGeom>
            <a:noFill/>
            <a:ln w="38100">
              <a:noFill/>
              <a:miter lim="800000"/>
              <a:headEnd/>
              <a:tailEnd/>
            </a:ln>
            <a:effectLst/>
          </p:spPr>
          <p:txBody>
            <a:bodyPr wrap="none"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g</a:t>
              </a: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8958" name="Group 69"/>
            <p:cNvGrpSpPr>
              <a:grpSpLocks/>
            </p:cNvGrpSpPr>
            <p:nvPr/>
          </p:nvGrpSpPr>
          <p:grpSpPr bwMode="auto">
            <a:xfrm>
              <a:off x="1775" y="2786"/>
              <a:ext cx="866" cy="68"/>
              <a:chOff x="1489" y="804"/>
              <a:chExt cx="866" cy="68"/>
            </a:xfrm>
          </p:grpSpPr>
          <p:sp>
            <p:nvSpPr>
              <p:cNvPr id="38986" name="Oval 70"/>
              <p:cNvSpPr>
                <a:spLocks noChangeArrowheads="1"/>
              </p:cNvSpPr>
              <p:nvPr/>
            </p:nvSpPr>
            <p:spPr bwMode="auto">
              <a:xfrm>
                <a:off x="2287" y="804"/>
                <a:ext cx="68" cy="6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87" name="Line 71"/>
              <p:cNvSpPr>
                <a:spLocks noChangeShapeType="1"/>
              </p:cNvSpPr>
              <p:nvPr/>
            </p:nvSpPr>
            <p:spPr bwMode="auto">
              <a:xfrm flipH="1">
                <a:off x="1489" y="816"/>
                <a:ext cx="79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8959" name="Group 72"/>
            <p:cNvGrpSpPr>
              <a:grpSpLocks/>
            </p:cNvGrpSpPr>
            <p:nvPr/>
          </p:nvGrpSpPr>
          <p:grpSpPr bwMode="auto">
            <a:xfrm>
              <a:off x="827" y="3581"/>
              <a:ext cx="688" cy="74"/>
              <a:chOff x="541" y="1599"/>
              <a:chExt cx="688" cy="74"/>
            </a:xfrm>
          </p:grpSpPr>
          <p:sp>
            <p:nvSpPr>
              <p:cNvPr id="38983" name="Oval 73"/>
              <p:cNvSpPr>
                <a:spLocks noChangeArrowheads="1"/>
              </p:cNvSpPr>
              <p:nvPr/>
            </p:nvSpPr>
            <p:spPr bwMode="auto">
              <a:xfrm>
                <a:off x="541" y="1599"/>
                <a:ext cx="63" cy="5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84" name="Oval 74"/>
              <p:cNvSpPr>
                <a:spLocks noChangeArrowheads="1"/>
              </p:cNvSpPr>
              <p:nvPr/>
            </p:nvSpPr>
            <p:spPr bwMode="auto">
              <a:xfrm>
                <a:off x="1166" y="1614"/>
                <a:ext cx="63" cy="5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85" name="Line 75"/>
              <p:cNvSpPr>
                <a:spLocks noChangeShapeType="1"/>
              </p:cNvSpPr>
              <p:nvPr/>
            </p:nvSpPr>
            <p:spPr bwMode="auto">
              <a:xfrm flipH="1">
                <a:off x="579" y="1649"/>
                <a:ext cx="58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14476" name="Text Box 76"/>
            <p:cNvSpPr txBox="1">
              <a:spLocks noChangeArrowheads="1"/>
            </p:cNvSpPr>
            <p:nvPr/>
          </p:nvSpPr>
          <p:spPr bwMode="auto">
            <a:xfrm>
              <a:off x="700" y="3012"/>
              <a:ext cx="321" cy="291"/>
            </a:xfrm>
            <a:prstGeom prst="rect">
              <a:avLst/>
            </a:prstGeom>
            <a:noFill/>
            <a:ln w="38100">
              <a:noFill/>
              <a:miter lim="800000"/>
              <a:headEnd/>
              <a:tailEnd/>
            </a:ln>
            <a:effectLst/>
          </p:spPr>
          <p:txBody>
            <a:bodyPr wrap="none"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477" name="Text Box 77"/>
            <p:cNvSpPr txBox="1">
              <a:spLocks noChangeArrowheads="1"/>
            </p:cNvSpPr>
            <p:nvPr/>
          </p:nvSpPr>
          <p:spPr bwMode="auto">
            <a:xfrm>
              <a:off x="2396" y="3043"/>
              <a:ext cx="447"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62" name="Line 78"/>
            <p:cNvSpPr>
              <a:spLocks noChangeShapeType="1"/>
            </p:cNvSpPr>
            <p:nvPr/>
          </p:nvSpPr>
          <p:spPr bwMode="auto">
            <a:xfrm>
              <a:off x="827" y="2660"/>
              <a:ext cx="348"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63" name="Line 79"/>
            <p:cNvSpPr>
              <a:spLocks noChangeShapeType="1"/>
            </p:cNvSpPr>
            <p:nvPr/>
          </p:nvSpPr>
          <p:spPr bwMode="auto">
            <a:xfrm flipH="1">
              <a:off x="2351" y="2660"/>
              <a:ext cx="300"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480" name="Text Box 80"/>
            <p:cNvSpPr txBox="1">
              <a:spLocks noChangeArrowheads="1"/>
            </p:cNvSpPr>
            <p:nvPr/>
          </p:nvSpPr>
          <p:spPr bwMode="auto">
            <a:xfrm>
              <a:off x="2278" y="2298"/>
              <a:ext cx="421"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481" name="Text Box 81"/>
            <p:cNvSpPr txBox="1">
              <a:spLocks noChangeArrowheads="1"/>
            </p:cNvSpPr>
            <p:nvPr/>
          </p:nvSpPr>
          <p:spPr bwMode="auto">
            <a:xfrm>
              <a:off x="731" y="2328"/>
              <a:ext cx="664"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p>
          </p:txBody>
        </p:sp>
        <p:sp>
          <p:nvSpPr>
            <p:cNvPr id="614482" name="Text Box 82"/>
            <p:cNvSpPr txBox="1">
              <a:spLocks noChangeArrowheads="1"/>
            </p:cNvSpPr>
            <p:nvPr/>
          </p:nvSpPr>
          <p:spPr bwMode="auto">
            <a:xfrm>
              <a:off x="779" y="2737"/>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38967" name="Group 83"/>
            <p:cNvGrpSpPr>
              <a:grpSpLocks/>
            </p:cNvGrpSpPr>
            <p:nvPr/>
          </p:nvGrpSpPr>
          <p:grpSpPr bwMode="auto">
            <a:xfrm>
              <a:off x="803" y="2751"/>
              <a:ext cx="702" cy="74"/>
              <a:chOff x="517" y="769"/>
              <a:chExt cx="702" cy="74"/>
            </a:xfrm>
          </p:grpSpPr>
          <p:sp>
            <p:nvSpPr>
              <p:cNvPr id="38980" name="Oval 84"/>
              <p:cNvSpPr>
                <a:spLocks noChangeArrowheads="1"/>
              </p:cNvSpPr>
              <p:nvPr/>
            </p:nvSpPr>
            <p:spPr bwMode="auto">
              <a:xfrm>
                <a:off x="517" y="769"/>
                <a:ext cx="64" cy="5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81" name="Oval 85"/>
              <p:cNvSpPr>
                <a:spLocks noChangeArrowheads="1"/>
              </p:cNvSpPr>
              <p:nvPr/>
            </p:nvSpPr>
            <p:spPr bwMode="auto">
              <a:xfrm>
                <a:off x="1155" y="784"/>
                <a:ext cx="64" cy="5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82" name="Line 86"/>
              <p:cNvSpPr>
                <a:spLocks noChangeShapeType="1"/>
              </p:cNvSpPr>
              <p:nvPr/>
            </p:nvSpPr>
            <p:spPr bwMode="auto">
              <a:xfrm flipH="1">
                <a:off x="555" y="819"/>
                <a:ext cx="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14487" name="Text Box 87"/>
            <p:cNvSpPr txBox="1">
              <a:spLocks noChangeArrowheads="1"/>
            </p:cNvSpPr>
            <p:nvPr/>
          </p:nvSpPr>
          <p:spPr bwMode="auto">
            <a:xfrm>
              <a:off x="779" y="3256"/>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4488" name="Text Box 88"/>
            <p:cNvSpPr txBox="1">
              <a:spLocks noChangeArrowheads="1"/>
            </p:cNvSpPr>
            <p:nvPr/>
          </p:nvSpPr>
          <p:spPr bwMode="auto">
            <a:xfrm>
              <a:off x="2525" y="2785"/>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4489" name="Text Box 89"/>
            <p:cNvSpPr txBox="1">
              <a:spLocks noChangeArrowheads="1"/>
            </p:cNvSpPr>
            <p:nvPr/>
          </p:nvSpPr>
          <p:spPr bwMode="auto">
            <a:xfrm>
              <a:off x="2525" y="3304"/>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8971" name="Rectangle 90"/>
            <p:cNvSpPr>
              <a:spLocks noChangeArrowheads="1"/>
            </p:cNvSpPr>
            <p:nvPr/>
          </p:nvSpPr>
          <p:spPr bwMode="auto">
            <a:xfrm>
              <a:off x="1243" y="2487"/>
              <a:ext cx="1108" cy="1290"/>
            </a:xfrm>
            <a:prstGeom prst="rect">
              <a:avLst/>
            </a:prstGeom>
            <a:noFill/>
            <a:ln w="38100">
              <a:solidFill>
                <a:schemeClr val="accent2"/>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8972" name="Group 91"/>
            <p:cNvGrpSpPr>
              <a:grpSpLocks/>
            </p:cNvGrpSpPr>
            <p:nvPr/>
          </p:nvGrpSpPr>
          <p:grpSpPr bwMode="auto">
            <a:xfrm>
              <a:off x="1785" y="3631"/>
              <a:ext cx="866" cy="68"/>
              <a:chOff x="1499" y="1649"/>
              <a:chExt cx="866" cy="68"/>
            </a:xfrm>
          </p:grpSpPr>
          <p:sp>
            <p:nvSpPr>
              <p:cNvPr id="38978" name="Oval 92"/>
              <p:cNvSpPr>
                <a:spLocks noChangeArrowheads="1"/>
              </p:cNvSpPr>
              <p:nvPr/>
            </p:nvSpPr>
            <p:spPr bwMode="auto">
              <a:xfrm>
                <a:off x="2297" y="1649"/>
                <a:ext cx="68" cy="6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79" name="Line 93"/>
              <p:cNvSpPr>
                <a:spLocks noChangeShapeType="1"/>
              </p:cNvSpPr>
              <p:nvPr/>
            </p:nvSpPr>
            <p:spPr bwMode="auto">
              <a:xfrm flipH="1">
                <a:off x="1499" y="1661"/>
                <a:ext cx="79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38973" name="Group 94"/>
            <p:cNvGrpSpPr>
              <a:grpSpLocks/>
            </p:cNvGrpSpPr>
            <p:nvPr/>
          </p:nvGrpSpPr>
          <p:grpSpPr bwMode="auto">
            <a:xfrm>
              <a:off x="1618" y="2804"/>
              <a:ext cx="300" cy="864"/>
              <a:chOff x="1332" y="822"/>
              <a:chExt cx="300" cy="864"/>
            </a:xfrm>
          </p:grpSpPr>
          <p:sp>
            <p:nvSpPr>
              <p:cNvPr id="38974" name="Line 95"/>
              <p:cNvSpPr>
                <a:spLocks noChangeShapeType="1"/>
              </p:cNvSpPr>
              <p:nvPr/>
            </p:nvSpPr>
            <p:spPr bwMode="auto">
              <a:xfrm>
                <a:off x="1489" y="822"/>
                <a:ext cx="0" cy="864"/>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75" name="AutoShape 96"/>
              <p:cNvSpPr>
                <a:spLocks noChangeArrowheads="1"/>
              </p:cNvSpPr>
              <p:nvPr/>
            </p:nvSpPr>
            <p:spPr bwMode="auto">
              <a:xfrm rot="-5400000">
                <a:off x="1281" y="1123"/>
                <a:ext cx="408" cy="249"/>
              </a:xfrm>
              <a:prstGeom prst="flowChartDecision">
                <a:avLst/>
              </a:prstGeom>
              <a:solidFill>
                <a:schemeClr val="bg1"/>
              </a:solidFill>
              <a:ln w="381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76" name="Line 97"/>
              <p:cNvSpPr>
                <a:spLocks noChangeShapeType="1"/>
              </p:cNvSpPr>
              <p:nvPr/>
            </p:nvSpPr>
            <p:spPr bwMode="auto">
              <a:xfrm>
                <a:off x="1360" y="1243"/>
                <a:ext cx="2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77" name="Line 98"/>
              <p:cNvSpPr>
                <a:spLocks noChangeShapeType="1"/>
              </p:cNvSpPr>
              <p:nvPr/>
            </p:nvSpPr>
            <p:spPr bwMode="auto">
              <a:xfrm>
                <a:off x="1332" y="1083"/>
                <a:ext cx="0" cy="369"/>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20" name="Group 99"/>
          <p:cNvGrpSpPr>
            <a:grpSpLocks/>
          </p:cNvGrpSpPr>
          <p:nvPr/>
        </p:nvGrpSpPr>
        <p:grpSpPr bwMode="auto">
          <a:xfrm>
            <a:off x="5575300" y="3522663"/>
            <a:ext cx="3327400" cy="3051175"/>
            <a:chOff x="3512" y="2219"/>
            <a:chExt cx="2096" cy="1922"/>
          </a:xfrm>
        </p:grpSpPr>
        <p:sp>
          <p:nvSpPr>
            <p:cNvPr id="614500" name="Text Box 100"/>
            <p:cNvSpPr txBox="1">
              <a:spLocks noChangeArrowheads="1"/>
            </p:cNvSpPr>
            <p:nvPr/>
          </p:nvSpPr>
          <p:spPr bwMode="auto">
            <a:xfrm>
              <a:off x="4031" y="3853"/>
              <a:ext cx="1276"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(d) CCCS</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501" name="Text Box 101"/>
            <p:cNvSpPr txBox="1">
              <a:spLocks noChangeArrowheads="1"/>
            </p:cNvSpPr>
            <p:nvPr/>
          </p:nvSpPr>
          <p:spPr bwMode="auto">
            <a:xfrm>
              <a:off x="4682" y="2935"/>
              <a:ext cx="728" cy="288"/>
            </a:xfrm>
            <a:prstGeom prst="rect">
              <a:avLst/>
            </a:prstGeom>
            <a:noFill/>
            <a:ln w="38100">
              <a:noFill/>
              <a:miter lim="800000"/>
              <a:headEnd/>
              <a:tailEnd/>
            </a:ln>
            <a:effectLst/>
          </p:spPr>
          <p:txBody>
            <a:bodyPr anchor="ctr">
              <a:spAutoFit/>
            </a:bodyPr>
            <a:lstStyle/>
            <a:p>
              <a:pPr>
                <a:spcBef>
                  <a:spcPct val="50000"/>
                </a:spcBef>
                <a:defRPr/>
              </a:pPr>
              <a:r>
                <a:rPr kumimoji="1" lang="zh-CN"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itchFamily="18" charset="2"/>
                </a:rPr>
                <a:t> </a:t>
              </a:r>
              <a:r>
                <a:rPr kumimoji="1" lang="en-US" altLang="zh-CN"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8929" name="Group 102"/>
            <p:cNvGrpSpPr>
              <a:grpSpLocks/>
            </p:cNvGrpSpPr>
            <p:nvPr/>
          </p:nvGrpSpPr>
          <p:grpSpPr bwMode="auto">
            <a:xfrm>
              <a:off x="4540" y="2707"/>
              <a:ext cx="866" cy="68"/>
              <a:chOff x="4129" y="725"/>
              <a:chExt cx="866" cy="68"/>
            </a:xfrm>
          </p:grpSpPr>
          <p:sp>
            <p:nvSpPr>
              <p:cNvPr id="38954" name="Oval 103"/>
              <p:cNvSpPr>
                <a:spLocks noChangeArrowheads="1"/>
              </p:cNvSpPr>
              <p:nvPr/>
            </p:nvSpPr>
            <p:spPr bwMode="auto">
              <a:xfrm>
                <a:off x="4927" y="725"/>
                <a:ext cx="68" cy="6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55" name="Line 104"/>
              <p:cNvSpPr>
                <a:spLocks noChangeShapeType="1"/>
              </p:cNvSpPr>
              <p:nvPr/>
            </p:nvSpPr>
            <p:spPr bwMode="auto">
              <a:xfrm flipH="1">
                <a:off x="4129" y="737"/>
                <a:ext cx="79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8930" name="Oval 105"/>
            <p:cNvSpPr>
              <a:spLocks noChangeArrowheads="1"/>
            </p:cNvSpPr>
            <p:nvPr/>
          </p:nvSpPr>
          <p:spPr bwMode="auto">
            <a:xfrm>
              <a:off x="3592" y="3502"/>
              <a:ext cx="63" cy="5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31" name="Line 106"/>
            <p:cNvSpPr>
              <a:spLocks noChangeShapeType="1"/>
            </p:cNvSpPr>
            <p:nvPr/>
          </p:nvSpPr>
          <p:spPr bwMode="auto">
            <a:xfrm flipH="1">
              <a:off x="3630" y="3552"/>
              <a:ext cx="58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507" name="Text Box 107"/>
            <p:cNvSpPr txBox="1">
              <a:spLocks noChangeArrowheads="1"/>
            </p:cNvSpPr>
            <p:nvPr/>
          </p:nvSpPr>
          <p:spPr bwMode="auto">
            <a:xfrm>
              <a:off x="3512" y="2947"/>
              <a:ext cx="527" cy="291"/>
            </a:xfrm>
            <a:prstGeom prst="rect">
              <a:avLst/>
            </a:prstGeom>
            <a:noFill/>
            <a:ln w="38100">
              <a:noFill/>
              <a:miter lim="800000"/>
              <a:headEnd/>
              <a:tailEnd/>
            </a:ln>
            <a:effectLst/>
          </p:spPr>
          <p:txBody>
            <a:bodyPr wrap="none"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p>
          </p:txBody>
        </p:sp>
        <p:sp>
          <p:nvSpPr>
            <p:cNvPr id="614508" name="Text Box 108"/>
            <p:cNvSpPr txBox="1">
              <a:spLocks noChangeArrowheads="1"/>
            </p:cNvSpPr>
            <p:nvPr/>
          </p:nvSpPr>
          <p:spPr bwMode="auto">
            <a:xfrm>
              <a:off x="5161" y="2964"/>
              <a:ext cx="447"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34" name="Line 109"/>
            <p:cNvSpPr>
              <a:spLocks noChangeShapeType="1"/>
            </p:cNvSpPr>
            <p:nvPr/>
          </p:nvSpPr>
          <p:spPr bwMode="auto">
            <a:xfrm>
              <a:off x="3592" y="2581"/>
              <a:ext cx="348"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35" name="Line 110"/>
            <p:cNvSpPr>
              <a:spLocks noChangeShapeType="1"/>
            </p:cNvSpPr>
            <p:nvPr/>
          </p:nvSpPr>
          <p:spPr bwMode="auto">
            <a:xfrm flipH="1">
              <a:off x="5116" y="2581"/>
              <a:ext cx="300"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511" name="Text Box 111"/>
            <p:cNvSpPr txBox="1">
              <a:spLocks noChangeArrowheads="1"/>
            </p:cNvSpPr>
            <p:nvPr/>
          </p:nvSpPr>
          <p:spPr bwMode="auto">
            <a:xfrm>
              <a:off x="5043" y="2219"/>
              <a:ext cx="421"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512" name="Text Box 112"/>
            <p:cNvSpPr txBox="1">
              <a:spLocks noChangeArrowheads="1"/>
            </p:cNvSpPr>
            <p:nvPr/>
          </p:nvSpPr>
          <p:spPr bwMode="auto">
            <a:xfrm>
              <a:off x="3599" y="2249"/>
              <a:ext cx="664" cy="288"/>
            </a:xfrm>
            <a:prstGeom prst="rect">
              <a:avLst/>
            </a:prstGeom>
            <a:noFill/>
            <a:ln w="38100">
              <a:noFill/>
              <a:miter lim="800000"/>
              <a:headEnd/>
              <a:tailEnd/>
            </a:ln>
            <a:effectLst/>
          </p:spPr>
          <p:txBody>
            <a:bodyPr anchor="ctr">
              <a:spAutoFit/>
            </a:bodyPr>
            <a:lstStyle/>
            <a:p>
              <a:pPr>
                <a:spcBef>
                  <a:spcPct val="50000"/>
                </a:spcBef>
                <a:defRPr/>
              </a:pPr>
              <a:r>
                <a:rPr kumimoji="1" lang="en-US" altLang="zh-CN"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513" name="Text Box 113"/>
            <p:cNvSpPr txBox="1">
              <a:spLocks noChangeArrowheads="1"/>
            </p:cNvSpPr>
            <p:nvPr/>
          </p:nvSpPr>
          <p:spPr bwMode="auto">
            <a:xfrm>
              <a:off x="3544" y="2658"/>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8939" name="Oval 114"/>
            <p:cNvSpPr>
              <a:spLocks noChangeArrowheads="1"/>
            </p:cNvSpPr>
            <p:nvPr/>
          </p:nvSpPr>
          <p:spPr bwMode="auto">
            <a:xfrm>
              <a:off x="3568" y="2672"/>
              <a:ext cx="64" cy="5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40" name="Line 115"/>
            <p:cNvSpPr>
              <a:spLocks noChangeShapeType="1"/>
            </p:cNvSpPr>
            <p:nvPr/>
          </p:nvSpPr>
          <p:spPr bwMode="auto">
            <a:xfrm flipH="1">
              <a:off x="3606" y="2722"/>
              <a:ext cx="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516" name="Text Box 116"/>
            <p:cNvSpPr txBox="1">
              <a:spLocks noChangeArrowheads="1"/>
            </p:cNvSpPr>
            <p:nvPr/>
          </p:nvSpPr>
          <p:spPr bwMode="auto">
            <a:xfrm>
              <a:off x="3544" y="3177"/>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4517" name="Text Box 117"/>
            <p:cNvSpPr txBox="1">
              <a:spLocks noChangeArrowheads="1"/>
            </p:cNvSpPr>
            <p:nvPr/>
          </p:nvSpPr>
          <p:spPr bwMode="auto">
            <a:xfrm>
              <a:off x="5290" y="2706"/>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4518" name="Text Box 118"/>
            <p:cNvSpPr txBox="1">
              <a:spLocks noChangeArrowheads="1"/>
            </p:cNvSpPr>
            <p:nvPr/>
          </p:nvSpPr>
          <p:spPr bwMode="auto">
            <a:xfrm>
              <a:off x="5290" y="3225"/>
              <a:ext cx="174" cy="288"/>
            </a:xfrm>
            <a:prstGeom prst="rect">
              <a:avLst/>
            </a:prstGeom>
            <a:noFill/>
            <a:ln w="9525">
              <a:noFill/>
              <a:miter lim="800000"/>
              <a:headEnd/>
              <a:tailEnd/>
            </a:ln>
            <a:effectLst/>
          </p:spPr>
          <p:txBody>
            <a:bodyPr>
              <a:spAutoFit/>
            </a:bodyPr>
            <a:lstStyle>
              <a:lvl1pPr eaLnBrk="0" hangingPunct="0">
                <a:defRPr sz="2800" b="1">
                  <a:solidFill>
                    <a:schemeClr val="tx1"/>
                  </a:solidFill>
                  <a:latin typeface="Arial" charset="0"/>
                  <a:ea typeface="宋体" pitchFamily="2" charset="-122"/>
                </a:defRPr>
              </a:lvl1pPr>
              <a:lvl2pPr marL="742950" indent="-285750" eaLnBrk="0" hangingPunct="0">
                <a:defRPr sz="2800" b="1">
                  <a:solidFill>
                    <a:schemeClr val="tx1"/>
                  </a:solidFill>
                  <a:latin typeface="Arial" charset="0"/>
                  <a:ea typeface="宋体" pitchFamily="2" charset="-122"/>
                </a:defRPr>
              </a:lvl2pPr>
              <a:lvl3pPr marL="1143000" indent="-228600" eaLnBrk="0" hangingPunct="0">
                <a:defRPr sz="2800" b="1">
                  <a:solidFill>
                    <a:schemeClr val="tx1"/>
                  </a:solidFill>
                  <a:latin typeface="Arial" charset="0"/>
                  <a:ea typeface="宋体" pitchFamily="2" charset="-122"/>
                </a:defRPr>
              </a:lvl3pPr>
              <a:lvl4pPr marL="1600200" indent="-228600" eaLnBrk="0" hangingPunct="0">
                <a:defRPr sz="2800" b="1">
                  <a:solidFill>
                    <a:schemeClr val="tx1"/>
                  </a:solidFill>
                  <a:latin typeface="Arial" charset="0"/>
                  <a:ea typeface="宋体" pitchFamily="2" charset="-122"/>
                </a:defRPr>
              </a:lvl4pPr>
              <a:lvl5pPr marL="2057400" indent="-228600" eaLnBrk="0" hangingPunct="0">
                <a:defRPr sz="28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8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8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8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800" b="1">
                  <a:solidFill>
                    <a:schemeClr val="tx1"/>
                  </a:solidFill>
                  <a:latin typeface="Arial" charset="0"/>
                  <a:ea typeface="宋体" pitchFamily="2" charset="-122"/>
                </a:defRPr>
              </a:lvl9pPr>
            </a:lstStyle>
            <a:p>
              <a:pPr>
                <a:spcBef>
                  <a:spcPct val="50000"/>
                </a:spcBef>
                <a:defRPr/>
              </a:pPr>
              <a:r>
                <a:rPr lang="en-US" altLang="zh-CN" sz="240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8944" name="Rectangle 119"/>
            <p:cNvSpPr>
              <a:spLocks noChangeArrowheads="1"/>
            </p:cNvSpPr>
            <p:nvPr/>
          </p:nvSpPr>
          <p:spPr bwMode="auto">
            <a:xfrm>
              <a:off x="4071" y="2408"/>
              <a:ext cx="979" cy="1290"/>
            </a:xfrm>
            <a:prstGeom prst="rect">
              <a:avLst/>
            </a:prstGeom>
            <a:noFill/>
            <a:ln w="38100">
              <a:solidFill>
                <a:schemeClr val="accent2"/>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8945" name="Group 120"/>
            <p:cNvGrpSpPr>
              <a:grpSpLocks/>
            </p:cNvGrpSpPr>
            <p:nvPr/>
          </p:nvGrpSpPr>
          <p:grpSpPr bwMode="auto">
            <a:xfrm>
              <a:off x="4550" y="3552"/>
              <a:ext cx="866" cy="68"/>
              <a:chOff x="4139" y="1570"/>
              <a:chExt cx="866" cy="68"/>
            </a:xfrm>
          </p:grpSpPr>
          <p:sp>
            <p:nvSpPr>
              <p:cNvPr id="38952" name="Oval 121"/>
              <p:cNvSpPr>
                <a:spLocks noChangeArrowheads="1"/>
              </p:cNvSpPr>
              <p:nvPr/>
            </p:nvSpPr>
            <p:spPr bwMode="auto">
              <a:xfrm>
                <a:off x="4937" y="1570"/>
                <a:ext cx="68" cy="6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53" name="Line 122"/>
              <p:cNvSpPr>
                <a:spLocks noChangeShapeType="1"/>
              </p:cNvSpPr>
              <p:nvPr/>
            </p:nvSpPr>
            <p:spPr bwMode="auto">
              <a:xfrm flipH="1">
                <a:off x="4139" y="1582"/>
                <a:ext cx="79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8946" name="Line 123"/>
            <p:cNvSpPr>
              <a:spLocks noChangeShapeType="1"/>
            </p:cNvSpPr>
            <p:nvPr/>
          </p:nvSpPr>
          <p:spPr bwMode="auto">
            <a:xfrm>
              <a:off x="4217" y="2722"/>
              <a:ext cx="0" cy="83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8947" name="Group 124"/>
            <p:cNvGrpSpPr>
              <a:grpSpLocks/>
            </p:cNvGrpSpPr>
            <p:nvPr/>
          </p:nvGrpSpPr>
          <p:grpSpPr bwMode="auto">
            <a:xfrm>
              <a:off x="4413" y="2727"/>
              <a:ext cx="300" cy="864"/>
              <a:chOff x="4002" y="745"/>
              <a:chExt cx="300" cy="864"/>
            </a:xfrm>
          </p:grpSpPr>
          <p:sp>
            <p:nvSpPr>
              <p:cNvPr id="38948" name="Line 125"/>
              <p:cNvSpPr>
                <a:spLocks noChangeShapeType="1"/>
              </p:cNvSpPr>
              <p:nvPr/>
            </p:nvSpPr>
            <p:spPr bwMode="auto">
              <a:xfrm>
                <a:off x="4159" y="745"/>
                <a:ext cx="0" cy="864"/>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49" name="AutoShape 126"/>
              <p:cNvSpPr>
                <a:spLocks noChangeArrowheads="1"/>
              </p:cNvSpPr>
              <p:nvPr/>
            </p:nvSpPr>
            <p:spPr bwMode="auto">
              <a:xfrm rot="-5400000">
                <a:off x="3951" y="1046"/>
                <a:ext cx="408" cy="249"/>
              </a:xfrm>
              <a:prstGeom prst="flowChartDecision">
                <a:avLst/>
              </a:prstGeom>
              <a:solidFill>
                <a:schemeClr val="bg1"/>
              </a:solidFill>
              <a:ln w="381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50" name="Line 127"/>
              <p:cNvSpPr>
                <a:spLocks noChangeShapeType="1"/>
              </p:cNvSpPr>
              <p:nvPr/>
            </p:nvSpPr>
            <p:spPr bwMode="auto">
              <a:xfrm>
                <a:off x="4030" y="1166"/>
                <a:ext cx="2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8951" name="Line 128"/>
              <p:cNvSpPr>
                <a:spLocks noChangeShapeType="1"/>
              </p:cNvSpPr>
              <p:nvPr/>
            </p:nvSpPr>
            <p:spPr bwMode="auto">
              <a:xfrm>
                <a:off x="4002" y="1006"/>
                <a:ext cx="0" cy="369"/>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614529" name="Line 129"/>
          <p:cNvSpPr>
            <a:spLocks noChangeShapeType="1"/>
          </p:cNvSpPr>
          <p:nvPr/>
        </p:nvSpPr>
        <p:spPr bwMode="auto">
          <a:xfrm>
            <a:off x="215900" y="3644900"/>
            <a:ext cx="9144000" cy="0"/>
          </a:xfrm>
          <a:prstGeom prst="line">
            <a:avLst/>
          </a:prstGeom>
          <a:noFill/>
          <a:ln w="38100">
            <a:solidFill>
              <a:srgbClr val="008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530" name="Line 130"/>
          <p:cNvSpPr>
            <a:spLocks noChangeShapeType="1"/>
          </p:cNvSpPr>
          <p:nvPr/>
        </p:nvSpPr>
        <p:spPr bwMode="auto">
          <a:xfrm>
            <a:off x="4864100" y="901700"/>
            <a:ext cx="0" cy="5791200"/>
          </a:xfrm>
          <a:prstGeom prst="line">
            <a:avLst/>
          </a:prstGeom>
          <a:noFill/>
          <a:ln w="38100">
            <a:solidFill>
              <a:srgbClr val="008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531" name="Text Box 131"/>
          <p:cNvSpPr txBox="1">
            <a:spLocks noChangeArrowheads="1"/>
          </p:cNvSpPr>
          <p:nvPr/>
        </p:nvSpPr>
        <p:spPr bwMode="auto">
          <a:xfrm>
            <a:off x="520700" y="947738"/>
            <a:ext cx="625475" cy="2419124"/>
          </a:xfrm>
          <a:prstGeom prst="rect">
            <a:avLst/>
          </a:prstGeom>
          <a:noFill/>
          <a:ln w="9525">
            <a:noFill/>
            <a:miter lim="800000"/>
            <a:headEnd/>
            <a:tailEnd/>
          </a:ln>
          <a:effectLst/>
        </p:spPr>
        <p:txBody>
          <a:bodyPr>
            <a:spAutoFit/>
          </a:bodyPr>
          <a:lstStyle/>
          <a:p>
            <a:pPr>
              <a:lnSpc>
                <a:spcPct val="90000"/>
              </a:lnSpc>
              <a:defRPr/>
            </a:pPr>
            <a:r>
              <a:rPr lang="zh-CN" altLang="en-US">
                <a:solidFill>
                  <a:srgbClr val="0052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电压控制电压源</a:t>
            </a:r>
          </a:p>
        </p:txBody>
      </p:sp>
      <p:sp>
        <p:nvSpPr>
          <p:cNvPr id="614532" name="Text Box 132"/>
          <p:cNvSpPr txBox="1">
            <a:spLocks noChangeArrowheads="1"/>
          </p:cNvSpPr>
          <p:nvPr/>
        </p:nvSpPr>
        <p:spPr bwMode="auto">
          <a:xfrm>
            <a:off x="4940300" y="901700"/>
            <a:ext cx="625475" cy="2419124"/>
          </a:xfrm>
          <a:prstGeom prst="rect">
            <a:avLst/>
          </a:prstGeom>
          <a:noFill/>
          <a:ln w="9525">
            <a:noFill/>
            <a:miter lim="800000"/>
            <a:headEnd/>
            <a:tailEnd/>
          </a:ln>
          <a:effectLst/>
        </p:spPr>
        <p:txBody>
          <a:bodyPr>
            <a:spAutoFit/>
          </a:bodyPr>
          <a:lstStyle/>
          <a:p>
            <a:pPr>
              <a:lnSpc>
                <a:spcPct val="90000"/>
              </a:lnSpc>
              <a:defRPr/>
            </a:pPr>
            <a:r>
              <a:rPr lang="zh-CN" altLang="en-US">
                <a:solidFill>
                  <a:srgbClr val="0052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电流控制电压源</a:t>
            </a:r>
          </a:p>
        </p:txBody>
      </p:sp>
      <p:sp>
        <p:nvSpPr>
          <p:cNvPr id="614533" name="Text Box 133"/>
          <p:cNvSpPr txBox="1">
            <a:spLocks noChangeArrowheads="1"/>
          </p:cNvSpPr>
          <p:nvPr/>
        </p:nvSpPr>
        <p:spPr bwMode="auto">
          <a:xfrm>
            <a:off x="504825" y="3721100"/>
            <a:ext cx="625475" cy="2419124"/>
          </a:xfrm>
          <a:prstGeom prst="rect">
            <a:avLst/>
          </a:prstGeom>
          <a:noFill/>
          <a:ln w="9525">
            <a:noFill/>
            <a:miter lim="800000"/>
            <a:headEnd/>
            <a:tailEnd/>
          </a:ln>
          <a:effectLst/>
        </p:spPr>
        <p:txBody>
          <a:bodyPr>
            <a:spAutoFit/>
          </a:bodyPr>
          <a:lstStyle/>
          <a:p>
            <a:pPr>
              <a:lnSpc>
                <a:spcPct val="90000"/>
              </a:lnSpc>
              <a:defRPr/>
            </a:pPr>
            <a:r>
              <a:rPr lang="zh-CN" altLang="en-US">
                <a:solidFill>
                  <a:srgbClr val="0052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电压控制电流源</a:t>
            </a:r>
          </a:p>
        </p:txBody>
      </p:sp>
      <p:sp>
        <p:nvSpPr>
          <p:cNvPr id="614534" name="Text Box 134"/>
          <p:cNvSpPr txBox="1">
            <a:spLocks noChangeArrowheads="1"/>
          </p:cNvSpPr>
          <p:nvPr/>
        </p:nvSpPr>
        <p:spPr bwMode="auto">
          <a:xfrm>
            <a:off x="5016500" y="3721100"/>
            <a:ext cx="625475" cy="2419124"/>
          </a:xfrm>
          <a:prstGeom prst="rect">
            <a:avLst/>
          </a:prstGeom>
          <a:noFill/>
          <a:ln w="9525">
            <a:noFill/>
            <a:miter lim="800000"/>
            <a:headEnd/>
            <a:tailEnd/>
          </a:ln>
          <a:effectLst/>
        </p:spPr>
        <p:txBody>
          <a:bodyPr>
            <a:spAutoFit/>
          </a:bodyPr>
          <a:lstStyle/>
          <a:p>
            <a:pPr>
              <a:lnSpc>
                <a:spcPct val="90000"/>
              </a:lnSpc>
              <a:defRPr/>
            </a:pPr>
            <a:r>
              <a:rPr lang="zh-CN" altLang="en-US">
                <a:solidFill>
                  <a:srgbClr val="0052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电流控制电流源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614529"/>
                                        </p:tgtEl>
                                        <p:attrNameLst>
                                          <p:attrName>style.visibility</p:attrName>
                                        </p:attrNameLst>
                                      </p:cBhvr>
                                      <p:to>
                                        <p:strVal val="visible"/>
                                      </p:to>
                                    </p:set>
                                    <p:animEffect transition="in" filter="wipe(left)">
                                      <p:cBhvr>
                                        <p:cTn id="26" dur="500"/>
                                        <p:tgtEl>
                                          <p:spTgt spid="614529"/>
                                        </p:tgtEl>
                                      </p:cBhvr>
                                    </p:animEffect>
                                  </p:childTnLst>
                                </p:cTn>
                              </p:par>
                            </p:childTnLst>
                          </p:cTn>
                        </p:par>
                        <p:par>
                          <p:cTn id="27" fill="hold" nodeType="afterGroup">
                            <p:stCondLst>
                              <p:cond delay="1000"/>
                            </p:stCondLst>
                            <p:childTnLst>
                              <p:par>
                                <p:cTn id="28" presetID="22" presetClass="entr" presetSubtype="1" fill="hold" grpId="0" nodeType="afterEffect">
                                  <p:stCondLst>
                                    <p:cond delay="0"/>
                                  </p:stCondLst>
                                  <p:childTnLst>
                                    <p:set>
                                      <p:cBhvr>
                                        <p:cTn id="29" dur="1" fill="hold">
                                          <p:stCondLst>
                                            <p:cond delay="0"/>
                                          </p:stCondLst>
                                        </p:cTn>
                                        <p:tgtEl>
                                          <p:spTgt spid="614530"/>
                                        </p:tgtEl>
                                        <p:attrNameLst>
                                          <p:attrName>style.visibility</p:attrName>
                                        </p:attrNameLst>
                                      </p:cBhvr>
                                      <p:to>
                                        <p:strVal val="visible"/>
                                      </p:to>
                                    </p:set>
                                    <p:animEffect transition="in" filter="wipe(up)">
                                      <p:cBhvr>
                                        <p:cTn id="30" dur="500"/>
                                        <p:tgtEl>
                                          <p:spTgt spid="61453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614531"/>
                                        </p:tgtEl>
                                        <p:attrNameLst>
                                          <p:attrName>style.visibility</p:attrName>
                                        </p:attrNameLst>
                                      </p:cBhvr>
                                      <p:to>
                                        <p:strVal val="visible"/>
                                      </p:to>
                                    </p:set>
                                    <p:animEffect transition="in" filter="wipe(up)">
                                      <p:cBhvr>
                                        <p:cTn id="35" dur="500"/>
                                        <p:tgtEl>
                                          <p:spTgt spid="61453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614532"/>
                                        </p:tgtEl>
                                        <p:attrNameLst>
                                          <p:attrName>style.visibility</p:attrName>
                                        </p:attrNameLst>
                                      </p:cBhvr>
                                      <p:to>
                                        <p:strVal val="visible"/>
                                      </p:to>
                                    </p:set>
                                    <p:animEffect transition="in" filter="wipe(up)">
                                      <p:cBhvr>
                                        <p:cTn id="40" dur="500"/>
                                        <p:tgtEl>
                                          <p:spTgt spid="61453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614533"/>
                                        </p:tgtEl>
                                        <p:attrNameLst>
                                          <p:attrName>style.visibility</p:attrName>
                                        </p:attrNameLst>
                                      </p:cBhvr>
                                      <p:to>
                                        <p:strVal val="visible"/>
                                      </p:to>
                                    </p:set>
                                    <p:animEffect transition="in" filter="wipe(up)">
                                      <p:cBhvr>
                                        <p:cTn id="45" dur="500"/>
                                        <p:tgtEl>
                                          <p:spTgt spid="61453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614534"/>
                                        </p:tgtEl>
                                        <p:attrNameLst>
                                          <p:attrName>style.visibility</p:attrName>
                                        </p:attrNameLst>
                                      </p:cBhvr>
                                      <p:to>
                                        <p:strVal val="visible"/>
                                      </p:to>
                                    </p:set>
                                    <p:animEffect transition="in" filter="wipe(up)">
                                      <p:cBhvr>
                                        <p:cTn id="50" dur="500"/>
                                        <p:tgtEl>
                                          <p:spTgt spid="614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529" grpId="0" animBg="1"/>
      <p:bldP spid="614530" grpId="0" animBg="1"/>
      <p:bldP spid="614531" grpId="0" autoUpdateAnimBg="0"/>
      <p:bldP spid="614532" grpId="0" autoUpdateAnimBg="0"/>
      <p:bldP spid="614533" grpId="0" autoUpdateAnimBg="0"/>
      <p:bldP spid="614534"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67544" y="197602"/>
            <a:ext cx="8229600" cy="451901"/>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sz="3600" b="1" dirty="0" smtClean="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1. 4  </a:t>
            </a:r>
            <a:r>
              <a:rPr lang="zh-CN" altLang="en-US" sz="3600" b="1" dirty="0" smtClean="0">
                <a:solidFill>
                  <a:srgbClr val="CC3300"/>
                </a:solidFill>
                <a:latin typeface="Times New Roman" panose="02020603050405020304" pitchFamily="18" charset="0"/>
                <a:ea typeface="华文中宋" panose="02010600040101010101" pitchFamily="2" charset="-122"/>
                <a:cs typeface="Times New Roman" panose="02020603050405020304" pitchFamily="18" charset="0"/>
              </a:rPr>
              <a:t>基尔霍夫定律</a:t>
            </a:r>
          </a:p>
        </p:txBody>
      </p:sp>
      <p:graphicFrame>
        <p:nvGraphicFramePr>
          <p:cNvPr id="39939" name="Object 74"/>
          <p:cNvGraphicFramePr>
            <a:graphicFrameLocks noGrp="1" noChangeAspect="1"/>
          </p:cNvGraphicFramePr>
          <p:nvPr>
            <p:ph idx="1"/>
            <p:extLst>
              <p:ext uri="{D42A27DB-BD31-4B8C-83A1-F6EECF244321}">
                <p14:modId xmlns:p14="http://schemas.microsoft.com/office/powerpoint/2010/main" val="1830273442"/>
              </p:ext>
            </p:extLst>
          </p:nvPr>
        </p:nvGraphicFramePr>
        <p:xfrm>
          <a:off x="1042988" y="1628775"/>
          <a:ext cx="2778125" cy="3267075"/>
        </p:xfrm>
        <a:graphic>
          <a:graphicData uri="http://schemas.openxmlformats.org/presentationml/2006/ole">
            <mc:AlternateContent xmlns:mc="http://schemas.openxmlformats.org/markup-compatibility/2006">
              <mc:Choice xmlns:v="urn:schemas-microsoft-com:vml" Requires="v">
                <p:oleObj spid="_x0000_s39972" name="VISIO" r:id="rId3" imgW="2778252" imgH="3267456" progId="Visio.Drawing.5">
                  <p:embed/>
                </p:oleObj>
              </mc:Choice>
              <mc:Fallback>
                <p:oleObj name="VISIO" r:id="rId3" imgW="2778252" imgH="3267456" progId="Visio.Drawing.5">
                  <p:embed/>
                  <p:pic>
                    <p:nvPicPr>
                      <p:cNvPr id="0" name="Object 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628775"/>
                        <a:ext cx="2778125" cy="326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252" name="Rectangle 76"/>
          <p:cNvSpPr>
            <a:spLocks noChangeArrowheads="1"/>
          </p:cNvSpPr>
          <p:nvPr/>
        </p:nvSpPr>
        <p:spPr bwMode="auto">
          <a:xfrm>
            <a:off x="3995738" y="1700213"/>
            <a:ext cx="4321175"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just" eaLnBrk="1" hangingPunct="1">
              <a:spcBef>
                <a:spcPct val="5000"/>
              </a:spcBef>
              <a:defRPr/>
            </a:pPr>
            <a:r>
              <a:rPr lang="zh-CN" altLang="en-US" sz="2600" b="1" dirty="0" smtClean="0">
                <a:solidFill>
                  <a:schemeClr val="tx1"/>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基尔霍夫</a:t>
            </a:r>
            <a:r>
              <a:rPr lang="en-US" altLang="zh-CN" sz="2600" b="1" dirty="0" smtClean="0">
                <a:solidFill>
                  <a:schemeClr val="tx1"/>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600" b="1" dirty="0" err="1" smtClean="0">
                <a:solidFill>
                  <a:schemeClr val="tx1"/>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G.R.Kirchhoff</a:t>
            </a:r>
            <a:r>
              <a:rPr lang="en-US" altLang="zh-CN" sz="2600" b="1" dirty="0" smtClean="0">
                <a:solidFill>
                  <a:schemeClr val="tx1"/>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(1824-1887) </a:t>
            </a:r>
          </a:p>
        </p:txBody>
      </p:sp>
      <p:sp>
        <p:nvSpPr>
          <p:cNvPr id="39941" name="Rectangle 77"/>
          <p:cNvSpPr>
            <a:spLocks noChangeArrowheads="1"/>
          </p:cNvSpPr>
          <p:nvPr/>
        </p:nvSpPr>
        <p:spPr bwMode="auto">
          <a:xfrm>
            <a:off x="4067175" y="2781300"/>
            <a:ext cx="4824413" cy="302396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tabLst>
                <a:tab pos="7426325" algn="l"/>
              </a:tabLst>
              <a:defRPr sz="3200">
                <a:solidFill>
                  <a:schemeClr val="tx1"/>
                </a:solidFill>
                <a:latin typeface="Arial" panose="020B0604020202020204" pitchFamily="34" charset="0"/>
                <a:ea typeface="宋体" panose="02010600030101010101" pitchFamily="2" charset="-122"/>
              </a:defRPr>
            </a:lvl1pPr>
            <a:lvl2pPr marL="863600" indent="-285750">
              <a:spcBef>
                <a:spcPct val="20000"/>
              </a:spcBef>
              <a:buChar char="–"/>
              <a:tabLst>
                <a:tab pos="7426325" algn="l"/>
              </a:tabLst>
              <a:defRPr sz="2800">
                <a:solidFill>
                  <a:schemeClr val="tx1"/>
                </a:solidFill>
                <a:latin typeface="Arial" panose="020B0604020202020204" pitchFamily="34" charset="0"/>
                <a:ea typeface="宋体" panose="02010600030101010101" pitchFamily="2" charset="-122"/>
              </a:defRPr>
            </a:lvl2pPr>
            <a:lvl3pPr marL="1282700" indent="-228600">
              <a:spcBef>
                <a:spcPct val="20000"/>
              </a:spcBef>
              <a:buChar char="•"/>
              <a:tabLst>
                <a:tab pos="7426325" algn="l"/>
              </a:tabLst>
              <a:defRPr sz="2400">
                <a:solidFill>
                  <a:schemeClr val="tx1"/>
                </a:solidFill>
                <a:latin typeface="Arial" panose="020B0604020202020204" pitchFamily="34" charset="0"/>
                <a:ea typeface="宋体" panose="02010600030101010101" pitchFamily="2" charset="-122"/>
              </a:defRPr>
            </a:lvl3pPr>
            <a:lvl4pPr marL="1701800" indent="-228600">
              <a:spcBef>
                <a:spcPct val="20000"/>
              </a:spcBef>
              <a:buChar char="–"/>
              <a:tabLst>
                <a:tab pos="7426325" algn="l"/>
              </a:tabLst>
              <a:defRPr sz="2000">
                <a:solidFill>
                  <a:schemeClr val="tx1"/>
                </a:solidFill>
                <a:latin typeface="Arial" panose="020B0604020202020204" pitchFamily="34" charset="0"/>
                <a:ea typeface="宋体" panose="02010600030101010101" pitchFamily="2" charset="-122"/>
              </a:defRPr>
            </a:lvl4pPr>
            <a:lvl5pPr marL="2120900" indent="-228600">
              <a:spcBef>
                <a:spcPct val="20000"/>
              </a:spcBef>
              <a:buChar char="»"/>
              <a:tabLst>
                <a:tab pos="7426325" algn="l"/>
              </a:tabLst>
              <a:defRPr sz="2000">
                <a:solidFill>
                  <a:schemeClr val="tx1"/>
                </a:solidFill>
                <a:latin typeface="Arial" panose="020B0604020202020204" pitchFamily="34" charset="0"/>
                <a:ea typeface="宋体" panose="02010600030101010101" pitchFamily="2" charset="-122"/>
              </a:defRPr>
            </a:lvl5pPr>
            <a:lvl6pPr marL="2578100" indent="-228600" eaLnBrk="0" fontAlgn="base" hangingPunct="0">
              <a:spcBef>
                <a:spcPct val="20000"/>
              </a:spcBef>
              <a:spcAft>
                <a:spcPct val="0"/>
              </a:spcAft>
              <a:buChar char="»"/>
              <a:tabLst>
                <a:tab pos="7426325" algn="l"/>
              </a:tabLst>
              <a:defRPr sz="2000">
                <a:solidFill>
                  <a:schemeClr val="tx1"/>
                </a:solidFill>
                <a:latin typeface="Arial" panose="020B0604020202020204" pitchFamily="34" charset="0"/>
                <a:ea typeface="宋体" panose="02010600030101010101" pitchFamily="2" charset="-122"/>
              </a:defRPr>
            </a:lvl6pPr>
            <a:lvl7pPr marL="3035300" indent="-228600" eaLnBrk="0" fontAlgn="base" hangingPunct="0">
              <a:spcBef>
                <a:spcPct val="20000"/>
              </a:spcBef>
              <a:spcAft>
                <a:spcPct val="0"/>
              </a:spcAft>
              <a:buChar char="»"/>
              <a:tabLst>
                <a:tab pos="7426325" algn="l"/>
              </a:tabLst>
              <a:defRPr sz="2000">
                <a:solidFill>
                  <a:schemeClr val="tx1"/>
                </a:solidFill>
                <a:latin typeface="Arial" panose="020B0604020202020204" pitchFamily="34" charset="0"/>
                <a:ea typeface="宋体" panose="02010600030101010101" pitchFamily="2" charset="-122"/>
              </a:defRPr>
            </a:lvl7pPr>
            <a:lvl8pPr marL="3492500" indent="-228600" eaLnBrk="0" fontAlgn="base" hangingPunct="0">
              <a:spcBef>
                <a:spcPct val="20000"/>
              </a:spcBef>
              <a:spcAft>
                <a:spcPct val="0"/>
              </a:spcAft>
              <a:buChar char="»"/>
              <a:tabLst>
                <a:tab pos="7426325" algn="l"/>
              </a:tabLst>
              <a:defRPr sz="2000">
                <a:solidFill>
                  <a:schemeClr val="tx1"/>
                </a:solidFill>
                <a:latin typeface="Arial" panose="020B0604020202020204" pitchFamily="34" charset="0"/>
                <a:ea typeface="宋体" panose="02010600030101010101" pitchFamily="2" charset="-122"/>
              </a:defRPr>
            </a:lvl8pPr>
            <a:lvl9pPr marL="3949700" indent="-228600" eaLnBrk="0" fontAlgn="base" hangingPunct="0">
              <a:spcBef>
                <a:spcPct val="20000"/>
              </a:spcBef>
              <a:spcAft>
                <a:spcPct val="0"/>
              </a:spcAft>
              <a:buChar char="»"/>
              <a:tabLst>
                <a:tab pos="7426325" algn="l"/>
              </a:tabLst>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90000"/>
              </a:lnSpc>
              <a:buFontTx/>
              <a:buNone/>
            </a:pPr>
            <a:r>
              <a:rPr lang="en-US" altLang="zh-CN" sz="28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德国物理学家</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以他对光谱分析，</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光学和</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电学的研究著名。基尔霍夫给欧姆定律下了严格的数学定义。还于</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1860</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年发现铯和鉫元素。在他还是</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23</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岁大学生的时候就提出了著名的电流定律和电压定律</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，揭示了集总参数电路中流入节点的各电流和回路各电压的固有关系的法则。</a:t>
            </a:r>
            <a:endParaRPr lang="zh-CN" altLang="en-US" sz="2400" b="1"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 name="Rectangle 4"/>
          <p:cNvSpPr>
            <a:spLocks noChangeArrowheads="1"/>
          </p:cNvSpPr>
          <p:nvPr/>
        </p:nvSpPr>
        <p:spPr bwMode="auto">
          <a:xfrm>
            <a:off x="323528" y="726539"/>
            <a:ext cx="8207375" cy="49727"/>
          </a:xfrm>
          <a:prstGeom prst="rect">
            <a:avLst/>
          </a:prstGeom>
          <a:gradFill rotWithShape="0">
            <a:gsLst>
              <a:gs pos="0">
                <a:srgbClr val="3366FF"/>
              </a:gs>
              <a:gs pos="12500">
                <a:srgbClr val="01A78F"/>
              </a:gs>
              <a:gs pos="25000">
                <a:srgbClr val="FFFF00"/>
              </a:gs>
              <a:gs pos="37500">
                <a:srgbClr val="FF6633"/>
              </a:gs>
              <a:gs pos="50000">
                <a:srgbClr val="FF3399"/>
              </a:gs>
              <a:gs pos="62500">
                <a:srgbClr val="FF6633"/>
              </a:gs>
              <a:gs pos="75000">
                <a:srgbClr val="FFFF00"/>
              </a:gs>
              <a:gs pos="87500">
                <a:srgbClr val="01A78F"/>
              </a:gs>
              <a:gs pos="100000">
                <a:srgbClr val="3366FF"/>
              </a:gs>
            </a:gsLst>
            <a:lin ang="0" scaled="1"/>
          </a:gradFill>
          <a:ln w="12700" cap="sq">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7F6DAC6E-051E-43BF-A607-F6F4F9E2F096}" type="slidenum">
              <a:rPr lang="en-US" altLang="zh-CN" smtClean="0"/>
              <a:pPr>
                <a:defRPr/>
              </a:pPr>
              <a:t>33</a:t>
            </a:fld>
            <a:endParaRPr lang="en-US" altLang="zh-CN"/>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21C4B9E-7527-4AA7-BEB9-6310F8CF5FC4}"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34</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07203" name="Text Box 3"/>
          <p:cNvSpPr txBox="1">
            <a:spLocks noChangeArrowheads="1"/>
          </p:cNvSpPr>
          <p:nvPr/>
        </p:nvSpPr>
        <p:spPr bwMode="auto">
          <a:xfrm>
            <a:off x="1295400" y="4394200"/>
            <a:ext cx="6553200"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90000"/>
              </a:lnSpc>
              <a:spcBef>
                <a:spcPct val="20000"/>
              </a:spcBef>
              <a:defRPr/>
            </a:pPr>
            <a:r>
              <a:rPr kumimoji="1" lang="zh-CN" altLang="en-US"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支路：</a:t>
            </a:r>
            <a:r>
              <a:rPr kumimoji="1" lang="zh-CN" altLang="en-US"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电路中的每一个分支。</a:t>
            </a:r>
          </a:p>
          <a:p>
            <a:pPr eaLnBrk="1" hangingPunct="1">
              <a:lnSpc>
                <a:spcPct val="90000"/>
              </a:lnSpc>
              <a:spcBef>
                <a:spcPct val="20000"/>
              </a:spcBef>
              <a:defRPr/>
            </a:pPr>
            <a:r>
              <a:rPr kumimoji="1" lang="zh-CN" altLang="en-US"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一条支路流过一个电流，称为支路电流。</a:t>
            </a:r>
          </a:p>
          <a:p>
            <a:pPr eaLnBrk="1" hangingPunct="1">
              <a:lnSpc>
                <a:spcPct val="90000"/>
              </a:lnSpc>
              <a:spcBef>
                <a:spcPct val="20000"/>
              </a:spcBef>
              <a:defRPr/>
            </a:pPr>
            <a:r>
              <a:rPr kumimoji="1" lang="zh-CN" altLang="en-US"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节点：</a:t>
            </a:r>
            <a:r>
              <a:rPr kumimoji="1" lang="zh-CN" altLang="en-US"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三条或三条以上支路的联接点。</a:t>
            </a:r>
          </a:p>
          <a:p>
            <a:pPr eaLnBrk="1" hangingPunct="1">
              <a:lnSpc>
                <a:spcPct val="90000"/>
              </a:lnSpc>
              <a:spcBef>
                <a:spcPct val="20000"/>
              </a:spcBef>
              <a:defRPr/>
            </a:pPr>
            <a:r>
              <a:rPr kumimoji="1" lang="zh-CN" altLang="en-US"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回路：</a:t>
            </a:r>
            <a:r>
              <a:rPr kumimoji="1" lang="zh-CN" altLang="en-US"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由支路组成的闭合路径。</a:t>
            </a:r>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307204" name="Group 4"/>
          <p:cNvGrpSpPr>
            <a:grpSpLocks/>
          </p:cNvGrpSpPr>
          <p:nvPr/>
        </p:nvGrpSpPr>
        <p:grpSpPr bwMode="auto">
          <a:xfrm>
            <a:off x="1476375" y="2276475"/>
            <a:ext cx="5757863" cy="2112998"/>
            <a:chOff x="960" y="768"/>
            <a:chExt cx="3627" cy="1975"/>
          </a:xfrm>
        </p:grpSpPr>
        <p:grpSp>
          <p:nvGrpSpPr>
            <p:cNvPr id="40966" name="Group 5"/>
            <p:cNvGrpSpPr>
              <a:grpSpLocks/>
            </p:cNvGrpSpPr>
            <p:nvPr/>
          </p:nvGrpSpPr>
          <p:grpSpPr bwMode="auto">
            <a:xfrm>
              <a:off x="960" y="768"/>
              <a:ext cx="3627" cy="1975"/>
              <a:chOff x="960" y="768"/>
              <a:chExt cx="3627" cy="1975"/>
            </a:xfrm>
          </p:grpSpPr>
          <p:grpSp>
            <p:nvGrpSpPr>
              <p:cNvPr id="40970" name="Group 6"/>
              <p:cNvGrpSpPr>
                <a:grpSpLocks/>
              </p:cNvGrpSpPr>
              <p:nvPr/>
            </p:nvGrpSpPr>
            <p:grpSpPr bwMode="auto">
              <a:xfrm>
                <a:off x="960" y="982"/>
                <a:ext cx="3627" cy="1761"/>
                <a:chOff x="960" y="934"/>
                <a:chExt cx="3627" cy="1761"/>
              </a:xfrm>
            </p:grpSpPr>
            <p:sp>
              <p:nvSpPr>
                <p:cNvPr id="40995" name="Rectangle 7"/>
                <p:cNvSpPr>
                  <a:spLocks noChangeArrowheads="1"/>
                </p:cNvSpPr>
                <p:nvPr/>
              </p:nvSpPr>
              <p:spPr bwMode="auto">
                <a:xfrm>
                  <a:off x="2661" y="2367"/>
                  <a:ext cx="224"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Clr>
                      <a:schemeClr val="tx1"/>
                    </a:buClr>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96" name="Rectangle 8"/>
                <p:cNvSpPr>
                  <a:spLocks noChangeArrowheads="1"/>
                </p:cNvSpPr>
                <p:nvPr/>
              </p:nvSpPr>
              <p:spPr bwMode="auto">
                <a:xfrm>
                  <a:off x="2661" y="934"/>
                  <a:ext cx="213"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Clr>
                      <a:schemeClr val="tx1"/>
                    </a:buClr>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97" name="Rectangle 9"/>
                <p:cNvSpPr>
                  <a:spLocks noChangeArrowheads="1"/>
                </p:cNvSpPr>
                <p:nvPr/>
              </p:nvSpPr>
              <p:spPr bwMode="auto">
                <a:xfrm>
                  <a:off x="3909" y="1296"/>
                  <a:ext cx="281"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0998" name="Text Box 10"/>
                <p:cNvSpPr txBox="1">
                  <a:spLocks noChangeArrowheads="1"/>
                </p:cNvSpPr>
                <p:nvPr/>
              </p:nvSpPr>
              <p:spPr bwMode="auto">
                <a:xfrm>
                  <a:off x="1926" y="1302"/>
                  <a:ext cx="116"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99" name="Oval 11"/>
                <p:cNvSpPr>
                  <a:spLocks noChangeArrowheads="1"/>
                </p:cNvSpPr>
                <p:nvPr/>
              </p:nvSpPr>
              <p:spPr bwMode="auto">
                <a:xfrm>
                  <a:off x="1418" y="1608"/>
                  <a:ext cx="317" cy="299"/>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00" name="Oval 12"/>
                <p:cNvSpPr>
                  <a:spLocks noChangeArrowheads="1"/>
                </p:cNvSpPr>
                <p:nvPr/>
              </p:nvSpPr>
              <p:spPr bwMode="auto">
                <a:xfrm>
                  <a:off x="3796" y="1579"/>
                  <a:ext cx="317" cy="299"/>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01" name="Line 13"/>
                <p:cNvSpPr>
                  <a:spLocks noChangeShapeType="1"/>
                </p:cNvSpPr>
                <p:nvPr/>
              </p:nvSpPr>
              <p:spPr bwMode="auto">
                <a:xfrm flipV="1">
                  <a:off x="2325" y="1200"/>
                  <a:ext cx="86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02" name="Line 14"/>
                <p:cNvSpPr>
                  <a:spLocks noChangeShapeType="1"/>
                </p:cNvSpPr>
                <p:nvPr/>
              </p:nvSpPr>
              <p:spPr bwMode="auto">
                <a:xfrm>
                  <a:off x="3957" y="1200"/>
                  <a:ext cx="0" cy="11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03" name="Line 15"/>
                <p:cNvSpPr>
                  <a:spLocks noChangeShapeType="1"/>
                </p:cNvSpPr>
                <p:nvPr/>
              </p:nvSpPr>
              <p:spPr bwMode="auto">
                <a:xfrm flipV="1">
                  <a:off x="1557" y="2304"/>
                  <a:ext cx="2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04" name="Line 16"/>
                <p:cNvSpPr>
                  <a:spLocks noChangeShapeType="1"/>
                </p:cNvSpPr>
                <p:nvPr/>
              </p:nvSpPr>
              <p:spPr bwMode="auto">
                <a:xfrm>
                  <a:off x="1587" y="1204"/>
                  <a:ext cx="1" cy="1"/>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05" name="Line 17"/>
                <p:cNvSpPr>
                  <a:spLocks noChangeShapeType="1"/>
                </p:cNvSpPr>
                <p:nvPr/>
              </p:nvSpPr>
              <p:spPr bwMode="auto">
                <a:xfrm>
                  <a:off x="1557" y="1188"/>
                  <a:ext cx="0" cy="11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06" name="Rectangle 18"/>
                <p:cNvSpPr>
                  <a:spLocks noChangeArrowheads="1"/>
                </p:cNvSpPr>
                <p:nvPr/>
              </p:nvSpPr>
              <p:spPr bwMode="auto">
                <a:xfrm>
                  <a:off x="2565" y="1529"/>
                  <a:ext cx="24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07" name="Rectangle 19"/>
                <p:cNvSpPr>
                  <a:spLocks noChangeArrowheads="1"/>
                </p:cNvSpPr>
                <p:nvPr/>
              </p:nvSpPr>
              <p:spPr bwMode="auto">
                <a:xfrm>
                  <a:off x="3916" y="1824"/>
                  <a:ext cx="233"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1008" name="Rectangle 20"/>
                <p:cNvSpPr>
                  <a:spLocks noChangeArrowheads="1"/>
                </p:cNvSpPr>
                <p:nvPr/>
              </p:nvSpPr>
              <p:spPr bwMode="auto">
                <a:xfrm>
                  <a:off x="4032" y="1585"/>
                  <a:ext cx="555"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S2</a:t>
                  </a:r>
                  <a:endPar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09" name="Rectangle 21"/>
                <p:cNvSpPr>
                  <a:spLocks noChangeArrowheads="1"/>
                </p:cNvSpPr>
                <p:nvPr/>
              </p:nvSpPr>
              <p:spPr bwMode="auto">
                <a:xfrm>
                  <a:off x="3122" y="1278"/>
                  <a:ext cx="423"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10" name="Rectangle 22"/>
                <p:cNvSpPr>
                  <a:spLocks noChangeArrowheads="1"/>
                </p:cNvSpPr>
                <p:nvPr/>
              </p:nvSpPr>
              <p:spPr bwMode="auto">
                <a:xfrm>
                  <a:off x="1317" y="1344"/>
                  <a:ext cx="230"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1011" name="Rectangle 23"/>
                <p:cNvSpPr>
                  <a:spLocks noChangeArrowheads="1"/>
                </p:cNvSpPr>
                <p:nvPr/>
              </p:nvSpPr>
              <p:spPr bwMode="auto">
                <a:xfrm>
                  <a:off x="1315" y="1529"/>
                  <a:ext cx="22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12" name="Rectangle 24"/>
                <p:cNvSpPr>
                  <a:spLocks noChangeArrowheads="1"/>
                </p:cNvSpPr>
                <p:nvPr/>
              </p:nvSpPr>
              <p:spPr bwMode="auto">
                <a:xfrm>
                  <a:off x="1349" y="1824"/>
                  <a:ext cx="113"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41013" name="Oval 25"/>
                <p:cNvSpPr>
                  <a:spLocks noChangeArrowheads="1"/>
                </p:cNvSpPr>
                <p:nvPr/>
              </p:nvSpPr>
              <p:spPr bwMode="auto">
                <a:xfrm flipV="1">
                  <a:off x="2737" y="1152"/>
                  <a:ext cx="69" cy="68"/>
                </a:xfrm>
                <a:prstGeom prst="ellipse">
                  <a:avLst/>
                </a:prstGeom>
                <a:solidFill>
                  <a:schemeClr val="tx1"/>
                </a:solidFill>
                <a:ln>
                  <a:noFill/>
                </a:ln>
                <a:effectLst/>
                <a:extLst>
                  <a:ext uri="{91240B29-F687-4F45-9708-019B960494DF}">
                    <a14:hiddenLine xmlns:a14="http://schemas.microsoft.com/office/drawing/2010/main" w="9525">
                      <a:solidFill>
                        <a:schemeClr val="accent2"/>
                      </a:solidFill>
                      <a:round/>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14" name="Oval 26"/>
                <p:cNvSpPr>
                  <a:spLocks noChangeArrowheads="1"/>
                </p:cNvSpPr>
                <p:nvPr/>
              </p:nvSpPr>
              <p:spPr bwMode="auto">
                <a:xfrm flipV="1">
                  <a:off x="2746" y="2256"/>
                  <a:ext cx="69" cy="68"/>
                </a:xfrm>
                <a:prstGeom prst="ellipse">
                  <a:avLst/>
                </a:prstGeom>
                <a:solidFill>
                  <a:schemeClr val="tx1"/>
                </a:solidFill>
                <a:ln>
                  <a:noFill/>
                </a:ln>
                <a:effectLst/>
                <a:extLst>
                  <a:ext uri="{91240B29-F687-4F45-9708-019B960494DF}">
                    <a14:hiddenLine xmlns:a14="http://schemas.microsoft.com/office/drawing/2010/main" w="9525">
                      <a:solidFill>
                        <a:schemeClr val="accent2"/>
                      </a:solidFill>
                      <a:round/>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15" name="Rectangle 27"/>
                <p:cNvSpPr>
                  <a:spLocks noChangeArrowheads="1"/>
                </p:cNvSpPr>
                <p:nvPr/>
              </p:nvSpPr>
              <p:spPr bwMode="auto">
                <a:xfrm rot="5400000">
                  <a:off x="3259" y="1058"/>
                  <a:ext cx="141" cy="29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66CC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16" name="Rectangle 28"/>
                <p:cNvSpPr>
                  <a:spLocks noChangeArrowheads="1"/>
                </p:cNvSpPr>
                <p:nvPr/>
              </p:nvSpPr>
              <p:spPr bwMode="auto">
                <a:xfrm rot="5400000">
                  <a:off x="2088" y="1058"/>
                  <a:ext cx="140" cy="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66CC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17" name="Rectangle 29"/>
                <p:cNvSpPr>
                  <a:spLocks noChangeArrowheads="1"/>
                </p:cNvSpPr>
                <p:nvPr/>
              </p:nvSpPr>
              <p:spPr bwMode="auto">
                <a:xfrm>
                  <a:off x="2882" y="1608"/>
                  <a:ext cx="192"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18" name="Rectangle 30"/>
                <p:cNvSpPr>
                  <a:spLocks noChangeArrowheads="1"/>
                </p:cNvSpPr>
                <p:nvPr/>
              </p:nvSpPr>
              <p:spPr bwMode="auto">
                <a:xfrm>
                  <a:off x="1917" y="1302"/>
                  <a:ext cx="519"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19" name="Line 31"/>
                <p:cNvSpPr>
                  <a:spLocks noChangeShapeType="1"/>
                </p:cNvSpPr>
                <p:nvPr/>
              </p:nvSpPr>
              <p:spPr bwMode="auto">
                <a:xfrm flipH="1">
                  <a:off x="2768" y="1204"/>
                  <a:ext cx="0" cy="38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20" name="Rectangle 32"/>
                <p:cNvSpPr>
                  <a:spLocks noChangeArrowheads="1"/>
                </p:cNvSpPr>
                <p:nvPr/>
              </p:nvSpPr>
              <p:spPr bwMode="auto">
                <a:xfrm>
                  <a:off x="2697" y="1579"/>
                  <a:ext cx="141" cy="29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66CC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21" name="Rectangle 33"/>
                <p:cNvSpPr>
                  <a:spLocks noChangeArrowheads="1"/>
                </p:cNvSpPr>
                <p:nvPr/>
              </p:nvSpPr>
              <p:spPr bwMode="auto">
                <a:xfrm>
                  <a:off x="960" y="1608"/>
                  <a:ext cx="52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S1</a:t>
                  </a:r>
                </a:p>
              </p:txBody>
            </p:sp>
            <p:sp>
              <p:nvSpPr>
                <p:cNvPr id="41022" name="Line 34"/>
                <p:cNvSpPr>
                  <a:spLocks noChangeShapeType="1"/>
                </p:cNvSpPr>
                <p:nvPr/>
              </p:nvSpPr>
              <p:spPr bwMode="auto">
                <a:xfrm>
                  <a:off x="2768" y="1872"/>
                  <a:ext cx="0" cy="43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23" name="Line 35"/>
                <p:cNvSpPr>
                  <a:spLocks noChangeShapeType="1"/>
                </p:cNvSpPr>
                <p:nvPr/>
              </p:nvSpPr>
              <p:spPr bwMode="auto">
                <a:xfrm>
                  <a:off x="3477" y="1200"/>
                  <a:ext cx="480"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1024" name="Line 36"/>
                <p:cNvSpPr>
                  <a:spLocks noChangeShapeType="1"/>
                </p:cNvSpPr>
                <p:nvPr/>
              </p:nvSpPr>
              <p:spPr bwMode="auto">
                <a:xfrm>
                  <a:off x="1557" y="1200"/>
                  <a:ext cx="454"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0971" name="Group 37"/>
              <p:cNvGrpSpPr>
                <a:grpSpLocks/>
              </p:cNvGrpSpPr>
              <p:nvPr/>
            </p:nvGrpSpPr>
            <p:grpSpPr bwMode="auto">
              <a:xfrm>
                <a:off x="1970" y="768"/>
                <a:ext cx="384" cy="345"/>
                <a:chOff x="1970" y="480"/>
                <a:chExt cx="384" cy="347"/>
              </a:xfrm>
            </p:grpSpPr>
            <p:sp>
              <p:nvSpPr>
                <p:cNvPr id="40993" name="Rectangle 38"/>
                <p:cNvSpPr>
                  <a:spLocks noChangeArrowheads="1"/>
                </p:cNvSpPr>
                <p:nvPr/>
              </p:nvSpPr>
              <p:spPr bwMode="auto">
                <a:xfrm>
                  <a:off x="1970" y="480"/>
                  <a:ext cx="384"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94" name="Line 39"/>
                <p:cNvSpPr>
                  <a:spLocks noChangeShapeType="1"/>
                </p:cNvSpPr>
                <p:nvPr/>
              </p:nvSpPr>
              <p:spPr bwMode="auto">
                <a:xfrm>
                  <a:off x="1989" y="793"/>
                  <a:ext cx="314"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0972" name="Group 40"/>
              <p:cNvGrpSpPr>
                <a:grpSpLocks/>
              </p:cNvGrpSpPr>
              <p:nvPr/>
            </p:nvGrpSpPr>
            <p:grpSpPr bwMode="auto">
              <a:xfrm>
                <a:off x="3161" y="768"/>
                <a:ext cx="384" cy="345"/>
                <a:chOff x="3161" y="480"/>
                <a:chExt cx="384" cy="347"/>
              </a:xfrm>
            </p:grpSpPr>
            <p:sp>
              <p:nvSpPr>
                <p:cNvPr id="40991" name="Rectangle 41"/>
                <p:cNvSpPr>
                  <a:spLocks noChangeArrowheads="1"/>
                </p:cNvSpPr>
                <p:nvPr/>
              </p:nvSpPr>
              <p:spPr bwMode="auto">
                <a:xfrm>
                  <a:off x="3197" y="480"/>
                  <a:ext cx="348"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92" name="Line 42"/>
                <p:cNvSpPr>
                  <a:spLocks noChangeShapeType="1"/>
                </p:cNvSpPr>
                <p:nvPr/>
              </p:nvSpPr>
              <p:spPr bwMode="auto">
                <a:xfrm flipH="1">
                  <a:off x="3161" y="793"/>
                  <a:ext cx="317"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0973" name="Group 43"/>
              <p:cNvGrpSpPr>
                <a:grpSpLocks/>
              </p:cNvGrpSpPr>
              <p:nvPr/>
            </p:nvGrpSpPr>
            <p:grpSpPr bwMode="auto">
              <a:xfrm>
                <a:off x="2304" y="1562"/>
                <a:ext cx="322" cy="343"/>
                <a:chOff x="2304" y="1274"/>
                <a:chExt cx="322" cy="345"/>
              </a:xfrm>
            </p:grpSpPr>
            <p:sp>
              <p:nvSpPr>
                <p:cNvPr id="40989" name="Rectangle 44"/>
                <p:cNvSpPr>
                  <a:spLocks noChangeArrowheads="1"/>
                </p:cNvSpPr>
                <p:nvPr/>
              </p:nvSpPr>
              <p:spPr bwMode="auto">
                <a:xfrm>
                  <a:off x="2304" y="1274"/>
                  <a:ext cx="319"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90" name="Line 45"/>
                <p:cNvSpPr>
                  <a:spLocks noChangeShapeType="1"/>
                </p:cNvSpPr>
                <p:nvPr/>
              </p:nvSpPr>
              <p:spPr bwMode="auto">
                <a:xfrm>
                  <a:off x="2626" y="1275"/>
                  <a:ext cx="0" cy="344"/>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0974" name="Group 46"/>
              <p:cNvGrpSpPr>
                <a:grpSpLocks/>
              </p:cNvGrpSpPr>
              <p:nvPr/>
            </p:nvGrpSpPr>
            <p:grpSpPr bwMode="auto">
              <a:xfrm>
                <a:off x="1872" y="1632"/>
                <a:ext cx="483" cy="549"/>
                <a:chOff x="1872" y="1632"/>
                <a:chExt cx="483" cy="549"/>
              </a:xfrm>
            </p:grpSpPr>
            <p:sp>
              <p:nvSpPr>
                <p:cNvPr id="40985" name="Line 47"/>
                <p:cNvSpPr>
                  <a:spLocks noChangeShapeType="1"/>
                </p:cNvSpPr>
                <p:nvPr/>
              </p:nvSpPr>
              <p:spPr bwMode="auto">
                <a:xfrm flipH="1" flipV="1">
                  <a:off x="1872" y="1632"/>
                  <a:ext cx="483"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86" name="Line 48"/>
                <p:cNvSpPr>
                  <a:spLocks noChangeShapeType="1"/>
                </p:cNvSpPr>
                <p:nvPr/>
              </p:nvSpPr>
              <p:spPr bwMode="auto">
                <a:xfrm>
                  <a:off x="2355" y="1632"/>
                  <a:ext cx="0" cy="513"/>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87" name="Line 49"/>
                <p:cNvSpPr>
                  <a:spLocks noChangeShapeType="1"/>
                </p:cNvSpPr>
                <p:nvPr/>
              </p:nvSpPr>
              <p:spPr bwMode="auto">
                <a:xfrm>
                  <a:off x="1872" y="1632"/>
                  <a:ext cx="0" cy="528"/>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88" name="Text Box 50"/>
                <p:cNvSpPr txBox="1">
                  <a:spLocks noChangeArrowheads="1"/>
                </p:cNvSpPr>
                <p:nvPr/>
              </p:nvSpPr>
              <p:spPr bwMode="auto">
                <a:xfrm>
                  <a:off x="2019" y="1749"/>
                  <a:ext cx="213"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sym typeface="Monotype Sorts" pitchFamily="2" charset="2"/>
                    </a:rPr>
                    <a:t>1</a:t>
                  </a:r>
                  <a:endPar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0975" name="Group 51"/>
              <p:cNvGrpSpPr>
                <a:grpSpLocks/>
              </p:cNvGrpSpPr>
              <p:nvPr/>
            </p:nvGrpSpPr>
            <p:grpSpPr bwMode="auto">
              <a:xfrm>
                <a:off x="3168" y="1584"/>
                <a:ext cx="483" cy="563"/>
                <a:chOff x="3168" y="1584"/>
                <a:chExt cx="483" cy="563"/>
              </a:xfrm>
            </p:grpSpPr>
            <p:sp>
              <p:nvSpPr>
                <p:cNvPr id="40981" name="Line 52"/>
                <p:cNvSpPr>
                  <a:spLocks noChangeShapeType="1"/>
                </p:cNvSpPr>
                <p:nvPr/>
              </p:nvSpPr>
              <p:spPr bwMode="auto">
                <a:xfrm flipH="1" flipV="1">
                  <a:off x="3168" y="1584"/>
                  <a:ext cx="483"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82" name="Line 53"/>
                <p:cNvSpPr>
                  <a:spLocks noChangeShapeType="1"/>
                </p:cNvSpPr>
                <p:nvPr/>
              </p:nvSpPr>
              <p:spPr bwMode="auto">
                <a:xfrm>
                  <a:off x="3651" y="1584"/>
                  <a:ext cx="0" cy="513"/>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83" name="Line 54"/>
                <p:cNvSpPr>
                  <a:spLocks noChangeShapeType="1"/>
                </p:cNvSpPr>
                <p:nvPr/>
              </p:nvSpPr>
              <p:spPr bwMode="auto">
                <a:xfrm>
                  <a:off x="3168" y="1584"/>
                  <a:ext cx="0" cy="528"/>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84" name="Text Box 55"/>
                <p:cNvSpPr txBox="1">
                  <a:spLocks noChangeArrowheads="1"/>
                </p:cNvSpPr>
                <p:nvPr/>
              </p:nvSpPr>
              <p:spPr bwMode="auto">
                <a:xfrm>
                  <a:off x="3291" y="1715"/>
                  <a:ext cx="213"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sym typeface="Monotype Sorts" pitchFamily="2" charset="2"/>
                    </a:rPr>
                    <a:t>2</a:t>
                  </a:r>
                  <a:endPar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0976" name="Group 56"/>
              <p:cNvGrpSpPr>
                <a:grpSpLocks/>
              </p:cNvGrpSpPr>
              <p:nvPr/>
            </p:nvGrpSpPr>
            <p:grpSpPr bwMode="auto">
              <a:xfrm>
                <a:off x="1776" y="1328"/>
                <a:ext cx="2016" cy="928"/>
                <a:chOff x="1776" y="1328"/>
                <a:chExt cx="2016" cy="928"/>
              </a:xfrm>
            </p:grpSpPr>
            <p:sp>
              <p:nvSpPr>
                <p:cNvPr id="40977" name="Line 57"/>
                <p:cNvSpPr>
                  <a:spLocks noChangeShapeType="1"/>
                </p:cNvSpPr>
                <p:nvPr/>
              </p:nvSpPr>
              <p:spPr bwMode="auto">
                <a:xfrm flipH="1" flipV="1">
                  <a:off x="1776" y="1347"/>
                  <a:ext cx="2016" cy="0"/>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78" name="Line 58"/>
                <p:cNvSpPr>
                  <a:spLocks noChangeShapeType="1"/>
                </p:cNvSpPr>
                <p:nvPr/>
              </p:nvSpPr>
              <p:spPr bwMode="auto">
                <a:xfrm>
                  <a:off x="3792" y="1347"/>
                  <a:ext cx="0" cy="846"/>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79" name="Line 59"/>
                <p:cNvSpPr>
                  <a:spLocks noChangeShapeType="1"/>
                </p:cNvSpPr>
                <p:nvPr/>
              </p:nvSpPr>
              <p:spPr bwMode="auto">
                <a:xfrm>
                  <a:off x="1776" y="1347"/>
                  <a:ext cx="0" cy="909"/>
                </a:xfrm>
                <a:prstGeom prst="line">
                  <a:avLst/>
                </a:prstGeom>
                <a:noFill/>
                <a:ln w="2857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80" name="Text Box 60"/>
                <p:cNvSpPr txBox="1">
                  <a:spLocks noChangeArrowheads="1"/>
                </p:cNvSpPr>
                <p:nvPr/>
              </p:nvSpPr>
              <p:spPr bwMode="auto">
                <a:xfrm>
                  <a:off x="3515" y="1328"/>
                  <a:ext cx="213"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sym typeface="Monotype Sorts" pitchFamily="2" charset="2"/>
                    </a:rPr>
                    <a:t>3</a:t>
                  </a:r>
                  <a:endPar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40967" name="Line 61"/>
            <p:cNvSpPr>
              <a:spLocks noChangeShapeType="1"/>
            </p:cNvSpPr>
            <p:nvPr/>
          </p:nvSpPr>
          <p:spPr bwMode="auto">
            <a:xfrm>
              <a:off x="1872" y="2160"/>
              <a:ext cx="288" cy="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68" name="Line 62"/>
            <p:cNvSpPr>
              <a:spLocks noChangeShapeType="1"/>
            </p:cNvSpPr>
            <p:nvPr/>
          </p:nvSpPr>
          <p:spPr bwMode="auto">
            <a:xfrm>
              <a:off x="3168" y="2112"/>
              <a:ext cx="432" cy="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0969" name="Line 63"/>
            <p:cNvSpPr>
              <a:spLocks noChangeShapeType="1"/>
            </p:cNvSpPr>
            <p:nvPr/>
          </p:nvSpPr>
          <p:spPr bwMode="auto">
            <a:xfrm>
              <a:off x="1776" y="2256"/>
              <a:ext cx="1968" cy="0"/>
            </a:xfrm>
            <a:prstGeom prst="line">
              <a:avLst/>
            </a:prstGeom>
            <a:noFill/>
            <a:ln w="9525">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07265" name="Text Box 65"/>
          <p:cNvSpPr txBox="1">
            <a:spLocks noChangeArrowheads="1"/>
          </p:cNvSpPr>
          <p:nvPr/>
        </p:nvSpPr>
        <p:spPr bwMode="auto">
          <a:xfrm>
            <a:off x="323850" y="692150"/>
            <a:ext cx="8534400" cy="1416050"/>
          </a:xfrm>
          <a:prstGeom prst="rect">
            <a:avLst/>
          </a:prstGeom>
          <a:noFill/>
          <a:ln w="9525" algn="ctr">
            <a:solidFill>
              <a:srgbClr val="3399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90000"/>
              </a:lnSpc>
              <a:buClr>
                <a:schemeClr val="folHlink"/>
              </a:buClr>
              <a:buSzPct val="60000"/>
              <a:buFont typeface="Wingdings" panose="05000000000000000000" pitchFamily="2" charset="2"/>
              <a:buNone/>
            </a:pPr>
            <a:r>
              <a:rPr kumimoji="1" lang="en-US" altLang="zh-CN" sz="2400" dirty="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1847</a:t>
            </a:r>
            <a:r>
              <a:rPr kumimoji="1"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年，</a:t>
            </a:r>
            <a:r>
              <a:rPr kumimoji="1" lang="zh-CN" altLang="en-US" sz="2400" b="1" dirty="0">
                <a:latin typeface="Times New Roman" panose="02020603050405020304" pitchFamily="18" charset="0"/>
                <a:ea typeface="华文中宋" panose="02010600040101010101" pitchFamily="2" charset="-122"/>
                <a:cs typeface="Times New Roman" panose="02020603050405020304" pitchFamily="18" charset="0"/>
                <a:hlinkClick r:id="rId2" action="ppaction://hlinkpres?slideindex=1&amp;slidetitle="/>
              </a:rPr>
              <a:t>基尔霍夫 </a:t>
            </a:r>
            <a:r>
              <a:rPr kumimoji="1"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dirty="0" err="1">
                <a:latin typeface="Times New Roman" panose="02020603050405020304" pitchFamily="18" charset="0"/>
                <a:ea typeface="华文中宋" panose="02010600040101010101" pitchFamily="2" charset="-122"/>
                <a:cs typeface="Times New Roman" panose="02020603050405020304" pitchFamily="18" charset="0"/>
              </a:rPr>
              <a:t>G.R.Kirchhoff</a:t>
            </a:r>
            <a:r>
              <a:rPr kumimoji="1"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提出两个定律：基尔霍夫电流定律</a:t>
            </a:r>
            <a:r>
              <a:rPr kumimoji="1"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(Kirchhoff’s Current Law,</a:t>
            </a:r>
            <a:r>
              <a:rPr kumimoji="1"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简记</a:t>
            </a:r>
            <a:r>
              <a:rPr kumimoji="1"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KCL)</a:t>
            </a:r>
            <a:r>
              <a:rPr kumimoji="1"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和基尔霍夫电压定律</a:t>
            </a:r>
            <a:r>
              <a:rPr kumimoji="1"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(Kirchhoff’s Voltage Law,</a:t>
            </a:r>
            <a:r>
              <a:rPr kumimoji="1"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简记</a:t>
            </a:r>
            <a:r>
              <a:rPr kumimoji="1"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KVL)</a:t>
            </a:r>
            <a:r>
              <a:rPr kumimoji="1"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。它只与电路的结构有关，而与构成电路的元件性质无关</a:t>
            </a:r>
            <a:r>
              <a:rPr kumimoji="1" lang="zh-CN" altLang="en-US" sz="2400" dirty="0">
                <a:latin typeface="Times New Roman" panose="02020603050405020304" pitchFamily="18" charset="0"/>
                <a:ea typeface="华文中宋" panose="02010600040101010101" pitchFamily="2" charset="-122"/>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65"/>
                                        </p:tgtEl>
                                        <p:attrNameLst>
                                          <p:attrName>style.visibility</p:attrName>
                                        </p:attrNameLst>
                                      </p:cBhvr>
                                      <p:to>
                                        <p:strVal val="visible"/>
                                      </p:to>
                                    </p:set>
                                    <p:anim calcmode="lin" valueType="num">
                                      <p:cBhvr additive="base">
                                        <p:cTn id="7" dur="500" fill="hold"/>
                                        <p:tgtEl>
                                          <p:spTgt spid="307265"/>
                                        </p:tgtEl>
                                        <p:attrNameLst>
                                          <p:attrName>ppt_x</p:attrName>
                                        </p:attrNameLst>
                                      </p:cBhvr>
                                      <p:tavLst>
                                        <p:tav tm="0">
                                          <p:val>
                                            <p:strVal val="#ppt_x"/>
                                          </p:val>
                                        </p:tav>
                                        <p:tav tm="100000">
                                          <p:val>
                                            <p:strVal val="#ppt_x"/>
                                          </p:val>
                                        </p:tav>
                                      </p:tavLst>
                                    </p:anim>
                                    <p:anim calcmode="lin" valueType="num">
                                      <p:cBhvr additive="base">
                                        <p:cTn id="8" dur="500" fill="hold"/>
                                        <p:tgtEl>
                                          <p:spTgt spid="30726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307203"/>
                                        </p:tgtEl>
                                        <p:attrNameLst>
                                          <p:attrName>style.visibility</p:attrName>
                                        </p:attrNameLst>
                                      </p:cBhvr>
                                      <p:to>
                                        <p:strVal val="visible"/>
                                      </p:to>
                                    </p:set>
                                    <p:animEffect transition="in" filter="box(in)">
                                      <p:cBhvr>
                                        <p:cTn id="13" dur="500"/>
                                        <p:tgtEl>
                                          <p:spTgt spid="307203"/>
                                        </p:tgtEl>
                                      </p:cBhvr>
                                    </p:animEffect>
                                  </p:childTnLst>
                                </p:cTn>
                              </p:par>
                              <p:par>
                                <p:cTn id="14" presetID="4" presetClass="entr" presetSubtype="16" fill="hold" nodeType="withEffect">
                                  <p:stCondLst>
                                    <p:cond delay="0"/>
                                  </p:stCondLst>
                                  <p:childTnLst>
                                    <p:set>
                                      <p:cBhvr>
                                        <p:cTn id="15" dur="1" fill="hold">
                                          <p:stCondLst>
                                            <p:cond delay="0"/>
                                          </p:stCondLst>
                                        </p:cTn>
                                        <p:tgtEl>
                                          <p:spTgt spid="307204"/>
                                        </p:tgtEl>
                                        <p:attrNameLst>
                                          <p:attrName>style.visibility</p:attrName>
                                        </p:attrNameLst>
                                      </p:cBhvr>
                                      <p:to>
                                        <p:strVal val="visible"/>
                                      </p:to>
                                    </p:set>
                                    <p:animEffect transition="in" filter="box(in)">
                                      <p:cBhvr>
                                        <p:cTn id="16" dur="500"/>
                                        <p:tgtEl>
                                          <p:spTgt spid="307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3" grpId="0"/>
      <p:bldP spid="307265"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4" name="Rectangle 4"/>
          <p:cNvSpPr>
            <a:spLocks noChangeArrowheads="1"/>
          </p:cNvSpPr>
          <p:nvPr/>
        </p:nvSpPr>
        <p:spPr bwMode="auto">
          <a:xfrm>
            <a:off x="0" y="404813"/>
            <a:ext cx="4419600"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hangingPunct="1">
              <a:defRPr/>
            </a:pPr>
            <a:r>
              <a:rPr lang="en-US" altLang="zh-CN" sz="2800" b="1" smtClean="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800" b="1" smtClean="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800" b="1" smtClean="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800" b="1" smtClean="0">
                <a:solidFill>
                  <a:schemeClr val="tx1"/>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支路、节点、回路？</a:t>
            </a:r>
          </a:p>
        </p:txBody>
      </p:sp>
      <p:sp>
        <p:nvSpPr>
          <p:cNvPr id="51205" name="Text Box 5" descr="40%"/>
          <p:cNvSpPr txBox="1">
            <a:spLocks noChangeArrowheads="1"/>
          </p:cNvSpPr>
          <p:nvPr/>
        </p:nvSpPr>
        <p:spPr bwMode="auto">
          <a:xfrm>
            <a:off x="4343400" y="1371600"/>
            <a:ext cx="2892425" cy="561975"/>
          </a:xfrm>
          <a:prstGeom prst="rect">
            <a:avLst/>
          </a:prstGeom>
          <a:noFill/>
          <a:ln>
            <a:noFill/>
          </a:ln>
          <a:effectLst/>
          <a:extLst>
            <a:ext uri="{909E8E84-426E-40DD-AFC4-6F175D3DCCD1}">
              <a14:hiddenFill xmlns:a14="http://schemas.microsoft.com/office/drawing/2010/main">
                <a:pattFill prst="pct40">
                  <a:fgClr>
                    <a:srgbClr val="FFCC99"/>
                  </a:fgClr>
                  <a:bgClr>
                    <a:srgbClr val="FFFFFF"/>
                  </a:bgClr>
                </a:pattFill>
              </a14:hiddenFill>
            </a:ext>
            <a:ext uri="{91240B29-F687-4F45-9708-019B960494DF}">
              <a14:hiddenLine xmlns:a14="http://schemas.microsoft.com/office/drawing/2010/main" w="1905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lnSpc>
                <a:spcPct val="110000"/>
              </a:lnSpc>
              <a:defRPr/>
            </a:pPr>
            <a:r>
              <a:rPr kumimoji="1" lang="zh-CN" altLang="en-US" sz="2800"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几条支路</a:t>
            </a:r>
            <a:r>
              <a:rPr kumimoji="1" lang="zh-CN" altLang="en-US"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1206" name="Text Box 6" descr="40%"/>
          <p:cNvSpPr txBox="1">
            <a:spLocks noChangeArrowheads="1"/>
          </p:cNvSpPr>
          <p:nvPr/>
        </p:nvSpPr>
        <p:spPr bwMode="auto">
          <a:xfrm>
            <a:off x="4572000" y="2708275"/>
            <a:ext cx="3429000" cy="561975"/>
          </a:xfrm>
          <a:prstGeom prst="rect">
            <a:avLst/>
          </a:prstGeom>
          <a:noFill/>
          <a:ln>
            <a:noFill/>
          </a:ln>
          <a:effectLst/>
          <a:extLst>
            <a:ext uri="{909E8E84-426E-40DD-AFC4-6F175D3DCCD1}">
              <a14:hiddenFill xmlns:a14="http://schemas.microsoft.com/office/drawing/2010/main">
                <a:pattFill prst="pct40">
                  <a:fgClr>
                    <a:srgbClr val="FFCC99"/>
                  </a:fgClr>
                  <a:bgClr>
                    <a:srgbClr val="FFFFFF"/>
                  </a:bgClr>
                </a:pattFill>
              </a14:hiddenFill>
            </a:ext>
            <a:ext uri="{91240B29-F687-4F45-9708-019B960494DF}">
              <a14:hiddenLine xmlns:a14="http://schemas.microsoft.com/office/drawing/2010/main" w="19050" algn="ctr">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lnSpc>
                <a:spcPct val="110000"/>
              </a:lnSpc>
              <a:defRPr/>
            </a:pPr>
            <a:r>
              <a:rPr kumimoji="1" lang="zh-CN" altLang="en-US" sz="2800"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几个节点</a:t>
            </a:r>
            <a:r>
              <a:rPr kumimoji="1" lang="zh-CN" altLang="en-US"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41989" name="Group 8"/>
          <p:cNvGrpSpPr>
            <a:grpSpLocks/>
          </p:cNvGrpSpPr>
          <p:nvPr/>
        </p:nvGrpSpPr>
        <p:grpSpPr bwMode="auto">
          <a:xfrm>
            <a:off x="853918" y="1727200"/>
            <a:ext cx="3486465" cy="4173538"/>
            <a:chOff x="111" y="14"/>
            <a:chExt cx="1998" cy="2629"/>
          </a:xfrm>
        </p:grpSpPr>
        <p:sp>
          <p:nvSpPr>
            <p:cNvPr id="51209" name="Text Box 9"/>
            <p:cNvSpPr txBox="1">
              <a:spLocks noChangeArrowheads="1"/>
            </p:cNvSpPr>
            <p:nvPr/>
          </p:nvSpPr>
          <p:spPr bwMode="auto">
            <a:xfrm>
              <a:off x="1104" y="14"/>
              <a:ext cx="19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b="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51210" name="Text Box 10"/>
            <p:cNvSpPr txBox="1">
              <a:spLocks noChangeArrowheads="1"/>
            </p:cNvSpPr>
            <p:nvPr/>
          </p:nvSpPr>
          <p:spPr bwMode="auto">
            <a:xfrm>
              <a:off x="111" y="1022"/>
              <a:ext cx="20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defRPr/>
              </a:pPr>
              <a:r>
                <a:rPr lang="en-US" altLang="zh-CN" b="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d</a:t>
              </a:r>
            </a:p>
          </p:txBody>
        </p:sp>
        <p:sp>
          <p:nvSpPr>
            <p:cNvPr id="51211" name="Text Box 11"/>
            <p:cNvSpPr txBox="1">
              <a:spLocks noChangeArrowheads="1"/>
            </p:cNvSpPr>
            <p:nvPr/>
          </p:nvSpPr>
          <p:spPr bwMode="auto">
            <a:xfrm>
              <a:off x="1134" y="1771"/>
              <a:ext cx="20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b="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51212" name="Text Box 12"/>
            <p:cNvSpPr txBox="1">
              <a:spLocks noChangeArrowheads="1"/>
            </p:cNvSpPr>
            <p:nvPr/>
          </p:nvSpPr>
          <p:spPr bwMode="auto">
            <a:xfrm>
              <a:off x="1925" y="954"/>
              <a:ext cx="18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b="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p>
          </p:txBody>
        </p:sp>
        <p:sp>
          <p:nvSpPr>
            <p:cNvPr id="51213" name="Rectangle 13"/>
            <p:cNvSpPr>
              <a:spLocks noChangeArrowheads="1"/>
            </p:cNvSpPr>
            <p:nvPr/>
          </p:nvSpPr>
          <p:spPr bwMode="auto">
            <a:xfrm>
              <a:off x="960" y="2352"/>
              <a:ext cx="3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defRPr/>
              </a:pPr>
              <a:r>
                <a:rPr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51214" name="Rectangle 14"/>
            <p:cNvSpPr>
              <a:spLocks noChangeArrowheads="1"/>
            </p:cNvSpPr>
            <p:nvPr/>
          </p:nvSpPr>
          <p:spPr bwMode="auto">
            <a:xfrm>
              <a:off x="1212" y="2208"/>
              <a:ext cx="19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1215" name="Rectangle 15"/>
            <p:cNvSpPr>
              <a:spLocks noChangeArrowheads="1"/>
            </p:cNvSpPr>
            <p:nvPr/>
          </p:nvSpPr>
          <p:spPr bwMode="auto">
            <a:xfrm>
              <a:off x="832" y="2256"/>
              <a:ext cx="21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1216" name="Rectangle 16"/>
            <p:cNvSpPr>
              <a:spLocks noChangeArrowheads="1"/>
            </p:cNvSpPr>
            <p:nvPr/>
          </p:nvSpPr>
          <p:spPr bwMode="auto">
            <a:xfrm>
              <a:off x="720" y="864"/>
              <a:ext cx="24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G</a:t>
              </a:r>
            </a:p>
          </p:txBody>
        </p:sp>
        <p:sp>
          <p:nvSpPr>
            <p:cNvPr id="51217" name="Rectangle 17"/>
            <p:cNvSpPr>
              <a:spLocks noChangeArrowheads="1"/>
            </p:cNvSpPr>
            <p:nvPr/>
          </p:nvSpPr>
          <p:spPr bwMode="auto">
            <a:xfrm rot="21233718">
              <a:off x="430" y="1390"/>
              <a:ext cx="36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defRPr/>
              </a:pPr>
              <a:r>
                <a:rPr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18" name="Rectangle 18"/>
            <p:cNvSpPr>
              <a:spLocks noChangeArrowheads="1"/>
            </p:cNvSpPr>
            <p:nvPr/>
          </p:nvSpPr>
          <p:spPr bwMode="auto">
            <a:xfrm rot="30116">
              <a:off x="1487" y="1342"/>
              <a:ext cx="28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defRPr/>
              </a:pPr>
              <a:r>
                <a:rPr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19" name="Rectangle 19"/>
            <p:cNvSpPr>
              <a:spLocks noChangeArrowheads="1"/>
            </p:cNvSpPr>
            <p:nvPr/>
          </p:nvSpPr>
          <p:spPr bwMode="auto">
            <a:xfrm rot="371425">
              <a:off x="385" y="341"/>
              <a:ext cx="28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defRPr/>
              </a:pPr>
              <a:r>
                <a:rPr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20" name="Rectangle 20"/>
            <p:cNvSpPr>
              <a:spLocks noChangeArrowheads="1"/>
            </p:cNvSpPr>
            <p:nvPr/>
          </p:nvSpPr>
          <p:spPr bwMode="auto">
            <a:xfrm rot="21584501">
              <a:off x="1535" y="391"/>
              <a:ext cx="28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defRPr/>
              </a:pPr>
              <a:r>
                <a:rPr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06" name="Line 21"/>
            <p:cNvSpPr>
              <a:spLocks noChangeShapeType="1"/>
            </p:cNvSpPr>
            <p:nvPr/>
          </p:nvSpPr>
          <p:spPr bwMode="auto">
            <a:xfrm flipV="1">
              <a:off x="1126" y="288"/>
              <a:ext cx="0"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07" name="Line 22"/>
            <p:cNvSpPr>
              <a:spLocks noChangeShapeType="1"/>
            </p:cNvSpPr>
            <p:nvPr/>
          </p:nvSpPr>
          <p:spPr bwMode="auto">
            <a:xfrm>
              <a:off x="1126" y="1152"/>
              <a:ext cx="0" cy="67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08" name="Line 23"/>
            <p:cNvSpPr>
              <a:spLocks noChangeShapeType="1"/>
            </p:cNvSpPr>
            <p:nvPr/>
          </p:nvSpPr>
          <p:spPr bwMode="auto">
            <a:xfrm>
              <a:off x="1920" y="1056"/>
              <a:ext cx="0" cy="1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09" name="Line 24"/>
            <p:cNvSpPr>
              <a:spLocks noChangeShapeType="1"/>
            </p:cNvSpPr>
            <p:nvPr/>
          </p:nvSpPr>
          <p:spPr bwMode="auto">
            <a:xfrm>
              <a:off x="1200" y="450"/>
              <a:ext cx="0" cy="318"/>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25" name="Text Box 25"/>
            <p:cNvSpPr txBox="1">
              <a:spLocks noChangeArrowheads="1"/>
            </p:cNvSpPr>
            <p:nvPr/>
          </p:nvSpPr>
          <p:spPr bwMode="auto">
            <a:xfrm>
              <a:off x="1329" y="185"/>
              <a:ext cx="238"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b="1" i="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1" baseline="-25000">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b="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26" name="Text Box 26"/>
            <p:cNvSpPr txBox="1">
              <a:spLocks noChangeArrowheads="1"/>
            </p:cNvSpPr>
            <p:nvPr/>
          </p:nvSpPr>
          <p:spPr bwMode="auto">
            <a:xfrm>
              <a:off x="1296" y="1616"/>
              <a:ext cx="238"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b="1" i="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1" baseline="-25000">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endParaRPr lang="en-US" altLang="zh-CN" b="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27" name="Text Box 27"/>
            <p:cNvSpPr txBox="1">
              <a:spLocks noChangeArrowheads="1"/>
            </p:cNvSpPr>
            <p:nvPr/>
          </p:nvSpPr>
          <p:spPr bwMode="auto">
            <a:xfrm>
              <a:off x="1166" y="512"/>
              <a:ext cx="26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b="1" i="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1" baseline="-25000">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G</a:t>
              </a:r>
              <a:endParaRPr lang="en-US" altLang="zh-CN" b="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13" name="Line 28"/>
            <p:cNvSpPr>
              <a:spLocks noChangeShapeType="1"/>
            </p:cNvSpPr>
            <p:nvPr/>
          </p:nvSpPr>
          <p:spPr bwMode="auto">
            <a:xfrm>
              <a:off x="336" y="1046"/>
              <a:ext cx="0" cy="12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14" name="Line 29"/>
            <p:cNvSpPr>
              <a:spLocks noChangeShapeType="1"/>
            </p:cNvSpPr>
            <p:nvPr/>
          </p:nvSpPr>
          <p:spPr bwMode="auto">
            <a:xfrm rot="-5400000" flipH="1" flipV="1">
              <a:off x="636" y="2004"/>
              <a:ext cx="0" cy="312"/>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0" name="Text Box 30"/>
            <p:cNvSpPr txBox="1">
              <a:spLocks noChangeArrowheads="1"/>
            </p:cNvSpPr>
            <p:nvPr/>
          </p:nvSpPr>
          <p:spPr bwMode="auto">
            <a:xfrm>
              <a:off x="624" y="176"/>
              <a:ext cx="238"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b="1" i="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1" baseline="-25000">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b="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1" name="Text Box 31"/>
            <p:cNvSpPr txBox="1">
              <a:spLocks noChangeArrowheads="1"/>
            </p:cNvSpPr>
            <p:nvPr/>
          </p:nvSpPr>
          <p:spPr bwMode="auto">
            <a:xfrm>
              <a:off x="671" y="1616"/>
              <a:ext cx="238"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b="1" i="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1" baseline="-25000">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3</a:t>
              </a:r>
              <a:endParaRPr lang="en-US" altLang="zh-CN" b="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2" name="Text Box 32"/>
            <p:cNvSpPr txBox="1">
              <a:spLocks noChangeArrowheads="1"/>
            </p:cNvSpPr>
            <p:nvPr/>
          </p:nvSpPr>
          <p:spPr bwMode="auto">
            <a:xfrm>
              <a:off x="597" y="1881"/>
              <a:ext cx="26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b="1" i="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endParaRPr lang="en-US" altLang="zh-CN" b="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2018" name="Group 33"/>
            <p:cNvGrpSpPr>
              <a:grpSpLocks/>
            </p:cNvGrpSpPr>
            <p:nvPr/>
          </p:nvGrpSpPr>
          <p:grpSpPr bwMode="auto">
            <a:xfrm>
              <a:off x="1105" y="1049"/>
              <a:ext cx="777" cy="776"/>
              <a:chOff x="1105" y="1049"/>
              <a:chExt cx="777" cy="776"/>
            </a:xfrm>
          </p:grpSpPr>
          <p:sp>
            <p:nvSpPr>
              <p:cNvPr id="42043" name="Line 34"/>
              <p:cNvSpPr>
                <a:spLocks noChangeShapeType="1"/>
              </p:cNvSpPr>
              <p:nvPr/>
            </p:nvSpPr>
            <p:spPr bwMode="auto">
              <a:xfrm flipV="1">
                <a:off x="1584" y="1049"/>
                <a:ext cx="298" cy="2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44" name="Line 35"/>
              <p:cNvSpPr>
                <a:spLocks noChangeShapeType="1"/>
              </p:cNvSpPr>
              <p:nvPr/>
            </p:nvSpPr>
            <p:spPr bwMode="auto">
              <a:xfrm flipH="1">
                <a:off x="1105" y="1536"/>
                <a:ext cx="287" cy="2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45" name="Rectangle 36"/>
              <p:cNvSpPr>
                <a:spLocks noChangeArrowheads="1"/>
              </p:cNvSpPr>
              <p:nvPr/>
            </p:nvSpPr>
            <p:spPr bwMode="auto">
              <a:xfrm rot="2700000" flipH="1">
                <a:off x="1437" y="1290"/>
                <a:ext cx="8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2019" name="Line 37"/>
            <p:cNvSpPr>
              <a:spLocks noChangeShapeType="1"/>
            </p:cNvSpPr>
            <p:nvPr/>
          </p:nvSpPr>
          <p:spPr bwMode="auto">
            <a:xfrm>
              <a:off x="1248" y="288"/>
              <a:ext cx="240" cy="24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20" name="Line 38"/>
            <p:cNvSpPr>
              <a:spLocks noChangeShapeType="1"/>
            </p:cNvSpPr>
            <p:nvPr/>
          </p:nvSpPr>
          <p:spPr bwMode="auto">
            <a:xfrm rot="10800000" flipH="1">
              <a:off x="1200" y="1584"/>
              <a:ext cx="216" cy="216"/>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21" name="Line 39"/>
            <p:cNvSpPr>
              <a:spLocks noChangeShapeType="1"/>
            </p:cNvSpPr>
            <p:nvPr/>
          </p:nvSpPr>
          <p:spPr bwMode="auto">
            <a:xfrm rot="10800000" flipH="1" flipV="1">
              <a:off x="816" y="1632"/>
              <a:ext cx="208" cy="207"/>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22" name="Line 40"/>
            <p:cNvSpPr>
              <a:spLocks noChangeShapeType="1"/>
            </p:cNvSpPr>
            <p:nvPr/>
          </p:nvSpPr>
          <p:spPr bwMode="auto">
            <a:xfrm flipV="1">
              <a:off x="816" y="290"/>
              <a:ext cx="190" cy="19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23" name="Oval 41"/>
            <p:cNvSpPr>
              <a:spLocks noChangeArrowheads="1"/>
            </p:cNvSpPr>
            <p:nvPr/>
          </p:nvSpPr>
          <p:spPr bwMode="auto">
            <a:xfrm>
              <a:off x="1882" y="1031"/>
              <a:ext cx="5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24" name="Oval 42"/>
            <p:cNvSpPr>
              <a:spLocks noChangeArrowheads="1"/>
            </p:cNvSpPr>
            <p:nvPr/>
          </p:nvSpPr>
          <p:spPr bwMode="auto">
            <a:xfrm>
              <a:off x="1087" y="267"/>
              <a:ext cx="5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25" name="Oval 43"/>
            <p:cNvSpPr>
              <a:spLocks noChangeArrowheads="1"/>
            </p:cNvSpPr>
            <p:nvPr/>
          </p:nvSpPr>
          <p:spPr bwMode="auto">
            <a:xfrm>
              <a:off x="310" y="1031"/>
              <a:ext cx="5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26" name="Oval 44"/>
            <p:cNvSpPr>
              <a:spLocks noChangeArrowheads="1"/>
            </p:cNvSpPr>
            <p:nvPr/>
          </p:nvSpPr>
          <p:spPr bwMode="auto">
            <a:xfrm rot="5400000">
              <a:off x="1008" y="2135"/>
              <a:ext cx="245" cy="245"/>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27" name="Line 45"/>
            <p:cNvSpPr>
              <a:spLocks noChangeShapeType="1"/>
            </p:cNvSpPr>
            <p:nvPr/>
          </p:nvSpPr>
          <p:spPr bwMode="auto">
            <a:xfrm rot="16200000" flipV="1">
              <a:off x="1131" y="1461"/>
              <a:ext cx="0" cy="1589"/>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2028" name="Group 46"/>
            <p:cNvGrpSpPr>
              <a:grpSpLocks/>
            </p:cNvGrpSpPr>
            <p:nvPr/>
          </p:nvGrpSpPr>
          <p:grpSpPr bwMode="auto">
            <a:xfrm>
              <a:off x="336" y="280"/>
              <a:ext cx="777" cy="776"/>
              <a:chOff x="1105" y="1049"/>
              <a:chExt cx="777" cy="776"/>
            </a:xfrm>
          </p:grpSpPr>
          <p:sp>
            <p:nvSpPr>
              <p:cNvPr id="42040" name="Line 47"/>
              <p:cNvSpPr>
                <a:spLocks noChangeShapeType="1"/>
              </p:cNvSpPr>
              <p:nvPr/>
            </p:nvSpPr>
            <p:spPr bwMode="auto">
              <a:xfrm flipV="1">
                <a:off x="1584" y="1049"/>
                <a:ext cx="298" cy="2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41" name="Line 48"/>
              <p:cNvSpPr>
                <a:spLocks noChangeShapeType="1"/>
              </p:cNvSpPr>
              <p:nvPr/>
            </p:nvSpPr>
            <p:spPr bwMode="auto">
              <a:xfrm flipH="1">
                <a:off x="1105" y="1536"/>
                <a:ext cx="287" cy="2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42" name="Rectangle 49"/>
              <p:cNvSpPr>
                <a:spLocks noChangeArrowheads="1"/>
              </p:cNvSpPr>
              <p:nvPr/>
            </p:nvSpPr>
            <p:spPr bwMode="auto">
              <a:xfrm rot="2700000" flipH="1">
                <a:off x="1437" y="1290"/>
                <a:ext cx="8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2029" name="Group 50"/>
            <p:cNvGrpSpPr>
              <a:grpSpLocks/>
            </p:cNvGrpSpPr>
            <p:nvPr/>
          </p:nvGrpSpPr>
          <p:grpSpPr bwMode="auto">
            <a:xfrm rot="-5400000">
              <a:off x="335" y="1057"/>
              <a:ext cx="777" cy="776"/>
              <a:chOff x="1105" y="1049"/>
              <a:chExt cx="777" cy="776"/>
            </a:xfrm>
          </p:grpSpPr>
          <p:sp>
            <p:nvSpPr>
              <p:cNvPr id="42037" name="Line 51"/>
              <p:cNvSpPr>
                <a:spLocks noChangeShapeType="1"/>
              </p:cNvSpPr>
              <p:nvPr/>
            </p:nvSpPr>
            <p:spPr bwMode="auto">
              <a:xfrm flipV="1">
                <a:off x="1584" y="1049"/>
                <a:ext cx="298" cy="2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38" name="Line 52"/>
              <p:cNvSpPr>
                <a:spLocks noChangeShapeType="1"/>
              </p:cNvSpPr>
              <p:nvPr/>
            </p:nvSpPr>
            <p:spPr bwMode="auto">
              <a:xfrm flipH="1">
                <a:off x="1105" y="1536"/>
                <a:ext cx="287" cy="2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39" name="Rectangle 53"/>
              <p:cNvSpPr>
                <a:spLocks noChangeArrowheads="1"/>
              </p:cNvSpPr>
              <p:nvPr/>
            </p:nvSpPr>
            <p:spPr bwMode="auto">
              <a:xfrm rot="2700000" flipH="1">
                <a:off x="1437" y="1290"/>
                <a:ext cx="8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2030" name="Group 54"/>
            <p:cNvGrpSpPr>
              <a:grpSpLocks/>
            </p:cNvGrpSpPr>
            <p:nvPr/>
          </p:nvGrpSpPr>
          <p:grpSpPr bwMode="auto">
            <a:xfrm rot="-5400000">
              <a:off x="1143" y="289"/>
              <a:ext cx="777" cy="776"/>
              <a:chOff x="1105" y="1049"/>
              <a:chExt cx="777" cy="776"/>
            </a:xfrm>
          </p:grpSpPr>
          <p:sp>
            <p:nvSpPr>
              <p:cNvPr id="42034" name="Line 55"/>
              <p:cNvSpPr>
                <a:spLocks noChangeShapeType="1"/>
              </p:cNvSpPr>
              <p:nvPr/>
            </p:nvSpPr>
            <p:spPr bwMode="auto">
              <a:xfrm flipV="1">
                <a:off x="1584" y="1049"/>
                <a:ext cx="298" cy="2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35" name="Line 56"/>
              <p:cNvSpPr>
                <a:spLocks noChangeShapeType="1"/>
              </p:cNvSpPr>
              <p:nvPr/>
            </p:nvSpPr>
            <p:spPr bwMode="auto">
              <a:xfrm flipH="1">
                <a:off x="1105" y="1536"/>
                <a:ext cx="287" cy="2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36" name="Rectangle 57"/>
              <p:cNvSpPr>
                <a:spLocks noChangeArrowheads="1"/>
              </p:cNvSpPr>
              <p:nvPr/>
            </p:nvSpPr>
            <p:spPr bwMode="auto">
              <a:xfrm rot="2700000" flipH="1">
                <a:off x="1437" y="1290"/>
                <a:ext cx="8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2031" name="Oval 58"/>
            <p:cNvSpPr>
              <a:spLocks noChangeArrowheads="1"/>
            </p:cNvSpPr>
            <p:nvPr/>
          </p:nvSpPr>
          <p:spPr bwMode="auto">
            <a:xfrm rot="5400000">
              <a:off x="1008" y="912"/>
              <a:ext cx="245" cy="245"/>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32" name="Oval 59"/>
            <p:cNvSpPr>
              <a:spLocks noChangeArrowheads="1"/>
            </p:cNvSpPr>
            <p:nvPr/>
          </p:nvSpPr>
          <p:spPr bwMode="auto">
            <a:xfrm>
              <a:off x="1096" y="1800"/>
              <a:ext cx="5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2033" name="Line 60"/>
            <p:cNvSpPr>
              <a:spLocks noChangeShapeType="1"/>
            </p:cNvSpPr>
            <p:nvPr/>
          </p:nvSpPr>
          <p:spPr bwMode="auto">
            <a:xfrm>
              <a:off x="1126" y="952"/>
              <a:ext cx="0" cy="19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1262" name="Text Box 62" descr="40%"/>
          <p:cNvSpPr txBox="1">
            <a:spLocks noChangeArrowheads="1"/>
          </p:cNvSpPr>
          <p:nvPr/>
        </p:nvSpPr>
        <p:spPr bwMode="auto">
          <a:xfrm>
            <a:off x="4643438" y="4005263"/>
            <a:ext cx="2879725" cy="561975"/>
          </a:xfrm>
          <a:prstGeom prst="rect">
            <a:avLst/>
          </a:prstGeom>
          <a:noFill/>
          <a:ln>
            <a:noFill/>
          </a:ln>
          <a:effectLst/>
          <a:extLst>
            <a:ext uri="{909E8E84-426E-40DD-AFC4-6F175D3DCCD1}">
              <a14:hiddenFill xmlns:a14="http://schemas.microsoft.com/office/drawing/2010/main">
                <a:pattFill prst="pct40">
                  <a:fgClr>
                    <a:srgbClr val="FFCCFF"/>
                  </a:fgClr>
                  <a:bgClr>
                    <a:srgbClr val="FFFFFF"/>
                  </a:bgClr>
                </a:pattFill>
              </a14:hiddenFill>
            </a:ext>
            <a:ext uri="{91240B29-F687-4F45-9708-019B960494DF}">
              <a14:hiddenLine xmlns:a14="http://schemas.microsoft.com/office/drawing/2010/main" w="1905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110000"/>
              </a:lnSpc>
              <a:defRPr/>
            </a:pPr>
            <a:r>
              <a:rPr kumimoji="1" lang="zh-CN" altLang="en-US" sz="2800"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几个回路</a:t>
            </a:r>
            <a:r>
              <a:rPr kumimoji="1" lang="zh-CN" altLang="en-US"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1264" name="Rectangle 64"/>
          <p:cNvSpPr>
            <a:spLocks noChangeArrowheads="1"/>
          </p:cNvSpPr>
          <p:nvPr/>
        </p:nvSpPr>
        <p:spPr bwMode="auto">
          <a:xfrm>
            <a:off x="4356100" y="4652963"/>
            <a:ext cx="4572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kumimoji="1" lang="en-US" altLang="zh-CN" b="1" dirty="0" err="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abda</a:t>
            </a:r>
            <a:r>
              <a:rPr kumimoji="1" lang="zh-CN" altLang="en-US" b="1" dirty="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b="1" dirty="0" err="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abca</a:t>
            </a:r>
            <a:r>
              <a:rPr kumimoji="1" lang="zh-CN" altLang="en-US" b="1" dirty="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b="1" dirty="0" err="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dbcd</a:t>
            </a:r>
            <a:r>
              <a:rPr kumimoji="1" lang="zh-CN" altLang="en-US"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dirty="0" err="1">
                <a:solidFill>
                  <a:schemeClr val="fo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adca</a:t>
            </a:r>
            <a:r>
              <a:rPr kumimoji="1" lang="zh-CN" altLang="en-US" b="1" dirty="0">
                <a:solidFill>
                  <a:schemeClr val="fo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b="1" dirty="0" err="1">
                <a:solidFill>
                  <a:schemeClr val="fo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adbca</a:t>
            </a:r>
            <a:r>
              <a:rPr kumimoji="1" lang="zh-CN" altLang="en-US" b="1" dirty="0">
                <a:solidFill>
                  <a:schemeClr val="fo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dirty="0" err="1">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abcda</a:t>
            </a:r>
            <a:r>
              <a:rPr kumimoji="1" lang="zh-CN" altLang="en-US" b="1"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dirty="0" err="1">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abdca</a:t>
            </a:r>
            <a:endParaRPr kumimoji="1" lang="en-US" altLang="zh-CN" b="1" i="1"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defRPr/>
            </a:pPr>
            <a:r>
              <a:rPr kumimoji="1" lang="en-US" altLang="zh-CN"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（共</a:t>
            </a:r>
            <a:r>
              <a:rPr kumimoji="1" lang="en-US" altLang="zh-CN"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7</a:t>
            </a:r>
            <a:r>
              <a:rPr kumimoji="1" lang="zh-CN" altLang="en-US"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个）</a:t>
            </a:r>
          </a:p>
        </p:txBody>
      </p:sp>
      <p:sp>
        <p:nvSpPr>
          <p:cNvPr id="51265" name="Rectangle 65"/>
          <p:cNvSpPr>
            <a:spLocks noChangeArrowheads="1"/>
          </p:cNvSpPr>
          <p:nvPr/>
        </p:nvSpPr>
        <p:spPr bwMode="auto">
          <a:xfrm>
            <a:off x="4572000" y="3357563"/>
            <a:ext cx="3887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kumimoji="1" lang="en-US" altLang="zh-CN"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r>
              <a:rPr kumimoji="1" lang="zh-CN" altLang="en-US"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r>
              <a:rPr kumimoji="1" lang="zh-CN" altLang="en-US"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a:t>
            </a:r>
            <a:r>
              <a:rPr kumimoji="1" lang="zh-CN" altLang="en-US"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d     (</a:t>
            </a:r>
            <a:r>
              <a:rPr kumimoji="1" lang="zh-CN" altLang="en-US"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共</a:t>
            </a:r>
            <a:r>
              <a:rPr kumimoji="1" lang="en-US" altLang="zh-CN"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4</a:t>
            </a:r>
            <a:r>
              <a:rPr kumimoji="1" lang="zh-CN" altLang="en-US"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个）</a:t>
            </a:r>
          </a:p>
        </p:txBody>
      </p:sp>
      <p:sp>
        <p:nvSpPr>
          <p:cNvPr id="51266" name="Rectangle 66"/>
          <p:cNvSpPr>
            <a:spLocks noChangeArrowheads="1"/>
          </p:cNvSpPr>
          <p:nvPr/>
        </p:nvSpPr>
        <p:spPr bwMode="auto">
          <a:xfrm>
            <a:off x="4043737" y="2004890"/>
            <a:ext cx="4972836"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lnSpc>
                <a:spcPct val="110000"/>
              </a:lnSpc>
              <a:defRPr/>
            </a:pPr>
            <a:r>
              <a:rPr kumimoji="1" lang="en-US" altLang="zh-CN"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ab</a:t>
            </a:r>
            <a:r>
              <a:rPr kumimoji="1" lang="zh-CN" altLang="en-US"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ac</a:t>
            </a:r>
            <a:r>
              <a:rPr kumimoji="1" lang="zh-CN" altLang="en-US"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ad</a:t>
            </a:r>
            <a:r>
              <a:rPr kumimoji="1" lang="zh-CN" altLang="en-US"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dirty="0" err="1"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db</a:t>
            </a:r>
            <a:r>
              <a:rPr kumimoji="1" lang="zh-CN" altLang="en-US"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i="1" dirty="0" err="1"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cb</a:t>
            </a:r>
            <a:r>
              <a:rPr kumimoji="1" lang="zh-CN" altLang="en-US" b="1" i="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b="1" i="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dc</a:t>
            </a:r>
            <a:r>
              <a:rPr kumimoji="1" lang="zh-CN" altLang="en-US"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共</a:t>
            </a:r>
            <a:r>
              <a:rPr kumimoji="1" lang="en-US" altLang="zh-CN"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6</a:t>
            </a:r>
            <a:r>
              <a:rPr kumimoji="1" lang="zh-CN" altLang="en-US"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条）</a:t>
            </a:r>
          </a:p>
        </p:txBody>
      </p:sp>
      <p:sp>
        <p:nvSpPr>
          <p:cNvPr id="2" name="灯片编号占位符 1"/>
          <p:cNvSpPr>
            <a:spLocks noGrp="1"/>
          </p:cNvSpPr>
          <p:nvPr>
            <p:ph type="sldNum" sz="quarter" idx="12"/>
          </p:nvPr>
        </p:nvSpPr>
        <p:spPr/>
        <p:txBody>
          <a:bodyPr/>
          <a:lstStyle/>
          <a:p>
            <a:pPr>
              <a:defRPr/>
            </a:pPr>
            <a:fld id="{7F6DAC6E-051E-43BF-A607-F6F4F9E2F096}" type="slidenum">
              <a:rPr lang="en-US" altLang="zh-CN" smtClean="0"/>
              <a:pPr>
                <a:defRPr/>
              </a:pPr>
              <a:t>35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05"/>
                                        </p:tgtEl>
                                        <p:attrNameLst>
                                          <p:attrName>style.visibility</p:attrName>
                                        </p:attrNameLst>
                                      </p:cBhvr>
                                      <p:to>
                                        <p:strVal val="visible"/>
                                      </p:to>
                                    </p:set>
                                    <p:animEffect transition="in" filter="randombar(horizontal)">
                                      <p:cBhvr>
                                        <p:cTn id="7" dur="500"/>
                                        <p:tgtEl>
                                          <p:spTgt spid="512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1266"/>
                                        </p:tgtEl>
                                        <p:attrNameLst>
                                          <p:attrName>style.visibility</p:attrName>
                                        </p:attrNameLst>
                                      </p:cBhvr>
                                      <p:to>
                                        <p:strVal val="visible"/>
                                      </p:to>
                                    </p:set>
                                    <p:anim calcmode="lin" valueType="num">
                                      <p:cBhvr additive="base">
                                        <p:cTn id="12" dur="500" fill="hold"/>
                                        <p:tgtEl>
                                          <p:spTgt spid="51266"/>
                                        </p:tgtEl>
                                        <p:attrNameLst>
                                          <p:attrName>ppt_x</p:attrName>
                                        </p:attrNameLst>
                                      </p:cBhvr>
                                      <p:tavLst>
                                        <p:tav tm="0">
                                          <p:val>
                                            <p:strVal val="#ppt_x"/>
                                          </p:val>
                                        </p:tav>
                                        <p:tav tm="100000">
                                          <p:val>
                                            <p:strVal val="#ppt_x"/>
                                          </p:val>
                                        </p:tav>
                                      </p:tavLst>
                                    </p:anim>
                                    <p:anim calcmode="lin" valueType="num">
                                      <p:cBhvr additive="base">
                                        <p:cTn id="13" dur="500" fill="hold"/>
                                        <p:tgtEl>
                                          <p:spTgt spid="51266"/>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1206"/>
                                        </p:tgtEl>
                                        <p:attrNameLst>
                                          <p:attrName>style.visibility</p:attrName>
                                        </p:attrNameLst>
                                      </p:cBhvr>
                                      <p:to>
                                        <p:strVal val="visible"/>
                                      </p:to>
                                    </p:set>
                                    <p:anim calcmode="lin" valueType="num">
                                      <p:cBhvr additive="base">
                                        <p:cTn id="18" dur="500" fill="hold"/>
                                        <p:tgtEl>
                                          <p:spTgt spid="51206"/>
                                        </p:tgtEl>
                                        <p:attrNameLst>
                                          <p:attrName>ppt_x</p:attrName>
                                        </p:attrNameLst>
                                      </p:cBhvr>
                                      <p:tavLst>
                                        <p:tav tm="0">
                                          <p:val>
                                            <p:strVal val="#ppt_x"/>
                                          </p:val>
                                        </p:tav>
                                        <p:tav tm="100000">
                                          <p:val>
                                            <p:strVal val="#ppt_x"/>
                                          </p:val>
                                        </p:tav>
                                      </p:tavLst>
                                    </p:anim>
                                    <p:anim calcmode="lin" valueType="num">
                                      <p:cBhvr additive="base">
                                        <p:cTn id="19" dur="500" fill="hold"/>
                                        <p:tgtEl>
                                          <p:spTgt spid="51206"/>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51265"/>
                                        </p:tgtEl>
                                        <p:attrNameLst>
                                          <p:attrName>style.visibility</p:attrName>
                                        </p:attrNameLst>
                                      </p:cBhvr>
                                      <p:to>
                                        <p:strVal val="visible"/>
                                      </p:to>
                                    </p:set>
                                    <p:anim calcmode="lin" valueType="num">
                                      <p:cBhvr additive="base">
                                        <p:cTn id="24" dur="500" fill="hold"/>
                                        <p:tgtEl>
                                          <p:spTgt spid="51265"/>
                                        </p:tgtEl>
                                        <p:attrNameLst>
                                          <p:attrName>ppt_x</p:attrName>
                                        </p:attrNameLst>
                                      </p:cBhvr>
                                      <p:tavLst>
                                        <p:tav tm="0">
                                          <p:val>
                                            <p:strVal val="#ppt_x"/>
                                          </p:val>
                                        </p:tav>
                                        <p:tav tm="100000">
                                          <p:val>
                                            <p:strVal val="#ppt_x"/>
                                          </p:val>
                                        </p:tav>
                                      </p:tavLst>
                                    </p:anim>
                                    <p:anim calcmode="lin" valueType="num">
                                      <p:cBhvr additive="base">
                                        <p:cTn id="25" dur="500" fill="hold"/>
                                        <p:tgtEl>
                                          <p:spTgt spid="51265"/>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51262"/>
                                        </p:tgtEl>
                                        <p:attrNameLst>
                                          <p:attrName>style.visibility</p:attrName>
                                        </p:attrNameLst>
                                      </p:cBhvr>
                                      <p:to>
                                        <p:strVal val="visible"/>
                                      </p:to>
                                    </p:set>
                                    <p:anim calcmode="lin" valueType="num">
                                      <p:cBhvr additive="base">
                                        <p:cTn id="30" dur="500" fill="hold"/>
                                        <p:tgtEl>
                                          <p:spTgt spid="51262"/>
                                        </p:tgtEl>
                                        <p:attrNameLst>
                                          <p:attrName>ppt_x</p:attrName>
                                        </p:attrNameLst>
                                      </p:cBhvr>
                                      <p:tavLst>
                                        <p:tav tm="0">
                                          <p:val>
                                            <p:strVal val="#ppt_x"/>
                                          </p:val>
                                        </p:tav>
                                        <p:tav tm="100000">
                                          <p:val>
                                            <p:strVal val="#ppt_x"/>
                                          </p:val>
                                        </p:tav>
                                      </p:tavLst>
                                    </p:anim>
                                    <p:anim calcmode="lin" valueType="num">
                                      <p:cBhvr additive="base">
                                        <p:cTn id="31" dur="500" fill="hold"/>
                                        <p:tgtEl>
                                          <p:spTgt spid="51262"/>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51264"/>
                                        </p:tgtEl>
                                        <p:attrNameLst>
                                          <p:attrName>style.visibility</p:attrName>
                                        </p:attrNameLst>
                                      </p:cBhvr>
                                      <p:to>
                                        <p:strVal val="visible"/>
                                      </p:to>
                                    </p:set>
                                    <p:anim calcmode="lin" valueType="num">
                                      <p:cBhvr additive="base">
                                        <p:cTn id="36" dur="500" fill="hold"/>
                                        <p:tgtEl>
                                          <p:spTgt spid="51264"/>
                                        </p:tgtEl>
                                        <p:attrNameLst>
                                          <p:attrName>ppt_x</p:attrName>
                                        </p:attrNameLst>
                                      </p:cBhvr>
                                      <p:tavLst>
                                        <p:tav tm="0">
                                          <p:val>
                                            <p:strVal val="#ppt_x"/>
                                          </p:val>
                                        </p:tav>
                                        <p:tav tm="100000">
                                          <p:val>
                                            <p:strVal val="#ppt_x"/>
                                          </p:val>
                                        </p:tav>
                                      </p:tavLst>
                                    </p:anim>
                                    <p:anim calcmode="lin" valueType="num">
                                      <p:cBhvr additive="base">
                                        <p:cTn id="37" dur="500" fill="hold"/>
                                        <p:tgtEl>
                                          <p:spTgt spid="512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5" grpId="0" autoUpdateAnimBg="0"/>
      <p:bldP spid="51206" grpId="0"/>
      <p:bldP spid="51262" grpId="0"/>
      <p:bldP spid="51264" grpId="0"/>
      <p:bldP spid="51265" grpId="0"/>
      <p:bldP spid="51266" grpId="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Rectangle 3"/>
          <p:cNvSpPr>
            <a:spLocks noGrp="1" noChangeArrowheads="1"/>
          </p:cNvSpPr>
          <p:nvPr>
            <p:ph type="body" idx="1"/>
          </p:nvPr>
        </p:nvSpPr>
        <p:spPr>
          <a:xfrm>
            <a:off x="0" y="404813"/>
            <a:ext cx="5181600" cy="519112"/>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spAutoFit/>
          </a:bodyPr>
          <a:lstStyle/>
          <a:p>
            <a:pPr marL="0" indent="0" algn="just" eaLnBrk="1" hangingPunct="1">
              <a:spcBef>
                <a:spcPct val="50000"/>
              </a:spcBef>
              <a:buFontTx/>
              <a:buNone/>
            </a:pPr>
            <a:r>
              <a:rPr lang="en-US" altLang="zh-CN" sz="2800" b="1" smtClean="0">
                <a:solidFill>
                  <a:schemeClr val="hlink"/>
                </a:solidFill>
                <a:latin typeface="Times New Roman" panose="02020603050405020304" pitchFamily="18" charset="0"/>
                <a:ea typeface="华文中宋" panose="02010600040101010101" pitchFamily="2" charset="-122"/>
                <a:cs typeface="Times New Roman" panose="02020603050405020304" pitchFamily="18" charset="0"/>
              </a:rPr>
              <a:t>1.4.1 </a:t>
            </a:r>
            <a:r>
              <a:rPr lang="zh-CN" altLang="en-US" sz="2800" b="1" smtClean="0">
                <a:solidFill>
                  <a:schemeClr val="hlink"/>
                </a:solidFill>
                <a:latin typeface="Times New Roman" panose="02020603050405020304" pitchFamily="18" charset="0"/>
                <a:ea typeface="华文中宋" panose="02010600040101010101" pitchFamily="2" charset="-122"/>
                <a:cs typeface="Times New Roman" panose="02020603050405020304" pitchFamily="18" charset="0"/>
              </a:rPr>
              <a:t>基尔霍夫电流定律</a:t>
            </a:r>
            <a:r>
              <a:rPr lang="en-US" altLang="zh-CN" sz="2800" b="1" smtClean="0">
                <a:solidFill>
                  <a:schemeClr val="hlink"/>
                </a:solidFill>
                <a:latin typeface="Times New Roman" panose="02020603050405020304" pitchFamily="18" charset="0"/>
                <a:ea typeface="华文中宋" panose="02010600040101010101" pitchFamily="2" charset="-122"/>
                <a:cs typeface="Times New Roman" panose="02020603050405020304" pitchFamily="18" charset="0"/>
              </a:rPr>
              <a:t>(KCL)</a:t>
            </a:r>
          </a:p>
        </p:txBody>
      </p:sp>
      <p:sp>
        <p:nvSpPr>
          <p:cNvPr id="52230" name="Rectangle 6"/>
          <p:cNvSpPr>
            <a:spLocks noChangeArrowheads="1"/>
          </p:cNvSpPr>
          <p:nvPr/>
        </p:nvSpPr>
        <p:spPr bwMode="auto">
          <a:xfrm>
            <a:off x="381000" y="1219200"/>
            <a:ext cx="8153400" cy="1902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a:spAutoFit/>
          </a:bodyPr>
          <a:lstStyle/>
          <a:p>
            <a:pPr algn="just" eaLnBrk="1" hangingPunct="1">
              <a:lnSpc>
                <a:spcPct val="110000"/>
              </a:lnSpc>
              <a:spcBef>
                <a:spcPct val="25000"/>
              </a:spcBef>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b="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基尔霍夫电流定律</a:t>
            </a:r>
            <a:r>
              <a:rPr lang="zh-CN" alt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又称为基尔霍夫第一定律，简单记为</a:t>
            </a: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KCL</a:t>
            </a:r>
            <a:r>
              <a:rPr lang="zh-CN" alt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。其表达式为   </a:t>
            </a:r>
          </a:p>
          <a:p>
            <a:pPr eaLnBrk="1" hangingPunct="1">
              <a:lnSpc>
                <a:spcPct val="110000"/>
              </a:lnSpc>
              <a:spcBef>
                <a:spcPct val="25000"/>
              </a:spcBef>
              <a:defRPr/>
            </a:pPr>
            <a:r>
              <a:rPr lang="zh-CN" alt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1" lang="zh-CN" alt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I = </a:t>
            </a:r>
            <a:r>
              <a:rPr kumimoji="1"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0</a:t>
            </a:r>
          </a:p>
          <a:p>
            <a:pPr eaLnBrk="1" hangingPunct="1">
              <a:lnSpc>
                <a:spcPct val="110000"/>
              </a:lnSpc>
              <a:spcBef>
                <a:spcPct val="25000"/>
              </a:spcBef>
              <a:defRPr/>
            </a:pPr>
            <a:r>
              <a:rPr kumimoji="1" lang="en-US" altLang="zh-CN"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可以表述为：</a:t>
            </a:r>
            <a:r>
              <a:rPr kumimoji="1" lang="zh-CN" altLang="en-US"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流出</a:t>
            </a:r>
            <a:r>
              <a:rPr kumimoji="1" lang="zh-CN" altLang="en-US"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任一节点的电流的代数和等于零。</a:t>
            </a:r>
          </a:p>
        </p:txBody>
      </p:sp>
      <p:sp>
        <p:nvSpPr>
          <p:cNvPr id="52232" name="Rectangle 8" descr="40%"/>
          <p:cNvSpPr>
            <a:spLocks noChangeArrowheads="1"/>
          </p:cNvSpPr>
          <p:nvPr/>
        </p:nvSpPr>
        <p:spPr bwMode="auto">
          <a:xfrm>
            <a:off x="4876800" y="3657600"/>
            <a:ext cx="3367088" cy="830997"/>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对结点 </a:t>
            </a:r>
            <a:r>
              <a:rPr lang="en-US" altLang="zh-CN"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spcBef>
                <a:spcPct val="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i="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 </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p:txBody>
      </p:sp>
      <p:grpSp>
        <p:nvGrpSpPr>
          <p:cNvPr id="43013" name="Group 56"/>
          <p:cNvGrpSpPr>
            <a:grpSpLocks/>
          </p:cNvGrpSpPr>
          <p:nvPr/>
        </p:nvGrpSpPr>
        <p:grpSpPr bwMode="auto">
          <a:xfrm>
            <a:off x="228600" y="3429000"/>
            <a:ext cx="4779963" cy="2551113"/>
            <a:chOff x="144" y="2160"/>
            <a:chExt cx="3011" cy="1607"/>
          </a:xfrm>
        </p:grpSpPr>
        <p:graphicFrame>
          <p:nvGraphicFramePr>
            <p:cNvPr id="43015" name="Object 13"/>
            <p:cNvGraphicFramePr>
              <a:graphicFrameLocks noChangeAspect="1"/>
            </p:cNvGraphicFramePr>
            <p:nvPr/>
          </p:nvGraphicFramePr>
          <p:xfrm>
            <a:off x="3084" y="2620"/>
            <a:ext cx="71" cy="135"/>
          </p:xfrm>
          <a:graphic>
            <a:graphicData uri="http://schemas.openxmlformats.org/presentationml/2006/ole">
              <mc:AlternateContent xmlns:mc="http://schemas.openxmlformats.org/markup-compatibility/2006">
                <mc:Choice xmlns:v="urn:schemas-microsoft-com:vml" Requires="v">
                  <p:oleObj spid="_x0000_s43083" name="公式" r:id="rId3" imgW="114151" imgH="215619" progId="Equation.3">
                    <p:embed/>
                  </p:oleObj>
                </mc:Choice>
                <mc:Fallback>
                  <p:oleObj name="公式" r:id="rId3" imgW="114151" imgH="215619"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4" y="2620"/>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6" name="Rectangle 14"/>
            <p:cNvSpPr>
              <a:spLocks noChangeArrowheads="1"/>
            </p:cNvSpPr>
            <p:nvPr/>
          </p:nvSpPr>
          <p:spPr bwMode="auto">
            <a:xfrm>
              <a:off x="916" y="2160"/>
              <a:ext cx="30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17" name="Line 15"/>
            <p:cNvSpPr>
              <a:spLocks noChangeShapeType="1"/>
            </p:cNvSpPr>
            <p:nvPr/>
          </p:nvSpPr>
          <p:spPr bwMode="auto">
            <a:xfrm>
              <a:off x="931" y="2496"/>
              <a:ext cx="252"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18" name="Rectangle 16"/>
            <p:cNvSpPr>
              <a:spLocks noChangeArrowheads="1"/>
            </p:cNvSpPr>
            <p:nvPr/>
          </p:nvSpPr>
          <p:spPr bwMode="auto">
            <a:xfrm>
              <a:off x="1900" y="2160"/>
              <a:ext cx="27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19" name="Line 17"/>
            <p:cNvSpPr>
              <a:spLocks noChangeShapeType="1"/>
            </p:cNvSpPr>
            <p:nvPr/>
          </p:nvSpPr>
          <p:spPr bwMode="auto">
            <a:xfrm>
              <a:off x="1907" y="2496"/>
              <a:ext cx="253"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3020" name="Group 18"/>
            <p:cNvGrpSpPr>
              <a:grpSpLocks/>
            </p:cNvGrpSpPr>
            <p:nvPr/>
          </p:nvGrpSpPr>
          <p:grpSpPr bwMode="auto">
            <a:xfrm>
              <a:off x="1184" y="2892"/>
              <a:ext cx="257" cy="276"/>
              <a:chOff x="2304" y="1274"/>
              <a:chExt cx="322" cy="345"/>
            </a:xfrm>
          </p:grpSpPr>
          <p:sp>
            <p:nvSpPr>
              <p:cNvPr id="43051" name="Rectangle 19"/>
              <p:cNvSpPr>
                <a:spLocks noChangeArrowheads="1"/>
              </p:cNvSpPr>
              <p:nvPr/>
            </p:nvSpPr>
            <p:spPr bwMode="auto">
              <a:xfrm>
                <a:off x="2304" y="1274"/>
                <a:ext cx="31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52" name="Line 20"/>
              <p:cNvSpPr>
                <a:spLocks noChangeShapeType="1"/>
              </p:cNvSpPr>
              <p:nvPr/>
            </p:nvSpPr>
            <p:spPr bwMode="auto">
              <a:xfrm>
                <a:off x="2626" y="1275"/>
                <a:ext cx="0" cy="344"/>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3021" name="Rectangle 21"/>
            <p:cNvSpPr>
              <a:spLocks noChangeArrowheads="1"/>
            </p:cNvSpPr>
            <p:nvPr/>
          </p:nvSpPr>
          <p:spPr bwMode="auto">
            <a:xfrm>
              <a:off x="1469" y="3519"/>
              <a:ext cx="243"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Clr>
                  <a:schemeClr val="tx1"/>
                </a:buClr>
                <a:buFontTx/>
                <a:buNone/>
              </a:pPr>
              <a:r>
                <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22" name="Rectangle 22"/>
            <p:cNvSpPr>
              <a:spLocks noChangeArrowheads="1"/>
            </p:cNvSpPr>
            <p:nvPr/>
          </p:nvSpPr>
          <p:spPr bwMode="auto">
            <a:xfrm>
              <a:off x="1469" y="2371"/>
              <a:ext cx="229"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Clr>
                  <a:schemeClr val="tx1"/>
                </a:buClr>
                <a:buFontTx/>
                <a:buNone/>
              </a:pPr>
              <a:r>
                <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23" name="Rectangle 23"/>
            <p:cNvSpPr>
              <a:spLocks noChangeArrowheads="1"/>
            </p:cNvSpPr>
            <p:nvPr/>
          </p:nvSpPr>
          <p:spPr bwMode="auto">
            <a:xfrm>
              <a:off x="2468" y="2678"/>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3024" name="Text Box 24"/>
            <p:cNvSpPr txBox="1">
              <a:spLocks noChangeArrowheads="1"/>
            </p:cNvSpPr>
            <p:nvPr/>
          </p:nvSpPr>
          <p:spPr bwMode="auto">
            <a:xfrm>
              <a:off x="869" y="2682"/>
              <a:ext cx="116"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25" name="Oval 25"/>
            <p:cNvSpPr>
              <a:spLocks noChangeArrowheads="1"/>
            </p:cNvSpPr>
            <p:nvPr/>
          </p:nvSpPr>
          <p:spPr bwMode="auto">
            <a:xfrm>
              <a:off x="475" y="2928"/>
              <a:ext cx="253" cy="24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26" name="Oval 26"/>
            <p:cNvSpPr>
              <a:spLocks noChangeArrowheads="1"/>
            </p:cNvSpPr>
            <p:nvPr/>
          </p:nvSpPr>
          <p:spPr bwMode="auto">
            <a:xfrm>
              <a:off x="2378" y="2905"/>
              <a:ext cx="253" cy="239"/>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27" name="Line 27"/>
            <p:cNvSpPr>
              <a:spLocks noChangeShapeType="1"/>
            </p:cNvSpPr>
            <p:nvPr/>
          </p:nvSpPr>
          <p:spPr bwMode="auto">
            <a:xfrm flipV="1">
              <a:off x="1200" y="2602"/>
              <a:ext cx="6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28" name="Line 28"/>
            <p:cNvSpPr>
              <a:spLocks noChangeShapeType="1"/>
            </p:cNvSpPr>
            <p:nvPr/>
          </p:nvSpPr>
          <p:spPr bwMode="auto">
            <a:xfrm>
              <a:off x="2507" y="2602"/>
              <a:ext cx="0" cy="8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29" name="Line 29"/>
            <p:cNvSpPr>
              <a:spLocks noChangeShapeType="1"/>
            </p:cNvSpPr>
            <p:nvPr/>
          </p:nvSpPr>
          <p:spPr bwMode="auto">
            <a:xfrm flipV="1">
              <a:off x="586" y="3486"/>
              <a:ext cx="192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30" name="Line 30"/>
            <p:cNvSpPr>
              <a:spLocks noChangeShapeType="1"/>
            </p:cNvSpPr>
            <p:nvPr/>
          </p:nvSpPr>
          <p:spPr bwMode="auto">
            <a:xfrm>
              <a:off x="610" y="2605"/>
              <a:ext cx="1" cy="1"/>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31" name="Line 31"/>
            <p:cNvSpPr>
              <a:spLocks noChangeShapeType="1"/>
            </p:cNvSpPr>
            <p:nvPr/>
          </p:nvSpPr>
          <p:spPr bwMode="auto">
            <a:xfrm>
              <a:off x="586" y="2592"/>
              <a:ext cx="0" cy="90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32" name="Rectangle 32"/>
            <p:cNvSpPr>
              <a:spLocks noChangeArrowheads="1"/>
            </p:cNvSpPr>
            <p:nvPr/>
          </p:nvSpPr>
          <p:spPr bwMode="auto">
            <a:xfrm>
              <a:off x="1393" y="2865"/>
              <a:ext cx="197"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33" name="Rectangle 33"/>
            <p:cNvSpPr>
              <a:spLocks noChangeArrowheads="1"/>
            </p:cNvSpPr>
            <p:nvPr/>
          </p:nvSpPr>
          <p:spPr bwMode="auto">
            <a:xfrm>
              <a:off x="2474" y="3101"/>
              <a:ext cx="18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3034" name="Rectangle 34"/>
            <p:cNvSpPr>
              <a:spLocks noChangeArrowheads="1"/>
            </p:cNvSpPr>
            <p:nvPr/>
          </p:nvSpPr>
          <p:spPr bwMode="auto">
            <a:xfrm>
              <a:off x="2640" y="2911"/>
              <a:ext cx="36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S2</a:t>
              </a:r>
              <a:endPar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35" name="Rectangle 35"/>
            <p:cNvSpPr>
              <a:spLocks noChangeArrowheads="1"/>
            </p:cNvSpPr>
            <p:nvPr/>
          </p:nvSpPr>
          <p:spPr bwMode="auto">
            <a:xfrm>
              <a:off x="1838" y="2664"/>
              <a:ext cx="33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36" name="Rectangle 36"/>
            <p:cNvSpPr>
              <a:spLocks noChangeArrowheads="1"/>
            </p:cNvSpPr>
            <p:nvPr/>
          </p:nvSpPr>
          <p:spPr bwMode="auto">
            <a:xfrm>
              <a:off x="394" y="2717"/>
              <a:ext cx="18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3037" name="Rectangle 37"/>
            <p:cNvSpPr>
              <a:spLocks noChangeArrowheads="1"/>
            </p:cNvSpPr>
            <p:nvPr/>
          </p:nvSpPr>
          <p:spPr bwMode="auto">
            <a:xfrm>
              <a:off x="392" y="2865"/>
              <a:ext cx="18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38" name="Rectangle 38"/>
            <p:cNvSpPr>
              <a:spLocks noChangeArrowheads="1"/>
            </p:cNvSpPr>
            <p:nvPr/>
          </p:nvSpPr>
          <p:spPr bwMode="auto">
            <a:xfrm>
              <a:off x="400" y="3101"/>
              <a:ext cx="13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43039" name="Oval 39"/>
            <p:cNvSpPr>
              <a:spLocks noChangeArrowheads="1"/>
            </p:cNvSpPr>
            <p:nvPr/>
          </p:nvSpPr>
          <p:spPr bwMode="auto">
            <a:xfrm flipV="1">
              <a:off x="1530" y="2563"/>
              <a:ext cx="55" cy="55"/>
            </a:xfrm>
            <a:prstGeom prst="ellipse">
              <a:avLst/>
            </a:prstGeom>
            <a:solidFill>
              <a:schemeClr val="tx1"/>
            </a:solidFill>
            <a:ln>
              <a:noFill/>
            </a:ln>
            <a:effectLst/>
            <a:extLst>
              <a:ext uri="{91240B29-F687-4F45-9708-019B960494DF}">
                <a14:hiddenLine xmlns:a14="http://schemas.microsoft.com/office/drawing/2010/main" w="9525">
                  <a:solidFill>
                    <a:schemeClr val="accent2"/>
                  </a:solidFill>
                  <a:round/>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40" name="Oval 40"/>
            <p:cNvSpPr>
              <a:spLocks noChangeArrowheads="1"/>
            </p:cNvSpPr>
            <p:nvPr/>
          </p:nvSpPr>
          <p:spPr bwMode="auto">
            <a:xfrm flipV="1">
              <a:off x="1537" y="3447"/>
              <a:ext cx="56" cy="55"/>
            </a:xfrm>
            <a:prstGeom prst="ellipse">
              <a:avLst/>
            </a:prstGeom>
            <a:solidFill>
              <a:schemeClr val="tx1"/>
            </a:solidFill>
            <a:ln>
              <a:noFill/>
            </a:ln>
            <a:effectLst/>
            <a:extLst>
              <a:ext uri="{91240B29-F687-4F45-9708-019B960494DF}">
                <a14:hiddenLine xmlns:a14="http://schemas.microsoft.com/office/drawing/2010/main" w="9525">
                  <a:solidFill>
                    <a:schemeClr val="accent2"/>
                  </a:solidFill>
                  <a:round/>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41" name="Rectangle 41"/>
            <p:cNvSpPr>
              <a:spLocks noChangeArrowheads="1"/>
            </p:cNvSpPr>
            <p:nvPr/>
          </p:nvSpPr>
          <p:spPr bwMode="auto">
            <a:xfrm rot="5400000">
              <a:off x="1948" y="2488"/>
              <a:ext cx="113" cy="23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66CC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42" name="Rectangle 42"/>
            <p:cNvSpPr>
              <a:spLocks noChangeArrowheads="1"/>
            </p:cNvSpPr>
            <p:nvPr/>
          </p:nvSpPr>
          <p:spPr bwMode="auto">
            <a:xfrm rot="5400000">
              <a:off x="1011" y="2488"/>
              <a:ext cx="112" cy="24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66CC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43" name="Rectangle 43"/>
            <p:cNvSpPr>
              <a:spLocks noChangeArrowheads="1"/>
            </p:cNvSpPr>
            <p:nvPr/>
          </p:nvSpPr>
          <p:spPr bwMode="auto">
            <a:xfrm>
              <a:off x="1610" y="2928"/>
              <a:ext cx="22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44" name="Rectangle 44"/>
            <p:cNvSpPr>
              <a:spLocks noChangeArrowheads="1"/>
            </p:cNvSpPr>
            <p:nvPr/>
          </p:nvSpPr>
          <p:spPr bwMode="auto">
            <a:xfrm>
              <a:off x="874" y="2682"/>
              <a:ext cx="41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45" name="Line 45"/>
            <p:cNvSpPr>
              <a:spLocks noChangeShapeType="1"/>
            </p:cNvSpPr>
            <p:nvPr/>
          </p:nvSpPr>
          <p:spPr bwMode="auto">
            <a:xfrm flipH="1">
              <a:off x="1555" y="2605"/>
              <a:ext cx="0" cy="3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46" name="Rectangle 46"/>
            <p:cNvSpPr>
              <a:spLocks noChangeArrowheads="1"/>
            </p:cNvSpPr>
            <p:nvPr/>
          </p:nvSpPr>
          <p:spPr bwMode="auto">
            <a:xfrm>
              <a:off x="1498" y="2905"/>
              <a:ext cx="113" cy="23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66CC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47" name="Rectangle 47"/>
            <p:cNvSpPr>
              <a:spLocks noChangeArrowheads="1"/>
            </p:cNvSpPr>
            <p:nvPr/>
          </p:nvSpPr>
          <p:spPr bwMode="auto">
            <a:xfrm>
              <a:off x="144" y="2928"/>
              <a:ext cx="43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S1</a:t>
              </a:r>
            </a:p>
          </p:txBody>
        </p:sp>
        <p:sp>
          <p:nvSpPr>
            <p:cNvPr id="43048" name="Line 48"/>
            <p:cNvSpPr>
              <a:spLocks noChangeShapeType="1"/>
            </p:cNvSpPr>
            <p:nvPr/>
          </p:nvSpPr>
          <p:spPr bwMode="auto">
            <a:xfrm>
              <a:off x="1555" y="3140"/>
              <a:ext cx="0" cy="34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49" name="Line 49"/>
            <p:cNvSpPr>
              <a:spLocks noChangeShapeType="1"/>
            </p:cNvSpPr>
            <p:nvPr/>
          </p:nvSpPr>
          <p:spPr bwMode="auto">
            <a:xfrm>
              <a:off x="2122" y="2602"/>
              <a:ext cx="385"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3050" name="Line 50"/>
            <p:cNvSpPr>
              <a:spLocks noChangeShapeType="1"/>
            </p:cNvSpPr>
            <p:nvPr/>
          </p:nvSpPr>
          <p:spPr bwMode="auto">
            <a:xfrm>
              <a:off x="586" y="2602"/>
              <a:ext cx="363"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2279" name="Rectangle 55" descr="40%"/>
          <p:cNvSpPr>
            <a:spLocks noChangeArrowheads="1"/>
          </p:cNvSpPr>
          <p:nvPr/>
        </p:nvSpPr>
        <p:spPr bwMode="auto">
          <a:xfrm>
            <a:off x="5029200" y="4953000"/>
            <a:ext cx="3143250" cy="830997"/>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对结点 </a:t>
            </a:r>
            <a:r>
              <a:rPr lang="en-US" altLang="zh-CN"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a:p>
            <a:pPr algn="just" eaLnBrk="1" hangingPunct="1">
              <a:spcBef>
                <a:spcPct val="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p:txBody>
      </p:sp>
      <p:sp>
        <p:nvSpPr>
          <p:cNvPr id="2" name="灯片编号占位符 1"/>
          <p:cNvSpPr>
            <a:spLocks noGrp="1"/>
          </p:cNvSpPr>
          <p:nvPr>
            <p:ph type="sldNum" sz="quarter" idx="12"/>
          </p:nvPr>
        </p:nvSpPr>
        <p:spPr/>
        <p:txBody>
          <a:bodyPr/>
          <a:lstStyle/>
          <a:p>
            <a:pPr>
              <a:defRPr/>
            </a:pPr>
            <a:fld id="{7F6DAC6E-051E-43BF-A607-F6F4F9E2F096}" type="slidenum">
              <a:rPr lang="en-US" altLang="zh-CN" smtClean="0"/>
              <a:pPr>
                <a:defRPr/>
              </a:pPr>
              <a:t>36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30"/>
                                        </p:tgtEl>
                                        <p:attrNameLst>
                                          <p:attrName>style.visibility</p:attrName>
                                        </p:attrNameLst>
                                      </p:cBhvr>
                                      <p:to>
                                        <p:strVal val="visible"/>
                                      </p:to>
                                    </p:set>
                                    <p:animEffect transition="in" filter="wipe(left)">
                                      <p:cBhvr>
                                        <p:cTn id="7" dur="500"/>
                                        <p:tgtEl>
                                          <p:spTgt spid="522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232"/>
                                        </p:tgtEl>
                                        <p:attrNameLst>
                                          <p:attrName>style.visibility</p:attrName>
                                        </p:attrNameLst>
                                      </p:cBhvr>
                                      <p:to>
                                        <p:strVal val="visible"/>
                                      </p:to>
                                    </p:set>
                                    <p:animEffect transition="in" filter="wipe(left)">
                                      <p:cBhvr>
                                        <p:cTn id="12" dur="500"/>
                                        <p:tgtEl>
                                          <p:spTgt spid="522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279"/>
                                        </p:tgtEl>
                                        <p:attrNameLst>
                                          <p:attrName>style.visibility</p:attrName>
                                        </p:attrNameLst>
                                      </p:cBhvr>
                                      <p:to>
                                        <p:strVal val="visible"/>
                                      </p:to>
                                    </p:set>
                                    <p:animEffect transition="in" filter="wipe(left)">
                                      <p:cBhvr>
                                        <p:cTn id="17" dur="500"/>
                                        <p:tgtEl>
                                          <p:spTgt spid="52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0" grpId="0" autoUpdateAnimBg="0"/>
      <p:bldP spid="52232" grpId="0" autoUpdateAnimBg="0"/>
      <p:bldP spid="52279"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25" name="Rectangle 5" descr="40%"/>
          <p:cNvSpPr>
            <a:spLocks noChangeArrowheads="1"/>
          </p:cNvSpPr>
          <p:nvPr/>
        </p:nvSpPr>
        <p:spPr bwMode="auto">
          <a:xfrm>
            <a:off x="5148263" y="1752600"/>
            <a:ext cx="3462337" cy="830997"/>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对节点 </a:t>
            </a:r>
            <a:r>
              <a:rPr lang="en-US" altLang="zh-CN"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p>
          <a:p>
            <a:pPr eaLnBrk="1" hangingPunct="1">
              <a:spcBef>
                <a:spcPct val="0"/>
              </a:spcBef>
              <a:buFontTx/>
              <a:buNone/>
            </a:pP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0</a:t>
            </a:r>
          </a:p>
        </p:txBody>
      </p:sp>
      <p:grpSp>
        <p:nvGrpSpPr>
          <p:cNvPr id="44035" name="Group 50"/>
          <p:cNvGrpSpPr>
            <a:grpSpLocks/>
          </p:cNvGrpSpPr>
          <p:nvPr/>
        </p:nvGrpSpPr>
        <p:grpSpPr bwMode="auto">
          <a:xfrm>
            <a:off x="0" y="609600"/>
            <a:ext cx="4779963" cy="2543175"/>
            <a:chOff x="144" y="1008"/>
            <a:chExt cx="3011" cy="1602"/>
          </a:xfrm>
        </p:grpSpPr>
        <p:graphicFrame>
          <p:nvGraphicFramePr>
            <p:cNvPr id="44042" name="Object 7"/>
            <p:cNvGraphicFramePr>
              <a:graphicFrameLocks noChangeAspect="1"/>
            </p:cNvGraphicFramePr>
            <p:nvPr/>
          </p:nvGraphicFramePr>
          <p:xfrm>
            <a:off x="3084" y="1468"/>
            <a:ext cx="71" cy="135"/>
          </p:xfrm>
          <a:graphic>
            <a:graphicData uri="http://schemas.openxmlformats.org/presentationml/2006/ole">
              <mc:AlternateContent xmlns:mc="http://schemas.openxmlformats.org/markup-compatibility/2006">
                <mc:Choice xmlns:v="urn:schemas-microsoft-com:vml" Requires="v">
                  <p:oleObj spid="_x0000_s44111" name="公式" r:id="rId3" imgW="114151" imgH="215619" progId="Equation.3">
                    <p:embed/>
                  </p:oleObj>
                </mc:Choice>
                <mc:Fallback>
                  <p:oleObj name="公式" r:id="rId3" imgW="114151" imgH="215619"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4" y="1468"/>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43" name="Rectangle 8"/>
            <p:cNvSpPr>
              <a:spLocks noChangeArrowheads="1"/>
            </p:cNvSpPr>
            <p:nvPr/>
          </p:nvSpPr>
          <p:spPr bwMode="auto">
            <a:xfrm>
              <a:off x="916" y="1008"/>
              <a:ext cx="3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44" name="Line 9"/>
            <p:cNvSpPr>
              <a:spLocks noChangeShapeType="1"/>
            </p:cNvSpPr>
            <p:nvPr/>
          </p:nvSpPr>
          <p:spPr bwMode="auto">
            <a:xfrm>
              <a:off x="931" y="1344"/>
              <a:ext cx="252"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45" name="Rectangle 10"/>
            <p:cNvSpPr>
              <a:spLocks noChangeArrowheads="1"/>
            </p:cNvSpPr>
            <p:nvPr/>
          </p:nvSpPr>
          <p:spPr bwMode="auto">
            <a:xfrm>
              <a:off x="1900" y="1027"/>
              <a:ext cx="27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46" name="Line 11"/>
            <p:cNvSpPr>
              <a:spLocks noChangeShapeType="1"/>
            </p:cNvSpPr>
            <p:nvPr/>
          </p:nvSpPr>
          <p:spPr bwMode="auto">
            <a:xfrm>
              <a:off x="1870" y="1344"/>
              <a:ext cx="253"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4047" name="Group 12"/>
            <p:cNvGrpSpPr>
              <a:grpSpLocks/>
            </p:cNvGrpSpPr>
            <p:nvPr/>
          </p:nvGrpSpPr>
          <p:grpSpPr bwMode="auto">
            <a:xfrm>
              <a:off x="1184" y="1740"/>
              <a:ext cx="257" cy="276"/>
              <a:chOff x="2304" y="1274"/>
              <a:chExt cx="322" cy="345"/>
            </a:xfrm>
          </p:grpSpPr>
          <p:sp>
            <p:nvSpPr>
              <p:cNvPr id="44078" name="Rectangle 13"/>
              <p:cNvSpPr>
                <a:spLocks noChangeArrowheads="1"/>
              </p:cNvSpPr>
              <p:nvPr/>
            </p:nvSpPr>
            <p:spPr bwMode="auto">
              <a:xfrm>
                <a:off x="2304" y="1274"/>
                <a:ext cx="3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79" name="Line 14"/>
              <p:cNvSpPr>
                <a:spLocks noChangeShapeType="1"/>
              </p:cNvSpPr>
              <p:nvPr/>
            </p:nvSpPr>
            <p:spPr bwMode="auto">
              <a:xfrm>
                <a:off x="2626" y="1275"/>
                <a:ext cx="0" cy="344"/>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4048" name="Rectangle 15"/>
            <p:cNvSpPr>
              <a:spLocks noChangeArrowheads="1"/>
            </p:cNvSpPr>
            <p:nvPr/>
          </p:nvSpPr>
          <p:spPr bwMode="auto">
            <a:xfrm>
              <a:off x="1469" y="2389"/>
              <a:ext cx="224"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Clr>
                  <a:schemeClr val="tx1"/>
                </a:buClr>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49" name="Rectangle 16"/>
            <p:cNvSpPr>
              <a:spLocks noChangeArrowheads="1"/>
            </p:cNvSpPr>
            <p:nvPr/>
          </p:nvSpPr>
          <p:spPr bwMode="auto">
            <a:xfrm>
              <a:off x="1469" y="1241"/>
              <a:ext cx="213"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Clr>
                  <a:schemeClr val="tx1"/>
                </a:buClr>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50" name="Rectangle 17"/>
            <p:cNvSpPr>
              <a:spLocks noChangeArrowheads="1"/>
            </p:cNvSpPr>
            <p:nvPr/>
          </p:nvSpPr>
          <p:spPr bwMode="auto">
            <a:xfrm>
              <a:off x="2468" y="1526"/>
              <a:ext cx="22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4051" name="Text Box 18"/>
            <p:cNvSpPr txBox="1">
              <a:spLocks noChangeArrowheads="1"/>
            </p:cNvSpPr>
            <p:nvPr/>
          </p:nvSpPr>
          <p:spPr bwMode="auto">
            <a:xfrm>
              <a:off x="869" y="1530"/>
              <a:ext cx="1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52" name="Oval 19"/>
            <p:cNvSpPr>
              <a:spLocks noChangeArrowheads="1"/>
            </p:cNvSpPr>
            <p:nvPr/>
          </p:nvSpPr>
          <p:spPr bwMode="auto">
            <a:xfrm>
              <a:off x="475" y="1776"/>
              <a:ext cx="253" cy="240"/>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53" name="Oval 20"/>
            <p:cNvSpPr>
              <a:spLocks noChangeArrowheads="1"/>
            </p:cNvSpPr>
            <p:nvPr/>
          </p:nvSpPr>
          <p:spPr bwMode="auto">
            <a:xfrm>
              <a:off x="2378" y="1753"/>
              <a:ext cx="253" cy="239"/>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54" name="Line 21"/>
            <p:cNvSpPr>
              <a:spLocks noChangeShapeType="1"/>
            </p:cNvSpPr>
            <p:nvPr/>
          </p:nvSpPr>
          <p:spPr bwMode="auto">
            <a:xfrm flipV="1">
              <a:off x="1200" y="1450"/>
              <a:ext cx="6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55" name="Line 22"/>
            <p:cNvSpPr>
              <a:spLocks noChangeShapeType="1"/>
            </p:cNvSpPr>
            <p:nvPr/>
          </p:nvSpPr>
          <p:spPr bwMode="auto">
            <a:xfrm>
              <a:off x="2507" y="1450"/>
              <a:ext cx="0" cy="88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56" name="Line 23"/>
            <p:cNvSpPr>
              <a:spLocks noChangeShapeType="1"/>
            </p:cNvSpPr>
            <p:nvPr/>
          </p:nvSpPr>
          <p:spPr bwMode="auto">
            <a:xfrm flipV="1">
              <a:off x="586" y="2334"/>
              <a:ext cx="192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57" name="Line 24"/>
            <p:cNvSpPr>
              <a:spLocks noChangeShapeType="1"/>
            </p:cNvSpPr>
            <p:nvPr/>
          </p:nvSpPr>
          <p:spPr bwMode="auto">
            <a:xfrm>
              <a:off x="610" y="1453"/>
              <a:ext cx="1" cy="1"/>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58" name="Line 25"/>
            <p:cNvSpPr>
              <a:spLocks noChangeShapeType="1"/>
            </p:cNvSpPr>
            <p:nvPr/>
          </p:nvSpPr>
          <p:spPr bwMode="auto">
            <a:xfrm>
              <a:off x="586" y="1440"/>
              <a:ext cx="0" cy="90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59" name="Rectangle 26"/>
            <p:cNvSpPr>
              <a:spLocks noChangeArrowheads="1"/>
            </p:cNvSpPr>
            <p:nvPr/>
          </p:nvSpPr>
          <p:spPr bwMode="auto">
            <a:xfrm>
              <a:off x="1393" y="1713"/>
              <a:ext cx="197"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60" name="Rectangle 27"/>
            <p:cNvSpPr>
              <a:spLocks noChangeArrowheads="1"/>
            </p:cNvSpPr>
            <p:nvPr/>
          </p:nvSpPr>
          <p:spPr bwMode="auto">
            <a:xfrm>
              <a:off x="2474" y="1949"/>
              <a:ext cx="18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4061" name="Rectangle 28"/>
            <p:cNvSpPr>
              <a:spLocks noChangeArrowheads="1"/>
            </p:cNvSpPr>
            <p:nvPr/>
          </p:nvSpPr>
          <p:spPr bwMode="auto">
            <a:xfrm>
              <a:off x="2640" y="1759"/>
              <a:ext cx="36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S2</a:t>
              </a:r>
              <a:endPar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62" name="Rectangle 29"/>
            <p:cNvSpPr>
              <a:spLocks noChangeArrowheads="1"/>
            </p:cNvSpPr>
            <p:nvPr/>
          </p:nvSpPr>
          <p:spPr bwMode="auto">
            <a:xfrm>
              <a:off x="1838" y="1512"/>
              <a:ext cx="33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63" name="Rectangle 30"/>
            <p:cNvSpPr>
              <a:spLocks noChangeArrowheads="1"/>
            </p:cNvSpPr>
            <p:nvPr/>
          </p:nvSpPr>
          <p:spPr bwMode="auto">
            <a:xfrm>
              <a:off x="394" y="1565"/>
              <a:ext cx="1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4064" name="Rectangle 31"/>
            <p:cNvSpPr>
              <a:spLocks noChangeArrowheads="1"/>
            </p:cNvSpPr>
            <p:nvPr/>
          </p:nvSpPr>
          <p:spPr bwMode="auto">
            <a:xfrm>
              <a:off x="392" y="1713"/>
              <a:ext cx="18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65" name="Rectangle 32"/>
            <p:cNvSpPr>
              <a:spLocks noChangeArrowheads="1"/>
            </p:cNvSpPr>
            <p:nvPr/>
          </p:nvSpPr>
          <p:spPr bwMode="auto">
            <a:xfrm>
              <a:off x="408" y="1949"/>
              <a:ext cx="1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44066" name="Oval 33"/>
            <p:cNvSpPr>
              <a:spLocks noChangeArrowheads="1"/>
            </p:cNvSpPr>
            <p:nvPr/>
          </p:nvSpPr>
          <p:spPr bwMode="auto">
            <a:xfrm flipV="1">
              <a:off x="1530" y="1411"/>
              <a:ext cx="55" cy="55"/>
            </a:xfrm>
            <a:prstGeom prst="ellipse">
              <a:avLst/>
            </a:prstGeom>
            <a:solidFill>
              <a:schemeClr val="tx1"/>
            </a:solidFill>
            <a:ln>
              <a:noFill/>
            </a:ln>
            <a:effectLst/>
            <a:extLst>
              <a:ext uri="{91240B29-F687-4F45-9708-019B960494DF}">
                <a14:hiddenLine xmlns:a14="http://schemas.microsoft.com/office/drawing/2010/main" w="9525">
                  <a:solidFill>
                    <a:schemeClr val="accent2"/>
                  </a:solidFill>
                  <a:round/>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67" name="Oval 34"/>
            <p:cNvSpPr>
              <a:spLocks noChangeArrowheads="1"/>
            </p:cNvSpPr>
            <p:nvPr/>
          </p:nvSpPr>
          <p:spPr bwMode="auto">
            <a:xfrm flipV="1">
              <a:off x="1537" y="2295"/>
              <a:ext cx="56" cy="55"/>
            </a:xfrm>
            <a:prstGeom prst="ellipse">
              <a:avLst/>
            </a:prstGeom>
            <a:solidFill>
              <a:schemeClr val="tx1"/>
            </a:solidFill>
            <a:ln>
              <a:noFill/>
            </a:ln>
            <a:effectLst/>
            <a:extLst>
              <a:ext uri="{91240B29-F687-4F45-9708-019B960494DF}">
                <a14:hiddenLine xmlns:a14="http://schemas.microsoft.com/office/drawing/2010/main" w="9525">
                  <a:solidFill>
                    <a:schemeClr val="accent2"/>
                  </a:solidFill>
                  <a:round/>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68" name="Rectangle 35"/>
            <p:cNvSpPr>
              <a:spLocks noChangeArrowheads="1"/>
            </p:cNvSpPr>
            <p:nvPr/>
          </p:nvSpPr>
          <p:spPr bwMode="auto">
            <a:xfrm rot="5400000">
              <a:off x="1948" y="1336"/>
              <a:ext cx="113" cy="23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66CC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69" name="Rectangle 36"/>
            <p:cNvSpPr>
              <a:spLocks noChangeArrowheads="1"/>
            </p:cNvSpPr>
            <p:nvPr/>
          </p:nvSpPr>
          <p:spPr bwMode="auto">
            <a:xfrm rot="5400000">
              <a:off x="1011" y="1336"/>
              <a:ext cx="112" cy="24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66CC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70" name="Rectangle 37"/>
            <p:cNvSpPr>
              <a:spLocks noChangeArrowheads="1"/>
            </p:cNvSpPr>
            <p:nvPr/>
          </p:nvSpPr>
          <p:spPr bwMode="auto">
            <a:xfrm>
              <a:off x="1626" y="1776"/>
              <a:ext cx="19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71" name="Rectangle 38"/>
            <p:cNvSpPr>
              <a:spLocks noChangeArrowheads="1"/>
            </p:cNvSpPr>
            <p:nvPr/>
          </p:nvSpPr>
          <p:spPr bwMode="auto">
            <a:xfrm>
              <a:off x="874" y="1530"/>
              <a:ext cx="41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72" name="Line 39"/>
            <p:cNvSpPr>
              <a:spLocks noChangeShapeType="1"/>
            </p:cNvSpPr>
            <p:nvPr/>
          </p:nvSpPr>
          <p:spPr bwMode="auto">
            <a:xfrm flipH="1">
              <a:off x="1555" y="1453"/>
              <a:ext cx="0" cy="30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73" name="Rectangle 40"/>
            <p:cNvSpPr>
              <a:spLocks noChangeArrowheads="1"/>
            </p:cNvSpPr>
            <p:nvPr/>
          </p:nvSpPr>
          <p:spPr bwMode="auto">
            <a:xfrm>
              <a:off x="1498" y="1753"/>
              <a:ext cx="113" cy="23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66CC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74" name="Rectangle 41"/>
            <p:cNvSpPr>
              <a:spLocks noChangeArrowheads="1"/>
            </p:cNvSpPr>
            <p:nvPr/>
          </p:nvSpPr>
          <p:spPr bwMode="auto">
            <a:xfrm>
              <a:off x="144" y="1776"/>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S1</a:t>
              </a:r>
            </a:p>
          </p:txBody>
        </p:sp>
        <p:sp>
          <p:nvSpPr>
            <p:cNvPr id="44075" name="Line 42"/>
            <p:cNvSpPr>
              <a:spLocks noChangeShapeType="1"/>
            </p:cNvSpPr>
            <p:nvPr/>
          </p:nvSpPr>
          <p:spPr bwMode="auto">
            <a:xfrm>
              <a:off x="1555" y="1988"/>
              <a:ext cx="0" cy="34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76" name="Line 43"/>
            <p:cNvSpPr>
              <a:spLocks noChangeShapeType="1"/>
            </p:cNvSpPr>
            <p:nvPr/>
          </p:nvSpPr>
          <p:spPr bwMode="auto">
            <a:xfrm>
              <a:off x="2122" y="1450"/>
              <a:ext cx="385"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4077" name="Line 44"/>
            <p:cNvSpPr>
              <a:spLocks noChangeShapeType="1"/>
            </p:cNvSpPr>
            <p:nvPr/>
          </p:nvSpPr>
          <p:spPr bwMode="auto">
            <a:xfrm>
              <a:off x="586" y="1450"/>
              <a:ext cx="363"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33165" name="Rectangle 45"/>
          <p:cNvSpPr>
            <a:spLocks noChangeArrowheads="1"/>
          </p:cNvSpPr>
          <p:nvPr/>
        </p:nvSpPr>
        <p:spPr bwMode="auto">
          <a:xfrm>
            <a:off x="4724400" y="531813"/>
            <a:ext cx="3886200"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a:spAutoFit/>
          </a:bodyPr>
          <a:lstStyle/>
          <a:p>
            <a:pPr eaLnBrk="1" hangingPunct="1">
              <a:lnSpc>
                <a:spcPct val="110000"/>
              </a:lnSpc>
              <a:spcBef>
                <a:spcPct val="25000"/>
              </a:spcBef>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基尔霍夫电流定律还可以表述为：</a:t>
            </a:r>
            <a:r>
              <a:rPr kumimoji="1" lang="zh-CN" altLang="en-US"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流入</a:t>
            </a:r>
            <a:r>
              <a:rPr kumimoji="1" lang="zh-CN" altLang="en-US"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任一节点的电流的代数和等于零。</a:t>
            </a:r>
          </a:p>
        </p:txBody>
      </p:sp>
      <p:sp>
        <p:nvSpPr>
          <p:cNvPr id="133166" name="Rectangle 46"/>
          <p:cNvSpPr>
            <a:spLocks noChangeArrowheads="1"/>
          </p:cNvSpPr>
          <p:nvPr/>
        </p:nvSpPr>
        <p:spPr bwMode="auto">
          <a:xfrm>
            <a:off x="914400" y="3505200"/>
            <a:ext cx="7010400"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a:spAutoFit/>
          </a:bodyPr>
          <a:lstStyle/>
          <a:p>
            <a:pPr eaLnBrk="1" hangingPunct="1">
              <a:lnSpc>
                <a:spcPct val="110000"/>
              </a:lnSpc>
              <a:spcBef>
                <a:spcPct val="25000"/>
              </a:spcBef>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基尔霍夫电流定律还可以表述为：</a:t>
            </a:r>
            <a:r>
              <a:rPr kumimoji="1" lang="zh-CN" altLang="en-US"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流入任一节点的电流之和等于流出该节点的电流之和。</a:t>
            </a:r>
          </a:p>
        </p:txBody>
      </p:sp>
      <p:sp>
        <p:nvSpPr>
          <p:cNvPr id="133167" name="Rectangle 47" descr="40%"/>
          <p:cNvSpPr>
            <a:spLocks noChangeArrowheads="1"/>
          </p:cNvSpPr>
          <p:nvPr/>
        </p:nvSpPr>
        <p:spPr bwMode="auto">
          <a:xfrm>
            <a:off x="2590800" y="4495800"/>
            <a:ext cx="2818400" cy="461665"/>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对节点 </a:t>
            </a:r>
            <a:r>
              <a:rPr lang="en-US" altLang="zh-CN"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133169" name="Rectangle 49" descr="40%"/>
          <p:cNvSpPr>
            <a:spLocks noChangeArrowheads="1"/>
          </p:cNvSpPr>
          <p:nvPr/>
        </p:nvSpPr>
        <p:spPr bwMode="auto">
          <a:xfrm>
            <a:off x="5219700" y="2590800"/>
            <a:ext cx="3543300" cy="830997"/>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对节点 </a:t>
            </a:r>
            <a:r>
              <a:rPr lang="en-US" altLang="zh-CN"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p>
          <a:p>
            <a:pPr eaLnBrk="1" hangingPunct="1">
              <a:spcBef>
                <a:spcPct val="0"/>
              </a:spcBef>
              <a:buFontTx/>
              <a:buNone/>
            </a:pP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0</a:t>
            </a:r>
          </a:p>
        </p:txBody>
      </p:sp>
      <p:sp>
        <p:nvSpPr>
          <p:cNvPr id="133171" name="Rectangle 51" descr="40%"/>
          <p:cNvSpPr>
            <a:spLocks noChangeArrowheads="1"/>
          </p:cNvSpPr>
          <p:nvPr/>
        </p:nvSpPr>
        <p:spPr bwMode="auto">
          <a:xfrm>
            <a:off x="2514600" y="5105400"/>
            <a:ext cx="3209925" cy="457200"/>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对节点 </a:t>
            </a:r>
            <a:r>
              <a:rPr lang="en-US" altLang="zh-CN"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3172" name="Text Box 52"/>
          <p:cNvSpPr txBox="1">
            <a:spLocks noChangeArrowheads="1"/>
          </p:cNvSpPr>
          <p:nvPr/>
        </p:nvSpPr>
        <p:spPr bwMode="auto">
          <a:xfrm>
            <a:off x="1219200" y="5791200"/>
            <a:ext cx="693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从各个表达式可以看出这几种表述方式是一致的。</a:t>
            </a:r>
          </a:p>
        </p:txBody>
      </p:sp>
      <p:sp>
        <p:nvSpPr>
          <p:cNvPr id="2" name="灯片编号占位符 1"/>
          <p:cNvSpPr>
            <a:spLocks noGrp="1"/>
          </p:cNvSpPr>
          <p:nvPr>
            <p:ph type="sldNum" sz="quarter" idx="12"/>
          </p:nvPr>
        </p:nvSpPr>
        <p:spPr/>
        <p:txBody>
          <a:bodyPr/>
          <a:lstStyle/>
          <a:p>
            <a:pPr>
              <a:defRPr/>
            </a:pPr>
            <a:fld id="{7F6DAC6E-051E-43BF-A607-F6F4F9E2F096}" type="slidenum">
              <a:rPr lang="en-US" altLang="zh-CN" smtClean="0"/>
              <a:pPr>
                <a:defRPr/>
              </a:pPr>
              <a:t>37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65"/>
                                        </p:tgtEl>
                                        <p:attrNameLst>
                                          <p:attrName>style.visibility</p:attrName>
                                        </p:attrNameLst>
                                      </p:cBhvr>
                                      <p:to>
                                        <p:strVal val="visible"/>
                                      </p:to>
                                    </p:set>
                                    <p:animEffect transition="in" filter="wipe(left)">
                                      <p:cBhvr>
                                        <p:cTn id="7" dur="500"/>
                                        <p:tgtEl>
                                          <p:spTgt spid="1331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25"/>
                                        </p:tgtEl>
                                        <p:attrNameLst>
                                          <p:attrName>style.visibility</p:attrName>
                                        </p:attrNameLst>
                                      </p:cBhvr>
                                      <p:to>
                                        <p:strVal val="visible"/>
                                      </p:to>
                                    </p:set>
                                    <p:animEffect transition="in" filter="wipe(left)">
                                      <p:cBhvr>
                                        <p:cTn id="12" dur="500"/>
                                        <p:tgtEl>
                                          <p:spTgt spid="1331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169"/>
                                        </p:tgtEl>
                                        <p:attrNameLst>
                                          <p:attrName>style.visibility</p:attrName>
                                        </p:attrNameLst>
                                      </p:cBhvr>
                                      <p:to>
                                        <p:strVal val="visible"/>
                                      </p:to>
                                    </p:set>
                                    <p:animEffect transition="in" filter="wipe(left)">
                                      <p:cBhvr>
                                        <p:cTn id="17" dur="500"/>
                                        <p:tgtEl>
                                          <p:spTgt spid="1331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3166"/>
                                        </p:tgtEl>
                                        <p:attrNameLst>
                                          <p:attrName>style.visibility</p:attrName>
                                        </p:attrNameLst>
                                      </p:cBhvr>
                                      <p:to>
                                        <p:strVal val="visible"/>
                                      </p:to>
                                    </p:set>
                                    <p:animEffect transition="in" filter="wipe(left)">
                                      <p:cBhvr>
                                        <p:cTn id="22" dur="500"/>
                                        <p:tgtEl>
                                          <p:spTgt spid="1331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3167"/>
                                        </p:tgtEl>
                                        <p:attrNameLst>
                                          <p:attrName>style.visibility</p:attrName>
                                        </p:attrNameLst>
                                      </p:cBhvr>
                                      <p:to>
                                        <p:strVal val="visible"/>
                                      </p:to>
                                    </p:set>
                                    <p:animEffect transition="in" filter="wipe(left)">
                                      <p:cBhvr>
                                        <p:cTn id="27" dur="500"/>
                                        <p:tgtEl>
                                          <p:spTgt spid="13316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3171"/>
                                        </p:tgtEl>
                                        <p:attrNameLst>
                                          <p:attrName>style.visibility</p:attrName>
                                        </p:attrNameLst>
                                      </p:cBhvr>
                                      <p:to>
                                        <p:strVal val="visible"/>
                                      </p:to>
                                    </p:set>
                                    <p:animEffect transition="in" filter="wipe(left)">
                                      <p:cBhvr>
                                        <p:cTn id="32" dur="500"/>
                                        <p:tgtEl>
                                          <p:spTgt spid="1331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33172"/>
                                        </p:tgtEl>
                                        <p:attrNameLst>
                                          <p:attrName>style.visibility</p:attrName>
                                        </p:attrNameLst>
                                      </p:cBhvr>
                                      <p:to>
                                        <p:strVal val="visible"/>
                                      </p:to>
                                    </p:set>
                                    <p:animEffect transition="in" filter="box(in)">
                                      <p:cBhvr>
                                        <p:cTn id="37" dur="500"/>
                                        <p:tgtEl>
                                          <p:spTgt spid="13317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8" presetClass="entr" presetSubtype="16" fill="hold" grpId="1" nodeType="clickEffect">
                                  <p:stCondLst>
                                    <p:cond delay="0"/>
                                  </p:stCondLst>
                                  <p:childTnLst>
                                    <p:set>
                                      <p:cBhvr>
                                        <p:cTn id="41" dur="1" fill="hold">
                                          <p:stCondLst>
                                            <p:cond delay="0"/>
                                          </p:stCondLst>
                                        </p:cTn>
                                        <p:tgtEl>
                                          <p:spTgt spid="133172"/>
                                        </p:tgtEl>
                                        <p:attrNameLst>
                                          <p:attrName>style.visibility</p:attrName>
                                        </p:attrNameLst>
                                      </p:cBhvr>
                                      <p:to>
                                        <p:strVal val="visible"/>
                                      </p:to>
                                    </p:set>
                                    <p:animEffect transition="in" filter="diamond(in)">
                                      <p:cBhvr>
                                        <p:cTn id="42" dur="2000"/>
                                        <p:tgtEl>
                                          <p:spTgt spid="133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5" grpId="0" autoUpdateAnimBg="0"/>
      <p:bldP spid="133165" grpId="0" autoUpdateAnimBg="0"/>
      <p:bldP spid="133166" grpId="0" autoUpdateAnimBg="0"/>
      <p:bldP spid="133167" grpId="0" autoUpdateAnimBg="0"/>
      <p:bldP spid="133169" grpId="0" autoUpdateAnimBg="0"/>
      <p:bldP spid="133171" grpId="0" autoUpdateAnimBg="0"/>
      <p:bldP spid="133172" grpId="0"/>
      <p:bldP spid="133172" grpId="1"/>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3" name="Rectangle 5"/>
          <p:cNvSpPr>
            <a:spLocks noChangeArrowheads="1"/>
          </p:cNvSpPr>
          <p:nvPr/>
        </p:nvSpPr>
        <p:spPr bwMode="auto">
          <a:xfrm>
            <a:off x="609600" y="609600"/>
            <a:ext cx="7772400"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25000"/>
              </a:spcBef>
              <a:buFontTx/>
              <a:buNone/>
            </a:pPr>
            <a:r>
              <a:rPr kumimoji="1" lang="en-US" altLang="zh-CN"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基尔霍夫电流定律可以</a:t>
            </a:r>
            <a:r>
              <a:rPr kumimoji="1" lang="zh-CN" altLang="en-US" sz="2400" b="1" dirty="0" smtClean="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推广应用</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在</a:t>
            </a:r>
            <a:r>
              <a:rPr kumimoji="1" lang="zh-CN" altLang="en-US" sz="2400" b="1" dirty="0" smtClean="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包围</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部分电路的任一假设的闭合面。这个假设的闭合面称为广义节点。</a:t>
            </a:r>
          </a:p>
        </p:txBody>
      </p:sp>
      <p:sp>
        <p:nvSpPr>
          <p:cNvPr id="53346" name="Rectangle 98"/>
          <p:cNvSpPr>
            <a:spLocks noChangeArrowheads="1"/>
          </p:cNvSpPr>
          <p:nvPr/>
        </p:nvSpPr>
        <p:spPr bwMode="auto">
          <a:xfrm>
            <a:off x="6372225" y="1989138"/>
            <a:ext cx="2438400" cy="372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82E1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8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对图</a:t>
            </a:r>
            <a:r>
              <a:rPr kumimoji="1" lang="en-US" altLang="zh-CN" sz="28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(a)</a:t>
            </a:r>
            <a:r>
              <a:rPr kumimoji="1" lang="zh-CN" altLang="en-US" sz="28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有</a:t>
            </a:r>
          </a:p>
          <a:p>
            <a:pPr eaLnBrk="1" hangingPunct="1">
              <a:spcBef>
                <a:spcPct val="50000"/>
              </a:spcBef>
              <a:buFontTx/>
              <a:buNone/>
            </a:pPr>
            <a:r>
              <a:rPr kumimoji="1" lang="zh-CN" altLang="en-US" sz="28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i="1">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300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8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i="1">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300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 - </a:t>
            </a:r>
            <a:r>
              <a:rPr kumimoji="1" lang="en-US" altLang="zh-CN" sz="2400" i="1">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300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 = 0</a:t>
            </a:r>
            <a:r>
              <a:rPr kumimoji="1" lang="zh-CN" altLang="en-US" sz="24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spcBef>
                <a:spcPct val="50000"/>
              </a:spcBef>
              <a:buFontTx/>
              <a:buNone/>
            </a:pPr>
            <a:r>
              <a:rPr kumimoji="1" lang="zh-CN" altLang="en-US" sz="28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对图</a:t>
            </a:r>
            <a:r>
              <a:rPr kumimoji="1" lang="en-US" altLang="zh-CN" sz="28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(b)</a:t>
            </a:r>
            <a:r>
              <a:rPr kumimoji="1" lang="zh-CN" altLang="en-US" sz="28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有 </a:t>
            </a:r>
          </a:p>
          <a:p>
            <a:pPr eaLnBrk="1" hangingPunct="1">
              <a:spcBef>
                <a:spcPct val="50000"/>
              </a:spcBef>
              <a:buFontTx/>
              <a:buNone/>
            </a:pPr>
            <a:r>
              <a:rPr kumimoji="1" lang="zh-CN" altLang="en-US" sz="28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i="1">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i </a:t>
            </a:r>
            <a:r>
              <a:rPr kumimoji="1" lang="en-US" altLang="zh-CN" sz="24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 0</a:t>
            </a:r>
            <a:r>
              <a:rPr kumimoji="1" lang="zh-CN" altLang="en-US" sz="24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spcBef>
                <a:spcPct val="50000"/>
              </a:spcBef>
              <a:buFontTx/>
              <a:buNone/>
            </a:pPr>
            <a:r>
              <a:rPr kumimoji="1" lang="zh-CN" altLang="en-US" sz="28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对图</a:t>
            </a:r>
            <a:r>
              <a:rPr kumimoji="1" lang="en-US" altLang="zh-CN" sz="28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(c)</a:t>
            </a:r>
            <a:r>
              <a:rPr kumimoji="1" lang="zh-CN" altLang="en-US" sz="28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有 </a:t>
            </a:r>
          </a:p>
          <a:p>
            <a:pPr eaLnBrk="1" hangingPunct="1">
              <a:spcBef>
                <a:spcPct val="50000"/>
              </a:spcBef>
              <a:buFontTx/>
              <a:buNone/>
            </a:pPr>
            <a:r>
              <a:rPr kumimoji="1" lang="zh-CN" altLang="en-US" sz="28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i="1">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300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i="1">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i="1">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aseline="-300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2  </a:t>
            </a:r>
            <a:r>
              <a:rPr kumimoji="1" lang="zh-CN" altLang="en-US" sz="2400">
                <a:solidFill>
                  <a:srgbClr val="020202"/>
                </a:solidFill>
                <a:latin typeface="Times New Roman" panose="02020603050405020304" pitchFamily="18" charset="0"/>
                <a:ea typeface="华文中宋" panose="02010600040101010101" pitchFamily="2" charset="-122"/>
                <a:cs typeface="Times New Roman" panose="02020603050405020304" pitchFamily="18" charset="0"/>
              </a:rPr>
              <a:t>。</a:t>
            </a:r>
          </a:p>
        </p:txBody>
      </p:sp>
      <p:graphicFrame>
        <p:nvGraphicFramePr>
          <p:cNvPr id="53347" name="Object 99"/>
          <p:cNvGraphicFramePr>
            <a:graphicFrameLocks noGrp="1" noChangeAspect="1"/>
          </p:cNvGraphicFramePr>
          <p:nvPr>
            <p:ph/>
            <p:extLst>
              <p:ext uri="{D42A27DB-BD31-4B8C-83A1-F6EECF244321}">
                <p14:modId xmlns:p14="http://schemas.microsoft.com/office/powerpoint/2010/main" val="462373673"/>
              </p:ext>
            </p:extLst>
          </p:nvPr>
        </p:nvGraphicFramePr>
        <p:xfrm>
          <a:off x="0" y="1989138"/>
          <a:ext cx="6210300" cy="3508375"/>
        </p:xfrm>
        <a:graphic>
          <a:graphicData uri="http://schemas.openxmlformats.org/presentationml/2006/ole">
            <mc:AlternateContent xmlns:mc="http://schemas.openxmlformats.org/markup-compatibility/2006">
              <mc:Choice xmlns:v="urn:schemas-microsoft-com:vml" Requires="v">
                <p:oleObj spid="_x0000_s45091" name="VISIO" r:id="rId3" imgW="6210300" imgH="3220212" progId="Visio.Drawing.5">
                  <p:embed/>
                </p:oleObj>
              </mc:Choice>
              <mc:Fallback>
                <p:oleObj name="VISIO" r:id="rId3" imgW="6210300" imgH="3220212" progId="Visio.Drawing.5">
                  <p:embed/>
                  <p:pic>
                    <p:nvPicPr>
                      <p:cNvPr id="0" name="Object 9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989138"/>
                        <a:ext cx="62103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pPr>
              <a:defRPr/>
            </a:pPr>
            <a:fld id="{57329A17-1EC1-483A-A006-6F2782D3D5E6}" type="slidenum">
              <a:rPr lang="en-US" altLang="zh-CN" smtClean="0"/>
              <a:pPr>
                <a:defRPr/>
              </a:pPr>
              <a:t>38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3"/>
                                        </p:tgtEl>
                                        <p:attrNameLst>
                                          <p:attrName>style.visibility</p:attrName>
                                        </p:attrNameLst>
                                      </p:cBhvr>
                                      <p:to>
                                        <p:strVal val="visible"/>
                                      </p:to>
                                    </p:set>
                                    <p:animEffect transition="in" filter="wipe(left)">
                                      <p:cBhvr>
                                        <p:cTn id="7" dur="500"/>
                                        <p:tgtEl>
                                          <p:spTgt spid="532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53347"/>
                                        </p:tgtEl>
                                        <p:attrNameLst>
                                          <p:attrName>style.visibility</p:attrName>
                                        </p:attrNameLst>
                                      </p:cBhvr>
                                      <p:to>
                                        <p:strVal val="visible"/>
                                      </p:to>
                                    </p:set>
                                    <p:anim calcmode="lin" valueType="num">
                                      <p:cBhvr additive="base">
                                        <p:cTn id="12" dur="500" fill="hold"/>
                                        <p:tgtEl>
                                          <p:spTgt spid="53347"/>
                                        </p:tgtEl>
                                        <p:attrNameLst>
                                          <p:attrName>ppt_x</p:attrName>
                                        </p:attrNameLst>
                                      </p:cBhvr>
                                      <p:tavLst>
                                        <p:tav tm="0">
                                          <p:val>
                                            <p:strVal val="1+#ppt_w/2"/>
                                          </p:val>
                                        </p:tav>
                                        <p:tav tm="100000">
                                          <p:val>
                                            <p:strVal val="#ppt_x"/>
                                          </p:val>
                                        </p:tav>
                                      </p:tavLst>
                                    </p:anim>
                                    <p:anim calcmode="lin" valueType="num">
                                      <p:cBhvr additive="base">
                                        <p:cTn id="13" dur="500" fill="hold"/>
                                        <p:tgtEl>
                                          <p:spTgt spid="53347"/>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3346"/>
                                        </p:tgtEl>
                                        <p:attrNameLst>
                                          <p:attrName>style.visibility</p:attrName>
                                        </p:attrNameLst>
                                      </p:cBhvr>
                                      <p:to>
                                        <p:strVal val="visible"/>
                                      </p:to>
                                    </p:set>
                                    <p:anim calcmode="lin" valueType="num">
                                      <p:cBhvr additive="base">
                                        <p:cTn id="18" dur="500" fill="hold"/>
                                        <p:tgtEl>
                                          <p:spTgt spid="53346"/>
                                        </p:tgtEl>
                                        <p:attrNameLst>
                                          <p:attrName>ppt_x</p:attrName>
                                        </p:attrNameLst>
                                      </p:cBhvr>
                                      <p:tavLst>
                                        <p:tav tm="0">
                                          <p:val>
                                            <p:strVal val="0-#ppt_w/2"/>
                                          </p:val>
                                        </p:tav>
                                        <p:tav tm="100000">
                                          <p:val>
                                            <p:strVal val="#ppt_x"/>
                                          </p:val>
                                        </p:tav>
                                      </p:tavLst>
                                    </p:anim>
                                    <p:anim calcmode="lin" valueType="num">
                                      <p:cBhvr additive="base">
                                        <p:cTn id="19" dur="500" fill="hold"/>
                                        <p:tgtEl>
                                          <p:spTgt spid="533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autoUpdateAnimBg="0"/>
      <p:bldP spid="53346"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5" name="Rectangle 5" descr="40%"/>
          <p:cNvSpPr>
            <a:spLocks noChangeArrowheads="1"/>
          </p:cNvSpPr>
          <p:nvPr/>
        </p:nvSpPr>
        <p:spPr bwMode="auto">
          <a:xfrm>
            <a:off x="4724400" y="914400"/>
            <a:ext cx="2514600" cy="457200"/>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对节点</a:t>
            </a:r>
            <a:r>
              <a:rPr kumimoji="1" lang="en-US" altLang="zh-CN"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a</a:t>
            </a: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6330" name="Rectangle 10" descr="40%"/>
          <p:cNvSpPr>
            <a:spLocks noChangeArrowheads="1"/>
          </p:cNvSpPr>
          <p:nvPr/>
        </p:nvSpPr>
        <p:spPr bwMode="auto">
          <a:xfrm>
            <a:off x="4800600" y="1371600"/>
            <a:ext cx="3886200" cy="519113"/>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1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6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 0</a:t>
            </a:r>
          </a:p>
        </p:txBody>
      </p:sp>
      <p:sp>
        <p:nvSpPr>
          <p:cNvPr id="56331" name="Rectangle 11" descr="40%"/>
          <p:cNvSpPr>
            <a:spLocks noChangeArrowheads="1"/>
          </p:cNvSpPr>
          <p:nvPr/>
        </p:nvSpPr>
        <p:spPr bwMode="auto">
          <a:xfrm>
            <a:off x="4800600" y="2362200"/>
            <a:ext cx="2667000" cy="523220"/>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4</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6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 0</a:t>
            </a:r>
          </a:p>
        </p:txBody>
      </p:sp>
      <p:sp>
        <p:nvSpPr>
          <p:cNvPr id="56332" name="Rectangle 12" descr="40%"/>
          <p:cNvSpPr>
            <a:spLocks noChangeArrowheads="1"/>
          </p:cNvSpPr>
          <p:nvPr/>
        </p:nvSpPr>
        <p:spPr bwMode="auto">
          <a:xfrm>
            <a:off x="4800600" y="3276600"/>
            <a:ext cx="3429000" cy="519113"/>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2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4</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 0</a:t>
            </a:r>
          </a:p>
        </p:txBody>
      </p:sp>
      <p:sp>
        <p:nvSpPr>
          <p:cNvPr id="56334" name="Rectangle 14" descr="40%"/>
          <p:cNvSpPr>
            <a:spLocks noChangeArrowheads="1"/>
          </p:cNvSpPr>
          <p:nvPr/>
        </p:nvSpPr>
        <p:spPr bwMode="auto">
          <a:xfrm>
            <a:off x="4953000" y="4267200"/>
            <a:ext cx="2514600" cy="523220"/>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3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i="1" baseline="-25000">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 0</a:t>
            </a:r>
          </a:p>
        </p:txBody>
      </p:sp>
      <p:sp>
        <p:nvSpPr>
          <p:cNvPr id="46087" name="Rectangle 15"/>
          <p:cNvSpPr>
            <a:spLocks noChangeArrowheads="1"/>
          </p:cNvSpPr>
          <p:nvPr/>
        </p:nvSpPr>
        <p:spPr bwMode="auto">
          <a:xfrm>
            <a:off x="4876800" y="395288"/>
            <a:ext cx="37338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应用 </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I</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 0 </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列方程</a:t>
            </a:r>
          </a:p>
        </p:txBody>
      </p:sp>
      <p:sp>
        <p:nvSpPr>
          <p:cNvPr id="56322" name="Rectangle 2"/>
          <p:cNvSpPr>
            <a:spLocks noChangeArrowheads="1"/>
          </p:cNvSpPr>
          <p:nvPr/>
        </p:nvSpPr>
        <p:spPr bwMode="auto">
          <a:xfrm>
            <a:off x="3779838" y="333375"/>
            <a:ext cx="1487487" cy="7413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hangingPunct="1">
              <a:lnSpc>
                <a:spcPct val="70000"/>
              </a:lnSpc>
              <a:defRPr/>
            </a:pPr>
            <a:r>
              <a:rPr lang="en-US" altLang="zh-CN" sz="2800" b="1"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800" b="1"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800" b="1"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800" b="1" baseline="-25000"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93" name="Rectangle 73" descr="40%"/>
          <p:cNvSpPr>
            <a:spLocks noChangeArrowheads="1"/>
          </p:cNvSpPr>
          <p:nvPr/>
        </p:nvSpPr>
        <p:spPr bwMode="auto">
          <a:xfrm>
            <a:off x="4876800" y="1905000"/>
            <a:ext cx="2514600" cy="457200"/>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对节点</a:t>
            </a:r>
            <a:r>
              <a:rPr kumimoji="1" lang="en-US" altLang="zh-CN"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b</a:t>
            </a: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6394" name="Rectangle 74" descr="40%"/>
          <p:cNvSpPr>
            <a:spLocks noChangeArrowheads="1"/>
          </p:cNvSpPr>
          <p:nvPr/>
        </p:nvSpPr>
        <p:spPr bwMode="auto">
          <a:xfrm>
            <a:off x="4953000" y="2819400"/>
            <a:ext cx="2514600" cy="457200"/>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对节点</a:t>
            </a:r>
            <a:r>
              <a:rPr kumimoji="1" lang="en-US" altLang="zh-CN"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c</a:t>
            </a: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6395" name="Rectangle 75" descr="40%"/>
          <p:cNvSpPr>
            <a:spLocks noChangeArrowheads="1"/>
          </p:cNvSpPr>
          <p:nvPr/>
        </p:nvSpPr>
        <p:spPr bwMode="auto">
          <a:xfrm>
            <a:off x="4876800" y="3810000"/>
            <a:ext cx="2514600" cy="457200"/>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对节点</a:t>
            </a:r>
            <a:r>
              <a:rPr kumimoji="1" lang="en-US" altLang="zh-CN"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d</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6399" name="Text Box 79"/>
          <p:cNvSpPr txBox="1">
            <a:spLocks noChangeArrowheads="1"/>
          </p:cNvSpPr>
          <p:nvPr/>
        </p:nvSpPr>
        <p:spPr bwMode="auto">
          <a:xfrm>
            <a:off x="457200" y="4876800"/>
            <a:ext cx="8229600" cy="16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说明：</a:t>
            </a:r>
            <a:r>
              <a:rPr lang="zh-CN" altLang="en-US" sz="2400" b="1"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为了保证每个方程都是独立的</a:t>
            </a:r>
            <a:r>
              <a:rPr lang="zh-CN" altLang="en-US" sz="2400" b="1"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，需要列出</a:t>
            </a:r>
            <a:r>
              <a:rPr lang="zh-CN" altLang="en-US" sz="2400" b="1"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的每个方程都有新的支路电流。</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这个例子中节点</a:t>
            </a:r>
            <a:r>
              <a:rPr kumimoji="1" lang="en-US" altLang="zh-CN" sz="2800" b="1" dirty="0">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d</a:t>
            </a:r>
            <a:r>
              <a:rPr kumimoji="1"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用到的三个支路电流前三个方程中都用到了，这个方程不是独立的。就是说，这个方程可以由前三个方程得到。</a:t>
            </a:r>
          </a:p>
        </p:txBody>
      </p:sp>
      <p:grpSp>
        <p:nvGrpSpPr>
          <p:cNvPr id="46093" name="Group 82"/>
          <p:cNvGrpSpPr>
            <a:grpSpLocks/>
          </p:cNvGrpSpPr>
          <p:nvPr/>
        </p:nvGrpSpPr>
        <p:grpSpPr bwMode="auto">
          <a:xfrm>
            <a:off x="455613" y="381000"/>
            <a:ext cx="3684588" cy="4271963"/>
            <a:chOff x="287" y="240"/>
            <a:chExt cx="2321" cy="2691"/>
          </a:xfrm>
        </p:grpSpPr>
        <p:sp>
          <p:nvSpPr>
            <p:cNvPr id="46094" name="Text Box 20"/>
            <p:cNvSpPr txBox="1">
              <a:spLocks noChangeArrowheads="1"/>
            </p:cNvSpPr>
            <p:nvPr/>
          </p:nvSpPr>
          <p:spPr bwMode="auto">
            <a:xfrm>
              <a:off x="1344" y="240"/>
              <a:ext cx="22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46095" name="Rectangle 8"/>
            <p:cNvSpPr>
              <a:spLocks noChangeArrowheads="1"/>
            </p:cNvSpPr>
            <p:nvPr/>
          </p:nvSpPr>
          <p:spPr bwMode="auto">
            <a:xfrm>
              <a:off x="1179" y="1479"/>
              <a:ext cx="31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6</a:t>
              </a:r>
            </a:p>
          </p:txBody>
        </p:sp>
        <p:sp>
          <p:nvSpPr>
            <p:cNvPr id="46096" name="Text Box 21"/>
            <p:cNvSpPr txBox="1">
              <a:spLocks noChangeArrowheads="1"/>
            </p:cNvSpPr>
            <p:nvPr/>
          </p:nvSpPr>
          <p:spPr bwMode="auto">
            <a:xfrm>
              <a:off x="287" y="1358"/>
              <a:ext cx="22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d</a:t>
              </a:r>
            </a:p>
          </p:txBody>
        </p:sp>
        <p:sp>
          <p:nvSpPr>
            <p:cNvPr id="46097" name="Text Box 22"/>
            <p:cNvSpPr txBox="1">
              <a:spLocks noChangeArrowheads="1"/>
            </p:cNvSpPr>
            <p:nvPr/>
          </p:nvSpPr>
          <p:spPr bwMode="auto">
            <a:xfrm>
              <a:off x="1479" y="2107"/>
              <a:ext cx="22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46098" name="Text Box 23"/>
            <p:cNvSpPr txBox="1">
              <a:spLocks noChangeArrowheads="1"/>
            </p:cNvSpPr>
            <p:nvPr/>
          </p:nvSpPr>
          <p:spPr bwMode="auto">
            <a:xfrm>
              <a:off x="2406" y="1290"/>
              <a:ext cx="20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c</a:t>
              </a:r>
            </a:p>
          </p:txBody>
        </p:sp>
        <p:sp>
          <p:nvSpPr>
            <p:cNvPr id="46099" name="Rectangle 24"/>
            <p:cNvSpPr>
              <a:spLocks noChangeArrowheads="1"/>
            </p:cNvSpPr>
            <p:nvPr/>
          </p:nvSpPr>
          <p:spPr bwMode="auto">
            <a:xfrm>
              <a:off x="1274" y="2640"/>
              <a:ext cx="45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46100" name="Rectangle 25"/>
            <p:cNvSpPr>
              <a:spLocks noChangeArrowheads="1"/>
            </p:cNvSpPr>
            <p:nvPr/>
          </p:nvSpPr>
          <p:spPr bwMode="auto">
            <a:xfrm>
              <a:off x="1570" y="2544"/>
              <a:ext cx="21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6101" name="Rectangle 26"/>
            <p:cNvSpPr>
              <a:spLocks noChangeArrowheads="1"/>
            </p:cNvSpPr>
            <p:nvPr/>
          </p:nvSpPr>
          <p:spPr bwMode="auto">
            <a:xfrm>
              <a:off x="1124" y="2592"/>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6102" name="Rectangle 27"/>
            <p:cNvSpPr>
              <a:spLocks noChangeArrowheads="1"/>
            </p:cNvSpPr>
            <p:nvPr/>
          </p:nvSpPr>
          <p:spPr bwMode="auto">
            <a:xfrm rot="21233718">
              <a:off x="653" y="1726"/>
              <a:ext cx="43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3</a:t>
              </a:r>
              <a:endParaRPr lang="en-US" altLang="zh-CN" sz="24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03" name="Rectangle 28"/>
            <p:cNvSpPr>
              <a:spLocks noChangeArrowheads="1"/>
            </p:cNvSpPr>
            <p:nvPr/>
          </p:nvSpPr>
          <p:spPr bwMode="auto">
            <a:xfrm rot="30116">
              <a:off x="1892" y="1678"/>
              <a:ext cx="31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4</a:t>
              </a:r>
              <a:endParaRPr lang="en-US" altLang="zh-CN" sz="24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04" name="Rectangle 29"/>
            <p:cNvSpPr>
              <a:spLocks noChangeArrowheads="1"/>
            </p:cNvSpPr>
            <p:nvPr/>
          </p:nvSpPr>
          <p:spPr bwMode="auto">
            <a:xfrm rot="371425">
              <a:off x="574" y="766"/>
              <a:ext cx="31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sz="24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05" name="Rectangle 30"/>
            <p:cNvSpPr>
              <a:spLocks noChangeArrowheads="1"/>
            </p:cNvSpPr>
            <p:nvPr/>
          </p:nvSpPr>
          <p:spPr bwMode="auto">
            <a:xfrm rot="21584501">
              <a:off x="1993" y="766"/>
              <a:ext cx="31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sz="24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06" name="Line 31"/>
            <p:cNvSpPr>
              <a:spLocks noChangeShapeType="1"/>
            </p:cNvSpPr>
            <p:nvPr/>
          </p:nvSpPr>
          <p:spPr bwMode="auto">
            <a:xfrm flipV="1">
              <a:off x="1469" y="624"/>
              <a:ext cx="0"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07" name="Line 32"/>
            <p:cNvSpPr>
              <a:spLocks noChangeShapeType="1"/>
            </p:cNvSpPr>
            <p:nvPr/>
          </p:nvSpPr>
          <p:spPr bwMode="auto">
            <a:xfrm>
              <a:off x="1469" y="1509"/>
              <a:ext cx="0" cy="6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08" name="Line 33"/>
            <p:cNvSpPr>
              <a:spLocks noChangeShapeType="1"/>
            </p:cNvSpPr>
            <p:nvPr/>
          </p:nvSpPr>
          <p:spPr bwMode="auto">
            <a:xfrm>
              <a:off x="2401" y="1392"/>
              <a:ext cx="0" cy="1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09" name="Line 34"/>
            <p:cNvSpPr>
              <a:spLocks noChangeShapeType="1"/>
            </p:cNvSpPr>
            <p:nvPr/>
          </p:nvSpPr>
          <p:spPr bwMode="auto">
            <a:xfrm>
              <a:off x="1556" y="786"/>
              <a:ext cx="0" cy="318"/>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10" name="Text Box 35"/>
            <p:cNvSpPr txBox="1">
              <a:spLocks noChangeArrowheads="1"/>
            </p:cNvSpPr>
            <p:nvPr/>
          </p:nvSpPr>
          <p:spPr bwMode="auto">
            <a:xfrm>
              <a:off x="1707" y="521"/>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11" name="Text Box 36"/>
            <p:cNvSpPr txBox="1">
              <a:spLocks noChangeArrowheads="1"/>
            </p:cNvSpPr>
            <p:nvPr/>
          </p:nvSpPr>
          <p:spPr bwMode="auto">
            <a:xfrm>
              <a:off x="1669" y="1952"/>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4</a:t>
              </a:r>
              <a:endPar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12" name="Text Box 37"/>
            <p:cNvSpPr txBox="1">
              <a:spLocks noChangeArrowheads="1"/>
            </p:cNvSpPr>
            <p:nvPr/>
          </p:nvSpPr>
          <p:spPr bwMode="auto">
            <a:xfrm>
              <a:off x="1517" y="848"/>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6</a:t>
              </a:r>
              <a:endPar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13" name="Line 38"/>
            <p:cNvSpPr>
              <a:spLocks noChangeShapeType="1"/>
            </p:cNvSpPr>
            <p:nvPr/>
          </p:nvSpPr>
          <p:spPr bwMode="auto">
            <a:xfrm>
              <a:off x="543" y="1382"/>
              <a:ext cx="0" cy="12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14" name="Text Box 40"/>
            <p:cNvSpPr txBox="1">
              <a:spLocks noChangeArrowheads="1"/>
            </p:cNvSpPr>
            <p:nvPr/>
          </p:nvSpPr>
          <p:spPr bwMode="auto">
            <a:xfrm>
              <a:off x="880" y="512"/>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15" name="Text Box 41"/>
            <p:cNvSpPr txBox="1">
              <a:spLocks noChangeArrowheads="1"/>
            </p:cNvSpPr>
            <p:nvPr/>
          </p:nvSpPr>
          <p:spPr bwMode="auto">
            <a:xfrm>
              <a:off x="937" y="1952"/>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3</a:t>
              </a:r>
              <a:endPar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6116" name="Group 43"/>
            <p:cNvGrpSpPr>
              <a:grpSpLocks/>
            </p:cNvGrpSpPr>
            <p:nvPr/>
          </p:nvGrpSpPr>
          <p:grpSpPr bwMode="auto">
            <a:xfrm>
              <a:off x="1445" y="1385"/>
              <a:ext cx="911" cy="776"/>
              <a:chOff x="1105" y="1049"/>
              <a:chExt cx="777" cy="776"/>
            </a:xfrm>
          </p:grpSpPr>
          <p:sp>
            <p:nvSpPr>
              <p:cNvPr id="46144" name="Line 44"/>
              <p:cNvSpPr>
                <a:spLocks noChangeShapeType="1"/>
              </p:cNvSpPr>
              <p:nvPr/>
            </p:nvSpPr>
            <p:spPr bwMode="auto">
              <a:xfrm flipV="1">
                <a:off x="1584" y="1049"/>
                <a:ext cx="298" cy="2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45" name="Line 45"/>
              <p:cNvSpPr>
                <a:spLocks noChangeShapeType="1"/>
              </p:cNvSpPr>
              <p:nvPr/>
            </p:nvSpPr>
            <p:spPr bwMode="auto">
              <a:xfrm flipH="1">
                <a:off x="1105" y="1536"/>
                <a:ext cx="287" cy="2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46" name="Rectangle 46"/>
              <p:cNvSpPr>
                <a:spLocks noChangeArrowheads="1"/>
              </p:cNvSpPr>
              <p:nvPr/>
            </p:nvSpPr>
            <p:spPr bwMode="auto">
              <a:xfrm rot="2700000" flipH="1">
                <a:off x="1437" y="1290"/>
                <a:ext cx="8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6117" name="Line 47"/>
            <p:cNvSpPr>
              <a:spLocks noChangeShapeType="1"/>
            </p:cNvSpPr>
            <p:nvPr/>
          </p:nvSpPr>
          <p:spPr bwMode="auto">
            <a:xfrm>
              <a:off x="1612" y="624"/>
              <a:ext cx="282" cy="24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18" name="Line 48"/>
            <p:cNvSpPr>
              <a:spLocks noChangeShapeType="1"/>
            </p:cNvSpPr>
            <p:nvPr/>
          </p:nvSpPr>
          <p:spPr bwMode="auto">
            <a:xfrm rot="10800000" flipH="1">
              <a:off x="1556" y="1920"/>
              <a:ext cx="253" cy="216"/>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19" name="Line 49"/>
            <p:cNvSpPr>
              <a:spLocks noChangeShapeType="1"/>
            </p:cNvSpPr>
            <p:nvPr/>
          </p:nvSpPr>
          <p:spPr bwMode="auto">
            <a:xfrm rot="10800000" flipH="1" flipV="1">
              <a:off x="1106" y="1968"/>
              <a:ext cx="244" cy="207"/>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20" name="Line 50"/>
            <p:cNvSpPr>
              <a:spLocks noChangeShapeType="1"/>
            </p:cNvSpPr>
            <p:nvPr/>
          </p:nvSpPr>
          <p:spPr bwMode="auto">
            <a:xfrm flipV="1">
              <a:off x="1106" y="626"/>
              <a:ext cx="222" cy="19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21" name="Oval 51"/>
            <p:cNvSpPr>
              <a:spLocks noChangeArrowheads="1"/>
            </p:cNvSpPr>
            <p:nvPr/>
          </p:nvSpPr>
          <p:spPr bwMode="auto">
            <a:xfrm>
              <a:off x="2356" y="1367"/>
              <a:ext cx="6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22" name="Oval 52"/>
            <p:cNvSpPr>
              <a:spLocks noChangeArrowheads="1"/>
            </p:cNvSpPr>
            <p:nvPr/>
          </p:nvSpPr>
          <p:spPr bwMode="auto">
            <a:xfrm>
              <a:off x="1423" y="603"/>
              <a:ext cx="6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23" name="Oval 53"/>
            <p:cNvSpPr>
              <a:spLocks noChangeArrowheads="1"/>
            </p:cNvSpPr>
            <p:nvPr/>
          </p:nvSpPr>
          <p:spPr bwMode="auto">
            <a:xfrm>
              <a:off x="512" y="1367"/>
              <a:ext cx="6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24" name="Oval 54"/>
            <p:cNvSpPr>
              <a:spLocks noChangeArrowheads="1"/>
            </p:cNvSpPr>
            <p:nvPr/>
          </p:nvSpPr>
          <p:spPr bwMode="auto">
            <a:xfrm rot="5400000">
              <a:off x="1352" y="2450"/>
              <a:ext cx="245" cy="2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25" name="Line 55"/>
            <p:cNvSpPr>
              <a:spLocks noChangeShapeType="1"/>
            </p:cNvSpPr>
            <p:nvPr/>
          </p:nvSpPr>
          <p:spPr bwMode="auto">
            <a:xfrm rot="16200000" flipV="1">
              <a:off x="1475" y="1660"/>
              <a:ext cx="0" cy="1863"/>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6126" name="Group 56"/>
            <p:cNvGrpSpPr>
              <a:grpSpLocks/>
            </p:cNvGrpSpPr>
            <p:nvPr/>
          </p:nvGrpSpPr>
          <p:grpSpPr bwMode="auto">
            <a:xfrm>
              <a:off x="543" y="616"/>
              <a:ext cx="911" cy="776"/>
              <a:chOff x="1105" y="1049"/>
              <a:chExt cx="777" cy="776"/>
            </a:xfrm>
          </p:grpSpPr>
          <p:sp>
            <p:nvSpPr>
              <p:cNvPr id="46141" name="Line 57"/>
              <p:cNvSpPr>
                <a:spLocks noChangeShapeType="1"/>
              </p:cNvSpPr>
              <p:nvPr/>
            </p:nvSpPr>
            <p:spPr bwMode="auto">
              <a:xfrm flipV="1">
                <a:off x="1584" y="1049"/>
                <a:ext cx="298" cy="2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42" name="Line 58"/>
              <p:cNvSpPr>
                <a:spLocks noChangeShapeType="1"/>
              </p:cNvSpPr>
              <p:nvPr/>
            </p:nvSpPr>
            <p:spPr bwMode="auto">
              <a:xfrm flipH="1">
                <a:off x="1105" y="1536"/>
                <a:ext cx="287" cy="2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43" name="Rectangle 59"/>
              <p:cNvSpPr>
                <a:spLocks noChangeArrowheads="1"/>
              </p:cNvSpPr>
              <p:nvPr/>
            </p:nvSpPr>
            <p:spPr bwMode="auto">
              <a:xfrm rot="2700000" flipH="1">
                <a:off x="1437" y="1290"/>
                <a:ext cx="8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27" name="Group 60"/>
            <p:cNvGrpSpPr>
              <a:grpSpLocks/>
            </p:cNvGrpSpPr>
            <p:nvPr/>
          </p:nvGrpSpPr>
          <p:grpSpPr bwMode="auto">
            <a:xfrm rot="-5400000">
              <a:off x="609" y="1326"/>
              <a:ext cx="777" cy="910"/>
              <a:chOff x="1105" y="1049"/>
              <a:chExt cx="777" cy="776"/>
            </a:xfrm>
          </p:grpSpPr>
          <p:sp>
            <p:nvSpPr>
              <p:cNvPr id="46138" name="Line 61"/>
              <p:cNvSpPr>
                <a:spLocks noChangeShapeType="1"/>
              </p:cNvSpPr>
              <p:nvPr/>
            </p:nvSpPr>
            <p:spPr bwMode="auto">
              <a:xfrm flipV="1">
                <a:off x="1584" y="1049"/>
                <a:ext cx="298" cy="2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39" name="Line 62"/>
              <p:cNvSpPr>
                <a:spLocks noChangeShapeType="1"/>
              </p:cNvSpPr>
              <p:nvPr/>
            </p:nvSpPr>
            <p:spPr bwMode="auto">
              <a:xfrm flipH="1">
                <a:off x="1105" y="1536"/>
                <a:ext cx="287" cy="2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40" name="Rectangle 63"/>
              <p:cNvSpPr>
                <a:spLocks noChangeArrowheads="1"/>
              </p:cNvSpPr>
              <p:nvPr/>
            </p:nvSpPr>
            <p:spPr bwMode="auto">
              <a:xfrm rot="2700000" flipH="1">
                <a:off x="1437" y="1290"/>
                <a:ext cx="8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6128" name="Group 64"/>
            <p:cNvGrpSpPr>
              <a:grpSpLocks/>
            </p:cNvGrpSpPr>
            <p:nvPr/>
          </p:nvGrpSpPr>
          <p:grpSpPr bwMode="auto">
            <a:xfrm rot="-5400000">
              <a:off x="1557" y="557"/>
              <a:ext cx="777" cy="911"/>
              <a:chOff x="1105" y="1049"/>
              <a:chExt cx="777" cy="776"/>
            </a:xfrm>
          </p:grpSpPr>
          <p:sp>
            <p:nvSpPr>
              <p:cNvPr id="46135" name="Line 65"/>
              <p:cNvSpPr>
                <a:spLocks noChangeShapeType="1"/>
              </p:cNvSpPr>
              <p:nvPr/>
            </p:nvSpPr>
            <p:spPr bwMode="auto">
              <a:xfrm flipV="1">
                <a:off x="1584" y="1049"/>
                <a:ext cx="298" cy="2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36" name="Line 66"/>
              <p:cNvSpPr>
                <a:spLocks noChangeShapeType="1"/>
              </p:cNvSpPr>
              <p:nvPr/>
            </p:nvSpPr>
            <p:spPr bwMode="auto">
              <a:xfrm flipH="1">
                <a:off x="1105" y="1536"/>
                <a:ext cx="287" cy="2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37" name="Rectangle 67"/>
              <p:cNvSpPr>
                <a:spLocks noChangeArrowheads="1"/>
              </p:cNvSpPr>
              <p:nvPr/>
            </p:nvSpPr>
            <p:spPr bwMode="auto">
              <a:xfrm rot="2700000" flipH="1">
                <a:off x="1437" y="1290"/>
                <a:ext cx="8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6129" name="Oval 68"/>
            <p:cNvSpPr>
              <a:spLocks noChangeArrowheads="1"/>
            </p:cNvSpPr>
            <p:nvPr/>
          </p:nvSpPr>
          <p:spPr bwMode="auto">
            <a:xfrm>
              <a:off x="1434" y="2136"/>
              <a:ext cx="6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30" name="Rectangle 69"/>
            <p:cNvSpPr>
              <a:spLocks noChangeArrowheads="1"/>
            </p:cNvSpPr>
            <p:nvPr/>
          </p:nvSpPr>
          <p:spPr bwMode="auto">
            <a:xfrm>
              <a:off x="1420" y="1239"/>
              <a:ext cx="113" cy="288"/>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31" name="Line 76"/>
            <p:cNvSpPr>
              <a:spLocks noChangeShapeType="1"/>
            </p:cNvSpPr>
            <p:nvPr/>
          </p:nvSpPr>
          <p:spPr bwMode="auto">
            <a:xfrm>
              <a:off x="720" y="2496"/>
              <a:ext cx="240" cy="0"/>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32" name="Text Box 77"/>
            <p:cNvSpPr txBox="1">
              <a:spLocks noChangeArrowheads="1"/>
            </p:cNvSpPr>
            <p:nvPr/>
          </p:nvSpPr>
          <p:spPr bwMode="auto">
            <a:xfrm>
              <a:off x="960" y="2304"/>
              <a:ext cx="268"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S</a:t>
              </a:r>
              <a:endPar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33" name="Rectangle 80"/>
            <p:cNvSpPr>
              <a:spLocks noChangeArrowheads="1"/>
            </p:cNvSpPr>
            <p:nvPr/>
          </p:nvSpPr>
          <p:spPr bwMode="auto">
            <a:xfrm rot="-5400000">
              <a:off x="1968" y="2440"/>
              <a:ext cx="113" cy="288"/>
            </a:xfrm>
            <a:prstGeom prst="rect">
              <a:avLst/>
            </a:prstGeom>
            <a:solidFill>
              <a:schemeClr val="bg1"/>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6134" name="Rectangle 81"/>
            <p:cNvSpPr>
              <a:spLocks noChangeArrowheads="1"/>
            </p:cNvSpPr>
            <p:nvPr/>
          </p:nvSpPr>
          <p:spPr bwMode="auto">
            <a:xfrm rot="30116">
              <a:off x="1986" y="2207"/>
              <a:ext cx="41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800" b="1" baseline="-25000">
                  <a:latin typeface="Times New Roman" panose="02020603050405020304" pitchFamily="18" charset="0"/>
                  <a:ea typeface="华文中宋" panose="02010600040101010101" pitchFamily="2" charset="-122"/>
                  <a:cs typeface="Times New Roman" panose="02020603050405020304" pitchFamily="18" charset="0"/>
                </a:rPr>
                <a:t>S</a:t>
              </a:r>
              <a:endParaRPr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 name="灯片编号占位符 1"/>
          <p:cNvSpPr>
            <a:spLocks noGrp="1"/>
          </p:cNvSpPr>
          <p:nvPr>
            <p:ph type="sldNum" sz="quarter" idx="12"/>
          </p:nvPr>
        </p:nvSpPr>
        <p:spPr/>
        <p:txBody>
          <a:bodyPr/>
          <a:lstStyle/>
          <a:p>
            <a:pPr>
              <a:defRPr/>
            </a:pPr>
            <a:fld id="{4324DAC4-A72B-4AD4-8480-0E4C6687AABC}" type="slidenum">
              <a:rPr lang="en-US" altLang="zh-CN" smtClean="0"/>
              <a:pPr>
                <a:defRPr/>
              </a:pPr>
              <a:t>39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325"/>
                                        </p:tgtEl>
                                        <p:attrNameLst>
                                          <p:attrName>style.visibility</p:attrName>
                                        </p:attrNameLst>
                                      </p:cBhvr>
                                      <p:to>
                                        <p:strVal val="visible"/>
                                      </p:to>
                                    </p:set>
                                    <p:anim calcmode="lin" valueType="num">
                                      <p:cBhvr additive="base">
                                        <p:cTn id="7" dur="500" fill="hold"/>
                                        <p:tgtEl>
                                          <p:spTgt spid="56325"/>
                                        </p:tgtEl>
                                        <p:attrNameLst>
                                          <p:attrName>ppt_x</p:attrName>
                                        </p:attrNameLst>
                                      </p:cBhvr>
                                      <p:tavLst>
                                        <p:tav tm="0">
                                          <p:val>
                                            <p:strVal val="#ppt_x"/>
                                          </p:val>
                                        </p:tav>
                                        <p:tav tm="100000">
                                          <p:val>
                                            <p:strVal val="#ppt_x"/>
                                          </p:val>
                                        </p:tav>
                                      </p:tavLst>
                                    </p:anim>
                                    <p:anim calcmode="lin" valueType="num">
                                      <p:cBhvr additive="base">
                                        <p:cTn id="8" dur="500" fill="hold"/>
                                        <p:tgtEl>
                                          <p:spTgt spid="5632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56330"/>
                                        </p:tgtEl>
                                        <p:attrNameLst>
                                          <p:attrName>style.visibility</p:attrName>
                                        </p:attrNameLst>
                                      </p:cBhvr>
                                      <p:to>
                                        <p:strVal val="visible"/>
                                      </p:to>
                                    </p:set>
                                    <p:animEffect transition="in" filter="box(in)">
                                      <p:cBhvr>
                                        <p:cTn id="13" dur="500"/>
                                        <p:tgtEl>
                                          <p:spTgt spid="5633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6393"/>
                                        </p:tgtEl>
                                        <p:attrNameLst>
                                          <p:attrName>style.visibility</p:attrName>
                                        </p:attrNameLst>
                                      </p:cBhvr>
                                      <p:to>
                                        <p:strVal val="visible"/>
                                      </p:to>
                                    </p:set>
                                    <p:anim calcmode="lin" valueType="num">
                                      <p:cBhvr additive="base">
                                        <p:cTn id="18" dur="500" fill="hold"/>
                                        <p:tgtEl>
                                          <p:spTgt spid="56393"/>
                                        </p:tgtEl>
                                        <p:attrNameLst>
                                          <p:attrName>ppt_x</p:attrName>
                                        </p:attrNameLst>
                                      </p:cBhvr>
                                      <p:tavLst>
                                        <p:tav tm="0">
                                          <p:val>
                                            <p:strVal val="#ppt_x"/>
                                          </p:val>
                                        </p:tav>
                                        <p:tav tm="100000">
                                          <p:val>
                                            <p:strVal val="#ppt_x"/>
                                          </p:val>
                                        </p:tav>
                                      </p:tavLst>
                                    </p:anim>
                                    <p:anim calcmode="lin" valueType="num">
                                      <p:cBhvr additive="base">
                                        <p:cTn id="19" dur="500" fill="hold"/>
                                        <p:tgtEl>
                                          <p:spTgt spid="56393"/>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56331"/>
                                        </p:tgtEl>
                                        <p:attrNameLst>
                                          <p:attrName>style.visibility</p:attrName>
                                        </p:attrNameLst>
                                      </p:cBhvr>
                                      <p:to>
                                        <p:strVal val="visible"/>
                                      </p:to>
                                    </p:set>
                                    <p:animEffect transition="in" filter="box(in)">
                                      <p:cBhvr>
                                        <p:cTn id="24" dur="500"/>
                                        <p:tgtEl>
                                          <p:spTgt spid="5633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6394"/>
                                        </p:tgtEl>
                                        <p:attrNameLst>
                                          <p:attrName>style.visibility</p:attrName>
                                        </p:attrNameLst>
                                      </p:cBhvr>
                                      <p:to>
                                        <p:strVal val="visible"/>
                                      </p:to>
                                    </p:set>
                                    <p:anim calcmode="lin" valueType="num">
                                      <p:cBhvr additive="base">
                                        <p:cTn id="29" dur="500" fill="hold"/>
                                        <p:tgtEl>
                                          <p:spTgt spid="56394"/>
                                        </p:tgtEl>
                                        <p:attrNameLst>
                                          <p:attrName>ppt_x</p:attrName>
                                        </p:attrNameLst>
                                      </p:cBhvr>
                                      <p:tavLst>
                                        <p:tav tm="0">
                                          <p:val>
                                            <p:strVal val="#ppt_x"/>
                                          </p:val>
                                        </p:tav>
                                        <p:tav tm="100000">
                                          <p:val>
                                            <p:strVal val="#ppt_x"/>
                                          </p:val>
                                        </p:tav>
                                      </p:tavLst>
                                    </p:anim>
                                    <p:anim calcmode="lin" valueType="num">
                                      <p:cBhvr additive="base">
                                        <p:cTn id="30" dur="500" fill="hold"/>
                                        <p:tgtEl>
                                          <p:spTgt spid="56394"/>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56332"/>
                                        </p:tgtEl>
                                        <p:attrNameLst>
                                          <p:attrName>style.visibility</p:attrName>
                                        </p:attrNameLst>
                                      </p:cBhvr>
                                      <p:to>
                                        <p:strVal val="visible"/>
                                      </p:to>
                                    </p:set>
                                    <p:animEffect transition="in" filter="box(in)">
                                      <p:cBhvr>
                                        <p:cTn id="35" dur="500"/>
                                        <p:tgtEl>
                                          <p:spTgt spid="5633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56395"/>
                                        </p:tgtEl>
                                        <p:attrNameLst>
                                          <p:attrName>style.visibility</p:attrName>
                                        </p:attrNameLst>
                                      </p:cBhvr>
                                      <p:to>
                                        <p:strVal val="visible"/>
                                      </p:to>
                                    </p:set>
                                    <p:anim calcmode="lin" valueType="num">
                                      <p:cBhvr additive="base">
                                        <p:cTn id="40" dur="500" fill="hold"/>
                                        <p:tgtEl>
                                          <p:spTgt spid="56395"/>
                                        </p:tgtEl>
                                        <p:attrNameLst>
                                          <p:attrName>ppt_x</p:attrName>
                                        </p:attrNameLst>
                                      </p:cBhvr>
                                      <p:tavLst>
                                        <p:tav tm="0">
                                          <p:val>
                                            <p:strVal val="#ppt_x"/>
                                          </p:val>
                                        </p:tav>
                                        <p:tav tm="100000">
                                          <p:val>
                                            <p:strVal val="#ppt_x"/>
                                          </p:val>
                                        </p:tav>
                                      </p:tavLst>
                                    </p:anim>
                                    <p:anim calcmode="lin" valueType="num">
                                      <p:cBhvr additive="base">
                                        <p:cTn id="41" dur="500" fill="hold"/>
                                        <p:tgtEl>
                                          <p:spTgt spid="56395"/>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4" presetClass="entr" presetSubtype="16" fill="hold" grpId="0" nodeType="clickEffect">
                                  <p:stCondLst>
                                    <p:cond delay="0"/>
                                  </p:stCondLst>
                                  <p:childTnLst>
                                    <p:set>
                                      <p:cBhvr>
                                        <p:cTn id="45" dur="1" fill="hold">
                                          <p:stCondLst>
                                            <p:cond delay="0"/>
                                          </p:stCondLst>
                                        </p:cTn>
                                        <p:tgtEl>
                                          <p:spTgt spid="56334"/>
                                        </p:tgtEl>
                                        <p:attrNameLst>
                                          <p:attrName>style.visibility</p:attrName>
                                        </p:attrNameLst>
                                      </p:cBhvr>
                                      <p:to>
                                        <p:strVal val="visible"/>
                                      </p:to>
                                    </p:set>
                                    <p:animEffect transition="in" filter="box(in)">
                                      <p:cBhvr>
                                        <p:cTn id="46" dur="500"/>
                                        <p:tgtEl>
                                          <p:spTgt spid="5633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56399"/>
                                        </p:tgtEl>
                                        <p:attrNameLst>
                                          <p:attrName>style.visibility</p:attrName>
                                        </p:attrNameLst>
                                      </p:cBhvr>
                                      <p:to>
                                        <p:strVal val="visible"/>
                                      </p:to>
                                    </p:set>
                                    <p:anim calcmode="lin" valueType="num">
                                      <p:cBhvr additive="base">
                                        <p:cTn id="51" dur="500" fill="hold"/>
                                        <p:tgtEl>
                                          <p:spTgt spid="56399"/>
                                        </p:tgtEl>
                                        <p:attrNameLst>
                                          <p:attrName>ppt_x</p:attrName>
                                        </p:attrNameLst>
                                      </p:cBhvr>
                                      <p:tavLst>
                                        <p:tav tm="0">
                                          <p:val>
                                            <p:strVal val="#ppt_x"/>
                                          </p:val>
                                        </p:tav>
                                        <p:tav tm="100000">
                                          <p:val>
                                            <p:strVal val="#ppt_x"/>
                                          </p:val>
                                        </p:tav>
                                      </p:tavLst>
                                    </p:anim>
                                    <p:anim calcmode="lin" valueType="num">
                                      <p:cBhvr additive="base">
                                        <p:cTn id="52" dur="500" fill="hold"/>
                                        <p:tgtEl>
                                          <p:spTgt spid="563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p:bldP spid="56330" grpId="0"/>
      <p:bldP spid="56331" grpId="0"/>
      <p:bldP spid="56332" grpId="0"/>
      <p:bldP spid="56334" grpId="0"/>
      <p:bldP spid="56393" grpId="0"/>
      <p:bldP spid="56394" grpId="0"/>
      <p:bldP spid="56395" grpId="0"/>
      <p:bldP spid="5639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DDCD465-3906-4367-A8E2-A7D83741010F}"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40</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7107" name="Rectangle 2"/>
          <p:cNvSpPr>
            <a:spLocks noChangeArrowheads="1"/>
          </p:cNvSpPr>
          <p:nvPr/>
        </p:nvSpPr>
        <p:spPr bwMode="auto">
          <a:xfrm>
            <a:off x="250825" y="476250"/>
            <a:ext cx="36830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2800" b="1">
                <a:solidFill>
                  <a:srgbClr val="D82E1C"/>
                </a:solidFill>
                <a:latin typeface="Times New Roman" panose="02020603050405020304" pitchFamily="18" charset="0"/>
                <a:ea typeface="华文中宋" panose="02010600040101010101" pitchFamily="2" charset="-122"/>
                <a:cs typeface="Times New Roman" panose="02020603050405020304" pitchFamily="18" charset="0"/>
              </a:rPr>
              <a:t>对</a:t>
            </a:r>
            <a:r>
              <a:rPr lang="en-US" altLang="zh-CN" sz="2800" b="1">
                <a:solidFill>
                  <a:srgbClr val="D82E1C"/>
                </a:solidFill>
                <a:latin typeface="Times New Roman" panose="02020603050405020304" pitchFamily="18" charset="0"/>
                <a:ea typeface="华文中宋" panose="02010600040101010101" pitchFamily="2" charset="-122"/>
                <a:cs typeface="Times New Roman" panose="02020603050405020304" pitchFamily="18" charset="0"/>
              </a:rPr>
              <a:t>KCL</a:t>
            </a:r>
            <a:r>
              <a:rPr lang="zh-CN" altLang="en-US" sz="2800" b="1">
                <a:solidFill>
                  <a:srgbClr val="D82E1C"/>
                </a:solidFill>
                <a:latin typeface="Times New Roman" panose="02020603050405020304" pitchFamily="18" charset="0"/>
                <a:ea typeface="华文中宋" panose="02010600040101010101" pitchFamily="2" charset="-122"/>
                <a:cs typeface="Times New Roman" panose="02020603050405020304" pitchFamily="18" charset="0"/>
              </a:rPr>
              <a:t>的说明</a:t>
            </a:r>
            <a:endParaRPr lang="zh-CN" altLang="en-US"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0275" name="Text Box 3"/>
          <p:cNvSpPr txBox="1">
            <a:spLocks noChangeArrowheads="1"/>
          </p:cNvSpPr>
          <p:nvPr/>
        </p:nvSpPr>
        <p:spPr bwMode="auto">
          <a:xfrm>
            <a:off x="463704" y="1234766"/>
            <a:ext cx="7899400"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25000"/>
              </a:spcBef>
              <a:buFontTx/>
              <a:buNone/>
            </a:pPr>
            <a:r>
              <a:rPr kumimoji="1" lang="en-US" altLang="zh-CN"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b="1" dirty="0" smtClean="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dirty="0" smtClean="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不仅</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适用于节点，而且适用于任何一个封闭曲面。</a:t>
            </a:r>
          </a:p>
        </p:txBody>
      </p:sp>
      <p:sp>
        <p:nvSpPr>
          <p:cNvPr id="310276" name="Text Box 4"/>
          <p:cNvSpPr txBox="1">
            <a:spLocks noChangeArrowheads="1"/>
          </p:cNvSpPr>
          <p:nvPr/>
        </p:nvSpPr>
        <p:spPr bwMode="auto">
          <a:xfrm>
            <a:off x="395288" y="1773238"/>
            <a:ext cx="777240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25000"/>
              </a:spcBef>
              <a:buFontTx/>
              <a:buNone/>
            </a:pPr>
            <a:r>
              <a:rPr kumimoji="1" lang="en-US" altLang="zh-CN"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2/</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应用</a:t>
            </a:r>
            <a:r>
              <a:rPr kumimoji="1" lang="en-US" altLang="zh-CN"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KCL</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列写节点或闭合曲面方程时，首先要设出每一支路电流的参考方向，然后根据参考方向取符号：选流出节点的电流取正号则流入电流取</a:t>
            </a:r>
            <a:r>
              <a:rPr kumimoji="1" lang="zh-CN" altLang="en-US" sz="2400" b="1" dirty="0" smtClean="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负号，或</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选流入节点的电流取正号则流出电流取</a:t>
            </a:r>
            <a:r>
              <a:rPr kumimoji="1" lang="zh-CN" altLang="en-US" sz="2400" b="1" dirty="0" smtClean="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负号，</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但在列写的同一个</a:t>
            </a:r>
            <a:r>
              <a:rPr kumimoji="1" lang="en-US" altLang="zh-CN"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KCL</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方程中取号规则应一致。</a:t>
            </a:r>
          </a:p>
        </p:txBody>
      </p:sp>
      <p:sp>
        <p:nvSpPr>
          <p:cNvPr id="310277" name="Rectangle 5"/>
          <p:cNvSpPr>
            <a:spLocks noChangeArrowheads="1"/>
          </p:cNvSpPr>
          <p:nvPr/>
        </p:nvSpPr>
        <p:spPr bwMode="auto">
          <a:xfrm>
            <a:off x="468313" y="3860800"/>
            <a:ext cx="7970837"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25000"/>
              </a:spcBef>
              <a:buFontTx/>
              <a:buNone/>
            </a:pPr>
            <a:r>
              <a:rPr kumimoji="1" lang="en-US" altLang="zh-CN" sz="24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3/</a:t>
            </a:r>
            <a:r>
              <a:rPr kumimoji="1" lang="zh-CN" altLang="en-US" sz="24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应将</a:t>
            </a:r>
            <a:r>
              <a:rPr kumimoji="1" lang="en-US" altLang="zh-CN" sz="24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KCL</a:t>
            </a:r>
            <a:r>
              <a:rPr kumimoji="1" lang="zh-CN" altLang="en-US" sz="24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代数方程中各项前的正负号与电流本身数值的正负号区别开来。</a:t>
            </a:r>
          </a:p>
        </p:txBody>
      </p:sp>
      <p:sp>
        <p:nvSpPr>
          <p:cNvPr id="310278" name="Rectangle 6"/>
          <p:cNvSpPr>
            <a:spLocks noChangeArrowheads="1"/>
          </p:cNvSpPr>
          <p:nvPr/>
        </p:nvSpPr>
        <p:spPr bwMode="auto">
          <a:xfrm>
            <a:off x="468313" y="4797425"/>
            <a:ext cx="7972425"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25000"/>
              </a:spcBef>
              <a:buFontTx/>
              <a:buNone/>
            </a:pPr>
            <a:r>
              <a:rPr kumimoji="1" lang="en-US" altLang="zh-CN" sz="24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4/</a:t>
            </a:r>
            <a:r>
              <a:rPr kumimoji="1" lang="zh-CN" altLang="en-US" sz="24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KCL</a:t>
            </a:r>
            <a:r>
              <a:rPr kumimoji="1" lang="zh-CN" altLang="en-US" sz="2400" b="1">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实质上是电荷守恒原理在集中参数电路中的体现。</a:t>
            </a:r>
            <a:r>
              <a:rPr kumimoji="1" lang="zh-CN" altLang="en-US" sz="24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即，到达任何节点的电荷既不可能增生，也不可能消失，电流必须连续流动。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0275"/>
                                        </p:tgtEl>
                                        <p:attrNameLst>
                                          <p:attrName>style.visibility</p:attrName>
                                        </p:attrNameLst>
                                      </p:cBhvr>
                                      <p:to>
                                        <p:strVal val="visible"/>
                                      </p:to>
                                    </p:set>
                                    <p:anim calcmode="lin" valueType="num">
                                      <p:cBhvr additive="base">
                                        <p:cTn id="7" dur="500" fill="hold"/>
                                        <p:tgtEl>
                                          <p:spTgt spid="310275"/>
                                        </p:tgtEl>
                                        <p:attrNameLst>
                                          <p:attrName>ppt_x</p:attrName>
                                        </p:attrNameLst>
                                      </p:cBhvr>
                                      <p:tavLst>
                                        <p:tav tm="0">
                                          <p:val>
                                            <p:strVal val="#ppt_x"/>
                                          </p:val>
                                        </p:tav>
                                        <p:tav tm="100000">
                                          <p:val>
                                            <p:strVal val="#ppt_x"/>
                                          </p:val>
                                        </p:tav>
                                      </p:tavLst>
                                    </p:anim>
                                    <p:anim calcmode="lin" valueType="num">
                                      <p:cBhvr additive="base">
                                        <p:cTn id="8" dur="500" fill="hold"/>
                                        <p:tgtEl>
                                          <p:spTgt spid="31027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10276"/>
                                        </p:tgtEl>
                                        <p:attrNameLst>
                                          <p:attrName>style.visibility</p:attrName>
                                        </p:attrNameLst>
                                      </p:cBhvr>
                                      <p:to>
                                        <p:strVal val="visible"/>
                                      </p:to>
                                    </p:set>
                                    <p:anim calcmode="lin" valueType="num">
                                      <p:cBhvr additive="base">
                                        <p:cTn id="13" dur="500" fill="hold"/>
                                        <p:tgtEl>
                                          <p:spTgt spid="310276"/>
                                        </p:tgtEl>
                                        <p:attrNameLst>
                                          <p:attrName>ppt_x</p:attrName>
                                        </p:attrNameLst>
                                      </p:cBhvr>
                                      <p:tavLst>
                                        <p:tav tm="0">
                                          <p:val>
                                            <p:strVal val="#ppt_x"/>
                                          </p:val>
                                        </p:tav>
                                        <p:tav tm="100000">
                                          <p:val>
                                            <p:strVal val="#ppt_x"/>
                                          </p:val>
                                        </p:tav>
                                      </p:tavLst>
                                    </p:anim>
                                    <p:anim calcmode="lin" valueType="num">
                                      <p:cBhvr additive="base">
                                        <p:cTn id="14" dur="500" fill="hold"/>
                                        <p:tgtEl>
                                          <p:spTgt spid="31027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10277"/>
                                        </p:tgtEl>
                                        <p:attrNameLst>
                                          <p:attrName>style.visibility</p:attrName>
                                        </p:attrNameLst>
                                      </p:cBhvr>
                                      <p:to>
                                        <p:strVal val="visible"/>
                                      </p:to>
                                    </p:set>
                                    <p:anim calcmode="lin" valueType="num">
                                      <p:cBhvr additive="base">
                                        <p:cTn id="19" dur="500" fill="hold"/>
                                        <p:tgtEl>
                                          <p:spTgt spid="310277"/>
                                        </p:tgtEl>
                                        <p:attrNameLst>
                                          <p:attrName>ppt_x</p:attrName>
                                        </p:attrNameLst>
                                      </p:cBhvr>
                                      <p:tavLst>
                                        <p:tav tm="0">
                                          <p:val>
                                            <p:strVal val="#ppt_x"/>
                                          </p:val>
                                        </p:tav>
                                        <p:tav tm="100000">
                                          <p:val>
                                            <p:strVal val="#ppt_x"/>
                                          </p:val>
                                        </p:tav>
                                      </p:tavLst>
                                    </p:anim>
                                    <p:anim calcmode="lin" valueType="num">
                                      <p:cBhvr additive="base">
                                        <p:cTn id="20" dur="500" fill="hold"/>
                                        <p:tgtEl>
                                          <p:spTgt spid="31027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10278"/>
                                        </p:tgtEl>
                                        <p:attrNameLst>
                                          <p:attrName>style.visibility</p:attrName>
                                        </p:attrNameLst>
                                      </p:cBhvr>
                                      <p:to>
                                        <p:strVal val="visible"/>
                                      </p:to>
                                    </p:set>
                                    <p:anim calcmode="lin" valueType="num">
                                      <p:cBhvr additive="base">
                                        <p:cTn id="25" dur="500" fill="hold"/>
                                        <p:tgtEl>
                                          <p:spTgt spid="310278"/>
                                        </p:tgtEl>
                                        <p:attrNameLst>
                                          <p:attrName>ppt_x</p:attrName>
                                        </p:attrNameLst>
                                      </p:cBhvr>
                                      <p:tavLst>
                                        <p:tav tm="0">
                                          <p:val>
                                            <p:strVal val="#ppt_x"/>
                                          </p:val>
                                        </p:tav>
                                        <p:tav tm="100000">
                                          <p:val>
                                            <p:strVal val="#ppt_x"/>
                                          </p:val>
                                        </p:tav>
                                      </p:tavLst>
                                    </p:anim>
                                    <p:anim calcmode="lin" valueType="num">
                                      <p:cBhvr additive="base">
                                        <p:cTn id="26" dur="500" fill="hold"/>
                                        <p:tgtEl>
                                          <p:spTgt spid="3102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5" grpId="0"/>
      <p:bldP spid="310276" grpId="0"/>
      <p:bldP spid="310277" grpId="0"/>
      <p:bldP spid="31027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3"/>
          <p:cNvSpPr>
            <a:spLocks noGrp="1" noChangeArrowheads="1"/>
          </p:cNvSpPr>
          <p:nvPr>
            <p:ph type="body" idx="1"/>
          </p:nvPr>
        </p:nvSpPr>
        <p:spPr>
          <a:xfrm>
            <a:off x="0" y="404813"/>
            <a:ext cx="8229600" cy="519112"/>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spAutoFit/>
          </a:bodyPr>
          <a:lstStyle/>
          <a:p>
            <a:pPr marL="0" indent="0" algn="just" eaLnBrk="1" hangingPunct="1">
              <a:spcBef>
                <a:spcPct val="50000"/>
              </a:spcBef>
              <a:buFontTx/>
              <a:buNone/>
            </a:pPr>
            <a:r>
              <a:rPr lang="en-US" altLang="zh-CN" sz="2800" b="1" smtClean="0">
                <a:solidFill>
                  <a:schemeClr val="hlink"/>
                </a:solidFill>
                <a:latin typeface="Times New Roman" panose="02020603050405020304" pitchFamily="18" charset="0"/>
                <a:ea typeface="华文中宋" panose="02010600040101010101" pitchFamily="2" charset="-122"/>
                <a:cs typeface="Times New Roman" panose="02020603050405020304" pitchFamily="18" charset="0"/>
              </a:rPr>
              <a:t>1.4.2 </a:t>
            </a:r>
            <a:r>
              <a:rPr lang="zh-CN" altLang="en-US" sz="2800" b="1" smtClean="0">
                <a:solidFill>
                  <a:schemeClr val="hlink"/>
                </a:solidFill>
                <a:latin typeface="Times New Roman" panose="02020603050405020304" pitchFamily="18" charset="0"/>
                <a:ea typeface="华文中宋" panose="02010600040101010101" pitchFamily="2" charset="-122"/>
                <a:cs typeface="Times New Roman" panose="02020603050405020304" pitchFamily="18" charset="0"/>
              </a:rPr>
              <a:t>基尔霍夫电压定律（</a:t>
            </a:r>
            <a:r>
              <a:rPr lang="en-US" altLang="zh-CN" sz="2800" b="1" smtClean="0">
                <a:solidFill>
                  <a:schemeClr val="hlink"/>
                </a:solidFill>
                <a:latin typeface="Times New Roman" panose="02020603050405020304" pitchFamily="18" charset="0"/>
                <a:ea typeface="华文中宋" panose="02010600040101010101" pitchFamily="2" charset="-122"/>
                <a:cs typeface="Times New Roman" panose="02020603050405020304" pitchFamily="18" charset="0"/>
              </a:rPr>
              <a:t>KVL)</a:t>
            </a:r>
          </a:p>
        </p:txBody>
      </p:sp>
      <p:graphicFrame>
        <p:nvGraphicFramePr>
          <p:cNvPr id="48131" name="Object 7"/>
          <p:cNvGraphicFramePr>
            <a:graphicFrameLocks noChangeAspect="1"/>
          </p:cNvGraphicFramePr>
          <p:nvPr>
            <p:extLst>
              <p:ext uri="{D42A27DB-BD31-4B8C-83A1-F6EECF244321}">
                <p14:modId xmlns:p14="http://schemas.microsoft.com/office/powerpoint/2010/main" val="3267342718"/>
              </p:ext>
            </p:extLst>
          </p:nvPr>
        </p:nvGraphicFramePr>
        <p:xfrm>
          <a:off x="5010150" y="3959225"/>
          <a:ext cx="112713" cy="214313"/>
        </p:xfrm>
        <a:graphic>
          <a:graphicData uri="http://schemas.openxmlformats.org/presentationml/2006/ole">
            <mc:AlternateContent xmlns:mc="http://schemas.openxmlformats.org/markup-compatibility/2006">
              <mc:Choice xmlns:v="urn:schemas-microsoft-com:vml" Requires="v">
                <p:oleObj spid="_x0000_s48241" name="公式" r:id="rId3" imgW="114151" imgH="215619" progId="Equation.3">
                  <p:embed/>
                </p:oleObj>
              </mc:Choice>
              <mc:Fallback>
                <p:oleObj name="公式" r:id="rId3" imgW="114151" imgH="215619"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0150" y="3959225"/>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2" name="Rectangle 10" descr="40%"/>
          <p:cNvSpPr>
            <a:spLocks noChangeArrowheads="1"/>
          </p:cNvSpPr>
          <p:nvPr/>
        </p:nvSpPr>
        <p:spPr bwMode="auto">
          <a:xfrm>
            <a:off x="5029200" y="3524250"/>
            <a:ext cx="2957861" cy="830997"/>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对回路</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p>
          <a:p>
            <a:pPr eaLnBrk="1" hangingPunct="1">
              <a:spcBef>
                <a:spcPct val="0"/>
              </a:spcBef>
              <a:buFontTx/>
              <a:buNone/>
            </a:pPr>
            <a:r>
              <a:rPr kumimoji="1" lang="zh-CN" altLang="en-US"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1 </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 </a:t>
            </a: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S1 </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=0</a:t>
            </a:r>
          </a:p>
        </p:txBody>
      </p:sp>
      <p:sp>
        <p:nvSpPr>
          <p:cNvPr id="54285" name="Rectangle 13" descr="40%"/>
          <p:cNvSpPr>
            <a:spLocks noChangeArrowheads="1"/>
          </p:cNvSpPr>
          <p:nvPr/>
        </p:nvSpPr>
        <p:spPr bwMode="auto">
          <a:xfrm>
            <a:off x="4932363" y="4797425"/>
            <a:ext cx="3352200" cy="830997"/>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对回路</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p>
          <a:p>
            <a:pPr eaLnBrk="1" hangingPunct="1">
              <a:spcBef>
                <a:spcPct val="0"/>
              </a:spcBef>
              <a:buFontTx/>
              <a:buNone/>
            </a:pP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 </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 U</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S2</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 0 </a:t>
            </a:r>
          </a:p>
        </p:txBody>
      </p:sp>
      <p:sp>
        <p:nvSpPr>
          <p:cNvPr id="54337" name="Rectangle 65"/>
          <p:cNvSpPr>
            <a:spLocks noChangeArrowheads="1"/>
          </p:cNvSpPr>
          <p:nvPr/>
        </p:nvSpPr>
        <p:spPr bwMode="auto">
          <a:xfrm>
            <a:off x="381000" y="1143000"/>
            <a:ext cx="81534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a:spAutoFit/>
          </a:bodyPr>
          <a:lstStyle/>
          <a:p>
            <a:pPr eaLnBrk="1" hangingPunct="1">
              <a:lnSpc>
                <a:spcPct val="110000"/>
              </a:lnSpc>
              <a:spcBef>
                <a:spcPct val="25000"/>
              </a:spcBef>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b="1">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基尔霍夫电压定律</a:t>
            </a:r>
            <a:r>
              <a:rPr lang="zh-CN" alt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又称为基尔霍夫第二定律，简单记为</a:t>
            </a: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KVL</a:t>
            </a:r>
            <a:r>
              <a:rPr lang="zh-CN" alt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。其表达式为 ：  </a:t>
            </a:r>
          </a:p>
          <a:p>
            <a:pPr eaLnBrk="1" hangingPunct="1">
              <a:lnSpc>
                <a:spcPct val="110000"/>
              </a:lnSpc>
              <a:spcBef>
                <a:spcPct val="25000"/>
              </a:spcBef>
              <a:defRPr/>
            </a:pPr>
            <a:r>
              <a:rPr lang="zh-CN" alt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1" lang="zh-CN" alt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U = </a:t>
            </a:r>
            <a:r>
              <a:rPr kumimoji="1"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0</a:t>
            </a:r>
          </a:p>
          <a:p>
            <a:pPr eaLnBrk="1" hangingPunct="1">
              <a:lnSpc>
                <a:spcPct val="110000"/>
              </a:lnSpc>
              <a:spcBef>
                <a:spcPct val="25000"/>
              </a:spcBef>
              <a:defRPr/>
            </a:pPr>
            <a:r>
              <a:rPr kumimoji="1" lang="en-US" altLang="zh-CN"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此定律表明：沿任一闭合回路绕行一周，各支路电压的代数和为零。</a:t>
            </a:r>
          </a:p>
        </p:txBody>
      </p:sp>
      <p:grpSp>
        <p:nvGrpSpPr>
          <p:cNvPr id="48135" name="Group 151"/>
          <p:cNvGrpSpPr>
            <a:grpSpLocks/>
          </p:cNvGrpSpPr>
          <p:nvPr/>
        </p:nvGrpSpPr>
        <p:grpSpPr bwMode="auto">
          <a:xfrm>
            <a:off x="152400" y="3378200"/>
            <a:ext cx="4856163" cy="2873375"/>
            <a:chOff x="96" y="2080"/>
            <a:chExt cx="3059" cy="1810"/>
          </a:xfrm>
        </p:grpSpPr>
        <p:graphicFrame>
          <p:nvGraphicFramePr>
            <p:cNvPr id="48143" name="Object 106"/>
            <p:cNvGraphicFramePr>
              <a:graphicFrameLocks noChangeAspect="1"/>
            </p:cNvGraphicFramePr>
            <p:nvPr/>
          </p:nvGraphicFramePr>
          <p:xfrm>
            <a:off x="3084" y="2609"/>
            <a:ext cx="71" cy="155"/>
          </p:xfrm>
          <a:graphic>
            <a:graphicData uri="http://schemas.openxmlformats.org/presentationml/2006/ole">
              <mc:AlternateContent xmlns:mc="http://schemas.openxmlformats.org/markup-compatibility/2006">
                <mc:Choice xmlns:v="urn:schemas-microsoft-com:vml" Requires="v">
                  <p:oleObj spid="_x0000_s48242" name="公式" r:id="rId5" imgW="114151" imgH="215619" progId="Equation.3">
                    <p:embed/>
                  </p:oleObj>
                </mc:Choice>
                <mc:Fallback>
                  <p:oleObj name="公式" r:id="rId5" imgW="114151" imgH="215619" progId="Equation.3">
                    <p:embed/>
                    <p:pic>
                      <p:nvPicPr>
                        <p:cNvPr id="0" name="Object 10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4" y="2609"/>
                          <a:ext cx="71" cy="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44" name="Rectangle 107"/>
            <p:cNvSpPr>
              <a:spLocks noChangeArrowheads="1"/>
            </p:cNvSpPr>
            <p:nvPr/>
          </p:nvSpPr>
          <p:spPr bwMode="auto">
            <a:xfrm>
              <a:off x="916" y="2080"/>
              <a:ext cx="30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45" name="Line 108"/>
            <p:cNvSpPr>
              <a:spLocks noChangeShapeType="1"/>
            </p:cNvSpPr>
            <p:nvPr/>
          </p:nvSpPr>
          <p:spPr bwMode="auto">
            <a:xfrm>
              <a:off x="931" y="2466"/>
              <a:ext cx="252"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46" name="Rectangle 109"/>
            <p:cNvSpPr>
              <a:spLocks noChangeArrowheads="1"/>
            </p:cNvSpPr>
            <p:nvPr/>
          </p:nvSpPr>
          <p:spPr bwMode="auto">
            <a:xfrm>
              <a:off x="1900" y="2080"/>
              <a:ext cx="27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47" name="Line 110"/>
            <p:cNvSpPr>
              <a:spLocks noChangeShapeType="1"/>
            </p:cNvSpPr>
            <p:nvPr/>
          </p:nvSpPr>
          <p:spPr bwMode="auto">
            <a:xfrm>
              <a:off x="1907" y="2466"/>
              <a:ext cx="253"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48148" name="Group 111"/>
            <p:cNvGrpSpPr>
              <a:grpSpLocks/>
            </p:cNvGrpSpPr>
            <p:nvPr/>
          </p:nvGrpSpPr>
          <p:grpSpPr bwMode="auto">
            <a:xfrm>
              <a:off x="1184" y="2921"/>
              <a:ext cx="257" cy="318"/>
              <a:chOff x="2304" y="1274"/>
              <a:chExt cx="322" cy="345"/>
            </a:xfrm>
          </p:grpSpPr>
          <p:sp>
            <p:nvSpPr>
              <p:cNvPr id="48179" name="Rectangle 112"/>
              <p:cNvSpPr>
                <a:spLocks noChangeArrowheads="1"/>
              </p:cNvSpPr>
              <p:nvPr/>
            </p:nvSpPr>
            <p:spPr bwMode="auto">
              <a:xfrm>
                <a:off x="2304" y="1274"/>
                <a:ext cx="319"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80" name="Line 113"/>
              <p:cNvSpPr>
                <a:spLocks noChangeShapeType="1"/>
              </p:cNvSpPr>
              <p:nvPr/>
            </p:nvSpPr>
            <p:spPr bwMode="auto">
              <a:xfrm>
                <a:off x="2626" y="1275"/>
                <a:ext cx="0" cy="344"/>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48149" name="Rectangle 114"/>
            <p:cNvSpPr>
              <a:spLocks noChangeArrowheads="1"/>
            </p:cNvSpPr>
            <p:nvPr/>
          </p:nvSpPr>
          <p:spPr bwMode="auto">
            <a:xfrm>
              <a:off x="1469" y="3642"/>
              <a:ext cx="243"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Clr>
                  <a:schemeClr val="tx1"/>
                </a:buClr>
                <a:buFontTx/>
                <a:buNone/>
              </a:pPr>
              <a:r>
                <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50" name="Rectangle 115"/>
            <p:cNvSpPr>
              <a:spLocks noChangeArrowheads="1"/>
            </p:cNvSpPr>
            <p:nvPr/>
          </p:nvSpPr>
          <p:spPr bwMode="auto">
            <a:xfrm>
              <a:off x="1469" y="2323"/>
              <a:ext cx="229"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70000"/>
                </a:lnSpc>
                <a:spcBef>
                  <a:spcPct val="50000"/>
                </a:spcBef>
                <a:buClr>
                  <a:schemeClr val="tx1"/>
                </a:buClr>
                <a:buFontTx/>
                <a:buNone/>
              </a:pPr>
              <a:r>
                <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51" name="Rectangle 116"/>
            <p:cNvSpPr>
              <a:spLocks noChangeArrowheads="1"/>
            </p:cNvSpPr>
            <p:nvPr/>
          </p:nvSpPr>
          <p:spPr bwMode="auto">
            <a:xfrm>
              <a:off x="2468" y="2675"/>
              <a:ext cx="22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8152" name="Text Box 117"/>
            <p:cNvSpPr txBox="1">
              <a:spLocks noChangeArrowheads="1"/>
            </p:cNvSpPr>
            <p:nvPr/>
          </p:nvSpPr>
          <p:spPr bwMode="auto">
            <a:xfrm>
              <a:off x="869" y="2680"/>
              <a:ext cx="116"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53" name="Oval 118"/>
            <p:cNvSpPr>
              <a:spLocks noChangeArrowheads="1"/>
            </p:cNvSpPr>
            <p:nvPr/>
          </p:nvSpPr>
          <p:spPr bwMode="auto">
            <a:xfrm>
              <a:off x="475" y="2963"/>
              <a:ext cx="253" cy="276"/>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54" name="Oval 119"/>
            <p:cNvSpPr>
              <a:spLocks noChangeArrowheads="1"/>
            </p:cNvSpPr>
            <p:nvPr/>
          </p:nvSpPr>
          <p:spPr bwMode="auto">
            <a:xfrm>
              <a:off x="2378" y="2936"/>
              <a:ext cx="253" cy="275"/>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55" name="Line 120"/>
            <p:cNvSpPr>
              <a:spLocks noChangeShapeType="1"/>
            </p:cNvSpPr>
            <p:nvPr/>
          </p:nvSpPr>
          <p:spPr bwMode="auto">
            <a:xfrm flipV="1">
              <a:off x="1200" y="2588"/>
              <a:ext cx="6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56" name="Line 121"/>
            <p:cNvSpPr>
              <a:spLocks noChangeShapeType="1"/>
            </p:cNvSpPr>
            <p:nvPr/>
          </p:nvSpPr>
          <p:spPr bwMode="auto">
            <a:xfrm>
              <a:off x="2507" y="2588"/>
              <a:ext cx="0" cy="101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57" name="Line 122"/>
            <p:cNvSpPr>
              <a:spLocks noChangeShapeType="1"/>
            </p:cNvSpPr>
            <p:nvPr/>
          </p:nvSpPr>
          <p:spPr bwMode="auto">
            <a:xfrm flipV="1">
              <a:off x="586" y="3604"/>
              <a:ext cx="192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58" name="Line 123"/>
            <p:cNvSpPr>
              <a:spLocks noChangeShapeType="1"/>
            </p:cNvSpPr>
            <p:nvPr/>
          </p:nvSpPr>
          <p:spPr bwMode="auto">
            <a:xfrm>
              <a:off x="610" y="2591"/>
              <a:ext cx="1" cy="2"/>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59" name="Line 124"/>
            <p:cNvSpPr>
              <a:spLocks noChangeShapeType="1"/>
            </p:cNvSpPr>
            <p:nvPr/>
          </p:nvSpPr>
          <p:spPr bwMode="auto">
            <a:xfrm>
              <a:off x="586" y="2577"/>
              <a:ext cx="0" cy="10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60" name="Rectangle 125"/>
            <p:cNvSpPr>
              <a:spLocks noChangeArrowheads="1"/>
            </p:cNvSpPr>
            <p:nvPr/>
          </p:nvSpPr>
          <p:spPr bwMode="auto">
            <a:xfrm>
              <a:off x="1393" y="2890"/>
              <a:ext cx="19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61" name="Rectangle 126"/>
            <p:cNvSpPr>
              <a:spLocks noChangeArrowheads="1"/>
            </p:cNvSpPr>
            <p:nvPr/>
          </p:nvSpPr>
          <p:spPr bwMode="auto">
            <a:xfrm>
              <a:off x="2474" y="3162"/>
              <a:ext cx="18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8162" name="Rectangle 127"/>
            <p:cNvSpPr>
              <a:spLocks noChangeArrowheads="1"/>
            </p:cNvSpPr>
            <p:nvPr/>
          </p:nvSpPr>
          <p:spPr bwMode="auto">
            <a:xfrm>
              <a:off x="2640" y="2943"/>
              <a:ext cx="36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S2</a:t>
              </a:r>
              <a:endPar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63" name="Rectangle 128"/>
            <p:cNvSpPr>
              <a:spLocks noChangeArrowheads="1"/>
            </p:cNvSpPr>
            <p:nvPr/>
          </p:nvSpPr>
          <p:spPr bwMode="auto">
            <a:xfrm>
              <a:off x="1838" y="2659"/>
              <a:ext cx="33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64" name="Rectangle 129"/>
            <p:cNvSpPr>
              <a:spLocks noChangeArrowheads="1"/>
            </p:cNvSpPr>
            <p:nvPr/>
          </p:nvSpPr>
          <p:spPr bwMode="auto">
            <a:xfrm>
              <a:off x="394" y="2720"/>
              <a:ext cx="18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8165" name="Rectangle 130"/>
            <p:cNvSpPr>
              <a:spLocks noChangeArrowheads="1"/>
            </p:cNvSpPr>
            <p:nvPr/>
          </p:nvSpPr>
          <p:spPr bwMode="auto">
            <a:xfrm>
              <a:off x="392" y="2890"/>
              <a:ext cx="183"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66" name="Rectangle 131"/>
            <p:cNvSpPr>
              <a:spLocks noChangeArrowheads="1"/>
            </p:cNvSpPr>
            <p:nvPr/>
          </p:nvSpPr>
          <p:spPr bwMode="auto">
            <a:xfrm>
              <a:off x="400" y="3162"/>
              <a:ext cx="13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48167" name="Oval 132"/>
            <p:cNvSpPr>
              <a:spLocks noChangeArrowheads="1"/>
            </p:cNvSpPr>
            <p:nvPr/>
          </p:nvSpPr>
          <p:spPr bwMode="auto">
            <a:xfrm flipV="1">
              <a:off x="1530" y="2543"/>
              <a:ext cx="55" cy="63"/>
            </a:xfrm>
            <a:prstGeom prst="ellipse">
              <a:avLst/>
            </a:prstGeom>
            <a:solidFill>
              <a:schemeClr val="tx1"/>
            </a:solidFill>
            <a:ln>
              <a:noFill/>
            </a:ln>
            <a:effectLst/>
            <a:extLst>
              <a:ext uri="{91240B29-F687-4F45-9708-019B960494DF}">
                <a14:hiddenLine xmlns:a14="http://schemas.microsoft.com/office/drawing/2010/main" w="9525">
                  <a:solidFill>
                    <a:schemeClr val="accent2"/>
                  </a:solidFill>
                  <a:round/>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68" name="Oval 133"/>
            <p:cNvSpPr>
              <a:spLocks noChangeArrowheads="1"/>
            </p:cNvSpPr>
            <p:nvPr/>
          </p:nvSpPr>
          <p:spPr bwMode="auto">
            <a:xfrm flipV="1">
              <a:off x="1537" y="3559"/>
              <a:ext cx="56" cy="63"/>
            </a:xfrm>
            <a:prstGeom prst="ellipse">
              <a:avLst/>
            </a:prstGeom>
            <a:solidFill>
              <a:schemeClr val="tx1"/>
            </a:solidFill>
            <a:ln>
              <a:noFill/>
            </a:ln>
            <a:effectLst/>
            <a:extLst>
              <a:ext uri="{91240B29-F687-4F45-9708-019B960494DF}">
                <a14:hiddenLine xmlns:a14="http://schemas.microsoft.com/office/drawing/2010/main" w="9525">
                  <a:solidFill>
                    <a:schemeClr val="accent2"/>
                  </a:solidFill>
                  <a:round/>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69" name="Rectangle 134"/>
            <p:cNvSpPr>
              <a:spLocks noChangeArrowheads="1"/>
            </p:cNvSpPr>
            <p:nvPr/>
          </p:nvSpPr>
          <p:spPr bwMode="auto">
            <a:xfrm rot="5400000">
              <a:off x="1940" y="2474"/>
              <a:ext cx="130" cy="23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66CC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70" name="Rectangle 135"/>
            <p:cNvSpPr>
              <a:spLocks noChangeArrowheads="1"/>
            </p:cNvSpPr>
            <p:nvPr/>
          </p:nvSpPr>
          <p:spPr bwMode="auto">
            <a:xfrm rot="5400000">
              <a:off x="1003" y="2475"/>
              <a:ext cx="128" cy="24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66CC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71" name="Rectangle 136"/>
            <p:cNvSpPr>
              <a:spLocks noChangeArrowheads="1"/>
            </p:cNvSpPr>
            <p:nvPr/>
          </p:nvSpPr>
          <p:spPr bwMode="auto">
            <a:xfrm>
              <a:off x="1610" y="2963"/>
              <a:ext cx="22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3</a:t>
              </a:r>
              <a:endParaRPr kumimoji="1" lang="en-US" altLang="zh-CN" sz="2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72" name="Rectangle 137"/>
            <p:cNvSpPr>
              <a:spLocks noChangeArrowheads="1"/>
            </p:cNvSpPr>
            <p:nvPr/>
          </p:nvSpPr>
          <p:spPr bwMode="auto">
            <a:xfrm>
              <a:off x="874" y="2680"/>
              <a:ext cx="41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8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73" name="Line 138"/>
            <p:cNvSpPr>
              <a:spLocks noChangeShapeType="1"/>
            </p:cNvSpPr>
            <p:nvPr/>
          </p:nvSpPr>
          <p:spPr bwMode="auto">
            <a:xfrm flipH="1">
              <a:off x="1555" y="2591"/>
              <a:ext cx="0" cy="3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74" name="Rectangle 139"/>
            <p:cNvSpPr>
              <a:spLocks noChangeArrowheads="1"/>
            </p:cNvSpPr>
            <p:nvPr/>
          </p:nvSpPr>
          <p:spPr bwMode="auto">
            <a:xfrm>
              <a:off x="1498" y="2936"/>
              <a:ext cx="113" cy="27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66CC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75" name="Rectangle 140"/>
            <p:cNvSpPr>
              <a:spLocks noChangeArrowheads="1"/>
            </p:cNvSpPr>
            <p:nvPr/>
          </p:nvSpPr>
          <p:spPr bwMode="auto">
            <a:xfrm>
              <a:off x="96" y="2963"/>
              <a:ext cx="43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S1</a:t>
              </a:r>
            </a:p>
          </p:txBody>
        </p:sp>
        <p:sp>
          <p:nvSpPr>
            <p:cNvPr id="48176" name="Line 141"/>
            <p:cNvSpPr>
              <a:spLocks noChangeShapeType="1"/>
            </p:cNvSpPr>
            <p:nvPr/>
          </p:nvSpPr>
          <p:spPr bwMode="auto">
            <a:xfrm>
              <a:off x="1555" y="3206"/>
              <a:ext cx="0" cy="39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77" name="Line 142"/>
            <p:cNvSpPr>
              <a:spLocks noChangeShapeType="1"/>
            </p:cNvSpPr>
            <p:nvPr/>
          </p:nvSpPr>
          <p:spPr bwMode="auto">
            <a:xfrm>
              <a:off x="2122" y="2588"/>
              <a:ext cx="385"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78" name="Line 143"/>
            <p:cNvSpPr>
              <a:spLocks noChangeShapeType="1"/>
            </p:cNvSpPr>
            <p:nvPr/>
          </p:nvSpPr>
          <p:spPr bwMode="auto">
            <a:xfrm>
              <a:off x="586" y="2588"/>
              <a:ext cx="363"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48136" name="Group 152"/>
          <p:cNvGrpSpPr>
            <a:grpSpLocks/>
          </p:cNvGrpSpPr>
          <p:nvPr/>
        </p:nvGrpSpPr>
        <p:grpSpPr bwMode="auto">
          <a:xfrm>
            <a:off x="1219200" y="4724400"/>
            <a:ext cx="2438400" cy="838200"/>
            <a:chOff x="768" y="2976"/>
            <a:chExt cx="1536" cy="528"/>
          </a:xfrm>
        </p:grpSpPr>
        <p:sp>
          <p:nvSpPr>
            <p:cNvPr id="48137" name="Oval 144"/>
            <p:cNvSpPr>
              <a:spLocks noChangeArrowheads="1"/>
            </p:cNvSpPr>
            <p:nvPr/>
          </p:nvSpPr>
          <p:spPr bwMode="auto">
            <a:xfrm>
              <a:off x="768" y="2976"/>
              <a:ext cx="432" cy="48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38" name="Oval 145"/>
            <p:cNvSpPr>
              <a:spLocks noChangeArrowheads="1"/>
            </p:cNvSpPr>
            <p:nvPr/>
          </p:nvSpPr>
          <p:spPr bwMode="auto">
            <a:xfrm>
              <a:off x="1872" y="2976"/>
              <a:ext cx="432" cy="48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39" name="Text Box 146"/>
            <p:cNvSpPr txBox="1">
              <a:spLocks noChangeArrowheads="1"/>
            </p:cNvSpPr>
            <p:nvPr/>
          </p:nvSpPr>
          <p:spPr bwMode="auto">
            <a:xfrm>
              <a:off x="768" y="3216"/>
              <a:ext cx="336" cy="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1</a:t>
              </a:r>
            </a:p>
          </p:txBody>
        </p:sp>
        <p:sp>
          <p:nvSpPr>
            <p:cNvPr id="48140" name="Text Box 147"/>
            <p:cNvSpPr txBox="1">
              <a:spLocks noChangeArrowheads="1"/>
            </p:cNvSpPr>
            <p:nvPr/>
          </p:nvSpPr>
          <p:spPr bwMode="auto">
            <a:xfrm>
              <a:off x="1872" y="3216"/>
              <a:ext cx="336" cy="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48141" name="Line 148"/>
            <p:cNvSpPr>
              <a:spLocks noChangeShapeType="1"/>
            </p:cNvSpPr>
            <p:nvPr/>
          </p:nvSpPr>
          <p:spPr bwMode="auto">
            <a:xfrm flipV="1">
              <a:off x="2208" y="3360"/>
              <a:ext cx="48" cy="48"/>
            </a:xfrm>
            <a:prstGeom prst="line">
              <a:avLst/>
            </a:prstGeom>
            <a:noFill/>
            <a:ln w="9525">
              <a:solidFill>
                <a:schemeClr val="tx1"/>
              </a:solidFill>
              <a:round/>
              <a:headEnd type="triangl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8142" name="Line 149"/>
            <p:cNvSpPr>
              <a:spLocks noChangeShapeType="1"/>
            </p:cNvSpPr>
            <p:nvPr/>
          </p:nvSpPr>
          <p:spPr bwMode="auto">
            <a:xfrm flipV="1">
              <a:off x="1152" y="3264"/>
              <a:ext cx="48" cy="96"/>
            </a:xfrm>
            <a:prstGeom prst="line">
              <a:avLst/>
            </a:prstGeom>
            <a:noFill/>
            <a:ln w="9525">
              <a:solidFill>
                <a:schemeClr val="tx1"/>
              </a:solidFill>
              <a:round/>
              <a:headEnd type="triangl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2" name="灯片编号占位符 1"/>
          <p:cNvSpPr>
            <a:spLocks noGrp="1"/>
          </p:cNvSpPr>
          <p:nvPr>
            <p:ph type="sldNum" sz="quarter" idx="12"/>
          </p:nvPr>
        </p:nvSpPr>
        <p:spPr/>
        <p:txBody>
          <a:bodyPr/>
          <a:lstStyle/>
          <a:p>
            <a:pPr>
              <a:defRPr/>
            </a:pPr>
            <a:fld id="{7F6DAC6E-051E-43BF-A607-F6F4F9E2F096}" type="slidenum">
              <a:rPr lang="en-US" altLang="zh-CN" smtClean="0"/>
              <a:pPr>
                <a:defRPr/>
              </a:pPr>
              <a:t>41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337"/>
                                        </p:tgtEl>
                                        <p:attrNameLst>
                                          <p:attrName>style.visibility</p:attrName>
                                        </p:attrNameLst>
                                      </p:cBhvr>
                                      <p:to>
                                        <p:strVal val="visible"/>
                                      </p:to>
                                    </p:set>
                                    <p:animEffect transition="in" filter="wipe(left)">
                                      <p:cBhvr>
                                        <p:cTn id="7" dur="500"/>
                                        <p:tgtEl>
                                          <p:spTgt spid="543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82"/>
                                        </p:tgtEl>
                                        <p:attrNameLst>
                                          <p:attrName>style.visibility</p:attrName>
                                        </p:attrNameLst>
                                      </p:cBhvr>
                                      <p:to>
                                        <p:strVal val="visible"/>
                                      </p:to>
                                    </p:set>
                                    <p:animEffect transition="in" filter="wipe(left)">
                                      <p:cBhvr>
                                        <p:cTn id="12" dur="500"/>
                                        <p:tgtEl>
                                          <p:spTgt spid="5428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285"/>
                                        </p:tgtEl>
                                        <p:attrNameLst>
                                          <p:attrName>style.visibility</p:attrName>
                                        </p:attrNameLst>
                                      </p:cBhvr>
                                      <p:to>
                                        <p:strVal val="visible"/>
                                      </p:to>
                                    </p:set>
                                    <p:animEffect transition="in" filter="wipe(left)">
                                      <p:cBhvr>
                                        <p:cTn id="17" dur="500"/>
                                        <p:tgtEl>
                                          <p:spTgt spid="54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2" grpId="0" autoUpdateAnimBg="0"/>
      <p:bldP spid="54285" grpId="0" autoUpdateAnimBg="0"/>
      <p:bldP spid="54337"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457200" y="990600"/>
            <a:ext cx="8153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25000"/>
              </a:spcBef>
              <a:buFontTx/>
              <a:buNone/>
            </a:pPr>
            <a:r>
              <a:rPr kumimoji="1"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1</a:t>
            </a:r>
            <a:r>
              <a:rPr kumimoji="1"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．必须</a:t>
            </a:r>
            <a:r>
              <a:rPr kumimoji="1"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明确回路绕行的方向</a:t>
            </a:r>
            <a:r>
              <a:rPr kumimoji="1"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取顺时针方向或逆时针方向</a:t>
            </a:r>
            <a:r>
              <a:rPr kumimoji="1"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5299" name="Text Box 3"/>
          <p:cNvSpPr txBox="1">
            <a:spLocks noChangeArrowheads="1"/>
          </p:cNvSpPr>
          <p:nvPr/>
        </p:nvSpPr>
        <p:spPr bwMode="auto">
          <a:xfrm>
            <a:off x="914400" y="4038600"/>
            <a:ext cx="3124200" cy="4985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kumimoji="1" lang="en-US" altLang="zh-CN" sz="24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2  </a:t>
            </a: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baseline="3000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S2 </a:t>
            </a:r>
            <a:r>
              <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ab</a:t>
            </a:r>
            <a:r>
              <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rPr>
              <a:t>=0</a:t>
            </a:r>
            <a:r>
              <a:rPr kumimoji="1" lang="en-US" altLang="zh-CN" sz="2400" b="1" baseline="-25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55301" name="Rectangle 5"/>
          <p:cNvSpPr>
            <a:spLocks noChangeArrowheads="1"/>
          </p:cNvSpPr>
          <p:nvPr/>
        </p:nvSpPr>
        <p:spPr bwMode="auto">
          <a:xfrm>
            <a:off x="468313" y="2565400"/>
            <a:ext cx="55435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25000"/>
              </a:spcBef>
              <a:buFontTx/>
              <a:buNone/>
            </a:pPr>
            <a:r>
              <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rPr>
              <a:t>3. </a:t>
            </a: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绕行的回路也可以不经过支路</a:t>
            </a:r>
          </a:p>
        </p:txBody>
      </p:sp>
      <p:sp>
        <p:nvSpPr>
          <p:cNvPr id="55309" name="Rectangle 13" descr="40%"/>
          <p:cNvSpPr>
            <a:spLocks noChangeArrowheads="1"/>
          </p:cNvSpPr>
          <p:nvPr/>
        </p:nvSpPr>
        <p:spPr bwMode="auto">
          <a:xfrm>
            <a:off x="914400" y="3413125"/>
            <a:ext cx="2888932" cy="523220"/>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以图中回路</a:t>
            </a:r>
            <a:r>
              <a:rPr kumimoji="1" lang="en-US" altLang="zh-CN"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1</a:t>
            </a:r>
            <a:r>
              <a:rPr kumimoji="1" lang="zh-CN" altLang="en-US" sz="24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为例</a:t>
            </a:r>
            <a:r>
              <a:rPr lang="zh-CN" altLang="en-US" sz="28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5341" name="Rectangle 45"/>
          <p:cNvSpPr>
            <a:spLocks noChangeArrowheads="1"/>
          </p:cNvSpPr>
          <p:nvPr/>
        </p:nvSpPr>
        <p:spPr bwMode="auto">
          <a:xfrm>
            <a:off x="457200" y="1600200"/>
            <a:ext cx="8153400"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spcBef>
                <a:spcPct val="25000"/>
              </a:spcBef>
              <a:defRPr/>
            </a:pPr>
            <a:r>
              <a:rPr kumimoji="1" lang="en-US" altLang="zh-CN" b="1" dirty="0">
                <a:latin typeface="Times New Roman" panose="02020603050405020304" pitchFamily="18" charset="0"/>
                <a:ea typeface="华文中宋" panose="02010600040101010101" pitchFamily="2" charset="-122"/>
                <a:cs typeface="Times New Roman" panose="02020603050405020304" pitchFamily="18" charset="0"/>
              </a:rPr>
              <a:t>2</a:t>
            </a:r>
            <a:r>
              <a:rPr kumimoji="1" lang="zh-CN" altLang="en-US" b="1" dirty="0">
                <a:latin typeface="Times New Roman" panose="02020603050405020304" pitchFamily="18" charset="0"/>
                <a:ea typeface="华文中宋" panose="02010600040101010101" pitchFamily="2" charset="-122"/>
                <a:cs typeface="Times New Roman" panose="02020603050405020304" pitchFamily="18" charset="0"/>
              </a:rPr>
              <a:t>．电压的方向是电压降的方向。电压的方向与回路绕行的    方向相反时注意电压前面的负号。</a:t>
            </a:r>
            <a:endParaRPr kumimoji="1" lang="zh-CN" altLang="en-US" b="1" dirty="0">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p:txBody>
      </p:sp>
      <p:sp>
        <p:nvSpPr>
          <p:cNvPr id="49159" name="Text Box 46"/>
          <p:cNvSpPr txBox="1">
            <a:spLocks noChangeArrowheads="1"/>
          </p:cNvSpPr>
          <p:nvPr/>
        </p:nvSpPr>
        <p:spPr bwMode="auto">
          <a:xfrm>
            <a:off x="0" y="333375"/>
            <a:ext cx="2209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注意事项</a:t>
            </a:r>
          </a:p>
        </p:txBody>
      </p:sp>
      <p:grpSp>
        <p:nvGrpSpPr>
          <p:cNvPr id="49160" name="Group 51"/>
          <p:cNvGrpSpPr>
            <a:grpSpLocks/>
          </p:cNvGrpSpPr>
          <p:nvPr/>
        </p:nvGrpSpPr>
        <p:grpSpPr bwMode="auto">
          <a:xfrm>
            <a:off x="4586288" y="3503613"/>
            <a:ext cx="4114800" cy="2733676"/>
            <a:chOff x="2889" y="2207"/>
            <a:chExt cx="2592" cy="1722"/>
          </a:xfrm>
        </p:grpSpPr>
        <p:sp>
          <p:nvSpPr>
            <p:cNvPr id="49162" name="Text Box 16"/>
            <p:cNvSpPr txBox="1">
              <a:spLocks noChangeArrowheads="1"/>
            </p:cNvSpPr>
            <p:nvPr/>
          </p:nvSpPr>
          <p:spPr bwMode="auto">
            <a:xfrm>
              <a:off x="2889" y="2614"/>
              <a:ext cx="49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S1</a:t>
              </a:r>
            </a:p>
          </p:txBody>
        </p:sp>
        <p:sp>
          <p:nvSpPr>
            <p:cNvPr id="49163" name="Text Box 17"/>
            <p:cNvSpPr txBox="1">
              <a:spLocks noChangeArrowheads="1"/>
            </p:cNvSpPr>
            <p:nvPr/>
          </p:nvSpPr>
          <p:spPr bwMode="auto">
            <a:xfrm>
              <a:off x="4875" y="2870"/>
              <a:ext cx="60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ab</a:t>
              </a:r>
              <a:endParaRPr kumimoji="1"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64" name="Text Box 18"/>
            <p:cNvSpPr txBox="1">
              <a:spLocks noChangeArrowheads="1"/>
            </p:cNvSpPr>
            <p:nvPr/>
          </p:nvSpPr>
          <p:spPr bwMode="auto">
            <a:xfrm>
              <a:off x="4991" y="3599"/>
              <a:ext cx="24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sz="2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65" name="Text Box 19"/>
            <p:cNvSpPr txBox="1">
              <a:spLocks noChangeArrowheads="1"/>
            </p:cNvSpPr>
            <p:nvPr/>
          </p:nvSpPr>
          <p:spPr bwMode="auto">
            <a:xfrm>
              <a:off x="4848" y="2409"/>
              <a:ext cx="269"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8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66" name="Text Box 20"/>
            <p:cNvSpPr txBox="1">
              <a:spLocks noChangeArrowheads="1"/>
            </p:cNvSpPr>
            <p:nvPr/>
          </p:nvSpPr>
          <p:spPr bwMode="auto">
            <a:xfrm>
              <a:off x="4955" y="2207"/>
              <a:ext cx="22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67" name="Line 21"/>
            <p:cNvSpPr>
              <a:spLocks noChangeShapeType="1"/>
            </p:cNvSpPr>
            <p:nvPr/>
          </p:nvSpPr>
          <p:spPr bwMode="auto">
            <a:xfrm>
              <a:off x="3208" y="2932"/>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68" name="Oval 22"/>
            <p:cNvSpPr>
              <a:spLocks noChangeArrowheads="1"/>
            </p:cNvSpPr>
            <p:nvPr/>
          </p:nvSpPr>
          <p:spPr bwMode="auto">
            <a:xfrm>
              <a:off x="3291" y="2617"/>
              <a:ext cx="329" cy="315"/>
            </a:xfrm>
            <a:prstGeom prst="ellips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69" name="Line 23"/>
            <p:cNvSpPr>
              <a:spLocks noChangeShapeType="1"/>
            </p:cNvSpPr>
            <p:nvPr/>
          </p:nvSpPr>
          <p:spPr bwMode="auto">
            <a:xfrm>
              <a:off x="3455" y="2380"/>
              <a:ext cx="0" cy="789"/>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70" name="Rectangle 24"/>
            <p:cNvSpPr>
              <a:spLocks noChangeArrowheads="1"/>
            </p:cNvSpPr>
            <p:nvPr/>
          </p:nvSpPr>
          <p:spPr bwMode="auto">
            <a:xfrm>
              <a:off x="3373" y="3169"/>
              <a:ext cx="165" cy="31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71" name="Line 25"/>
            <p:cNvSpPr>
              <a:spLocks noChangeShapeType="1"/>
            </p:cNvSpPr>
            <p:nvPr/>
          </p:nvSpPr>
          <p:spPr bwMode="auto">
            <a:xfrm>
              <a:off x="3455" y="3484"/>
              <a:ext cx="0" cy="31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72" name="Text Box 26"/>
            <p:cNvSpPr txBox="1">
              <a:spLocks noChangeArrowheads="1"/>
            </p:cNvSpPr>
            <p:nvPr/>
          </p:nvSpPr>
          <p:spPr bwMode="auto">
            <a:xfrm>
              <a:off x="3126" y="2379"/>
              <a:ext cx="329" cy="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8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50000"/>
                </a:spcBef>
                <a:buFontTx/>
                <a:buNone/>
              </a:pPr>
              <a:r>
                <a:rPr kumimoji="1" lang="en-US" altLang="zh-CN" sz="28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9173" name="Line 27"/>
            <p:cNvSpPr>
              <a:spLocks noChangeShapeType="1"/>
            </p:cNvSpPr>
            <p:nvPr/>
          </p:nvSpPr>
          <p:spPr bwMode="auto">
            <a:xfrm rot="-5400000">
              <a:off x="4166" y="1670"/>
              <a:ext cx="0" cy="141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74" name="Oval 28"/>
            <p:cNvSpPr>
              <a:spLocks noChangeArrowheads="1"/>
            </p:cNvSpPr>
            <p:nvPr/>
          </p:nvSpPr>
          <p:spPr bwMode="auto">
            <a:xfrm>
              <a:off x="4854" y="2331"/>
              <a:ext cx="103" cy="99"/>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75" name="Text Box 29"/>
            <p:cNvSpPr txBox="1">
              <a:spLocks noChangeArrowheads="1"/>
            </p:cNvSpPr>
            <p:nvPr/>
          </p:nvSpPr>
          <p:spPr bwMode="auto">
            <a:xfrm>
              <a:off x="3031" y="3212"/>
              <a:ext cx="38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76" name="Line 30"/>
            <p:cNvSpPr>
              <a:spLocks noChangeShapeType="1"/>
            </p:cNvSpPr>
            <p:nvPr/>
          </p:nvSpPr>
          <p:spPr bwMode="auto">
            <a:xfrm>
              <a:off x="3854" y="2923"/>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77" name="Oval 31"/>
            <p:cNvSpPr>
              <a:spLocks noChangeArrowheads="1"/>
            </p:cNvSpPr>
            <p:nvPr/>
          </p:nvSpPr>
          <p:spPr bwMode="auto">
            <a:xfrm>
              <a:off x="3937" y="2608"/>
              <a:ext cx="329" cy="315"/>
            </a:xfrm>
            <a:prstGeom prst="ellips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78" name="Line 32"/>
            <p:cNvSpPr>
              <a:spLocks noChangeShapeType="1"/>
            </p:cNvSpPr>
            <p:nvPr/>
          </p:nvSpPr>
          <p:spPr bwMode="auto">
            <a:xfrm>
              <a:off x="4101" y="2371"/>
              <a:ext cx="0" cy="789"/>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79" name="Rectangle 33"/>
            <p:cNvSpPr>
              <a:spLocks noChangeArrowheads="1"/>
            </p:cNvSpPr>
            <p:nvPr/>
          </p:nvSpPr>
          <p:spPr bwMode="auto">
            <a:xfrm>
              <a:off x="4019" y="3160"/>
              <a:ext cx="165" cy="31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80" name="Line 34"/>
            <p:cNvSpPr>
              <a:spLocks noChangeShapeType="1"/>
            </p:cNvSpPr>
            <p:nvPr/>
          </p:nvSpPr>
          <p:spPr bwMode="auto">
            <a:xfrm>
              <a:off x="4101" y="3475"/>
              <a:ext cx="0" cy="31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81" name="Text Box 35"/>
            <p:cNvSpPr txBox="1">
              <a:spLocks noChangeArrowheads="1"/>
            </p:cNvSpPr>
            <p:nvPr/>
          </p:nvSpPr>
          <p:spPr bwMode="auto">
            <a:xfrm>
              <a:off x="3806" y="2368"/>
              <a:ext cx="331" cy="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p>
            <a:p>
              <a:pPr algn="ctr" eaLnBrk="1" hangingPunct="1">
                <a:spcBef>
                  <a:spcPct val="50000"/>
                </a:spcBef>
                <a:buFontTx/>
                <a:buNone/>
              </a:pPr>
              <a:r>
                <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49182" name="Text Box 36"/>
            <p:cNvSpPr txBox="1">
              <a:spLocks noChangeArrowheads="1"/>
            </p:cNvSpPr>
            <p:nvPr/>
          </p:nvSpPr>
          <p:spPr bwMode="auto">
            <a:xfrm>
              <a:off x="3513" y="2583"/>
              <a:ext cx="53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S2</a:t>
              </a:r>
            </a:p>
          </p:txBody>
        </p:sp>
        <p:sp>
          <p:nvSpPr>
            <p:cNvPr id="49183" name="Text Box 37"/>
            <p:cNvSpPr txBox="1">
              <a:spLocks noChangeArrowheads="1"/>
            </p:cNvSpPr>
            <p:nvPr/>
          </p:nvSpPr>
          <p:spPr bwMode="auto">
            <a:xfrm>
              <a:off x="3638" y="3207"/>
              <a:ext cx="40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84" name="Line 38"/>
            <p:cNvSpPr>
              <a:spLocks noChangeShapeType="1"/>
            </p:cNvSpPr>
            <p:nvPr/>
          </p:nvSpPr>
          <p:spPr bwMode="auto">
            <a:xfrm rot="-5400000">
              <a:off x="4165" y="3082"/>
              <a:ext cx="0" cy="14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85" name="Oval 39"/>
            <p:cNvSpPr>
              <a:spLocks noChangeArrowheads="1"/>
            </p:cNvSpPr>
            <p:nvPr/>
          </p:nvSpPr>
          <p:spPr bwMode="auto">
            <a:xfrm>
              <a:off x="4854" y="3742"/>
              <a:ext cx="103" cy="98"/>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86" name="Text Box 40"/>
            <p:cNvSpPr txBox="1">
              <a:spLocks noChangeArrowheads="1"/>
            </p:cNvSpPr>
            <p:nvPr/>
          </p:nvSpPr>
          <p:spPr bwMode="auto">
            <a:xfrm>
              <a:off x="4266" y="3300"/>
              <a:ext cx="36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87" name="Line 41"/>
            <p:cNvSpPr>
              <a:spLocks noChangeShapeType="1"/>
            </p:cNvSpPr>
            <p:nvPr/>
          </p:nvSpPr>
          <p:spPr bwMode="auto">
            <a:xfrm flipV="1">
              <a:off x="4266" y="3076"/>
              <a:ext cx="0" cy="523"/>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88" name="Text Box 42"/>
            <p:cNvSpPr txBox="1">
              <a:spLocks noChangeArrowheads="1"/>
            </p:cNvSpPr>
            <p:nvPr/>
          </p:nvSpPr>
          <p:spPr bwMode="auto">
            <a:xfrm>
              <a:off x="4848" y="3312"/>
              <a:ext cx="32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_</a:t>
              </a:r>
              <a:endPar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89" name="Oval 43"/>
            <p:cNvSpPr>
              <a:spLocks noChangeArrowheads="1"/>
            </p:cNvSpPr>
            <p:nvPr/>
          </p:nvSpPr>
          <p:spPr bwMode="auto">
            <a:xfrm flipV="1">
              <a:off x="4069" y="2345"/>
              <a:ext cx="68" cy="6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90" name="Oval 44"/>
            <p:cNvSpPr>
              <a:spLocks noChangeArrowheads="1"/>
            </p:cNvSpPr>
            <p:nvPr/>
          </p:nvSpPr>
          <p:spPr bwMode="auto">
            <a:xfrm flipV="1">
              <a:off x="4069" y="3757"/>
              <a:ext cx="68" cy="6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91" name="Oval 47"/>
            <p:cNvSpPr>
              <a:spLocks noChangeArrowheads="1"/>
            </p:cNvSpPr>
            <p:nvPr/>
          </p:nvSpPr>
          <p:spPr bwMode="auto">
            <a:xfrm>
              <a:off x="4368" y="2544"/>
              <a:ext cx="480" cy="960"/>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92" name="Rectangle 48"/>
            <p:cNvSpPr>
              <a:spLocks noChangeArrowheads="1"/>
            </p:cNvSpPr>
            <p:nvPr/>
          </p:nvSpPr>
          <p:spPr bwMode="auto">
            <a:xfrm>
              <a:off x="4656" y="3360"/>
              <a:ext cx="192"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93" name="Line 49"/>
            <p:cNvSpPr>
              <a:spLocks noChangeShapeType="1"/>
            </p:cNvSpPr>
            <p:nvPr/>
          </p:nvSpPr>
          <p:spPr bwMode="auto">
            <a:xfrm flipH="1">
              <a:off x="4800" y="3120"/>
              <a:ext cx="48" cy="192"/>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9194" name="Text Box 50"/>
            <p:cNvSpPr txBox="1">
              <a:spLocks noChangeArrowheads="1"/>
            </p:cNvSpPr>
            <p:nvPr/>
          </p:nvSpPr>
          <p:spPr bwMode="auto">
            <a:xfrm>
              <a:off x="4464" y="2880"/>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1</a:t>
              </a:r>
            </a:p>
          </p:txBody>
        </p:sp>
      </p:grpSp>
      <p:sp>
        <p:nvSpPr>
          <p:cNvPr id="55348" name="Text Box 52"/>
          <p:cNvSpPr txBox="1">
            <a:spLocks noChangeArrowheads="1"/>
          </p:cNvSpPr>
          <p:nvPr/>
        </p:nvSpPr>
        <p:spPr bwMode="auto">
          <a:xfrm>
            <a:off x="533400" y="4800600"/>
            <a:ext cx="3962400" cy="963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0"/>
              </a:spcBef>
              <a:buFontTx/>
              <a:buNone/>
            </a:pPr>
            <a:r>
              <a:rPr kumimoji="1" lang="en-US" altLang="zh-CN" sz="28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这里</a:t>
            </a: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ab</a:t>
            </a: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是</a:t>
            </a:r>
            <a:r>
              <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rPr>
              <a:t>ab</a:t>
            </a: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之间的电压，</a:t>
            </a:r>
            <a:r>
              <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rPr>
              <a:t>ab</a:t>
            </a: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之间没有支路。</a:t>
            </a:r>
          </a:p>
        </p:txBody>
      </p:sp>
      <p:sp>
        <p:nvSpPr>
          <p:cNvPr id="2" name="灯片编号占位符 1"/>
          <p:cNvSpPr>
            <a:spLocks noGrp="1"/>
          </p:cNvSpPr>
          <p:nvPr>
            <p:ph type="sldNum" sz="quarter" idx="12"/>
          </p:nvPr>
        </p:nvSpPr>
        <p:spPr/>
        <p:txBody>
          <a:bodyPr/>
          <a:lstStyle/>
          <a:p>
            <a:pPr>
              <a:defRPr/>
            </a:pPr>
            <a:fld id="{4324DAC4-A72B-4AD4-8480-0E4C6687AABC}" type="slidenum">
              <a:rPr lang="en-US" altLang="zh-CN" smtClean="0"/>
              <a:pPr>
                <a:defRPr/>
              </a:pPr>
              <a:t>42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298"/>
                                        </p:tgtEl>
                                        <p:attrNameLst>
                                          <p:attrName>style.visibility</p:attrName>
                                        </p:attrNameLst>
                                      </p:cBhvr>
                                      <p:to>
                                        <p:strVal val="visible"/>
                                      </p:to>
                                    </p:set>
                                    <p:animEffect transition="in" filter="wipe(left)">
                                      <p:cBhvr>
                                        <p:cTn id="7" dur="500"/>
                                        <p:tgtEl>
                                          <p:spTgt spid="552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341">
                                            <p:txEl>
                                              <p:pRg st="0" end="0"/>
                                            </p:txEl>
                                          </p:spTgt>
                                        </p:tgtEl>
                                        <p:attrNameLst>
                                          <p:attrName>style.visibility</p:attrName>
                                        </p:attrNameLst>
                                      </p:cBhvr>
                                      <p:to>
                                        <p:strVal val="visible"/>
                                      </p:to>
                                    </p:set>
                                    <p:animEffect transition="in" filter="wipe(left)">
                                      <p:cBhvr>
                                        <p:cTn id="12" dur="500"/>
                                        <p:tgtEl>
                                          <p:spTgt spid="5534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5301"/>
                                        </p:tgtEl>
                                        <p:attrNameLst>
                                          <p:attrName>style.visibility</p:attrName>
                                        </p:attrNameLst>
                                      </p:cBhvr>
                                      <p:to>
                                        <p:strVal val="visible"/>
                                      </p:to>
                                    </p:set>
                                    <p:animEffect transition="in" filter="wipe(left)">
                                      <p:cBhvr>
                                        <p:cTn id="17" dur="500"/>
                                        <p:tgtEl>
                                          <p:spTgt spid="553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5309"/>
                                        </p:tgtEl>
                                        <p:attrNameLst>
                                          <p:attrName>style.visibility</p:attrName>
                                        </p:attrNameLst>
                                      </p:cBhvr>
                                      <p:to>
                                        <p:strVal val="visible"/>
                                      </p:to>
                                    </p:set>
                                    <p:animEffect transition="in" filter="wipe(left)">
                                      <p:cBhvr>
                                        <p:cTn id="22" dur="500"/>
                                        <p:tgtEl>
                                          <p:spTgt spid="553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5299">
                                            <p:txEl>
                                              <p:pRg st="0" end="0"/>
                                            </p:txEl>
                                          </p:spTgt>
                                        </p:tgtEl>
                                        <p:attrNameLst>
                                          <p:attrName>style.visibility</p:attrName>
                                        </p:attrNameLst>
                                      </p:cBhvr>
                                      <p:to>
                                        <p:strVal val="visible"/>
                                      </p:to>
                                    </p:set>
                                    <p:animEffect transition="in" filter="wipe(left)">
                                      <p:cBhvr>
                                        <p:cTn id="27" dur="500"/>
                                        <p:tgtEl>
                                          <p:spTgt spid="55299">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5348">
                                            <p:txEl>
                                              <p:pRg st="0" end="0"/>
                                            </p:txEl>
                                          </p:spTgt>
                                        </p:tgtEl>
                                        <p:attrNameLst>
                                          <p:attrName>style.visibility</p:attrName>
                                        </p:attrNameLst>
                                      </p:cBhvr>
                                      <p:to>
                                        <p:strVal val="visible"/>
                                      </p:to>
                                    </p:set>
                                    <p:animEffect transition="in" filter="wipe(left)">
                                      <p:cBhvr>
                                        <p:cTn id="32" dur="500"/>
                                        <p:tgtEl>
                                          <p:spTgt spid="553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autoUpdateAnimBg="0"/>
      <p:bldP spid="55299" grpId="0" build="p" autoUpdateAnimBg="0"/>
      <p:bldP spid="55301" grpId="0" autoUpdateAnimBg="0"/>
      <p:bldP spid="55309" grpId="0" autoUpdateAnimBg="0"/>
      <p:bldP spid="55341" grpId="0" build="p" autoUpdateAnimBg="0"/>
      <p:bldP spid="55348"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0178" name="Group 8"/>
          <p:cNvGrpSpPr>
            <a:grpSpLocks/>
          </p:cNvGrpSpPr>
          <p:nvPr/>
        </p:nvGrpSpPr>
        <p:grpSpPr bwMode="auto">
          <a:xfrm>
            <a:off x="4643438" y="257462"/>
            <a:ext cx="4114800" cy="2533221"/>
            <a:chOff x="2889" y="2190"/>
            <a:chExt cx="2592" cy="1754"/>
          </a:xfrm>
        </p:grpSpPr>
        <p:sp>
          <p:nvSpPr>
            <p:cNvPr id="50218" name="Text Box 9"/>
            <p:cNvSpPr txBox="1">
              <a:spLocks noChangeArrowheads="1"/>
            </p:cNvSpPr>
            <p:nvPr/>
          </p:nvSpPr>
          <p:spPr bwMode="auto">
            <a:xfrm>
              <a:off x="2889" y="2598"/>
              <a:ext cx="497"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S1</a:t>
              </a:r>
            </a:p>
          </p:txBody>
        </p:sp>
        <p:sp>
          <p:nvSpPr>
            <p:cNvPr id="50219" name="Text Box 10"/>
            <p:cNvSpPr txBox="1">
              <a:spLocks noChangeArrowheads="1"/>
            </p:cNvSpPr>
            <p:nvPr/>
          </p:nvSpPr>
          <p:spPr bwMode="auto">
            <a:xfrm>
              <a:off x="4875" y="2870"/>
              <a:ext cx="606"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ab</a:t>
              </a:r>
              <a:endParaRPr kumimoji="1"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20" name="Text Box 11"/>
            <p:cNvSpPr txBox="1">
              <a:spLocks noChangeArrowheads="1"/>
            </p:cNvSpPr>
            <p:nvPr/>
          </p:nvSpPr>
          <p:spPr bwMode="auto">
            <a:xfrm>
              <a:off x="4991" y="3582"/>
              <a:ext cx="243" cy="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sz="2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21" name="Text Box 12"/>
            <p:cNvSpPr txBox="1">
              <a:spLocks noChangeArrowheads="1"/>
            </p:cNvSpPr>
            <p:nvPr/>
          </p:nvSpPr>
          <p:spPr bwMode="auto">
            <a:xfrm>
              <a:off x="4848" y="2409"/>
              <a:ext cx="269" cy="3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8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22" name="Text Box 13"/>
            <p:cNvSpPr txBox="1">
              <a:spLocks noChangeArrowheads="1"/>
            </p:cNvSpPr>
            <p:nvPr/>
          </p:nvSpPr>
          <p:spPr bwMode="auto">
            <a:xfrm>
              <a:off x="4955" y="2190"/>
              <a:ext cx="229" cy="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23" name="Line 14"/>
            <p:cNvSpPr>
              <a:spLocks noChangeShapeType="1"/>
            </p:cNvSpPr>
            <p:nvPr/>
          </p:nvSpPr>
          <p:spPr bwMode="auto">
            <a:xfrm>
              <a:off x="3208" y="2932"/>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24" name="Oval 15"/>
            <p:cNvSpPr>
              <a:spLocks noChangeArrowheads="1"/>
            </p:cNvSpPr>
            <p:nvPr/>
          </p:nvSpPr>
          <p:spPr bwMode="auto">
            <a:xfrm>
              <a:off x="3291" y="2617"/>
              <a:ext cx="329" cy="315"/>
            </a:xfrm>
            <a:prstGeom prst="ellips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25" name="Line 16"/>
            <p:cNvSpPr>
              <a:spLocks noChangeShapeType="1"/>
            </p:cNvSpPr>
            <p:nvPr/>
          </p:nvSpPr>
          <p:spPr bwMode="auto">
            <a:xfrm>
              <a:off x="3455" y="2380"/>
              <a:ext cx="0" cy="789"/>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26" name="Rectangle 17"/>
            <p:cNvSpPr>
              <a:spLocks noChangeArrowheads="1"/>
            </p:cNvSpPr>
            <p:nvPr/>
          </p:nvSpPr>
          <p:spPr bwMode="auto">
            <a:xfrm>
              <a:off x="3373" y="3169"/>
              <a:ext cx="165" cy="31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27" name="Line 18"/>
            <p:cNvSpPr>
              <a:spLocks noChangeShapeType="1"/>
            </p:cNvSpPr>
            <p:nvPr/>
          </p:nvSpPr>
          <p:spPr bwMode="auto">
            <a:xfrm>
              <a:off x="3455" y="3484"/>
              <a:ext cx="0" cy="31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28" name="Text Box 19"/>
            <p:cNvSpPr txBox="1">
              <a:spLocks noChangeArrowheads="1"/>
            </p:cNvSpPr>
            <p:nvPr/>
          </p:nvSpPr>
          <p:spPr bwMode="auto">
            <a:xfrm>
              <a:off x="3126" y="2342"/>
              <a:ext cx="329" cy="8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8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50000"/>
                </a:spcBef>
                <a:buFontTx/>
                <a:buNone/>
              </a:pPr>
              <a:r>
                <a:rPr kumimoji="1" lang="en-US" altLang="zh-CN" sz="28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0229" name="Line 20"/>
            <p:cNvSpPr>
              <a:spLocks noChangeShapeType="1"/>
            </p:cNvSpPr>
            <p:nvPr/>
          </p:nvSpPr>
          <p:spPr bwMode="auto">
            <a:xfrm rot="-5400000">
              <a:off x="4166" y="1670"/>
              <a:ext cx="0" cy="141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30" name="Oval 21"/>
            <p:cNvSpPr>
              <a:spLocks noChangeArrowheads="1"/>
            </p:cNvSpPr>
            <p:nvPr/>
          </p:nvSpPr>
          <p:spPr bwMode="auto">
            <a:xfrm>
              <a:off x="4854" y="2331"/>
              <a:ext cx="103" cy="99"/>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31" name="Text Box 22"/>
            <p:cNvSpPr txBox="1">
              <a:spLocks noChangeArrowheads="1"/>
            </p:cNvSpPr>
            <p:nvPr/>
          </p:nvSpPr>
          <p:spPr bwMode="auto">
            <a:xfrm>
              <a:off x="3031" y="3198"/>
              <a:ext cx="386"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32" name="Line 23"/>
            <p:cNvSpPr>
              <a:spLocks noChangeShapeType="1"/>
            </p:cNvSpPr>
            <p:nvPr/>
          </p:nvSpPr>
          <p:spPr bwMode="auto">
            <a:xfrm>
              <a:off x="3854" y="2923"/>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33" name="Oval 24"/>
            <p:cNvSpPr>
              <a:spLocks noChangeArrowheads="1"/>
            </p:cNvSpPr>
            <p:nvPr/>
          </p:nvSpPr>
          <p:spPr bwMode="auto">
            <a:xfrm>
              <a:off x="3937" y="2608"/>
              <a:ext cx="329" cy="315"/>
            </a:xfrm>
            <a:prstGeom prst="ellips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34" name="Line 25"/>
            <p:cNvSpPr>
              <a:spLocks noChangeShapeType="1"/>
            </p:cNvSpPr>
            <p:nvPr/>
          </p:nvSpPr>
          <p:spPr bwMode="auto">
            <a:xfrm>
              <a:off x="4101" y="2371"/>
              <a:ext cx="0" cy="789"/>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35" name="Rectangle 26"/>
            <p:cNvSpPr>
              <a:spLocks noChangeArrowheads="1"/>
            </p:cNvSpPr>
            <p:nvPr/>
          </p:nvSpPr>
          <p:spPr bwMode="auto">
            <a:xfrm>
              <a:off x="4019" y="3160"/>
              <a:ext cx="165" cy="31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36" name="Line 27"/>
            <p:cNvSpPr>
              <a:spLocks noChangeShapeType="1"/>
            </p:cNvSpPr>
            <p:nvPr/>
          </p:nvSpPr>
          <p:spPr bwMode="auto">
            <a:xfrm>
              <a:off x="4101" y="3475"/>
              <a:ext cx="0" cy="31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37" name="Text Box 28"/>
            <p:cNvSpPr txBox="1">
              <a:spLocks noChangeArrowheads="1"/>
            </p:cNvSpPr>
            <p:nvPr/>
          </p:nvSpPr>
          <p:spPr bwMode="auto">
            <a:xfrm>
              <a:off x="3806" y="2331"/>
              <a:ext cx="331" cy="8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p>
            <a:p>
              <a:pPr algn="ctr" eaLnBrk="1" hangingPunct="1">
                <a:spcBef>
                  <a:spcPct val="50000"/>
                </a:spcBef>
                <a:buFontTx/>
                <a:buNone/>
              </a:pPr>
              <a:r>
                <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0238" name="Text Box 29"/>
            <p:cNvSpPr txBox="1">
              <a:spLocks noChangeArrowheads="1"/>
            </p:cNvSpPr>
            <p:nvPr/>
          </p:nvSpPr>
          <p:spPr bwMode="auto">
            <a:xfrm>
              <a:off x="3513" y="2567"/>
              <a:ext cx="534"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S2</a:t>
              </a:r>
            </a:p>
          </p:txBody>
        </p:sp>
        <p:sp>
          <p:nvSpPr>
            <p:cNvPr id="50239" name="Text Box 30"/>
            <p:cNvSpPr txBox="1">
              <a:spLocks noChangeArrowheads="1"/>
            </p:cNvSpPr>
            <p:nvPr/>
          </p:nvSpPr>
          <p:spPr bwMode="auto">
            <a:xfrm>
              <a:off x="3638" y="3192"/>
              <a:ext cx="403"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40" name="Line 31"/>
            <p:cNvSpPr>
              <a:spLocks noChangeShapeType="1"/>
            </p:cNvSpPr>
            <p:nvPr/>
          </p:nvSpPr>
          <p:spPr bwMode="auto">
            <a:xfrm rot="-5400000">
              <a:off x="4165" y="3082"/>
              <a:ext cx="0" cy="141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41" name="Oval 32"/>
            <p:cNvSpPr>
              <a:spLocks noChangeArrowheads="1"/>
            </p:cNvSpPr>
            <p:nvPr/>
          </p:nvSpPr>
          <p:spPr bwMode="auto">
            <a:xfrm>
              <a:off x="4854" y="3742"/>
              <a:ext cx="103" cy="98"/>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42" name="Text Box 33"/>
            <p:cNvSpPr txBox="1">
              <a:spLocks noChangeArrowheads="1"/>
            </p:cNvSpPr>
            <p:nvPr/>
          </p:nvSpPr>
          <p:spPr bwMode="auto">
            <a:xfrm>
              <a:off x="4266" y="3300"/>
              <a:ext cx="366"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43" name="Line 34"/>
            <p:cNvSpPr>
              <a:spLocks noChangeShapeType="1"/>
            </p:cNvSpPr>
            <p:nvPr/>
          </p:nvSpPr>
          <p:spPr bwMode="auto">
            <a:xfrm flipV="1">
              <a:off x="4266" y="3076"/>
              <a:ext cx="0" cy="523"/>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44" name="Text Box 35"/>
            <p:cNvSpPr txBox="1">
              <a:spLocks noChangeArrowheads="1"/>
            </p:cNvSpPr>
            <p:nvPr/>
          </p:nvSpPr>
          <p:spPr bwMode="auto">
            <a:xfrm>
              <a:off x="4848" y="3312"/>
              <a:ext cx="322"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_</a:t>
              </a:r>
              <a:endPar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45" name="Oval 36"/>
            <p:cNvSpPr>
              <a:spLocks noChangeArrowheads="1"/>
            </p:cNvSpPr>
            <p:nvPr/>
          </p:nvSpPr>
          <p:spPr bwMode="auto">
            <a:xfrm flipV="1">
              <a:off x="4069" y="2345"/>
              <a:ext cx="68" cy="6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46" name="Oval 37"/>
            <p:cNvSpPr>
              <a:spLocks noChangeArrowheads="1"/>
            </p:cNvSpPr>
            <p:nvPr/>
          </p:nvSpPr>
          <p:spPr bwMode="auto">
            <a:xfrm flipV="1">
              <a:off x="4069" y="3757"/>
              <a:ext cx="68" cy="6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47" name="Oval 38"/>
            <p:cNvSpPr>
              <a:spLocks noChangeArrowheads="1"/>
            </p:cNvSpPr>
            <p:nvPr/>
          </p:nvSpPr>
          <p:spPr bwMode="auto">
            <a:xfrm>
              <a:off x="4368" y="2544"/>
              <a:ext cx="480" cy="960"/>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48" name="Rectangle 39"/>
            <p:cNvSpPr>
              <a:spLocks noChangeArrowheads="1"/>
            </p:cNvSpPr>
            <p:nvPr/>
          </p:nvSpPr>
          <p:spPr bwMode="auto">
            <a:xfrm>
              <a:off x="4656" y="3360"/>
              <a:ext cx="192"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49" name="Line 40"/>
            <p:cNvSpPr>
              <a:spLocks noChangeShapeType="1"/>
            </p:cNvSpPr>
            <p:nvPr/>
          </p:nvSpPr>
          <p:spPr bwMode="auto">
            <a:xfrm flipH="1">
              <a:off x="4800" y="3120"/>
              <a:ext cx="48" cy="192"/>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50" name="Text Box 41"/>
            <p:cNvSpPr txBox="1">
              <a:spLocks noChangeArrowheads="1"/>
            </p:cNvSpPr>
            <p:nvPr/>
          </p:nvSpPr>
          <p:spPr bwMode="auto">
            <a:xfrm>
              <a:off x="4464" y="2880"/>
              <a:ext cx="192"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1</a:t>
              </a:r>
            </a:p>
          </p:txBody>
        </p:sp>
      </p:grpSp>
      <p:sp>
        <p:nvSpPr>
          <p:cNvPr id="298027" name="Text Box 43"/>
          <p:cNvSpPr txBox="1">
            <a:spLocks noChangeArrowheads="1"/>
          </p:cNvSpPr>
          <p:nvPr/>
        </p:nvSpPr>
        <p:spPr bwMode="auto">
          <a:xfrm>
            <a:off x="0" y="476250"/>
            <a:ext cx="3962400"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kumimoji="1" lang="zh-CN" altLang="en-US" sz="2600" b="1">
                <a:latin typeface="Times New Roman" panose="02020603050405020304" pitchFamily="18" charset="0"/>
                <a:ea typeface="华文中宋" panose="02010600040101010101" pitchFamily="2" charset="-122"/>
                <a:cs typeface="Times New Roman" panose="02020603050405020304" pitchFamily="18" charset="0"/>
              </a:rPr>
              <a:t>将这个式子可以写为</a:t>
            </a:r>
          </a:p>
        </p:txBody>
      </p:sp>
      <p:sp>
        <p:nvSpPr>
          <p:cNvPr id="298028" name="Text Box 44"/>
          <p:cNvSpPr txBox="1">
            <a:spLocks noChangeArrowheads="1"/>
          </p:cNvSpPr>
          <p:nvPr/>
        </p:nvSpPr>
        <p:spPr bwMode="auto">
          <a:xfrm>
            <a:off x="1116013" y="1412875"/>
            <a:ext cx="2667000" cy="4985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ab</a:t>
            </a:r>
            <a:r>
              <a:rPr kumimoji="1"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baseline="30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S2 </a:t>
            </a:r>
            <a:r>
              <a:rPr kumimoji="1" lang="zh-CN" altLang="en-US"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400" b="1" baseline="30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8029" name="Text Box 45"/>
          <p:cNvSpPr txBox="1">
            <a:spLocks noChangeArrowheads="1"/>
          </p:cNvSpPr>
          <p:nvPr/>
        </p:nvSpPr>
        <p:spPr bwMode="auto">
          <a:xfrm>
            <a:off x="611188" y="2636838"/>
            <a:ext cx="7696200" cy="963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0"/>
              </a:spcBef>
              <a:buFontTx/>
              <a:buNone/>
            </a:pPr>
            <a:r>
              <a:rPr kumimoji="1" lang="en-US" altLang="zh-CN" sz="2800" b="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这表明两点之间的电压与路径无关。在有些情况下，利用这一点可以比较方便的计算两点之间的电压。</a:t>
            </a:r>
          </a:p>
        </p:txBody>
      </p:sp>
      <p:sp>
        <p:nvSpPr>
          <p:cNvPr id="50182" name="Text Box 47"/>
          <p:cNvSpPr txBox="1">
            <a:spLocks noChangeArrowheads="1"/>
          </p:cNvSpPr>
          <p:nvPr/>
        </p:nvSpPr>
        <p:spPr bwMode="auto">
          <a:xfrm>
            <a:off x="4953000" y="4530725"/>
            <a:ext cx="7889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S1</a:t>
            </a:r>
          </a:p>
        </p:txBody>
      </p:sp>
      <p:sp>
        <p:nvSpPr>
          <p:cNvPr id="50183" name="Text Box 49"/>
          <p:cNvSpPr txBox="1">
            <a:spLocks noChangeArrowheads="1"/>
          </p:cNvSpPr>
          <p:nvPr/>
        </p:nvSpPr>
        <p:spPr bwMode="auto">
          <a:xfrm>
            <a:off x="8290286" y="6093947"/>
            <a:ext cx="38504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endParaRPr kumimoji="1" lang="en-US" altLang="zh-CN" sz="2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84" name="Text Box 50"/>
          <p:cNvSpPr txBox="1">
            <a:spLocks noChangeArrowheads="1"/>
          </p:cNvSpPr>
          <p:nvPr/>
        </p:nvSpPr>
        <p:spPr bwMode="auto">
          <a:xfrm>
            <a:off x="8062913" y="4205288"/>
            <a:ext cx="42703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8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85" name="Text Box 51"/>
          <p:cNvSpPr txBox="1">
            <a:spLocks noChangeArrowheads="1"/>
          </p:cNvSpPr>
          <p:nvPr/>
        </p:nvSpPr>
        <p:spPr bwMode="auto">
          <a:xfrm>
            <a:off x="8233237" y="3884147"/>
            <a:ext cx="36420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endParaRPr kumimoji="1" lang="en-US" altLang="zh-CN" sz="2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86" name="Line 52"/>
          <p:cNvSpPr>
            <a:spLocks noChangeShapeType="1"/>
          </p:cNvSpPr>
          <p:nvPr/>
        </p:nvSpPr>
        <p:spPr bwMode="auto">
          <a:xfrm>
            <a:off x="5459413" y="5035550"/>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87" name="Oval 53"/>
          <p:cNvSpPr>
            <a:spLocks noChangeArrowheads="1"/>
          </p:cNvSpPr>
          <p:nvPr/>
        </p:nvSpPr>
        <p:spPr bwMode="auto">
          <a:xfrm>
            <a:off x="5591175" y="4535488"/>
            <a:ext cx="522288" cy="500062"/>
          </a:xfrm>
          <a:prstGeom prst="ellips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88" name="Line 54"/>
          <p:cNvSpPr>
            <a:spLocks noChangeShapeType="1"/>
          </p:cNvSpPr>
          <p:nvPr/>
        </p:nvSpPr>
        <p:spPr bwMode="auto">
          <a:xfrm>
            <a:off x="5851525" y="4159250"/>
            <a:ext cx="15875" cy="1555750"/>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89" name="Rectangle 55"/>
          <p:cNvSpPr>
            <a:spLocks noChangeArrowheads="1"/>
          </p:cNvSpPr>
          <p:nvPr/>
        </p:nvSpPr>
        <p:spPr bwMode="auto">
          <a:xfrm>
            <a:off x="5721350" y="5672138"/>
            <a:ext cx="261938" cy="50006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90" name="Line 56"/>
          <p:cNvSpPr>
            <a:spLocks noChangeShapeType="1"/>
          </p:cNvSpPr>
          <p:nvPr/>
        </p:nvSpPr>
        <p:spPr bwMode="auto">
          <a:xfrm>
            <a:off x="5867400" y="6172200"/>
            <a:ext cx="0" cy="228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91" name="Text Box 57"/>
          <p:cNvSpPr txBox="1">
            <a:spLocks noChangeArrowheads="1"/>
          </p:cNvSpPr>
          <p:nvPr/>
        </p:nvSpPr>
        <p:spPr bwMode="auto">
          <a:xfrm>
            <a:off x="5329238" y="4157663"/>
            <a:ext cx="522287" cy="1160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8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50000"/>
              </a:spcBef>
              <a:buFontTx/>
              <a:buNone/>
            </a:pPr>
            <a:r>
              <a:rPr kumimoji="1" lang="en-US" altLang="zh-CN" sz="28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0192" name="Line 58"/>
          <p:cNvSpPr>
            <a:spLocks noChangeShapeType="1"/>
          </p:cNvSpPr>
          <p:nvPr/>
        </p:nvSpPr>
        <p:spPr bwMode="auto">
          <a:xfrm rot="-5400000">
            <a:off x="6979444" y="3032919"/>
            <a:ext cx="0" cy="22526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93" name="Oval 59"/>
          <p:cNvSpPr>
            <a:spLocks noChangeArrowheads="1"/>
          </p:cNvSpPr>
          <p:nvPr/>
        </p:nvSpPr>
        <p:spPr bwMode="auto">
          <a:xfrm>
            <a:off x="8072438" y="4081463"/>
            <a:ext cx="163512" cy="157162"/>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94" name="Text Box 60"/>
          <p:cNvSpPr txBox="1">
            <a:spLocks noChangeArrowheads="1"/>
          </p:cNvSpPr>
          <p:nvPr/>
        </p:nvSpPr>
        <p:spPr bwMode="auto">
          <a:xfrm>
            <a:off x="5178425" y="5638800"/>
            <a:ext cx="6127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1</a:t>
            </a:r>
            <a:endParaRPr kumimoji="1"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95" name="Line 61"/>
          <p:cNvSpPr>
            <a:spLocks noChangeShapeType="1"/>
          </p:cNvSpPr>
          <p:nvPr/>
        </p:nvSpPr>
        <p:spPr bwMode="auto">
          <a:xfrm>
            <a:off x="6484938" y="5021263"/>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96" name="Oval 62"/>
          <p:cNvSpPr>
            <a:spLocks noChangeArrowheads="1"/>
          </p:cNvSpPr>
          <p:nvPr/>
        </p:nvSpPr>
        <p:spPr bwMode="auto">
          <a:xfrm>
            <a:off x="6616700" y="4521200"/>
            <a:ext cx="522288" cy="500063"/>
          </a:xfrm>
          <a:prstGeom prst="ellips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97" name="Line 63"/>
          <p:cNvSpPr>
            <a:spLocks noChangeShapeType="1"/>
          </p:cNvSpPr>
          <p:nvPr/>
        </p:nvSpPr>
        <p:spPr bwMode="auto">
          <a:xfrm flipH="1">
            <a:off x="6858000" y="4144963"/>
            <a:ext cx="19050" cy="1570037"/>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98" name="Rectangle 64"/>
          <p:cNvSpPr>
            <a:spLocks noChangeArrowheads="1"/>
          </p:cNvSpPr>
          <p:nvPr/>
        </p:nvSpPr>
        <p:spPr bwMode="auto">
          <a:xfrm>
            <a:off x="6746875" y="5672138"/>
            <a:ext cx="261938" cy="50006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00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8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199" name="Line 65"/>
          <p:cNvSpPr>
            <a:spLocks noChangeShapeType="1"/>
          </p:cNvSpPr>
          <p:nvPr/>
        </p:nvSpPr>
        <p:spPr bwMode="auto">
          <a:xfrm>
            <a:off x="6858000" y="6172200"/>
            <a:ext cx="19050" cy="2270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00" name="Text Box 66"/>
          <p:cNvSpPr txBox="1">
            <a:spLocks noChangeArrowheads="1"/>
          </p:cNvSpPr>
          <p:nvPr/>
        </p:nvSpPr>
        <p:spPr bwMode="auto">
          <a:xfrm>
            <a:off x="6408738" y="4140200"/>
            <a:ext cx="525462" cy="1160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p>
          <a:p>
            <a:pPr algn="ctr" eaLnBrk="1" hangingPunct="1">
              <a:spcBef>
                <a:spcPct val="50000"/>
              </a:spcBef>
              <a:buFontTx/>
              <a:buNone/>
            </a:pPr>
            <a:r>
              <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0201" name="Text Box 67"/>
          <p:cNvSpPr txBox="1">
            <a:spLocks noChangeArrowheads="1"/>
          </p:cNvSpPr>
          <p:nvPr/>
        </p:nvSpPr>
        <p:spPr bwMode="auto">
          <a:xfrm>
            <a:off x="5943600" y="4481513"/>
            <a:ext cx="8477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S2</a:t>
            </a:r>
          </a:p>
        </p:txBody>
      </p:sp>
      <p:sp>
        <p:nvSpPr>
          <p:cNvPr id="50202" name="Text Box 68"/>
          <p:cNvSpPr txBox="1">
            <a:spLocks noChangeArrowheads="1"/>
          </p:cNvSpPr>
          <p:nvPr/>
        </p:nvSpPr>
        <p:spPr bwMode="auto">
          <a:xfrm>
            <a:off x="6142038" y="5715000"/>
            <a:ext cx="639762"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2</a:t>
            </a:r>
            <a:endParaRPr kumimoji="1"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03" name="Line 69"/>
          <p:cNvSpPr>
            <a:spLocks noChangeShapeType="1"/>
          </p:cNvSpPr>
          <p:nvPr/>
        </p:nvSpPr>
        <p:spPr bwMode="auto">
          <a:xfrm rot="-5400000">
            <a:off x="6978651" y="5273675"/>
            <a:ext cx="0" cy="22510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04" name="Oval 70"/>
          <p:cNvSpPr>
            <a:spLocks noChangeArrowheads="1"/>
          </p:cNvSpPr>
          <p:nvPr/>
        </p:nvSpPr>
        <p:spPr bwMode="auto">
          <a:xfrm>
            <a:off x="8072438" y="6321425"/>
            <a:ext cx="163512" cy="155575"/>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05" name="Text Box 73"/>
          <p:cNvSpPr txBox="1">
            <a:spLocks noChangeArrowheads="1"/>
          </p:cNvSpPr>
          <p:nvPr/>
        </p:nvSpPr>
        <p:spPr bwMode="auto">
          <a:xfrm>
            <a:off x="8062913" y="5638800"/>
            <a:ext cx="51117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_</a:t>
            </a:r>
            <a:endParaRPr kumimoji="1" lang="en-US" altLang="zh-CN" sz="2800" b="1">
              <a:solidFill>
                <a:srgbClr val="FF000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06" name="Oval 74"/>
          <p:cNvSpPr>
            <a:spLocks noChangeArrowheads="1"/>
          </p:cNvSpPr>
          <p:nvPr/>
        </p:nvSpPr>
        <p:spPr bwMode="auto">
          <a:xfrm flipV="1">
            <a:off x="5791200" y="5378450"/>
            <a:ext cx="107950" cy="10795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07" name="Oval 75"/>
          <p:cNvSpPr>
            <a:spLocks noChangeArrowheads="1"/>
          </p:cNvSpPr>
          <p:nvPr/>
        </p:nvSpPr>
        <p:spPr bwMode="auto">
          <a:xfrm flipV="1">
            <a:off x="6781800" y="5410200"/>
            <a:ext cx="107950" cy="10795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08" name="Rectangle 77"/>
          <p:cNvSpPr>
            <a:spLocks noChangeArrowheads="1"/>
          </p:cNvSpPr>
          <p:nvPr/>
        </p:nvSpPr>
        <p:spPr bwMode="auto">
          <a:xfrm>
            <a:off x="7758113" y="5715000"/>
            <a:ext cx="3048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09" name="Text Box 83"/>
          <p:cNvSpPr txBox="1">
            <a:spLocks noChangeArrowheads="1"/>
          </p:cNvSpPr>
          <p:nvPr/>
        </p:nvSpPr>
        <p:spPr bwMode="auto">
          <a:xfrm>
            <a:off x="5514975" y="5181600"/>
            <a:ext cx="5810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rPr>
              <a:t>d</a:t>
            </a:r>
            <a:endParaRPr kumimoji="1"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10" name="Text Box 84"/>
          <p:cNvSpPr txBox="1">
            <a:spLocks noChangeArrowheads="1"/>
          </p:cNvSpPr>
          <p:nvPr/>
        </p:nvSpPr>
        <p:spPr bwMode="auto">
          <a:xfrm>
            <a:off x="6934200" y="5105400"/>
            <a:ext cx="5810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rPr>
              <a:t>e</a:t>
            </a:r>
            <a:endParaRPr kumimoji="1" lang="en-US"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8069" name="Text Box 85"/>
          <p:cNvSpPr txBox="1">
            <a:spLocks noChangeArrowheads="1"/>
          </p:cNvSpPr>
          <p:nvPr/>
        </p:nvSpPr>
        <p:spPr bwMode="auto">
          <a:xfrm>
            <a:off x="611188" y="3789363"/>
            <a:ext cx="4752975"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6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6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6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600" b="1">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600" b="1">
                <a:latin typeface="Times New Roman" panose="02020603050405020304" pitchFamily="18" charset="0"/>
                <a:ea typeface="华文中宋" panose="02010600040101010101" pitchFamily="2" charset="-122"/>
                <a:cs typeface="Times New Roman" panose="02020603050405020304" pitchFamily="18" charset="0"/>
              </a:rPr>
              <a:t>右图中</a:t>
            </a:r>
            <a:r>
              <a:rPr kumimoji="1" lang="en-US" altLang="zh-CN" sz="26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6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S1</a:t>
            </a:r>
            <a:r>
              <a:rPr kumimoji="1" lang="en-US" altLang="zh-CN" sz="26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=12V</a:t>
            </a:r>
            <a:r>
              <a:rPr kumimoji="1" lang="zh-CN" altLang="en-US" sz="26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6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6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S2</a:t>
            </a:r>
            <a:r>
              <a:rPr kumimoji="1" lang="en-US" altLang="zh-CN" sz="26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=8V</a:t>
            </a:r>
            <a:r>
              <a:rPr kumimoji="1" lang="zh-CN" altLang="en-US" sz="26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。求</a:t>
            </a:r>
            <a:r>
              <a:rPr kumimoji="1" lang="en-US" altLang="zh-CN" sz="26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6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de</a:t>
            </a:r>
            <a:r>
              <a:rPr kumimoji="1" lang="en-US" altLang="zh-CN" sz="26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6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8070" name="Text Box 86"/>
          <p:cNvSpPr txBox="1">
            <a:spLocks noChangeArrowheads="1"/>
          </p:cNvSpPr>
          <p:nvPr/>
        </p:nvSpPr>
        <p:spPr bwMode="auto">
          <a:xfrm>
            <a:off x="539750" y="4724400"/>
            <a:ext cx="4419600"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解：两点之间电压与路径无关，沿图示路径计算电压</a:t>
            </a: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de</a:t>
            </a:r>
            <a:r>
              <a:rPr kumimoji="1" lang="en-US" altLang="zh-CN" sz="28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8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13" name="Oval 87"/>
          <p:cNvSpPr>
            <a:spLocks noChangeArrowheads="1"/>
          </p:cNvSpPr>
          <p:nvPr/>
        </p:nvSpPr>
        <p:spPr bwMode="auto">
          <a:xfrm>
            <a:off x="5791200" y="4038600"/>
            <a:ext cx="1143000" cy="1447800"/>
          </a:xfrm>
          <a:prstGeom prst="ellipse">
            <a:avLst/>
          </a:prstGeom>
          <a:noFill/>
          <a:ln w="38100">
            <a:solidFill>
              <a:srgbClr val="3333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14" name="Text Box 88"/>
          <p:cNvSpPr txBox="1">
            <a:spLocks noChangeArrowheads="1"/>
          </p:cNvSpPr>
          <p:nvPr/>
        </p:nvSpPr>
        <p:spPr bwMode="auto">
          <a:xfrm>
            <a:off x="4572000" y="60198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15" name="Oval 90"/>
          <p:cNvSpPr>
            <a:spLocks noChangeArrowheads="1"/>
          </p:cNvSpPr>
          <p:nvPr/>
        </p:nvSpPr>
        <p:spPr bwMode="auto">
          <a:xfrm>
            <a:off x="6019800" y="5257800"/>
            <a:ext cx="685800" cy="304800"/>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0216" name="Line 91"/>
          <p:cNvSpPr>
            <a:spLocks noChangeShapeType="1"/>
          </p:cNvSpPr>
          <p:nvPr/>
        </p:nvSpPr>
        <p:spPr bwMode="auto">
          <a:xfrm flipH="1">
            <a:off x="6705600" y="5181600"/>
            <a:ext cx="76200" cy="152400"/>
          </a:xfrm>
          <a:prstGeom prst="line">
            <a:avLst/>
          </a:prstGeom>
          <a:noFill/>
          <a:ln w="381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98076" name="Text Box 92"/>
          <p:cNvSpPr txBox="1">
            <a:spLocks noChangeArrowheads="1"/>
          </p:cNvSpPr>
          <p:nvPr/>
        </p:nvSpPr>
        <p:spPr bwMode="auto">
          <a:xfrm>
            <a:off x="1258888" y="5589588"/>
            <a:ext cx="3810000" cy="9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FontTx/>
              <a:buNone/>
            </a:pPr>
            <a:r>
              <a:rPr kumimoji="1" lang="en-US" altLang="zh-CN" sz="2400" b="1" i="1" dirty="0" err="1">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dirty="0" err="1">
                <a:latin typeface="Times New Roman" panose="02020603050405020304" pitchFamily="18" charset="0"/>
                <a:ea typeface="华文中宋" panose="02010600040101010101" pitchFamily="2" charset="-122"/>
                <a:cs typeface="Times New Roman" panose="02020603050405020304" pitchFamily="18" charset="0"/>
              </a:rPr>
              <a:t>de</a:t>
            </a:r>
            <a:r>
              <a:rPr kumimoji="1"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baseline="30000" dirty="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dirty="0" smtClean="0">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dirty="0" smtClean="0">
                <a:latin typeface="Times New Roman" panose="02020603050405020304" pitchFamily="18" charset="0"/>
                <a:ea typeface="华文中宋" panose="02010600040101010101" pitchFamily="2" charset="-122"/>
                <a:cs typeface="Times New Roman" panose="02020603050405020304" pitchFamily="18" charset="0"/>
              </a:rPr>
              <a:t>S2</a:t>
            </a:r>
            <a:r>
              <a:rPr kumimoji="1"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i="1" dirty="0" smtClean="0">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dirty="0" smtClean="0">
                <a:latin typeface="Times New Roman" panose="02020603050405020304" pitchFamily="18" charset="0"/>
                <a:ea typeface="华文中宋" panose="02010600040101010101" pitchFamily="2" charset="-122"/>
                <a:cs typeface="Times New Roman" panose="02020603050405020304" pitchFamily="18" charset="0"/>
              </a:rPr>
              <a:t>S1 </a:t>
            </a:r>
            <a:endParaRPr kumimoji="1"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lnSpc>
                <a:spcPct val="110000"/>
              </a:lnSpc>
              <a:spcBef>
                <a:spcPct val="0"/>
              </a:spcBef>
              <a:buFontTx/>
              <a:buNone/>
            </a:pPr>
            <a:r>
              <a:rPr kumimoji="1"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8</a:t>
            </a:r>
            <a:r>
              <a:rPr kumimoji="1"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12= </a:t>
            </a:r>
            <a:r>
              <a:rPr kumimoji="1"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4(V)</a:t>
            </a:r>
          </a:p>
        </p:txBody>
      </p:sp>
      <p:sp>
        <p:nvSpPr>
          <p:cNvPr id="2" name="灯片编号占位符 1"/>
          <p:cNvSpPr>
            <a:spLocks noGrp="1"/>
          </p:cNvSpPr>
          <p:nvPr>
            <p:ph type="sldNum" sz="quarter" idx="12"/>
          </p:nvPr>
        </p:nvSpPr>
        <p:spPr/>
        <p:txBody>
          <a:bodyPr/>
          <a:lstStyle/>
          <a:p>
            <a:pPr>
              <a:defRPr/>
            </a:pPr>
            <a:fld id="{4324DAC4-A72B-4AD4-8480-0E4C6687AABC}" type="slidenum">
              <a:rPr lang="en-US" altLang="zh-CN" smtClean="0"/>
              <a:pPr>
                <a:defRPr/>
              </a:pPr>
              <a:t>43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8027">
                                            <p:txEl>
                                              <p:pRg st="0" end="0"/>
                                            </p:txEl>
                                          </p:spTgt>
                                        </p:tgtEl>
                                        <p:attrNameLst>
                                          <p:attrName>style.visibility</p:attrName>
                                        </p:attrNameLst>
                                      </p:cBhvr>
                                      <p:to>
                                        <p:strVal val="visible"/>
                                      </p:to>
                                    </p:set>
                                    <p:animEffect transition="in" filter="wipe(left)">
                                      <p:cBhvr>
                                        <p:cTn id="7" dur="500"/>
                                        <p:tgtEl>
                                          <p:spTgt spid="298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8028">
                                            <p:txEl>
                                              <p:pRg st="0" end="0"/>
                                            </p:txEl>
                                          </p:spTgt>
                                        </p:tgtEl>
                                        <p:attrNameLst>
                                          <p:attrName>style.visibility</p:attrName>
                                        </p:attrNameLst>
                                      </p:cBhvr>
                                      <p:to>
                                        <p:strVal val="visible"/>
                                      </p:to>
                                    </p:set>
                                    <p:animEffect transition="in" filter="wipe(left)">
                                      <p:cBhvr>
                                        <p:cTn id="12" dur="500"/>
                                        <p:tgtEl>
                                          <p:spTgt spid="29802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8029">
                                            <p:txEl>
                                              <p:pRg st="0" end="0"/>
                                            </p:txEl>
                                          </p:spTgt>
                                        </p:tgtEl>
                                        <p:attrNameLst>
                                          <p:attrName>style.visibility</p:attrName>
                                        </p:attrNameLst>
                                      </p:cBhvr>
                                      <p:to>
                                        <p:strVal val="visible"/>
                                      </p:to>
                                    </p:set>
                                    <p:animEffect transition="in" filter="wipe(left)">
                                      <p:cBhvr>
                                        <p:cTn id="17" dur="500"/>
                                        <p:tgtEl>
                                          <p:spTgt spid="29802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98069"/>
                                        </p:tgtEl>
                                        <p:attrNameLst>
                                          <p:attrName>style.visibility</p:attrName>
                                        </p:attrNameLst>
                                      </p:cBhvr>
                                      <p:to>
                                        <p:strVal val="visible"/>
                                      </p:to>
                                    </p:set>
                                    <p:anim calcmode="lin" valueType="num">
                                      <p:cBhvr additive="base">
                                        <p:cTn id="22" dur="500" fill="hold"/>
                                        <p:tgtEl>
                                          <p:spTgt spid="298069"/>
                                        </p:tgtEl>
                                        <p:attrNameLst>
                                          <p:attrName>ppt_x</p:attrName>
                                        </p:attrNameLst>
                                      </p:cBhvr>
                                      <p:tavLst>
                                        <p:tav tm="0">
                                          <p:val>
                                            <p:strVal val="#ppt_x"/>
                                          </p:val>
                                        </p:tav>
                                        <p:tav tm="100000">
                                          <p:val>
                                            <p:strVal val="#ppt_x"/>
                                          </p:val>
                                        </p:tav>
                                      </p:tavLst>
                                    </p:anim>
                                    <p:anim calcmode="lin" valueType="num">
                                      <p:cBhvr additive="base">
                                        <p:cTn id="23" dur="500" fill="hold"/>
                                        <p:tgtEl>
                                          <p:spTgt spid="298069"/>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298070"/>
                                        </p:tgtEl>
                                        <p:attrNameLst>
                                          <p:attrName>style.visibility</p:attrName>
                                        </p:attrNameLst>
                                      </p:cBhvr>
                                      <p:to>
                                        <p:strVal val="visible"/>
                                      </p:to>
                                    </p:set>
                                    <p:anim calcmode="lin" valueType="num">
                                      <p:cBhvr additive="base">
                                        <p:cTn id="26" dur="500" fill="hold"/>
                                        <p:tgtEl>
                                          <p:spTgt spid="298070"/>
                                        </p:tgtEl>
                                        <p:attrNameLst>
                                          <p:attrName>ppt_x</p:attrName>
                                        </p:attrNameLst>
                                      </p:cBhvr>
                                      <p:tavLst>
                                        <p:tav tm="0">
                                          <p:val>
                                            <p:strVal val="#ppt_x"/>
                                          </p:val>
                                        </p:tav>
                                        <p:tav tm="100000">
                                          <p:val>
                                            <p:strVal val="#ppt_x"/>
                                          </p:val>
                                        </p:tav>
                                      </p:tavLst>
                                    </p:anim>
                                    <p:anim calcmode="lin" valueType="num">
                                      <p:cBhvr additive="base">
                                        <p:cTn id="27" dur="500" fill="hold"/>
                                        <p:tgtEl>
                                          <p:spTgt spid="298070"/>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8076">
                                            <p:txEl>
                                              <p:pRg st="0" end="0"/>
                                            </p:txEl>
                                          </p:spTgt>
                                        </p:tgtEl>
                                        <p:attrNameLst>
                                          <p:attrName>style.visibility</p:attrName>
                                        </p:attrNameLst>
                                      </p:cBhvr>
                                      <p:to>
                                        <p:strVal val="visible"/>
                                      </p:to>
                                    </p:set>
                                    <p:animEffect transition="in" filter="wipe(left)">
                                      <p:cBhvr>
                                        <p:cTn id="32" dur="500"/>
                                        <p:tgtEl>
                                          <p:spTgt spid="298076">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98076">
                                            <p:txEl>
                                              <p:pRg st="1" end="1"/>
                                            </p:txEl>
                                          </p:spTgt>
                                        </p:tgtEl>
                                        <p:attrNameLst>
                                          <p:attrName>style.visibility</p:attrName>
                                        </p:attrNameLst>
                                      </p:cBhvr>
                                      <p:to>
                                        <p:strVal val="visible"/>
                                      </p:to>
                                    </p:set>
                                    <p:animEffect transition="in" filter="wipe(left)">
                                      <p:cBhvr>
                                        <p:cTn id="37" dur="500"/>
                                        <p:tgtEl>
                                          <p:spTgt spid="29807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027" grpId="0" build="p" autoUpdateAnimBg="0"/>
      <p:bldP spid="298028" grpId="0" build="p" autoUpdateAnimBg="0"/>
      <p:bldP spid="298029" grpId="0" build="p" autoUpdateAnimBg="0"/>
      <p:bldP spid="298069" grpId="0"/>
      <p:bldP spid="298070" grpId="0"/>
      <p:bldP spid="298076"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0034" name="Rectangle 2"/>
          <p:cNvSpPr>
            <a:spLocks noChangeArrowheads="1"/>
          </p:cNvSpPr>
          <p:nvPr/>
        </p:nvSpPr>
        <p:spPr bwMode="auto">
          <a:xfrm>
            <a:off x="4724400" y="944563"/>
            <a:ext cx="3886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对回路</a:t>
            </a:r>
            <a:r>
              <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rPr>
              <a:t>abda</a:t>
            </a: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00035" name="Rectangle 3"/>
          <p:cNvSpPr>
            <a:spLocks noChangeArrowheads="1"/>
          </p:cNvSpPr>
          <p:nvPr/>
        </p:nvSpPr>
        <p:spPr bwMode="auto">
          <a:xfrm>
            <a:off x="4800600" y="2087563"/>
            <a:ext cx="4114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对回路</a:t>
            </a:r>
            <a:r>
              <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rPr>
              <a:t>acba</a:t>
            </a: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00036" name="Rectangle 4"/>
          <p:cNvSpPr>
            <a:spLocks noChangeArrowheads="1"/>
          </p:cNvSpPr>
          <p:nvPr/>
        </p:nvSpPr>
        <p:spPr bwMode="auto">
          <a:xfrm>
            <a:off x="4800600" y="3230563"/>
            <a:ext cx="3429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对回路</a:t>
            </a:r>
            <a:r>
              <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rPr>
              <a:t>bcedb</a:t>
            </a: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300037" name="Rectangle 5" descr="40%"/>
          <p:cNvSpPr>
            <a:spLocks noChangeArrowheads="1"/>
          </p:cNvSpPr>
          <p:nvPr/>
        </p:nvSpPr>
        <p:spPr bwMode="auto">
          <a:xfrm>
            <a:off x="4800600" y="1447800"/>
            <a:ext cx="3886200" cy="488950"/>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6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6</a:t>
            </a: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3 </a:t>
            </a: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1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1 </a:t>
            </a: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 0</a:t>
            </a:r>
          </a:p>
        </p:txBody>
      </p:sp>
      <p:sp>
        <p:nvSpPr>
          <p:cNvPr id="300038" name="Rectangle 6" descr="40%"/>
          <p:cNvSpPr>
            <a:spLocks noChangeArrowheads="1"/>
          </p:cNvSpPr>
          <p:nvPr/>
        </p:nvSpPr>
        <p:spPr bwMode="auto">
          <a:xfrm>
            <a:off x="4800600" y="2590800"/>
            <a:ext cx="3352800" cy="492443"/>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2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2 </a:t>
            </a: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4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4</a:t>
            </a: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6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6 </a:t>
            </a: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 0</a:t>
            </a:r>
          </a:p>
        </p:txBody>
      </p:sp>
      <p:sp>
        <p:nvSpPr>
          <p:cNvPr id="300039" name="Rectangle 7" descr="40%"/>
          <p:cNvSpPr>
            <a:spLocks noChangeArrowheads="1"/>
          </p:cNvSpPr>
          <p:nvPr/>
        </p:nvSpPr>
        <p:spPr bwMode="auto">
          <a:xfrm>
            <a:off x="4800600" y="3657600"/>
            <a:ext cx="4343400" cy="488950"/>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3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3 </a:t>
            </a: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4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4</a:t>
            </a: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S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6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6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 0</a:t>
            </a:r>
          </a:p>
        </p:txBody>
      </p:sp>
      <p:sp>
        <p:nvSpPr>
          <p:cNvPr id="300040" name="Rectangle 8"/>
          <p:cNvSpPr>
            <a:spLocks noChangeArrowheads="1"/>
          </p:cNvSpPr>
          <p:nvPr/>
        </p:nvSpPr>
        <p:spPr bwMode="auto">
          <a:xfrm>
            <a:off x="4876800" y="4221163"/>
            <a:ext cx="3733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2400" b="1">
                <a:latin typeface="Times New Roman" panose="02020603050405020304" pitchFamily="18" charset="0"/>
                <a:ea typeface="华文中宋" panose="02010600040101010101" pitchFamily="2" charset="-122"/>
                <a:cs typeface="Times New Roman" panose="02020603050405020304" pitchFamily="18" charset="0"/>
              </a:rPr>
              <a:t>对回路 </a:t>
            </a:r>
            <a:r>
              <a:rPr kumimoji="1" lang="en-US" altLang="zh-CN" sz="2400" b="1">
                <a:latin typeface="Times New Roman" panose="02020603050405020304" pitchFamily="18" charset="0"/>
                <a:ea typeface="华文中宋" panose="02010600040101010101" pitchFamily="2" charset="-122"/>
                <a:cs typeface="Times New Roman" panose="02020603050405020304" pitchFamily="18" charset="0"/>
              </a:rPr>
              <a:t>aceda:</a:t>
            </a:r>
          </a:p>
        </p:txBody>
      </p:sp>
      <p:sp>
        <p:nvSpPr>
          <p:cNvPr id="300041" name="Rectangle 9" descr="40%"/>
          <p:cNvSpPr>
            <a:spLocks noChangeArrowheads="1"/>
          </p:cNvSpPr>
          <p:nvPr/>
        </p:nvSpPr>
        <p:spPr bwMode="auto">
          <a:xfrm>
            <a:off x="4495800" y="4648200"/>
            <a:ext cx="4267200" cy="492443"/>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2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2 </a:t>
            </a: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S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S </a:t>
            </a: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1 </a:t>
            </a:r>
            <a:r>
              <a:rPr kumimoji="1" lang="en-US" altLang="zh-CN" sz="2600" b="1" i="1">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600" b="1" baseline="-25000">
                <a:latin typeface="Times New Roman" panose="02020603050405020304" pitchFamily="18" charset="0"/>
                <a:ea typeface="华文中宋" panose="02010600040101010101" pitchFamily="2" charset="-122"/>
                <a:cs typeface="Times New Roman" panose="02020603050405020304" pitchFamily="18" charset="0"/>
              </a:rPr>
              <a:t>1 </a:t>
            </a:r>
            <a:r>
              <a:rPr kumimoji="1" lang="en-US" altLang="zh-CN" sz="2600" b="1">
                <a:latin typeface="Times New Roman" panose="02020603050405020304" pitchFamily="18" charset="0"/>
                <a:ea typeface="华文中宋" panose="02010600040101010101" pitchFamily="2" charset="-122"/>
                <a:cs typeface="Times New Roman" panose="02020603050405020304" pitchFamily="18" charset="0"/>
              </a:rPr>
              <a:t>= 0</a:t>
            </a:r>
          </a:p>
        </p:txBody>
      </p:sp>
      <p:sp>
        <p:nvSpPr>
          <p:cNvPr id="51210" name="Rectangle 10"/>
          <p:cNvSpPr>
            <a:spLocks noChangeArrowheads="1"/>
          </p:cNvSpPr>
          <p:nvPr/>
        </p:nvSpPr>
        <p:spPr bwMode="auto">
          <a:xfrm>
            <a:off x="4419600" y="395288"/>
            <a:ext cx="38862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rPr>
              <a:t>应用 </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U</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 0 </a:t>
            </a:r>
            <a:r>
              <a:rPr kumimoji="1" lang="zh-CN" altLang="en-US" sz="2800"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列方程</a:t>
            </a:r>
          </a:p>
        </p:txBody>
      </p:sp>
      <p:sp>
        <p:nvSpPr>
          <p:cNvPr id="51211" name="Rectangle 22"/>
          <p:cNvSpPr>
            <a:spLocks noChangeArrowheads="1"/>
          </p:cNvSpPr>
          <p:nvPr/>
        </p:nvSpPr>
        <p:spPr bwMode="auto">
          <a:xfrm>
            <a:off x="2379663" y="3962400"/>
            <a:ext cx="715962"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2400" b="1" i="1">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400" b="1" baseline="-25000">
                <a:solidFill>
                  <a:schemeClr val="tx2"/>
                </a:solidFill>
                <a:latin typeface="Times New Roman" panose="02020603050405020304" pitchFamily="18" charset="0"/>
                <a:ea typeface="华文中宋" panose="02010600040101010101" pitchFamily="2" charset="-122"/>
                <a:cs typeface="Times New Roman" panose="02020603050405020304" pitchFamily="18" charset="0"/>
              </a:rPr>
              <a:t>S</a:t>
            </a:r>
          </a:p>
        </p:txBody>
      </p:sp>
      <p:grpSp>
        <p:nvGrpSpPr>
          <p:cNvPr id="51212" name="Group 73"/>
          <p:cNvGrpSpPr>
            <a:grpSpLocks/>
          </p:cNvGrpSpPr>
          <p:nvPr/>
        </p:nvGrpSpPr>
        <p:grpSpPr bwMode="auto">
          <a:xfrm>
            <a:off x="539750" y="333375"/>
            <a:ext cx="3963988" cy="4043363"/>
            <a:chOff x="336" y="192"/>
            <a:chExt cx="2497" cy="2547"/>
          </a:xfrm>
        </p:grpSpPr>
        <p:sp>
          <p:nvSpPr>
            <p:cNvPr id="300045" name="Rectangle 13"/>
            <p:cNvSpPr>
              <a:spLocks noChangeArrowheads="1"/>
            </p:cNvSpPr>
            <p:nvPr/>
          </p:nvSpPr>
          <p:spPr bwMode="auto">
            <a:xfrm>
              <a:off x="336" y="192"/>
              <a:ext cx="937" cy="4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hangingPunct="1">
                <a:lnSpc>
                  <a:spcPct val="70000"/>
                </a:lnSpc>
                <a:defRPr/>
              </a:pPr>
              <a:r>
                <a:rPr lang="en-US" altLang="zh-CN" sz="2800" b="1"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800" b="1"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800" b="1"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800" b="1" baseline="-25000"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16" name="Text Box 14"/>
            <p:cNvSpPr txBox="1">
              <a:spLocks noChangeArrowheads="1"/>
            </p:cNvSpPr>
            <p:nvPr/>
          </p:nvSpPr>
          <p:spPr bwMode="auto">
            <a:xfrm>
              <a:off x="1564" y="192"/>
              <a:ext cx="21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51217" name="Freeform 16"/>
            <p:cNvSpPr>
              <a:spLocks/>
            </p:cNvSpPr>
            <p:nvPr/>
          </p:nvSpPr>
          <p:spPr bwMode="auto">
            <a:xfrm>
              <a:off x="1138" y="962"/>
              <a:ext cx="394" cy="572"/>
            </a:xfrm>
            <a:custGeom>
              <a:avLst/>
              <a:gdLst>
                <a:gd name="T0" fmla="*/ 26 w 336"/>
                <a:gd name="T1" fmla="*/ 202 h 572"/>
                <a:gd name="T2" fmla="*/ 109 w 336"/>
                <a:gd name="T3" fmla="*/ 109 h 572"/>
                <a:gd name="T4" fmla="*/ 344 w 336"/>
                <a:gd name="T5" fmla="*/ 13 h 572"/>
                <a:gd name="T6" fmla="*/ 698 w 336"/>
                <a:gd name="T7" fmla="*/ 37 h 572"/>
                <a:gd name="T8" fmla="*/ 861 w 336"/>
                <a:gd name="T9" fmla="*/ 233 h 572"/>
                <a:gd name="T10" fmla="*/ 782 w 336"/>
                <a:gd name="T11" fmla="*/ 449 h 572"/>
                <a:gd name="T12" fmla="*/ 501 w 336"/>
                <a:gd name="T13" fmla="*/ 557 h 572"/>
                <a:gd name="T14" fmla="*/ 223 w 336"/>
                <a:gd name="T15" fmla="*/ 535 h 572"/>
                <a:gd name="T16" fmla="*/ 130 w 336"/>
                <a:gd name="T17" fmla="*/ 490 h 572"/>
                <a:gd name="T18" fmla="*/ 0 w 336"/>
                <a:gd name="T19" fmla="*/ 398 h 5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36" h="572">
                  <a:moveTo>
                    <a:pt x="10" y="202"/>
                  </a:moveTo>
                  <a:cubicBezTo>
                    <a:pt x="15" y="187"/>
                    <a:pt x="22" y="140"/>
                    <a:pt x="42" y="109"/>
                  </a:cubicBezTo>
                  <a:cubicBezTo>
                    <a:pt x="62" y="78"/>
                    <a:pt x="94" y="25"/>
                    <a:pt x="132" y="13"/>
                  </a:cubicBezTo>
                  <a:cubicBezTo>
                    <a:pt x="170" y="1"/>
                    <a:pt x="235" y="0"/>
                    <a:pt x="268" y="37"/>
                  </a:cubicBezTo>
                  <a:cubicBezTo>
                    <a:pt x="301" y="74"/>
                    <a:pt x="326" y="164"/>
                    <a:pt x="331" y="233"/>
                  </a:cubicBezTo>
                  <a:cubicBezTo>
                    <a:pt x="336" y="302"/>
                    <a:pt x="324" y="395"/>
                    <a:pt x="301" y="449"/>
                  </a:cubicBezTo>
                  <a:cubicBezTo>
                    <a:pt x="277" y="503"/>
                    <a:pt x="228" y="543"/>
                    <a:pt x="192" y="557"/>
                  </a:cubicBezTo>
                  <a:cubicBezTo>
                    <a:pt x="156" y="572"/>
                    <a:pt x="109" y="546"/>
                    <a:pt x="86" y="535"/>
                  </a:cubicBezTo>
                  <a:cubicBezTo>
                    <a:pt x="63" y="524"/>
                    <a:pt x="64" y="514"/>
                    <a:pt x="50" y="490"/>
                  </a:cubicBezTo>
                  <a:cubicBezTo>
                    <a:pt x="36" y="467"/>
                    <a:pt x="10" y="417"/>
                    <a:pt x="0" y="398"/>
                  </a:cubicBezTo>
                </a:path>
              </a:pathLst>
            </a:custGeom>
            <a:noFill/>
            <a:ln w="38100" cap="flat" cmpd="sng">
              <a:solidFill>
                <a:srgbClr val="CC33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18" name="Rectangle 17"/>
            <p:cNvSpPr>
              <a:spLocks noChangeArrowheads="1"/>
            </p:cNvSpPr>
            <p:nvPr/>
          </p:nvSpPr>
          <p:spPr bwMode="auto">
            <a:xfrm>
              <a:off x="1404" y="1335"/>
              <a:ext cx="31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6</a:t>
              </a:r>
            </a:p>
          </p:txBody>
        </p:sp>
        <p:sp>
          <p:nvSpPr>
            <p:cNvPr id="51219" name="Freeform 18"/>
            <p:cNvSpPr>
              <a:spLocks/>
            </p:cNvSpPr>
            <p:nvPr/>
          </p:nvSpPr>
          <p:spPr bwMode="auto">
            <a:xfrm>
              <a:off x="1837" y="964"/>
              <a:ext cx="403" cy="548"/>
            </a:xfrm>
            <a:custGeom>
              <a:avLst/>
              <a:gdLst>
                <a:gd name="T0" fmla="*/ 26 w 343"/>
                <a:gd name="T1" fmla="*/ 200 h 548"/>
                <a:gd name="T2" fmla="*/ 105 w 343"/>
                <a:gd name="T3" fmla="*/ 101 h 548"/>
                <a:gd name="T4" fmla="*/ 261 w 343"/>
                <a:gd name="T5" fmla="*/ 29 h 548"/>
                <a:gd name="T6" fmla="*/ 611 w 343"/>
                <a:gd name="T7" fmla="*/ 11 h 548"/>
                <a:gd name="T8" fmla="*/ 831 w 343"/>
                <a:gd name="T9" fmla="*/ 95 h 548"/>
                <a:gd name="T10" fmla="*/ 893 w 343"/>
                <a:gd name="T11" fmla="*/ 233 h 548"/>
                <a:gd name="T12" fmla="*/ 879 w 343"/>
                <a:gd name="T13" fmla="*/ 341 h 548"/>
                <a:gd name="T14" fmla="*/ 794 w 343"/>
                <a:gd name="T15" fmla="*/ 447 h 548"/>
                <a:gd name="T16" fmla="*/ 597 w 343"/>
                <a:gd name="T17" fmla="*/ 533 h 548"/>
                <a:gd name="T18" fmla="*/ 313 w 343"/>
                <a:gd name="T19" fmla="*/ 539 h 548"/>
                <a:gd name="T20" fmla="*/ 132 w 343"/>
                <a:gd name="T21" fmla="*/ 488 h 548"/>
                <a:gd name="T22" fmla="*/ 0 w 343"/>
                <a:gd name="T23" fmla="*/ 396 h 5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43" h="548">
                  <a:moveTo>
                    <a:pt x="10" y="200"/>
                  </a:moveTo>
                  <a:cubicBezTo>
                    <a:pt x="15" y="184"/>
                    <a:pt x="25" y="130"/>
                    <a:pt x="40" y="101"/>
                  </a:cubicBezTo>
                  <a:cubicBezTo>
                    <a:pt x="55" y="72"/>
                    <a:pt x="68" y="44"/>
                    <a:pt x="100" y="29"/>
                  </a:cubicBezTo>
                  <a:cubicBezTo>
                    <a:pt x="132" y="14"/>
                    <a:pt x="196" y="0"/>
                    <a:pt x="232" y="11"/>
                  </a:cubicBezTo>
                  <a:cubicBezTo>
                    <a:pt x="268" y="22"/>
                    <a:pt x="298" y="58"/>
                    <a:pt x="316" y="95"/>
                  </a:cubicBezTo>
                  <a:cubicBezTo>
                    <a:pt x="334" y="132"/>
                    <a:pt x="337" y="192"/>
                    <a:pt x="340" y="233"/>
                  </a:cubicBezTo>
                  <a:cubicBezTo>
                    <a:pt x="343" y="274"/>
                    <a:pt x="340" y="305"/>
                    <a:pt x="334" y="341"/>
                  </a:cubicBezTo>
                  <a:cubicBezTo>
                    <a:pt x="328" y="377"/>
                    <a:pt x="319" y="415"/>
                    <a:pt x="301" y="447"/>
                  </a:cubicBezTo>
                  <a:cubicBezTo>
                    <a:pt x="283" y="479"/>
                    <a:pt x="256" y="518"/>
                    <a:pt x="226" y="533"/>
                  </a:cubicBezTo>
                  <a:cubicBezTo>
                    <a:pt x="196" y="548"/>
                    <a:pt x="147" y="547"/>
                    <a:pt x="118" y="539"/>
                  </a:cubicBezTo>
                  <a:cubicBezTo>
                    <a:pt x="89" y="531"/>
                    <a:pt x="70" y="512"/>
                    <a:pt x="50" y="488"/>
                  </a:cubicBezTo>
                  <a:cubicBezTo>
                    <a:pt x="30" y="464"/>
                    <a:pt x="10" y="415"/>
                    <a:pt x="0" y="396"/>
                  </a:cubicBezTo>
                </a:path>
              </a:pathLst>
            </a:custGeom>
            <a:noFill/>
            <a:ln w="38100" cap="flat" cmpd="sng">
              <a:solidFill>
                <a:srgbClr val="CC33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20" name="Text Box 19"/>
            <p:cNvSpPr txBox="1">
              <a:spLocks noChangeArrowheads="1"/>
            </p:cNvSpPr>
            <p:nvPr/>
          </p:nvSpPr>
          <p:spPr bwMode="auto">
            <a:xfrm>
              <a:off x="512" y="1214"/>
              <a:ext cx="22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d</a:t>
              </a:r>
            </a:p>
          </p:txBody>
        </p:sp>
        <p:sp>
          <p:nvSpPr>
            <p:cNvPr id="51221" name="Text Box 20"/>
            <p:cNvSpPr txBox="1">
              <a:spLocks noChangeArrowheads="1"/>
            </p:cNvSpPr>
            <p:nvPr/>
          </p:nvSpPr>
          <p:spPr bwMode="auto">
            <a:xfrm>
              <a:off x="1704" y="1963"/>
              <a:ext cx="22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51222" name="Text Box 21"/>
            <p:cNvSpPr txBox="1">
              <a:spLocks noChangeArrowheads="1"/>
            </p:cNvSpPr>
            <p:nvPr/>
          </p:nvSpPr>
          <p:spPr bwMode="auto">
            <a:xfrm>
              <a:off x="2631" y="1146"/>
              <a:ext cx="20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c</a:t>
              </a:r>
            </a:p>
          </p:txBody>
        </p:sp>
        <p:sp>
          <p:nvSpPr>
            <p:cNvPr id="51223" name="Rectangle 23"/>
            <p:cNvSpPr>
              <a:spLocks noChangeArrowheads="1"/>
            </p:cNvSpPr>
            <p:nvPr/>
          </p:nvSpPr>
          <p:spPr bwMode="auto">
            <a:xfrm>
              <a:off x="1795" y="2400"/>
              <a:ext cx="21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1224" name="Rectangle 24"/>
            <p:cNvSpPr>
              <a:spLocks noChangeArrowheads="1"/>
            </p:cNvSpPr>
            <p:nvPr/>
          </p:nvSpPr>
          <p:spPr bwMode="auto">
            <a:xfrm>
              <a:off x="1349" y="2448"/>
              <a:ext cx="23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1225" name="Rectangle 25"/>
            <p:cNvSpPr>
              <a:spLocks noChangeArrowheads="1"/>
            </p:cNvSpPr>
            <p:nvPr/>
          </p:nvSpPr>
          <p:spPr bwMode="auto">
            <a:xfrm rot="21233718">
              <a:off x="878" y="1582"/>
              <a:ext cx="43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3</a:t>
              </a:r>
              <a:endParaRPr lang="en-US" altLang="zh-CN" sz="24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26" name="Rectangle 26"/>
            <p:cNvSpPr>
              <a:spLocks noChangeArrowheads="1"/>
            </p:cNvSpPr>
            <p:nvPr/>
          </p:nvSpPr>
          <p:spPr bwMode="auto">
            <a:xfrm rot="30116">
              <a:off x="2117" y="1534"/>
              <a:ext cx="31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4</a:t>
              </a:r>
              <a:endParaRPr lang="en-US" altLang="zh-CN" sz="24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27" name="Rectangle 27"/>
            <p:cNvSpPr>
              <a:spLocks noChangeArrowheads="1"/>
            </p:cNvSpPr>
            <p:nvPr/>
          </p:nvSpPr>
          <p:spPr bwMode="auto">
            <a:xfrm rot="371425">
              <a:off x="824" y="530"/>
              <a:ext cx="31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sz="24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28" name="Rectangle 28"/>
            <p:cNvSpPr>
              <a:spLocks noChangeArrowheads="1"/>
            </p:cNvSpPr>
            <p:nvPr/>
          </p:nvSpPr>
          <p:spPr bwMode="auto">
            <a:xfrm rot="21584501">
              <a:off x="2173" y="583"/>
              <a:ext cx="31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sz="24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29" name="Line 29"/>
            <p:cNvSpPr>
              <a:spLocks noChangeShapeType="1"/>
            </p:cNvSpPr>
            <p:nvPr/>
          </p:nvSpPr>
          <p:spPr bwMode="auto">
            <a:xfrm flipV="1">
              <a:off x="1694" y="480"/>
              <a:ext cx="0" cy="6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0" name="Line 30"/>
            <p:cNvSpPr>
              <a:spLocks noChangeShapeType="1"/>
            </p:cNvSpPr>
            <p:nvPr/>
          </p:nvSpPr>
          <p:spPr bwMode="auto">
            <a:xfrm>
              <a:off x="1694" y="1365"/>
              <a:ext cx="0" cy="64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1" name="Line 31"/>
            <p:cNvSpPr>
              <a:spLocks noChangeShapeType="1"/>
            </p:cNvSpPr>
            <p:nvPr/>
          </p:nvSpPr>
          <p:spPr bwMode="auto">
            <a:xfrm>
              <a:off x="2626" y="1248"/>
              <a:ext cx="0" cy="12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2" name="Line 32"/>
            <p:cNvSpPr>
              <a:spLocks noChangeShapeType="1"/>
            </p:cNvSpPr>
            <p:nvPr/>
          </p:nvSpPr>
          <p:spPr bwMode="auto">
            <a:xfrm>
              <a:off x="1781" y="642"/>
              <a:ext cx="0" cy="318"/>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3" name="Text Box 33"/>
            <p:cNvSpPr txBox="1">
              <a:spLocks noChangeArrowheads="1"/>
            </p:cNvSpPr>
            <p:nvPr/>
          </p:nvSpPr>
          <p:spPr bwMode="auto">
            <a:xfrm>
              <a:off x="1932" y="377"/>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2</a:t>
              </a:r>
              <a:endPar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4" name="Text Box 34"/>
            <p:cNvSpPr txBox="1">
              <a:spLocks noChangeArrowheads="1"/>
            </p:cNvSpPr>
            <p:nvPr/>
          </p:nvSpPr>
          <p:spPr bwMode="auto">
            <a:xfrm>
              <a:off x="1894" y="1808"/>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4</a:t>
              </a:r>
              <a:endPar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5" name="Text Box 35"/>
            <p:cNvSpPr txBox="1">
              <a:spLocks noChangeArrowheads="1"/>
            </p:cNvSpPr>
            <p:nvPr/>
          </p:nvSpPr>
          <p:spPr bwMode="auto">
            <a:xfrm>
              <a:off x="1742" y="704"/>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6</a:t>
              </a:r>
              <a:endPar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6" name="Line 36"/>
            <p:cNvSpPr>
              <a:spLocks noChangeShapeType="1"/>
            </p:cNvSpPr>
            <p:nvPr/>
          </p:nvSpPr>
          <p:spPr bwMode="auto">
            <a:xfrm>
              <a:off x="768" y="1238"/>
              <a:ext cx="0" cy="12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7" name="Text Box 37"/>
            <p:cNvSpPr txBox="1">
              <a:spLocks noChangeArrowheads="1"/>
            </p:cNvSpPr>
            <p:nvPr/>
          </p:nvSpPr>
          <p:spPr bwMode="auto">
            <a:xfrm>
              <a:off x="1105" y="368"/>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1</a:t>
              </a:r>
              <a:endPar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38" name="Text Box 38"/>
            <p:cNvSpPr txBox="1">
              <a:spLocks noChangeArrowheads="1"/>
            </p:cNvSpPr>
            <p:nvPr/>
          </p:nvSpPr>
          <p:spPr bwMode="auto">
            <a:xfrm>
              <a:off x="1162" y="1808"/>
              <a:ext cx="26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3</a:t>
              </a:r>
              <a:endPar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1239" name="Group 39"/>
            <p:cNvGrpSpPr>
              <a:grpSpLocks/>
            </p:cNvGrpSpPr>
            <p:nvPr/>
          </p:nvGrpSpPr>
          <p:grpSpPr bwMode="auto">
            <a:xfrm>
              <a:off x="1670" y="1241"/>
              <a:ext cx="911" cy="776"/>
              <a:chOff x="1105" y="1049"/>
              <a:chExt cx="777" cy="776"/>
            </a:xfrm>
          </p:grpSpPr>
          <p:sp>
            <p:nvSpPr>
              <p:cNvPr id="51269" name="Line 40"/>
              <p:cNvSpPr>
                <a:spLocks noChangeShapeType="1"/>
              </p:cNvSpPr>
              <p:nvPr/>
            </p:nvSpPr>
            <p:spPr bwMode="auto">
              <a:xfrm flipV="1">
                <a:off x="1584" y="1049"/>
                <a:ext cx="298" cy="2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70" name="Line 41"/>
              <p:cNvSpPr>
                <a:spLocks noChangeShapeType="1"/>
              </p:cNvSpPr>
              <p:nvPr/>
            </p:nvSpPr>
            <p:spPr bwMode="auto">
              <a:xfrm flipH="1">
                <a:off x="1105" y="1536"/>
                <a:ext cx="287" cy="2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71" name="Rectangle 42"/>
              <p:cNvSpPr>
                <a:spLocks noChangeArrowheads="1"/>
              </p:cNvSpPr>
              <p:nvPr/>
            </p:nvSpPr>
            <p:spPr bwMode="auto">
              <a:xfrm rot="2700000" flipH="1">
                <a:off x="1437" y="1290"/>
                <a:ext cx="8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1240" name="Line 43"/>
            <p:cNvSpPr>
              <a:spLocks noChangeShapeType="1"/>
            </p:cNvSpPr>
            <p:nvPr/>
          </p:nvSpPr>
          <p:spPr bwMode="auto">
            <a:xfrm>
              <a:off x="1837" y="480"/>
              <a:ext cx="282" cy="24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41" name="Line 44"/>
            <p:cNvSpPr>
              <a:spLocks noChangeShapeType="1"/>
            </p:cNvSpPr>
            <p:nvPr/>
          </p:nvSpPr>
          <p:spPr bwMode="auto">
            <a:xfrm rot="10800000" flipH="1">
              <a:off x="1781" y="1776"/>
              <a:ext cx="253" cy="216"/>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42" name="Line 45"/>
            <p:cNvSpPr>
              <a:spLocks noChangeShapeType="1"/>
            </p:cNvSpPr>
            <p:nvPr/>
          </p:nvSpPr>
          <p:spPr bwMode="auto">
            <a:xfrm rot="10800000" flipH="1" flipV="1">
              <a:off x="1331" y="1824"/>
              <a:ext cx="244" cy="207"/>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43" name="Line 46"/>
            <p:cNvSpPr>
              <a:spLocks noChangeShapeType="1"/>
            </p:cNvSpPr>
            <p:nvPr/>
          </p:nvSpPr>
          <p:spPr bwMode="auto">
            <a:xfrm flipV="1">
              <a:off x="1331" y="482"/>
              <a:ext cx="222" cy="19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44" name="Oval 47"/>
            <p:cNvSpPr>
              <a:spLocks noChangeArrowheads="1"/>
            </p:cNvSpPr>
            <p:nvPr/>
          </p:nvSpPr>
          <p:spPr bwMode="auto">
            <a:xfrm>
              <a:off x="2581" y="1223"/>
              <a:ext cx="6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45" name="Oval 48"/>
            <p:cNvSpPr>
              <a:spLocks noChangeArrowheads="1"/>
            </p:cNvSpPr>
            <p:nvPr/>
          </p:nvSpPr>
          <p:spPr bwMode="auto">
            <a:xfrm>
              <a:off x="1648" y="459"/>
              <a:ext cx="6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46" name="Oval 49"/>
            <p:cNvSpPr>
              <a:spLocks noChangeArrowheads="1"/>
            </p:cNvSpPr>
            <p:nvPr/>
          </p:nvSpPr>
          <p:spPr bwMode="auto">
            <a:xfrm>
              <a:off x="737" y="1223"/>
              <a:ext cx="6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47" name="Oval 50"/>
            <p:cNvSpPr>
              <a:spLocks noChangeArrowheads="1"/>
            </p:cNvSpPr>
            <p:nvPr/>
          </p:nvSpPr>
          <p:spPr bwMode="auto">
            <a:xfrm rot="5400000">
              <a:off x="1577" y="2306"/>
              <a:ext cx="245" cy="287"/>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48" name="Line 51"/>
            <p:cNvSpPr>
              <a:spLocks noChangeShapeType="1"/>
            </p:cNvSpPr>
            <p:nvPr/>
          </p:nvSpPr>
          <p:spPr bwMode="auto">
            <a:xfrm rot="16200000" flipV="1">
              <a:off x="1700" y="1516"/>
              <a:ext cx="0" cy="1863"/>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1249" name="Group 52"/>
            <p:cNvGrpSpPr>
              <a:grpSpLocks/>
            </p:cNvGrpSpPr>
            <p:nvPr/>
          </p:nvGrpSpPr>
          <p:grpSpPr bwMode="auto">
            <a:xfrm>
              <a:off x="768" y="472"/>
              <a:ext cx="911" cy="776"/>
              <a:chOff x="1105" y="1049"/>
              <a:chExt cx="777" cy="776"/>
            </a:xfrm>
          </p:grpSpPr>
          <p:sp>
            <p:nvSpPr>
              <p:cNvPr id="51266" name="Line 53"/>
              <p:cNvSpPr>
                <a:spLocks noChangeShapeType="1"/>
              </p:cNvSpPr>
              <p:nvPr/>
            </p:nvSpPr>
            <p:spPr bwMode="auto">
              <a:xfrm flipV="1">
                <a:off x="1584" y="1049"/>
                <a:ext cx="298" cy="2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67" name="Line 54"/>
              <p:cNvSpPr>
                <a:spLocks noChangeShapeType="1"/>
              </p:cNvSpPr>
              <p:nvPr/>
            </p:nvSpPr>
            <p:spPr bwMode="auto">
              <a:xfrm flipH="1">
                <a:off x="1105" y="1536"/>
                <a:ext cx="287" cy="2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68" name="Rectangle 55"/>
              <p:cNvSpPr>
                <a:spLocks noChangeArrowheads="1"/>
              </p:cNvSpPr>
              <p:nvPr/>
            </p:nvSpPr>
            <p:spPr bwMode="auto">
              <a:xfrm rot="2700000" flipH="1">
                <a:off x="1437" y="1290"/>
                <a:ext cx="8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1250" name="Group 56"/>
            <p:cNvGrpSpPr>
              <a:grpSpLocks/>
            </p:cNvGrpSpPr>
            <p:nvPr/>
          </p:nvGrpSpPr>
          <p:grpSpPr bwMode="auto">
            <a:xfrm rot="-5400000">
              <a:off x="834" y="1182"/>
              <a:ext cx="777" cy="910"/>
              <a:chOff x="1105" y="1049"/>
              <a:chExt cx="777" cy="776"/>
            </a:xfrm>
          </p:grpSpPr>
          <p:sp>
            <p:nvSpPr>
              <p:cNvPr id="51263" name="Line 57"/>
              <p:cNvSpPr>
                <a:spLocks noChangeShapeType="1"/>
              </p:cNvSpPr>
              <p:nvPr/>
            </p:nvSpPr>
            <p:spPr bwMode="auto">
              <a:xfrm flipV="1">
                <a:off x="1584" y="1049"/>
                <a:ext cx="298" cy="2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64" name="Line 58"/>
              <p:cNvSpPr>
                <a:spLocks noChangeShapeType="1"/>
              </p:cNvSpPr>
              <p:nvPr/>
            </p:nvSpPr>
            <p:spPr bwMode="auto">
              <a:xfrm flipH="1">
                <a:off x="1105" y="1536"/>
                <a:ext cx="287" cy="2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65" name="Rectangle 59"/>
              <p:cNvSpPr>
                <a:spLocks noChangeArrowheads="1"/>
              </p:cNvSpPr>
              <p:nvPr/>
            </p:nvSpPr>
            <p:spPr bwMode="auto">
              <a:xfrm rot="2700000" flipH="1">
                <a:off x="1437" y="1290"/>
                <a:ext cx="8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1251" name="Group 60"/>
            <p:cNvGrpSpPr>
              <a:grpSpLocks/>
            </p:cNvGrpSpPr>
            <p:nvPr/>
          </p:nvGrpSpPr>
          <p:grpSpPr bwMode="auto">
            <a:xfrm rot="-5400000">
              <a:off x="1782" y="413"/>
              <a:ext cx="777" cy="911"/>
              <a:chOff x="1105" y="1049"/>
              <a:chExt cx="777" cy="776"/>
            </a:xfrm>
          </p:grpSpPr>
          <p:sp>
            <p:nvSpPr>
              <p:cNvPr id="51260" name="Line 61"/>
              <p:cNvSpPr>
                <a:spLocks noChangeShapeType="1"/>
              </p:cNvSpPr>
              <p:nvPr/>
            </p:nvSpPr>
            <p:spPr bwMode="auto">
              <a:xfrm flipV="1">
                <a:off x="1584" y="1049"/>
                <a:ext cx="298" cy="29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61" name="Line 62"/>
              <p:cNvSpPr>
                <a:spLocks noChangeShapeType="1"/>
              </p:cNvSpPr>
              <p:nvPr/>
            </p:nvSpPr>
            <p:spPr bwMode="auto">
              <a:xfrm flipH="1">
                <a:off x="1105" y="1536"/>
                <a:ext cx="287" cy="28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62" name="Rectangle 63"/>
              <p:cNvSpPr>
                <a:spLocks noChangeArrowheads="1"/>
              </p:cNvSpPr>
              <p:nvPr/>
            </p:nvSpPr>
            <p:spPr bwMode="auto">
              <a:xfrm rot="2700000" flipH="1">
                <a:off x="1437" y="1290"/>
                <a:ext cx="86" cy="288"/>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1252" name="Oval 64"/>
            <p:cNvSpPr>
              <a:spLocks noChangeArrowheads="1"/>
            </p:cNvSpPr>
            <p:nvPr/>
          </p:nvSpPr>
          <p:spPr bwMode="auto">
            <a:xfrm>
              <a:off x="1659" y="1992"/>
              <a:ext cx="6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53" name="Rectangle 65"/>
            <p:cNvSpPr>
              <a:spLocks noChangeArrowheads="1"/>
            </p:cNvSpPr>
            <p:nvPr/>
          </p:nvSpPr>
          <p:spPr bwMode="auto">
            <a:xfrm>
              <a:off x="1645" y="1095"/>
              <a:ext cx="113" cy="288"/>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54" name="Rectangle 66"/>
            <p:cNvSpPr>
              <a:spLocks noChangeArrowheads="1"/>
            </p:cNvSpPr>
            <p:nvPr/>
          </p:nvSpPr>
          <p:spPr bwMode="auto">
            <a:xfrm rot="10800000">
              <a:off x="2575" y="1785"/>
              <a:ext cx="113" cy="288"/>
            </a:xfrm>
            <a:prstGeom prst="rect">
              <a:avLst/>
            </a:prstGeom>
            <a:solidFill>
              <a:schemeClr val="bg1"/>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55" name="Rectangle 67"/>
            <p:cNvSpPr>
              <a:spLocks noChangeArrowheads="1"/>
            </p:cNvSpPr>
            <p:nvPr/>
          </p:nvSpPr>
          <p:spPr bwMode="auto">
            <a:xfrm rot="30116">
              <a:off x="2302" y="1918"/>
              <a:ext cx="31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S</a:t>
              </a:r>
              <a:endParaRPr lang="en-US" altLang="zh-CN" sz="24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56" name="Line 68"/>
            <p:cNvSpPr>
              <a:spLocks noChangeShapeType="1"/>
            </p:cNvSpPr>
            <p:nvPr/>
          </p:nvSpPr>
          <p:spPr bwMode="auto">
            <a:xfrm>
              <a:off x="912" y="2352"/>
              <a:ext cx="336" cy="0"/>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57" name="Text Box 69"/>
            <p:cNvSpPr txBox="1">
              <a:spLocks noChangeArrowheads="1"/>
            </p:cNvSpPr>
            <p:nvPr/>
          </p:nvSpPr>
          <p:spPr bwMode="auto">
            <a:xfrm>
              <a:off x="1296" y="2160"/>
              <a:ext cx="268"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i="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S</a:t>
              </a:r>
              <a:endPar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1258" name="Text Box 70"/>
            <p:cNvSpPr txBox="1">
              <a:spLocks noChangeArrowheads="1"/>
            </p:cNvSpPr>
            <p:nvPr/>
          </p:nvSpPr>
          <p:spPr bwMode="auto">
            <a:xfrm>
              <a:off x="2391" y="2400"/>
              <a:ext cx="20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a:solidFill>
                    <a:srgbClr val="003399"/>
                  </a:solidFill>
                  <a:latin typeface="Times New Roman" panose="02020603050405020304" pitchFamily="18" charset="0"/>
                  <a:ea typeface="华文中宋" panose="02010600040101010101" pitchFamily="2" charset="-122"/>
                  <a:cs typeface="Times New Roman" panose="02020603050405020304" pitchFamily="18" charset="0"/>
                </a:rPr>
                <a:t>e</a:t>
              </a:r>
            </a:p>
          </p:txBody>
        </p:sp>
        <p:sp>
          <p:nvSpPr>
            <p:cNvPr id="51259" name="Oval 72"/>
            <p:cNvSpPr>
              <a:spLocks noChangeArrowheads="1"/>
            </p:cNvSpPr>
            <p:nvPr/>
          </p:nvSpPr>
          <p:spPr bwMode="auto">
            <a:xfrm>
              <a:off x="2592" y="2400"/>
              <a:ext cx="6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300106" name="Text Box 74"/>
          <p:cNvSpPr txBox="1">
            <a:spLocks noChangeArrowheads="1"/>
          </p:cNvSpPr>
          <p:nvPr/>
        </p:nvSpPr>
        <p:spPr bwMode="auto">
          <a:xfrm>
            <a:off x="762000" y="5257800"/>
            <a:ext cx="8077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说明：前</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3</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个方程，每个方程中都有新的支路，他们是相互独立的。第</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4</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个方程中没有新的支路，将前</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3</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个方程相加就得到第</a:t>
            </a:r>
            <a:r>
              <a:rPr lang="en-US" altLang="zh-CN" sz="2400" b="1">
                <a:latin typeface="Times New Roman" panose="02020603050405020304" pitchFamily="18" charset="0"/>
                <a:ea typeface="华文中宋" panose="02010600040101010101" pitchFamily="2" charset="-122"/>
                <a:cs typeface="Times New Roman" panose="02020603050405020304" pitchFamily="18" charset="0"/>
              </a:rPr>
              <a:t>4</a:t>
            </a:r>
            <a:r>
              <a:rPr lang="zh-CN" altLang="en-US" sz="2400" b="1">
                <a:latin typeface="Times New Roman" panose="02020603050405020304" pitchFamily="18" charset="0"/>
                <a:ea typeface="华文中宋" panose="02010600040101010101" pitchFamily="2" charset="-122"/>
                <a:cs typeface="Times New Roman" panose="02020603050405020304" pitchFamily="18" charset="0"/>
              </a:rPr>
              <a:t>个方程，它不是独立的。</a:t>
            </a:r>
          </a:p>
        </p:txBody>
      </p:sp>
      <p:sp>
        <p:nvSpPr>
          <p:cNvPr id="51214" name="灯片编号占位符 1"/>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6522939-E7AF-4679-BA2F-DFB7EEC97A8D}"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44</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0034"/>
                                        </p:tgtEl>
                                        <p:attrNameLst>
                                          <p:attrName>style.visibility</p:attrName>
                                        </p:attrNameLst>
                                      </p:cBhvr>
                                      <p:to>
                                        <p:strVal val="visible"/>
                                      </p:to>
                                    </p:set>
                                    <p:animEffect transition="in" filter="wipe(left)">
                                      <p:cBhvr>
                                        <p:cTn id="7" dur="500"/>
                                        <p:tgtEl>
                                          <p:spTgt spid="3000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0037"/>
                                        </p:tgtEl>
                                        <p:attrNameLst>
                                          <p:attrName>style.visibility</p:attrName>
                                        </p:attrNameLst>
                                      </p:cBhvr>
                                      <p:to>
                                        <p:strVal val="visible"/>
                                      </p:to>
                                    </p:set>
                                    <p:animEffect transition="in" filter="wipe(left)">
                                      <p:cBhvr>
                                        <p:cTn id="12" dur="500"/>
                                        <p:tgtEl>
                                          <p:spTgt spid="3000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0035"/>
                                        </p:tgtEl>
                                        <p:attrNameLst>
                                          <p:attrName>style.visibility</p:attrName>
                                        </p:attrNameLst>
                                      </p:cBhvr>
                                      <p:to>
                                        <p:strVal val="visible"/>
                                      </p:to>
                                    </p:set>
                                    <p:animEffect transition="in" filter="wipe(left)">
                                      <p:cBhvr>
                                        <p:cTn id="17" dur="500"/>
                                        <p:tgtEl>
                                          <p:spTgt spid="3000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0038"/>
                                        </p:tgtEl>
                                        <p:attrNameLst>
                                          <p:attrName>style.visibility</p:attrName>
                                        </p:attrNameLst>
                                      </p:cBhvr>
                                      <p:to>
                                        <p:strVal val="visible"/>
                                      </p:to>
                                    </p:set>
                                    <p:animEffect transition="in" filter="wipe(left)">
                                      <p:cBhvr>
                                        <p:cTn id="22" dur="500"/>
                                        <p:tgtEl>
                                          <p:spTgt spid="3000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0036"/>
                                        </p:tgtEl>
                                        <p:attrNameLst>
                                          <p:attrName>style.visibility</p:attrName>
                                        </p:attrNameLst>
                                      </p:cBhvr>
                                      <p:to>
                                        <p:strVal val="visible"/>
                                      </p:to>
                                    </p:set>
                                    <p:animEffect transition="in" filter="wipe(left)">
                                      <p:cBhvr>
                                        <p:cTn id="27" dur="500"/>
                                        <p:tgtEl>
                                          <p:spTgt spid="30003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00039"/>
                                        </p:tgtEl>
                                        <p:attrNameLst>
                                          <p:attrName>style.visibility</p:attrName>
                                        </p:attrNameLst>
                                      </p:cBhvr>
                                      <p:to>
                                        <p:strVal val="visible"/>
                                      </p:to>
                                    </p:set>
                                    <p:animEffect transition="in" filter="wipe(left)">
                                      <p:cBhvr>
                                        <p:cTn id="32" dur="500"/>
                                        <p:tgtEl>
                                          <p:spTgt spid="30003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0040"/>
                                        </p:tgtEl>
                                        <p:attrNameLst>
                                          <p:attrName>style.visibility</p:attrName>
                                        </p:attrNameLst>
                                      </p:cBhvr>
                                      <p:to>
                                        <p:strVal val="visible"/>
                                      </p:to>
                                    </p:set>
                                    <p:animEffect transition="in" filter="wipe(left)">
                                      <p:cBhvr>
                                        <p:cTn id="37" dur="500"/>
                                        <p:tgtEl>
                                          <p:spTgt spid="30004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00041"/>
                                        </p:tgtEl>
                                        <p:attrNameLst>
                                          <p:attrName>style.visibility</p:attrName>
                                        </p:attrNameLst>
                                      </p:cBhvr>
                                      <p:to>
                                        <p:strVal val="visible"/>
                                      </p:to>
                                    </p:set>
                                    <p:animEffect transition="in" filter="wipe(left)">
                                      <p:cBhvr>
                                        <p:cTn id="42" dur="500"/>
                                        <p:tgtEl>
                                          <p:spTgt spid="30004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00106"/>
                                        </p:tgtEl>
                                        <p:attrNameLst>
                                          <p:attrName>style.visibility</p:attrName>
                                        </p:attrNameLst>
                                      </p:cBhvr>
                                      <p:to>
                                        <p:strVal val="visible"/>
                                      </p:to>
                                    </p:set>
                                    <p:animEffect transition="in" filter="blinds(horizontal)">
                                      <p:cBhvr>
                                        <p:cTn id="47" dur="500"/>
                                        <p:tgtEl>
                                          <p:spTgt spid="300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4" grpId="0" autoUpdateAnimBg="0"/>
      <p:bldP spid="300035" grpId="0" autoUpdateAnimBg="0"/>
      <p:bldP spid="300036" grpId="0" autoUpdateAnimBg="0"/>
      <p:bldP spid="300037" grpId="0" autoUpdateAnimBg="0"/>
      <p:bldP spid="300038" grpId="0" autoUpdateAnimBg="0"/>
      <p:bldP spid="300039" grpId="0" autoUpdateAnimBg="0"/>
      <p:bldP spid="300040" grpId="0" autoUpdateAnimBg="0"/>
      <p:bldP spid="300041" grpId="0" autoUpdateAnimBg="0"/>
      <p:bldP spid="30010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EFBF2FA-B8E4-4337-B26E-5C0450A30A2D}"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45</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1298" name="Rectangle 2"/>
          <p:cNvSpPr>
            <a:spLocks noChangeArrowheads="1"/>
          </p:cNvSpPr>
          <p:nvPr/>
        </p:nvSpPr>
        <p:spPr bwMode="auto">
          <a:xfrm>
            <a:off x="323850" y="1700213"/>
            <a:ext cx="8534400"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25000"/>
              </a:spcBef>
              <a:buFontTx/>
              <a:buNone/>
            </a:pPr>
            <a:r>
              <a:rPr kumimoji="1" lang="en-US" altLang="zh-CN"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2/  </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对回路中各支路电压要规定参考方向；</a:t>
            </a:r>
            <a:r>
              <a:rPr kumimoji="1" lang="zh-CN" altLang="en-US" sz="2400" b="1"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并设定回路的巡行方向，选顺时针巡行和逆时针巡行均可。巡行中，遇到与巡行方向相反的电压取负号；</a:t>
            </a:r>
          </a:p>
        </p:txBody>
      </p:sp>
      <p:sp>
        <p:nvSpPr>
          <p:cNvPr id="311300" name="Rectangle 4"/>
          <p:cNvSpPr>
            <a:spLocks noChangeArrowheads="1"/>
          </p:cNvSpPr>
          <p:nvPr/>
        </p:nvSpPr>
        <p:spPr bwMode="auto">
          <a:xfrm>
            <a:off x="323850" y="3141663"/>
            <a:ext cx="8496300"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25000"/>
              </a:spcBef>
              <a:buFontTx/>
              <a:buNone/>
            </a:pPr>
            <a:r>
              <a:rPr kumimoji="1" lang="en-US" altLang="zh-CN"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3/  </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应将</a:t>
            </a:r>
            <a:r>
              <a:rPr kumimoji="1" lang="en-US" altLang="zh-CN"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KVL</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代数方程中各项前的正负号与电压本身数值的正负号区别开来。</a:t>
            </a:r>
          </a:p>
        </p:txBody>
      </p:sp>
      <p:sp>
        <p:nvSpPr>
          <p:cNvPr id="311301" name="Rectangle 5"/>
          <p:cNvSpPr>
            <a:spLocks noChangeArrowheads="1"/>
          </p:cNvSpPr>
          <p:nvPr/>
        </p:nvSpPr>
        <p:spPr bwMode="auto">
          <a:xfrm>
            <a:off x="395288" y="4149725"/>
            <a:ext cx="8228012"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25000"/>
              </a:spcBef>
              <a:buFontTx/>
              <a:buNone/>
            </a:pPr>
            <a:r>
              <a:rPr kumimoji="1" lang="en-US" altLang="zh-CN"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4/</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400" b="1"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KVL</a:t>
            </a:r>
            <a:r>
              <a:rPr kumimoji="1" lang="zh-CN" altLang="en-US" sz="2400" b="1"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实质上是能量守恒原理在集中参数电路中的体现。</a:t>
            </a:r>
            <a:r>
              <a:rPr kumimoji="1" lang="zh-CN" altLang="en-US" sz="2400" b="1" dirty="0">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因为在任何回路中，电压的代数和为零，实际上是从某一点出发又回到该点时，电压的升高等于电位的降低。</a:t>
            </a:r>
          </a:p>
        </p:txBody>
      </p:sp>
      <p:sp>
        <p:nvSpPr>
          <p:cNvPr id="53254" name="Rectangle 12"/>
          <p:cNvSpPr>
            <a:spLocks noChangeArrowheads="1"/>
          </p:cNvSpPr>
          <p:nvPr/>
        </p:nvSpPr>
        <p:spPr bwMode="auto">
          <a:xfrm>
            <a:off x="250825" y="476250"/>
            <a:ext cx="36830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zh-CN" altLang="en-US" sz="2400" b="1">
                <a:solidFill>
                  <a:srgbClr val="D82E1C"/>
                </a:solidFill>
                <a:latin typeface="Times New Roman" panose="02020603050405020304" pitchFamily="18" charset="0"/>
                <a:ea typeface="华文中宋" panose="02010600040101010101" pitchFamily="2" charset="-122"/>
                <a:cs typeface="Times New Roman" panose="02020603050405020304" pitchFamily="18" charset="0"/>
              </a:rPr>
              <a:t>对</a:t>
            </a:r>
            <a:r>
              <a:rPr lang="en-US" altLang="zh-CN" sz="2400" b="1">
                <a:solidFill>
                  <a:srgbClr val="D82E1C"/>
                </a:solidFill>
                <a:latin typeface="Times New Roman" panose="02020603050405020304" pitchFamily="18" charset="0"/>
                <a:ea typeface="华文中宋" panose="02010600040101010101" pitchFamily="2" charset="-122"/>
                <a:cs typeface="Times New Roman" panose="02020603050405020304" pitchFamily="18" charset="0"/>
              </a:rPr>
              <a:t>KVL</a:t>
            </a:r>
            <a:r>
              <a:rPr lang="zh-CN" altLang="en-US" sz="2400" b="1">
                <a:solidFill>
                  <a:srgbClr val="D82E1C"/>
                </a:solidFill>
                <a:latin typeface="Times New Roman" panose="02020603050405020304" pitchFamily="18" charset="0"/>
                <a:ea typeface="华文中宋" panose="02010600040101010101" pitchFamily="2" charset="-122"/>
                <a:cs typeface="Times New Roman" panose="02020603050405020304" pitchFamily="18" charset="0"/>
              </a:rPr>
              <a:t>的说明</a:t>
            </a:r>
            <a:endParaRPr lang="zh-CN" altLang="en-US" sz="2400" b="1">
              <a:solidFill>
                <a:schemeClr val="tx2"/>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311309" name="Text Box 13"/>
          <p:cNvSpPr txBox="1">
            <a:spLocks noChangeArrowheads="1"/>
          </p:cNvSpPr>
          <p:nvPr/>
        </p:nvSpPr>
        <p:spPr bwMode="auto">
          <a:xfrm>
            <a:off x="323850" y="1052513"/>
            <a:ext cx="7696200"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81320" dir="2319588" algn="ctr" rotWithShape="0">
                    <a:srgbClr val="808080"/>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25000"/>
              </a:spcBef>
              <a:buFontTx/>
              <a:buNone/>
            </a:pPr>
            <a:r>
              <a:rPr kumimoji="1" lang="en-US" altLang="zh-CN" sz="24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1/    </a:t>
            </a:r>
            <a:r>
              <a:rPr kumimoji="1" lang="zh-CN" altLang="en-US" sz="2400" b="1">
                <a:solidFill>
                  <a:srgbClr val="000000"/>
                </a:solidFill>
                <a:latin typeface="Times New Roman" panose="02020603050405020304" pitchFamily="18" charset="0"/>
                <a:ea typeface="华文中宋" panose="02010600040101010101" pitchFamily="2" charset="-122"/>
                <a:cs typeface="Times New Roman" panose="02020603050405020304" pitchFamily="18" charset="0"/>
              </a:rPr>
              <a:t>两点之间的电压与路径无关。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1309">
                                            <p:txEl>
                                              <p:pRg st="0" end="0"/>
                                            </p:txEl>
                                          </p:spTgt>
                                        </p:tgtEl>
                                        <p:attrNameLst>
                                          <p:attrName>style.visibility</p:attrName>
                                        </p:attrNameLst>
                                      </p:cBhvr>
                                      <p:to>
                                        <p:strVal val="visible"/>
                                      </p:to>
                                    </p:set>
                                    <p:animEffect transition="in" filter="wipe(left)">
                                      <p:cBhvr>
                                        <p:cTn id="7" dur="500"/>
                                        <p:tgtEl>
                                          <p:spTgt spid="31130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11298"/>
                                        </p:tgtEl>
                                        <p:attrNameLst>
                                          <p:attrName>style.visibility</p:attrName>
                                        </p:attrNameLst>
                                      </p:cBhvr>
                                      <p:to>
                                        <p:strVal val="visible"/>
                                      </p:to>
                                    </p:set>
                                    <p:anim calcmode="lin" valueType="num">
                                      <p:cBhvr additive="base">
                                        <p:cTn id="12" dur="500" fill="hold"/>
                                        <p:tgtEl>
                                          <p:spTgt spid="311298"/>
                                        </p:tgtEl>
                                        <p:attrNameLst>
                                          <p:attrName>ppt_x</p:attrName>
                                        </p:attrNameLst>
                                      </p:cBhvr>
                                      <p:tavLst>
                                        <p:tav tm="0">
                                          <p:val>
                                            <p:strVal val="0-#ppt_w/2"/>
                                          </p:val>
                                        </p:tav>
                                        <p:tav tm="100000">
                                          <p:val>
                                            <p:strVal val="#ppt_x"/>
                                          </p:val>
                                        </p:tav>
                                      </p:tavLst>
                                    </p:anim>
                                    <p:anim calcmode="lin" valueType="num">
                                      <p:cBhvr additive="base">
                                        <p:cTn id="13" dur="500" fill="hold"/>
                                        <p:tgtEl>
                                          <p:spTgt spid="31129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311300"/>
                                        </p:tgtEl>
                                        <p:attrNameLst>
                                          <p:attrName>style.visibility</p:attrName>
                                        </p:attrNameLst>
                                      </p:cBhvr>
                                      <p:to>
                                        <p:strVal val="visible"/>
                                      </p:to>
                                    </p:set>
                                    <p:anim calcmode="lin" valueType="num">
                                      <p:cBhvr additive="base">
                                        <p:cTn id="18" dur="500" fill="hold"/>
                                        <p:tgtEl>
                                          <p:spTgt spid="311300"/>
                                        </p:tgtEl>
                                        <p:attrNameLst>
                                          <p:attrName>ppt_x</p:attrName>
                                        </p:attrNameLst>
                                      </p:cBhvr>
                                      <p:tavLst>
                                        <p:tav tm="0">
                                          <p:val>
                                            <p:strVal val="0-#ppt_w/2"/>
                                          </p:val>
                                        </p:tav>
                                        <p:tav tm="100000">
                                          <p:val>
                                            <p:strVal val="#ppt_x"/>
                                          </p:val>
                                        </p:tav>
                                      </p:tavLst>
                                    </p:anim>
                                    <p:anim calcmode="lin" valueType="num">
                                      <p:cBhvr additive="base">
                                        <p:cTn id="19" dur="500" fill="hold"/>
                                        <p:tgtEl>
                                          <p:spTgt spid="311300"/>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311301"/>
                                        </p:tgtEl>
                                        <p:attrNameLst>
                                          <p:attrName>style.visibility</p:attrName>
                                        </p:attrNameLst>
                                      </p:cBhvr>
                                      <p:to>
                                        <p:strVal val="visible"/>
                                      </p:to>
                                    </p:set>
                                    <p:anim calcmode="lin" valueType="num">
                                      <p:cBhvr additive="base">
                                        <p:cTn id="24" dur="500" fill="hold"/>
                                        <p:tgtEl>
                                          <p:spTgt spid="311301"/>
                                        </p:tgtEl>
                                        <p:attrNameLst>
                                          <p:attrName>ppt_x</p:attrName>
                                        </p:attrNameLst>
                                      </p:cBhvr>
                                      <p:tavLst>
                                        <p:tav tm="0">
                                          <p:val>
                                            <p:strVal val="0-#ppt_w/2"/>
                                          </p:val>
                                        </p:tav>
                                        <p:tav tm="100000">
                                          <p:val>
                                            <p:strVal val="#ppt_x"/>
                                          </p:val>
                                        </p:tav>
                                      </p:tavLst>
                                    </p:anim>
                                    <p:anim calcmode="lin" valueType="num">
                                      <p:cBhvr additive="base">
                                        <p:cTn id="25" dur="500" fill="hold"/>
                                        <p:tgtEl>
                                          <p:spTgt spid="3113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8" grpId="0" autoUpdateAnimBg="0"/>
      <p:bldP spid="311300" grpId="0" autoUpdateAnimBg="0"/>
      <p:bldP spid="311301" grpId="0" autoUpdateAnimBg="0"/>
      <p:bldP spid="311309"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1752600" y="381000"/>
            <a:ext cx="5867400" cy="609600"/>
          </a:xfrm>
        </p:spPr>
        <p:txBody>
          <a:bodyPr anchor="ctr"/>
          <a:lstStyle/>
          <a:p>
            <a:pPr eaLnBrk="1" hangingPunct="1">
              <a:buFont typeface="Wingdings" panose="05000000000000000000" pitchFamily="2" charset="2"/>
              <a:buNone/>
            </a:pPr>
            <a:r>
              <a:rPr lang="zh-CN" altLang="en-US" sz="44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第</a:t>
            </a:r>
            <a:r>
              <a:rPr lang="en-US" altLang="zh-CN" sz="44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44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章  电路分析导论</a:t>
            </a:r>
          </a:p>
        </p:txBody>
      </p:sp>
      <p:sp>
        <p:nvSpPr>
          <p:cNvPr id="6147" name="Rectangle 3"/>
          <p:cNvSpPr>
            <a:spLocks noChangeArrowheads="1"/>
          </p:cNvSpPr>
          <p:nvPr/>
        </p:nvSpPr>
        <p:spPr bwMode="auto">
          <a:xfrm>
            <a:off x="2484438" y="1125538"/>
            <a:ext cx="5876925" cy="511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200000"/>
              </a:lnSpc>
              <a:spcBef>
                <a:spcPct val="0"/>
              </a:spcBef>
              <a:buFontTx/>
              <a:buNone/>
            </a:pPr>
            <a:r>
              <a:rPr lang="en-US" altLang="zh-CN" sz="28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1.1  </a:t>
            </a:r>
            <a:r>
              <a:rPr lang="zh-CN" altLang="en-US" sz="28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电路和电路模型</a:t>
            </a:r>
          </a:p>
          <a:p>
            <a:pPr eaLnBrk="1" hangingPunct="1">
              <a:lnSpc>
                <a:spcPct val="200000"/>
              </a:lnSpc>
              <a:spcBef>
                <a:spcPct val="0"/>
              </a:spcBef>
              <a:buFontTx/>
              <a:buNone/>
            </a:pPr>
            <a:r>
              <a:rPr lang="en-US" altLang="zh-CN" sz="28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1.2  </a:t>
            </a:r>
            <a:r>
              <a:rPr lang="zh-CN" altLang="en-US" sz="28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电路的基本物理量 </a:t>
            </a:r>
          </a:p>
          <a:p>
            <a:pPr eaLnBrk="1" hangingPunct="1">
              <a:lnSpc>
                <a:spcPct val="200000"/>
              </a:lnSpc>
              <a:spcBef>
                <a:spcPct val="0"/>
              </a:spcBef>
              <a:buFontTx/>
              <a:buNone/>
            </a:pPr>
            <a:r>
              <a:rPr lang="en-US" altLang="zh-CN" sz="28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1.3  </a:t>
            </a:r>
            <a:r>
              <a:rPr lang="zh-CN" altLang="en-US" sz="28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电路基本元件</a:t>
            </a:r>
          </a:p>
          <a:p>
            <a:pPr eaLnBrk="1" hangingPunct="1">
              <a:lnSpc>
                <a:spcPct val="200000"/>
              </a:lnSpc>
              <a:spcBef>
                <a:spcPct val="0"/>
              </a:spcBef>
              <a:buFontTx/>
              <a:buNone/>
            </a:pPr>
            <a:r>
              <a:rPr lang="en-US" altLang="zh-CN" sz="28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1.4  </a:t>
            </a:r>
            <a:r>
              <a:rPr lang="zh-CN" altLang="en-US" sz="2800" b="1"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基尔霍夫定律</a:t>
            </a:r>
          </a:p>
          <a:p>
            <a:pPr eaLnBrk="1" hangingPunct="1">
              <a:lnSpc>
                <a:spcPct val="200000"/>
              </a:lnSpc>
              <a:spcBef>
                <a:spcPct val="0"/>
              </a:spcBef>
              <a:buFontTx/>
              <a:buNone/>
            </a:pPr>
            <a:r>
              <a:rPr lang="en-US" altLang="zh-CN" sz="2800" b="1" dirty="0">
                <a:latin typeface="Times New Roman" panose="02020603050405020304" pitchFamily="18" charset="0"/>
                <a:ea typeface="华文中宋" panose="02010600040101010101" pitchFamily="2" charset="-122"/>
                <a:cs typeface="Times New Roman" panose="02020603050405020304" pitchFamily="18" charset="0"/>
              </a:rPr>
              <a:t>1.5  </a:t>
            </a:r>
            <a:r>
              <a:rPr lang="zh-CN" altLang="en-US" sz="2800" b="1" dirty="0">
                <a:latin typeface="Times New Roman" panose="02020603050405020304" pitchFamily="18" charset="0"/>
                <a:ea typeface="华文中宋" panose="02010600040101010101" pitchFamily="2" charset="-122"/>
                <a:cs typeface="Times New Roman" panose="02020603050405020304" pitchFamily="18" charset="0"/>
              </a:rPr>
              <a:t>电压源和电流源的等效变换</a:t>
            </a:r>
          </a:p>
          <a:p>
            <a:pPr eaLnBrk="1" hangingPunct="1">
              <a:lnSpc>
                <a:spcPct val="200000"/>
              </a:lnSpc>
              <a:spcBef>
                <a:spcPct val="0"/>
              </a:spcBef>
              <a:buFontTx/>
              <a:buNone/>
            </a:pPr>
            <a:endParaRPr lang="en-US" altLang="zh-CN" sz="2800" b="1"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1EB37889-8F7E-4958-A59C-C53B8E64853A}" type="slidenum">
              <a:rPr lang="en-US" altLang="zh-CN" smtClean="0"/>
              <a:pPr>
                <a:defRPr/>
              </a:pPr>
              <a:t>46</a:t>
            </a:fld>
            <a:endParaRPr lang="en-US" altLang="zh-CN"/>
          </a:p>
        </p:txBody>
      </p:sp>
    </p:spTree>
    <p:extLst>
      <p:ext uri="{BB962C8B-B14F-4D97-AF65-F5344CB8AC3E}">
        <p14:creationId xmlns:p14="http://schemas.microsoft.com/office/powerpoint/2010/main" val="210516760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2396411-2FD3-4885-B9AF-8FB0F3A909D2}" type="slidenum">
              <a:rPr lang="en-US" altLang="zh-CN" sz="1400" smtClean="0">
                <a:latin typeface="华文中宋" panose="02010600040101010101" pitchFamily="2" charset="-122"/>
                <a:ea typeface="华文中宋" panose="02010600040101010101" pitchFamily="2" charset="-122"/>
              </a:rPr>
              <a:pPr>
                <a:spcBef>
                  <a:spcPct val="0"/>
                </a:spcBef>
                <a:buFontTx/>
                <a:buNone/>
              </a:pPr>
              <a:t>47</a:t>
            </a:fld>
            <a:endParaRPr lang="en-US" altLang="zh-CN" sz="1400" smtClean="0">
              <a:latin typeface="华文中宋" panose="02010600040101010101" pitchFamily="2" charset="-122"/>
              <a:ea typeface="华文中宋" panose="02010600040101010101" pitchFamily="2" charset="-122"/>
            </a:endParaRPr>
          </a:p>
        </p:txBody>
      </p:sp>
      <p:sp>
        <p:nvSpPr>
          <p:cNvPr id="54275" name="Rectangle 3"/>
          <p:cNvSpPr>
            <a:spLocks noGrp="1" noChangeArrowheads="1"/>
          </p:cNvSpPr>
          <p:nvPr>
            <p:ph type="subTitle" idx="1"/>
          </p:nvPr>
        </p:nvSpPr>
        <p:spPr>
          <a:xfrm>
            <a:off x="620713" y="206588"/>
            <a:ext cx="7342187" cy="523875"/>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spAutoFit/>
          </a:bodyPr>
          <a:lstStyle/>
          <a:p>
            <a:pPr eaLnBrk="1" hangingPunct="1">
              <a:spcBef>
                <a:spcPct val="50000"/>
              </a:spcBef>
            </a:pPr>
            <a:r>
              <a:rPr lang="en-US" altLang="zh-CN" sz="2800" b="1" dirty="0" smtClean="0">
                <a:solidFill>
                  <a:srgbClr val="FF3300"/>
                </a:solidFill>
                <a:latin typeface="华文中宋" panose="02010600040101010101" pitchFamily="2" charset="-122"/>
                <a:ea typeface="华文中宋" panose="02010600040101010101" pitchFamily="2" charset="-122"/>
              </a:rPr>
              <a:t>1.5  </a:t>
            </a:r>
            <a:r>
              <a:rPr lang="zh-CN" altLang="en-US" sz="2800" b="1" dirty="0" smtClean="0">
                <a:solidFill>
                  <a:srgbClr val="FF3300"/>
                </a:solidFill>
                <a:latin typeface="华文中宋" panose="02010600040101010101" pitchFamily="2" charset="-122"/>
                <a:ea typeface="华文中宋" panose="02010600040101010101" pitchFamily="2" charset="-122"/>
              </a:rPr>
              <a:t>电压源与电流源的等效变换</a:t>
            </a:r>
          </a:p>
        </p:txBody>
      </p:sp>
      <p:sp>
        <p:nvSpPr>
          <p:cNvPr id="54283" name="Text Box 125"/>
          <p:cNvSpPr txBox="1">
            <a:spLocks noChangeArrowheads="1"/>
          </p:cNvSpPr>
          <p:nvPr/>
        </p:nvSpPr>
        <p:spPr bwMode="auto">
          <a:xfrm>
            <a:off x="762000" y="1476375"/>
            <a:ext cx="79248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400" b="1" dirty="0" smtClean="0">
                <a:solidFill>
                  <a:srgbClr val="FF3300"/>
                </a:solidFill>
                <a:latin typeface="华文中宋" panose="02010600040101010101" pitchFamily="2" charset="-122"/>
                <a:ea typeface="华文中宋" panose="02010600040101010101" pitchFamily="2" charset="-122"/>
              </a:rPr>
              <a:t>所谓等效变换是对外电路而言。</a:t>
            </a:r>
            <a:endParaRPr lang="en-US" altLang="zh-CN" sz="2400" b="1" dirty="0" smtClean="0">
              <a:solidFill>
                <a:srgbClr val="FF3300"/>
              </a:solidFill>
              <a:latin typeface="华文中宋" panose="02010600040101010101" pitchFamily="2" charset="-122"/>
              <a:ea typeface="华文中宋" panose="02010600040101010101" pitchFamily="2" charset="-122"/>
            </a:endParaRPr>
          </a:p>
          <a:p>
            <a:pPr algn="just" eaLnBrk="1" hangingPunct="1">
              <a:spcBef>
                <a:spcPct val="50000"/>
              </a:spcBef>
              <a:buFontTx/>
              <a:buNone/>
            </a:pPr>
            <a:r>
              <a:rPr lang="en-US" altLang="zh-CN" sz="2400" b="1" dirty="0">
                <a:solidFill>
                  <a:srgbClr val="FF3300"/>
                </a:solidFill>
                <a:latin typeface="华文中宋" panose="02010600040101010101" pitchFamily="2" charset="-122"/>
                <a:ea typeface="华文中宋" panose="02010600040101010101" pitchFamily="2" charset="-122"/>
              </a:rPr>
              <a:t> </a:t>
            </a:r>
            <a:r>
              <a:rPr lang="en-US" altLang="zh-CN" sz="2400" b="1" dirty="0" smtClean="0">
                <a:solidFill>
                  <a:srgbClr val="FF3300"/>
                </a:solidFill>
                <a:latin typeface="华文中宋" panose="02010600040101010101" pitchFamily="2" charset="-122"/>
                <a:ea typeface="华文中宋" panose="02010600040101010101" pitchFamily="2" charset="-122"/>
              </a:rPr>
              <a:t>     </a:t>
            </a:r>
            <a:r>
              <a:rPr lang="zh-CN" altLang="en-US" sz="2400" b="1" dirty="0" smtClean="0">
                <a:latin typeface="华文中宋" panose="02010600040101010101" pitchFamily="2" charset="-122"/>
                <a:ea typeface="华文中宋" panose="02010600040101010101" pitchFamily="2" charset="-122"/>
              </a:rPr>
              <a:t>当用新的电路结构代替电路中某一部分结构时，必须不影响电路中其他未变换部分的电压和电流，也就是说，伏安特性相同部分电路可以相互等效变换</a:t>
            </a:r>
            <a:endParaRPr lang="zh-CN" altLang="en-US" sz="2400" b="1" dirty="0">
              <a:latin typeface="华文中宋" panose="02010600040101010101" pitchFamily="2" charset="-122"/>
              <a:ea typeface="华文中宋" panose="02010600040101010101" pitchFamily="2" charset="-122"/>
            </a:endParaRPr>
          </a:p>
        </p:txBody>
      </p:sp>
      <p:sp>
        <p:nvSpPr>
          <p:cNvPr id="45" name="Rectangle 4"/>
          <p:cNvSpPr>
            <a:spLocks noChangeArrowheads="1"/>
          </p:cNvSpPr>
          <p:nvPr/>
        </p:nvSpPr>
        <p:spPr bwMode="auto">
          <a:xfrm>
            <a:off x="323528" y="726539"/>
            <a:ext cx="8207375" cy="49727"/>
          </a:xfrm>
          <a:prstGeom prst="rect">
            <a:avLst/>
          </a:prstGeom>
          <a:gradFill rotWithShape="0">
            <a:gsLst>
              <a:gs pos="0">
                <a:srgbClr val="3366FF"/>
              </a:gs>
              <a:gs pos="12500">
                <a:srgbClr val="01A78F"/>
              </a:gs>
              <a:gs pos="25000">
                <a:srgbClr val="FFFF00"/>
              </a:gs>
              <a:gs pos="37500">
                <a:srgbClr val="FF6633"/>
              </a:gs>
              <a:gs pos="50000">
                <a:srgbClr val="FF3399"/>
              </a:gs>
              <a:gs pos="62500">
                <a:srgbClr val="FF6633"/>
              </a:gs>
              <a:gs pos="75000">
                <a:srgbClr val="FFFF00"/>
              </a:gs>
              <a:gs pos="87500">
                <a:srgbClr val="01A78F"/>
              </a:gs>
              <a:gs pos="100000">
                <a:srgbClr val="3366FF"/>
              </a:gs>
            </a:gsLst>
            <a:lin ang="0" scaled="1"/>
          </a:gradFill>
          <a:ln w="12700" cap="sq">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65145988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2396411-2FD3-4885-B9AF-8FB0F3A909D2}"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48</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4276" name="Group 4"/>
          <p:cNvGrpSpPr>
            <a:grpSpLocks/>
          </p:cNvGrpSpPr>
          <p:nvPr/>
        </p:nvGrpSpPr>
        <p:grpSpPr bwMode="auto">
          <a:xfrm>
            <a:off x="609600" y="3794125"/>
            <a:ext cx="1263650" cy="1955800"/>
            <a:chOff x="2437" y="3372"/>
            <a:chExt cx="1991" cy="3080"/>
          </a:xfrm>
        </p:grpSpPr>
        <p:grpSp>
          <p:nvGrpSpPr>
            <p:cNvPr id="54298" name="Group 5"/>
            <p:cNvGrpSpPr>
              <a:grpSpLocks/>
            </p:cNvGrpSpPr>
            <p:nvPr/>
          </p:nvGrpSpPr>
          <p:grpSpPr bwMode="auto">
            <a:xfrm>
              <a:off x="2437" y="4802"/>
              <a:ext cx="694" cy="1650"/>
              <a:chOff x="4417" y="567"/>
              <a:chExt cx="693" cy="1650"/>
            </a:xfrm>
          </p:grpSpPr>
          <p:grpSp>
            <p:nvGrpSpPr>
              <p:cNvPr id="54309" name="Group 6"/>
              <p:cNvGrpSpPr>
                <a:grpSpLocks/>
              </p:cNvGrpSpPr>
              <p:nvPr/>
            </p:nvGrpSpPr>
            <p:grpSpPr bwMode="auto">
              <a:xfrm>
                <a:off x="4417" y="567"/>
                <a:ext cx="550" cy="1650"/>
                <a:chOff x="4417" y="567"/>
                <a:chExt cx="550" cy="1650"/>
              </a:xfrm>
            </p:grpSpPr>
            <p:sp>
              <p:nvSpPr>
                <p:cNvPr id="54314" name="Oval 7"/>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15" name="Line 8"/>
                <p:cNvSpPr>
                  <a:spLocks noChangeShapeType="1"/>
                </p:cNvSpPr>
                <p:nvPr/>
              </p:nvSpPr>
              <p:spPr bwMode="auto">
                <a:xfrm>
                  <a:off x="4692" y="567"/>
                  <a:ext cx="0" cy="16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4310" name="Group 9"/>
              <p:cNvGrpSpPr>
                <a:grpSpLocks/>
              </p:cNvGrpSpPr>
              <p:nvPr/>
            </p:nvGrpSpPr>
            <p:grpSpPr bwMode="auto">
              <a:xfrm>
                <a:off x="4956" y="853"/>
                <a:ext cx="154" cy="979"/>
                <a:chOff x="4956" y="853"/>
                <a:chExt cx="154" cy="979"/>
              </a:xfrm>
            </p:grpSpPr>
            <p:sp>
              <p:nvSpPr>
                <p:cNvPr id="54311" name="Line 10"/>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12" name="Line 11"/>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13" name="Line 12"/>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4299" name="Group 13"/>
            <p:cNvGrpSpPr>
              <a:grpSpLocks/>
            </p:cNvGrpSpPr>
            <p:nvPr/>
          </p:nvGrpSpPr>
          <p:grpSpPr bwMode="auto">
            <a:xfrm>
              <a:off x="2437" y="3372"/>
              <a:ext cx="694" cy="1650"/>
              <a:chOff x="4417" y="567"/>
              <a:chExt cx="693" cy="1650"/>
            </a:xfrm>
          </p:grpSpPr>
          <p:grpSp>
            <p:nvGrpSpPr>
              <p:cNvPr id="54302" name="Group 14"/>
              <p:cNvGrpSpPr>
                <a:grpSpLocks/>
              </p:cNvGrpSpPr>
              <p:nvPr/>
            </p:nvGrpSpPr>
            <p:grpSpPr bwMode="auto">
              <a:xfrm>
                <a:off x="4417" y="567"/>
                <a:ext cx="550" cy="1650"/>
                <a:chOff x="4417" y="567"/>
                <a:chExt cx="550" cy="1650"/>
              </a:xfrm>
            </p:grpSpPr>
            <p:sp>
              <p:nvSpPr>
                <p:cNvPr id="54307" name="Oval 15"/>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08" name="Line 16"/>
                <p:cNvSpPr>
                  <a:spLocks noChangeShapeType="1"/>
                </p:cNvSpPr>
                <p:nvPr/>
              </p:nvSpPr>
              <p:spPr bwMode="auto">
                <a:xfrm>
                  <a:off x="4692" y="567"/>
                  <a:ext cx="0" cy="16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4303" name="Group 17"/>
              <p:cNvGrpSpPr>
                <a:grpSpLocks/>
              </p:cNvGrpSpPr>
              <p:nvPr/>
            </p:nvGrpSpPr>
            <p:grpSpPr bwMode="auto">
              <a:xfrm>
                <a:off x="4956" y="853"/>
                <a:ext cx="154" cy="979"/>
                <a:chOff x="4956" y="853"/>
                <a:chExt cx="154" cy="979"/>
              </a:xfrm>
            </p:grpSpPr>
            <p:sp>
              <p:nvSpPr>
                <p:cNvPr id="54304" name="Line 18"/>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05" name="Line 19"/>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06" name="Line 20"/>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54300" name="Line 21"/>
            <p:cNvSpPr>
              <a:spLocks noChangeShapeType="1"/>
            </p:cNvSpPr>
            <p:nvPr/>
          </p:nvSpPr>
          <p:spPr bwMode="auto">
            <a:xfrm>
              <a:off x="2712" y="3372"/>
              <a:ext cx="171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301" name="Line 22"/>
            <p:cNvSpPr>
              <a:spLocks noChangeShapeType="1"/>
            </p:cNvSpPr>
            <p:nvPr/>
          </p:nvSpPr>
          <p:spPr bwMode="auto">
            <a:xfrm flipV="1">
              <a:off x="2712" y="6452"/>
              <a:ext cx="171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4277" name="Group 23"/>
          <p:cNvGrpSpPr>
            <a:grpSpLocks/>
          </p:cNvGrpSpPr>
          <p:nvPr/>
        </p:nvGrpSpPr>
        <p:grpSpPr bwMode="auto">
          <a:xfrm>
            <a:off x="2667000" y="3946525"/>
            <a:ext cx="1265238" cy="1516063"/>
            <a:chOff x="5341" y="3702"/>
            <a:chExt cx="1991" cy="2387"/>
          </a:xfrm>
        </p:grpSpPr>
        <p:grpSp>
          <p:nvGrpSpPr>
            <p:cNvPr id="54287" name="Group 24"/>
            <p:cNvGrpSpPr>
              <a:grpSpLocks/>
            </p:cNvGrpSpPr>
            <p:nvPr/>
          </p:nvGrpSpPr>
          <p:grpSpPr bwMode="auto">
            <a:xfrm>
              <a:off x="5341" y="4054"/>
              <a:ext cx="694" cy="1650"/>
              <a:chOff x="4417" y="567"/>
              <a:chExt cx="693" cy="1650"/>
            </a:xfrm>
          </p:grpSpPr>
          <p:grpSp>
            <p:nvGrpSpPr>
              <p:cNvPr id="54291" name="Group 25"/>
              <p:cNvGrpSpPr>
                <a:grpSpLocks/>
              </p:cNvGrpSpPr>
              <p:nvPr/>
            </p:nvGrpSpPr>
            <p:grpSpPr bwMode="auto">
              <a:xfrm>
                <a:off x="4417" y="567"/>
                <a:ext cx="550" cy="1650"/>
                <a:chOff x="4417" y="567"/>
                <a:chExt cx="550" cy="1650"/>
              </a:xfrm>
            </p:grpSpPr>
            <p:sp>
              <p:nvSpPr>
                <p:cNvPr id="54296" name="Oval 26"/>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297" name="Line 27"/>
                <p:cNvSpPr>
                  <a:spLocks noChangeShapeType="1"/>
                </p:cNvSpPr>
                <p:nvPr/>
              </p:nvSpPr>
              <p:spPr bwMode="auto">
                <a:xfrm>
                  <a:off x="4692" y="567"/>
                  <a:ext cx="0" cy="16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4292" name="Group 28"/>
              <p:cNvGrpSpPr>
                <a:grpSpLocks/>
              </p:cNvGrpSpPr>
              <p:nvPr/>
            </p:nvGrpSpPr>
            <p:grpSpPr bwMode="auto">
              <a:xfrm>
                <a:off x="4956" y="853"/>
                <a:ext cx="154" cy="979"/>
                <a:chOff x="4956" y="853"/>
                <a:chExt cx="154" cy="979"/>
              </a:xfrm>
            </p:grpSpPr>
            <p:sp>
              <p:nvSpPr>
                <p:cNvPr id="54293" name="Line 29"/>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294" name="Line 30"/>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295" name="Line 31"/>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54288" name="Line 32"/>
            <p:cNvSpPr>
              <a:spLocks noChangeShapeType="1"/>
            </p:cNvSpPr>
            <p:nvPr/>
          </p:nvSpPr>
          <p:spPr bwMode="auto">
            <a:xfrm>
              <a:off x="5616" y="3713"/>
              <a:ext cx="171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289" name="Line 33"/>
            <p:cNvSpPr>
              <a:spLocks noChangeShapeType="1"/>
            </p:cNvSpPr>
            <p:nvPr/>
          </p:nvSpPr>
          <p:spPr bwMode="auto">
            <a:xfrm flipV="1">
              <a:off x="5616" y="6089"/>
              <a:ext cx="1716"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4290" name="Line 34"/>
            <p:cNvSpPr>
              <a:spLocks noChangeShapeType="1"/>
            </p:cNvSpPr>
            <p:nvPr/>
          </p:nvSpPr>
          <p:spPr bwMode="auto">
            <a:xfrm>
              <a:off x="5616" y="3702"/>
              <a:ext cx="0" cy="2376"/>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4278" name="Text Box 89"/>
          <p:cNvSpPr txBox="1">
            <a:spLocks noChangeArrowheads="1"/>
          </p:cNvSpPr>
          <p:nvPr/>
        </p:nvSpPr>
        <p:spPr bwMode="auto">
          <a:xfrm>
            <a:off x="1143000" y="4098925"/>
            <a:ext cx="914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S1</a:t>
            </a:r>
          </a:p>
        </p:txBody>
      </p:sp>
      <p:sp>
        <p:nvSpPr>
          <p:cNvPr id="54279" name="Text Box 116"/>
          <p:cNvSpPr txBox="1">
            <a:spLocks noChangeArrowheads="1"/>
          </p:cNvSpPr>
          <p:nvPr/>
        </p:nvSpPr>
        <p:spPr bwMode="auto">
          <a:xfrm>
            <a:off x="3048000" y="4479925"/>
            <a:ext cx="533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54280" name="Text Box 117"/>
          <p:cNvSpPr txBox="1">
            <a:spLocks noChangeArrowheads="1"/>
          </p:cNvSpPr>
          <p:nvPr/>
        </p:nvSpPr>
        <p:spPr bwMode="auto">
          <a:xfrm>
            <a:off x="1143000" y="4997450"/>
            <a:ext cx="914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a:latin typeface="Times New Roman" panose="02020603050405020304" pitchFamily="18" charset="0"/>
                <a:ea typeface="华文中宋" panose="02010600040101010101" pitchFamily="2" charset="-122"/>
                <a:cs typeface="Times New Roman" panose="02020603050405020304" pitchFamily="18" charset="0"/>
              </a:rPr>
              <a:t>S2</a:t>
            </a:r>
          </a:p>
        </p:txBody>
      </p:sp>
      <p:sp>
        <p:nvSpPr>
          <p:cNvPr id="54281" name="Text Box 118"/>
          <p:cNvSpPr txBox="1">
            <a:spLocks noChangeArrowheads="1"/>
          </p:cNvSpPr>
          <p:nvPr/>
        </p:nvSpPr>
        <p:spPr bwMode="auto">
          <a:xfrm>
            <a:off x="1066800" y="5851525"/>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54282" name="Text Box 119"/>
          <p:cNvSpPr txBox="1">
            <a:spLocks noChangeArrowheads="1"/>
          </p:cNvSpPr>
          <p:nvPr/>
        </p:nvSpPr>
        <p:spPr bwMode="auto">
          <a:xfrm>
            <a:off x="3048000" y="5851525"/>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54283" name="Text Box 125"/>
          <p:cNvSpPr txBox="1">
            <a:spLocks noChangeArrowheads="1"/>
          </p:cNvSpPr>
          <p:nvPr/>
        </p:nvSpPr>
        <p:spPr bwMode="auto">
          <a:xfrm>
            <a:off x="762000" y="1476375"/>
            <a:ext cx="79248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当图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与图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中满足</a:t>
            </a:r>
            <a:r>
              <a:rPr lang="en-US" altLang="zh-CN" sz="2400" b="1"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S</a:t>
            </a:r>
            <a:r>
              <a:rPr lang="en-US" altLang="zh-CN" sz="2400" b="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S1 </a:t>
            </a:r>
            <a:r>
              <a:rPr lang="en-US" altLang="zh-CN" sz="2400" b="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i="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S2</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时，图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与</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有同样的伏安特性。在电路中他们可以互相替代，不影响电路中其他的响应。这称为</a:t>
            </a:r>
            <a:r>
              <a:rPr lang="zh-CN" altLang="en-US" sz="2400" b="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b="1" dirty="0" smtClean="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dirty="0" smtClean="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与</a:t>
            </a:r>
            <a:r>
              <a:rPr lang="zh-CN" altLang="en-US" sz="2400" b="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b="1" dirty="0" smtClean="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等效。</a:t>
            </a:r>
          </a:p>
        </p:txBody>
      </p:sp>
      <p:sp>
        <p:nvSpPr>
          <p:cNvPr id="54284" name="Text Box 126"/>
          <p:cNvSpPr txBox="1">
            <a:spLocks noChangeArrowheads="1"/>
          </p:cNvSpPr>
          <p:nvPr/>
        </p:nvSpPr>
        <p:spPr bwMode="auto">
          <a:xfrm>
            <a:off x="4572000" y="3289300"/>
            <a:ext cx="41148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4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例如：</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S1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=6V,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S2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=3V,</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S</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=6</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+3=9V</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(a)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与图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分别在端口处接一个</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5Ω</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的电阻，图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(a)</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与</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(b)</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所接电阻的电流都是</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1.8A</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，方向都是由上向下。</a:t>
            </a:r>
          </a:p>
        </p:txBody>
      </p:sp>
      <p:sp>
        <p:nvSpPr>
          <p:cNvPr id="54285" name="Text Box 128"/>
          <p:cNvSpPr txBox="1">
            <a:spLocks noChangeArrowheads="1"/>
          </p:cNvSpPr>
          <p:nvPr/>
        </p:nvSpPr>
        <p:spPr bwMode="auto">
          <a:xfrm>
            <a:off x="0" y="981075"/>
            <a:ext cx="6629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（一） 等效电压源与等效电流源</a:t>
            </a:r>
          </a:p>
        </p:txBody>
      </p:sp>
      <p:sp>
        <p:nvSpPr>
          <p:cNvPr id="54286" name="Text Box 125"/>
          <p:cNvSpPr txBox="1">
            <a:spLocks noChangeArrowheads="1"/>
          </p:cNvSpPr>
          <p:nvPr/>
        </p:nvSpPr>
        <p:spPr bwMode="auto">
          <a:xfrm>
            <a:off x="762000" y="2759075"/>
            <a:ext cx="7924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400" b="1"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多个理想电压源串联时</a:t>
            </a:r>
            <a:r>
              <a:rPr lang="en-US" altLang="zh-CN" sz="2400" b="1"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a:t>
            </a:r>
            <a:endParaRPr lang="zh-CN" altLang="en-US" sz="2400" b="1"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45" name="Rectangle 4"/>
          <p:cNvSpPr>
            <a:spLocks noChangeArrowheads="1"/>
          </p:cNvSpPr>
          <p:nvPr/>
        </p:nvSpPr>
        <p:spPr bwMode="auto">
          <a:xfrm>
            <a:off x="323528" y="726539"/>
            <a:ext cx="8207375" cy="49727"/>
          </a:xfrm>
          <a:prstGeom prst="rect">
            <a:avLst/>
          </a:prstGeom>
          <a:gradFill rotWithShape="0">
            <a:gsLst>
              <a:gs pos="0">
                <a:srgbClr val="3366FF"/>
              </a:gs>
              <a:gs pos="12500">
                <a:srgbClr val="01A78F"/>
              </a:gs>
              <a:gs pos="25000">
                <a:srgbClr val="FFFF00"/>
              </a:gs>
              <a:gs pos="37500">
                <a:srgbClr val="FF6633"/>
              </a:gs>
              <a:gs pos="50000">
                <a:srgbClr val="FF3399"/>
              </a:gs>
              <a:gs pos="62500">
                <a:srgbClr val="FF6633"/>
              </a:gs>
              <a:gs pos="75000">
                <a:srgbClr val="FFFF00"/>
              </a:gs>
              <a:gs pos="87500">
                <a:srgbClr val="01A78F"/>
              </a:gs>
              <a:gs pos="100000">
                <a:srgbClr val="3366FF"/>
              </a:gs>
            </a:gsLst>
            <a:lin ang="0" scaled="1"/>
          </a:gradFill>
          <a:ln w="12700" cap="sq">
            <a:solidFill>
              <a:schemeClr val="tx1"/>
            </a:solidFill>
            <a:miter lim="800000"/>
            <a:headEnd type="none" w="sm" len="sm"/>
            <a:tailEnd type="none" w="sm" len="sm"/>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6C644B7-D81A-4B34-ADFE-274D0E8757FA}"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49</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299" name="Text Box 73"/>
          <p:cNvSpPr txBox="1">
            <a:spLocks noChangeArrowheads="1"/>
          </p:cNvSpPr>
          <p:nvPr/>
        </p:nvSpPr>
        <p:spPr bwMode="auto">
          <a:xfrm>
            <a:off x="2209800" y="60960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(c)</a:t>
            </a:r>
          </a:p>
        </p:txBody>
      </p:sp>
      <p:sp>
        <p:nvSpPr>
          <p:cNvPr id="55300" name="Text Box 77"/>
          <p:cNvSpPr txBox="1">
            <a:spLocks noChangeArrowheads="1"/>
          </p:cNvSpPr>
          <p:nvPr/>
        </p:nvSpPr>
        <p:spPr bwMode="auto">
          <a:xfrm>
            <a:off x="679450" y="773082"/>
            <a:ext cx="7848600" cy="1255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05000"/>
              </a:lnSpc>
              <a:spcBef>
                <a:spcPct val="65000"/>
              </a:spcBef>
              <a:spcAft>
                <a:spcPct val="5000"/>
              </a:spcAft>
              <a:buFontTx/>
              <a:buNone/>
            </a:pP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当图</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(c</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与</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(d)</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中满足</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S</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S1</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 +I</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S2</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时，图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与</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(d)</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有同样的伏安特性。在电路中他们可以互相替代，不影响电路中其他的响应。这称为图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与</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(d)</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等效。</a:t>
            </a:r>
          </a:p>
        </p:txBody>
      </p:sp>
      <p:sp>
        <p:nvSpPr>
          <p:cNvPr id="55301" name="Text Box 80"/>
          <p:cNvSpPr txBox="1">
            <a:spLocks noChangeArrowheads="1"/>
          </p:cNvSpPr>
          <p:nvPr/>
        </p:nvSpPr>
        <p:spPr bwMode="auto">
          <a:xfrm>
            <a:off x="755650" y="2133600"/>
            <a:ext cx="7772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4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例如：</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S1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=2A,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S2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=3A,</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b="1" i="1" dirty="0">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S</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=2</a:t>
            </a:r>
            <a:r>
              <a:rPr lang="en-US" altLang="zh-CN" sz="2400" b="1" baseline="-25000"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+3=5A</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与</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(d)</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分别在端口处接一个</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5Ω</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的电阻，图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(c)</a:t>
            </a:r>
            <a:r>
              <a:rPr lang="zh-CN" altLang="en-US" sz="2400" b="1" dirty="0" smtClean="0">
                <a:latin typeface="Times New Roman" panose="02020603050405020304" pitchFamily="18" charset="0"/>
                <a:ea typeface="华文中宋" panose="02010600040101010101" pitchFamily="2" charset="-122"/>
                <a:cs typeface="Times New Roman" panose="02020603050405020304" pitchFamily="18" charset="0"/>
              </a:rPr>
              <a:t>与</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图</a:t>
            </a:r>
            <a:r>
              <a:rPr lang="en-US" altLang="zh-CN" sz="2400" b="1" dirty="0" smtClean="0">
                <a:latin typeface="Times New Roman" panose="02020603050405020304" pitchFamily="18" charset="0"/>
                <a:ea typeface="华文中宋" panose="02010600040101010101" pitchFamily="2" charset="-122"/>
                <a:cs typeface="Times New Roman" panose="02020603050405020304" pitchFamily="18" charset="0"/>
              </a:rPr>
              <a:t>(d)</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所接电阻的电流都是</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5A</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，方向都是由上向下。每个电阻的电压都是</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25V</a:t>
            </a:r>
            <a:r>
              <a:rPr lang="zh-CN" altLang="en-US" sz="2400" b="1" dirty="0">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55302" name="Group 105"/>
          <p:cNvGrpSpPr>
            <a:grpSpLocks/>
          </p:cNvGrpSpPr>
          <p:nvPr/>
        </p:nvGrpSpPr>
        <p:grpSpPr bwMode="auto">
          <a:xfrm>
            <a:off x="5257800" y="4267200"/>
            <a:ext cx="1524000" cy="2209800"/>
            <a:chOff x="3312" y="2688"/>
            <a:chExt cx="960" cy="1392"/>
          </a:xfrm>
        </p:grpSpPr>
        <p:grpSp>
          <p:nvGrpSpPr>
            <p:cNvPr id="55336" name="Group 55"/>
            <p:cNvGrpSpPr>
              <a:grpSpLocks/>
            </p:cNvGrpSpPr>
            <p:nvPr/>
          </p:nvGrpSpPr>
          <p:grpSpPr bwMode="auto">
            <a:xfrm>
              <a:off x="3312" y="2832"/>
              <a:ext cx="624" cy="960"/>
              <a:chOff x="4989" y="3680"/>
              <a:chExt cx="1166" cy="1826"/>
            </a:xfrm>
          </p:grpSpPr>
          <p:grpSp>
            <p:nvGrpSpPr>
              <p:cNvPr id="55346" name="Group 56"/>
              <p:cNvGrpSpPr>
                <a:grpSpLocks/>
              </p:cNvGrpSpPr>
              <p:nvPr/>
            </p:nvGrpSpPr>
            <p:grpSpPr bwMode="auto">
              <a:xfrm>
                <a:off x="4989" y="3856"/>
                <a:ext cx="551" cy="1650"/>
                <a:chOff x="3591" y="567"/>
                <a:chExt cx="301" cy="907"/>
              </a:xfrm>
            </p:grpSpPr>
            <p:sp>
              <p:nvSpPr>
                <p:cNvPr id="55350" name="Line 57"/>
                <p:cNvSpPr>
                  <a:spLocks noChangeShapeType="1"/>
                </p:cNvSpPr>
                <p:nvPr/>
              </p:nvSpPr>
              <p:spPr bwMode="auto">
                <a:xfrm>
                  <a:off x="3742" y="567"/>
                  <a:ext cx="0" cy="90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51" name="Oval 58"/>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52" name="Line 59"/>
                <p:cNvSpPr>
                  <a:spLocks noChangeShapeType="1"/>
                </p:cNvSpPr>
                <p:nvPr/>
              </p:nvSpPr>
              <p:spPr bwMode="auto">
                <a:xfrm>
                  <a:off x="3591" y="1021"/>
                  <a:ext cx="29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5353" name="Group 60"/>
                <p:cNvGrpSpPr>
                  <a:grpSpLocks/>
                </p:cNvGrpSpPr>
                <p:nvPr/>
              </p:nvGrpSpPr>
              <p:grpSpPr bwMode="auto">
                <a:xfrm>
                  <a:off x="3715" y="591"/>
                  <a:ext cx="56" cy="222"/>
                  <a:chOff x="4507" y="645"/>
                  <a:chExt cx="56" cy="222"/>
                </a:xfrm>
              </p:grpSpPr>
              <p:sp>
                <p:nvSpPr>
                  <p:cNvPr id="55354" name="Line 61"/>
                  <p:cNvSpPr>
                    <a:spLocks noChangeShapeType="1"/>
                  </p:cNvSpPr>
                  <p:nvPr/>
                </p:nvSpPr>
                <p:spPr bwMode="auto">
                  <a:xfrm flipH="1">
                    <a:off x="4507" y="646"/>
                    <a:ext cx="24" cy="109"/>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55" name="Line 62"/>
                  <p:cNvSpPr>
                    <a:spLocks noChangeShapeType="1"/>
                  </p:cNvSpPr>
                  <p:nvPr/>
                </p:nvSpPr>
                <p:spPr bwMode="auto">
                  <a:xfrm>
                    <a:off x="4533" y="645"/>
                    <a:ext cx="30" cy="10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56" name="Line 63"/>
                  <p:cNvSpPr>
                    <a:spLocks noChangeShapeType="1"/>
                  </p:cNvSpPr>
                  <p:nvPr/>
                </p:nvSpPr>
                <p:spPr bwMode="auto">
                  <a:xfrm>
                    <a:off x="4533" y="645"/>
                    <a:ext cx="0" cy="22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55347" name="Line 64"/>
              <p:cNvSpPr>
                <a:spLocks noChangeShapeType="1"/>
              </p:cNvSpPr>
              <p:nvPr/>
            </p:nvSpPr>
            <p:spPr bwMode="auto">
              <a:xfrm>
                <a:off x="5264" y="3691"/>
                <a:ext cx="891"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48" name="Line 65"/>
              <p:cNvSpPr>
                <a:spLocks noChangeShapeType="1"/>
              </p:cNvSpPr>
              <p:nvPr/>
            </p:nvSpPr>
            <p:spPr bwMode="auto">
              <a:xfrm>
                <a:off x="5264" y="5506"/>
                <a:ext cx="891"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49" name="Line 66"/>
              <p:cNvSpPr>
                <a:spLocks noChangeShapeType="1"/>
              </p:cNvSpPr>
              <p:nvPr/>
            </p:nvSpPr>
            <p:spPr bwMode="auto">
              <a:xfrm>
                <a:off x="5264" y="3680"/>
                <a:ext cx="0" cy="341"/>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5337" name="Text Box 72"/>
            <p:cNvSpPr txBox="1">
              <a:spLocks noChangeArrowheads="1"/>
            </p:cNvSpPr>
            <p:nvPr/>
          </p:nvSpPr>
          <p:spPr bwMode="auto">
            <a:xfrm>
              <a:off x="3552" y="3830"/>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(d)</a:t>
              </a:r>
            </a:p>
          </p:txBody>
        </p:sp>
        <p:sp>
          <p:nvSpPr>
            <p:cNvPr id="55338" name="Text Box 74"/>
            <p:cNvSpPr txBox="1">
              <a:spLocks noChangeArrowheads="1"/>
            </p:cNvSpPr>
            <p:nvPr/>
          </p:nvSpPr>
          <p:spPr bwMode="auto">
            <a:xfrm>
              <a:off x="3456" y="3504"/>
              <a:ext cx="3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rPr>
                <a:t>S</a:t>
              </a:r>
            </a:p>
          </p:txBody>
        </p:sp>
        <p:grpSp>
          <p:nvGrpSpPr>
            <p:cNvPr id="55339" name="Group 94"/>
            <p:cNvGrpSpPr>
              <a:grpSpLocks/>
            </p:cNvGrpSpPr>
            <p:nvPr/>
          </p:nvGrpSpPr>
          <p:grpSpPr bwMode="auto">
            <a:xfrm>
              <a:off x="3994" y="2688"/>
              <a:ext cx="278" cy="1223"/>
              <a:chOff x="7376" y="3482"/>
              <a:chExt cx="693" cy="3058"/>
            </a:xfrm>
          </p:grpSpPr>
          <p:grpSp>
            <p:nvGrpSpPr>
              <p:cNvPr id="55340" name="Group 95"/>
              <p:cNvGrpSpPr>
                <a:grpSpLocks/>
              </p:cNvGrpSpPr>
              <p:nvPr/>
            </p:nvGrpSpPr>
            <p:grpSpPr bwMode="auto">
              <a:xfrm>
                <a:off x="7750" y="3845"/>
                <a:ext cx="319" cy="2354"/>
                <a:chOff x="7750" y="3845"/>
                <a:chExt cx="220" cy="2189"/>
              </a:xfrm>
            </p:grpSpPr>
            <p:sp>
              <p:nvSpPr>
                <p:cNvPr id="55344" name="Line 96"/>
                <p:cNvSpPr>
                  <a:spLocks noChangeShapeType="1"/>
                </p:cNvSpPr>
                <p:nvPr/>
              </p:nvSpPr>
              <p:spPr bwMode="auto">
                <a:xfrm>
                  <a:off x="7860" y="3845"/>
                  <a:ext cx="0" cy="2189"/>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45" name="Rectangle 97"/>
                <p:cNvSpPr>
                  <a:spLocks noChangeArrowheads="1"/>
                </p:cNvSpPr>
                <p:nvPr/>
              </p:nvSpPr>
              <p:spPr bwMode="auto">
                <a:xfrm>
                  <a:off x="7750" y="4593"/>
                  <a:ext cx="220" cy="594"/>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5341" name="Line 98"/>
              <p:cNvSpPr>
                <a:spLocks noChangeShapeType="1"/>
              </p:cNvSpPr>
              <p:nvPr/>
            </p:nvSpPr>
            <p:spPr bwMode="auto">
              <a:xfrm>
                <a:off x="7387" y="3856"/>
                <a:ext cx="517"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42" name="Line 99"/>
              <p:cNvSpPr>
                <a:spLocks noChangeShapeType="1"/>
              </p:cNvSpPr>
              <p:nvPr/>
            </p:nvSpPr>
            <p:spPr bwMode="auto">
              <a:xfrm>
                <a:off x="7387" y="6177"/>
                <a:ext cx="517"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43" name="Line 100"/>
              <p:cNvSpPr>
                <a:spLocks noChangeShapeType="1"/>
              </p:cNvSpPr>
              <p:nvPr/>
            </p:nvSpPr>
            <p:spPr bwMode="auto">
              <a:xfrm>
                <a:off x="7376" y="3482"/>
                <a:ext cx="0" cy="3058"/>
              </a:xfrm>
              <a:prstGeom prst="line">
                <a:avLst/>
              </a:prstGeom>
              <a:noFill/>
              <a:ln w="2857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5303" name="Group 104"/>
          <p:cNvGrpSpPr>
            <a:grpSpLocks/>
          </p:cNvGrpSpPr>
          <p:nvPr/>
        </p:nvGrpSpPr>
        <p:grpSpPr bwMode="auto">
          <a:xfrm>
            <a:off x="1583348" y="4145762"/>
            <a:ext cx="2743200" cy="2057400"/>
            <a:chOff x="1008" y="2640"/>
            <a:chExt cx="1728" cy="1296"/>
          </a:xfrm>
        </p:grpSpPr>
        <p:grpSp>
          <p:nvGrpSpPr>
            <p:cNvPr id="55305" name="Group 34"/>
            <p:cNvGrpSpPr>
              <a:grpSpLocks/>
            </p:cNvGrpSpPr>
            <p:nvPr/>
          </p:nvGrpSpPr>
          <p:grpSpPr bwMode="auto">
            <a:xfrm>
              <a:off x="1008" y="2784"/>
              <a:ext cx="1056" cy="984"/>
              <a:chOff x="1755" y="3746"/>
              <a:chExt cx="1991" cy="1859"/>
            </a:xfrm>
          </p:grpSpPr>
          <p:grpSp>
            <p:nvGrpSpPr>
              <p:cNvPr id="55316" name="Group 35"/>
              <p:cNvGrpSpPr>
                <a:grpSpLocks/>
              </p:cNvGrpSpPr>
              <p:nvPr/>
            </p:nvGrpSpPr>
            <p:grpSpPr bwMode="auto">
              <a:xfrm>
                <a:off x="2502" y="3955"/>
                <a:ext cx="551" cy="1650"/>
                <a:chOff x="3591" y="567"/>
                <a:chExt cx="301" cy="907"/>
              </a:xfrm>
            </p:grpSpPr>
            <p:sp>
              <p:nvSpPr>
                <p:cNvPr id="55329" name="Line 36"/>
                <p:cNvSpPr>
                  <a:spLocks noChangeShapeType="1"/>
                </p:cNvSpPr>
                <p:nvPr/>
              </p:nvSpPr>
              <p:spPr bwMode="auto">
                <a:xfrm>
                  <a:off x="3742" y="567"/>
                  <a:ext cx="0" cy="90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30" name="Oval 37"/>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31" name="Line 38"/>
                <p:cNvSpPr>
                  <a:spLocks noChangeShapeType="1"/>
                </p:cNvSpPr>
                <p:nvPr/>
              </p:nvSpPr>
              <p:spPr bwMode="auto">
                <a:xfrm>
                  <a:off x="3591" y="1021"/>
                  <a:ext cx="29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5332" name="Group 39"/>
                <p:cNvGrpSpPr>
                  <a:grpSpLocks/>
                </p:cNvGrpSpPr>
                <p:nvPr/>
              </p:nvGrpSpPr>
              <p:grpSpPr bwMode="auto">
                <a:xfrm>
                  <a:off x="3715" y="591"/>
                  <a:ext cx="56" cy="222"/>
                  <a:chOff x="4507" y="645"/>
                  <a:chExt cx="56" cy="222"/>
                </a:xfrm>
              </p:grpSpPr>
              <p:sp>
                <p:nvSpPr>
                  <p:cNvPr id="55333" name="Line 40"/>
                  <p:cNvSpPr>
                    <a:spLocks noChangeShapeType="1"/>
                  </p:cNvSpPr>
                  <p:nvPr/>
                </p:nvSpPr>
                <p:spPr bwMode="auto">
                  <a:xfrm flipH="1">
                    <a:off x="4507" y="646"/>
                    <a:ext cx="24" cy="109"/>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34" name="Line 41"/>
                  <p:cNvSpPr>
                    <a:spLocks noChangeShapeType="1"/>
                  </p:cNvSpPr>
                  <p:nvPr/>
                </p:nvSpPr>
                <p:spPr bwMode="auto">
                  <a:xfrm>
                    <a:off x="4533" y="645"/>
                    <a:ext cx="30" cy="10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35" name="Line 42"/>
                  <p:cNvSpPr>
                    <a:spLocks noChangeShapeType="1"/>
                  </p:cNvSpPr>
                  <p:nvPr/>
                </p:nvSpPr>
                <p:spPr bwMode="auto">
                  <a:xfrm>
                    <a:off x="4533" y="645"/>
                    <a:ext cx="0" cy="22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5317" name="Group 43"/>
              <p:cNvGrpSpPr>
                <a:grpSpLocks/>
              </p:cNvGrpSpPr>
              <p:nvPr/>
            </p:nvGrpSpPr>
            <p:grpSpPr bwMode="auto">
              <a:xfrm>
                <a:off x="1755" y="3955"/>
                <a:ext cx="551" cy="1650"/>
                <a:chOff x="3591" y="567"/>
                <a:chExt cx="301" cy="907"/>
              </a:xfrm>
            </p:grpSpPr>
            <p:sp>
              <p:nvSpPr>
                <p:cNvPr id="55322" name="Line 44"/>
                <p:cNvSpPr>
                  <a:spLocks noChangeShapeType="1"/>
                </p:cNvSpPr>
                <p:nvPr/>
              </p:nvSpPr>
              <p:spPr bwMode="auto">
                <a:xfrm>
                  <a:off x="3742" y="567"/>
                  <a:ext cx="0" cy="90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23" name="Oval 45"/>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24" name="Line 46"/>
                <p:cNvSpPr>
                  <a:spLocks noChangeShapeType="1"/>
                </p:cNvSpPr>
                <p:nvPr/>
              </p:nvSpPr>
              <p:spPr bwMode="auto">
                <a:xfrm>
                  <a:off x="3591" y="1021"/>
                  <a:ext cx="29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5325" name="Group 47"/>
                <p:cNvGrpSpPr>
                  <a:grpSpLocks/>
                </p:cNvGrpSpPr>
                <p:nvPr/>
              </p:nvGrpSpPr>
              <p:grpSpPr bwMode="auto">
                <a:xfrm>
                  <a:off x="3715" y="591"/>
                  <a:ext cx="56" cy="222"/>
                  <a:chOff x="4507" y="645"/>
                  <a:chExt cx="56" cy="222"/>
                </a:xfrm>
              </p:grpSpPr>
              <p:sp>
                <p:nvSpPr>
                  <p:cNvPr id="55326" name="Line 48"/>
                  <p:cNvSpPr>
                    <a:spLocks noChangeShapeType="1"/>
                  </p:cNvSpPr>
                  <p:nvPr/>
                </p:nvSpPr>
                <p:spPr bwMode="auto">
                  <a:xfrm flipH="1">
                    <a:off x="4507" y="646"/>
                    <a:ext cx="24" cy="109"/>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27" name="Line 49"/>
                  <p:cNvSpPr>
                    <a:spLocks noChangeShapeType="1"/>
                  </p:cNvSpPr>
                  <p:nvPr/>
                </p:nvSpPr>
                <p:spPr bwMode="auto">
                  <a:xfrm>
                    <a:off x="4533" y="645"/>
                    <a:ext cx="30" cy="10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28" name="Line 50"/>
                  <p:cNvSpPr>
                    <a:spLocks noChangeShapeType="1"/>
                  </p:cNvSpPr>
                  <p:nvPr/>
                </p:nvSpPr>
                <p:spPr bwMode="auto">
                  <a:xfrm>
                    <a:off x="4533" y="645"/>
                    <a:ext cx="0" cy="22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55318" name="Line 51"/>
              <p:cNvSpPr>
                <a:spLocks noChangeShapeType="1"/>
              </p:cNvSpPr>
              <p:nvPr/>
            </p:nvSpPr>
            <p:spPr bwMode="auto">
              <a:xfrm>
                <a:off x="2041" y="3746"/>
                <a:ext cx="170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19" name="Line 52"/>
              <p:cNvSpPr>
                <a:spLocks noChangeShapeType="1"/>
              </p:cNvSpPr>
              <p:nvPr/>
            </p:nvSpPr>
            <p:spPr bwMode="auto">
              <a:xfrm>
                <a:off x="2030" y="5605"/>
                <a:ext cx="170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20" name="Line 53"/>
              <p:cNvSpPr>
                <a:spLocks noChangeShapeType="1"/>
              </p:cNvSpPr>
              <p:nvPr/>
            </p:nvSpPr>
            <p:spPr bwMode="auto">
              <a:xfrm>
                <a:off x="2778" y="3768"/>
                <a:ext cx="0" cy="341"/>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21" name="Line 54"/>
              <p:cNvSpPr>
                <a:spLocks noChangeShapeType="1"/>
              </p:cNvSpPr>
              <p:nvPr/>
            </p:nvSpPr>
            <p:spPr bwMode="auto">
              <a:xfrm>
                <a:off x="2030" y="3746"/>
                <a:ext cx="0" cy="341"/>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5306" name="Text Box 75"/>
            <p:cNvSpPr txBox="1">
              <a:spLocks noChangeArrowheads="1"/>
            </p:cNvSpPr>
            <p:nvPr/>
          </p:nvSpPr>
          <p:spPr bwMode="auto">
            <a:xfrm>
              <a:off x="1536" y="3446"/>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rPr>
                <a:t>S2</a:t>
              </a:r>
            </a:p>
          </p:txBody>
        </p:sp>
        <p:sp>
          <p:nvSpPr>
            <p:cNvPr id="55307" name="Text Box 76"/>
            <p:cNvSpPr txBox="1">
              <a:spLocks noChangeArrowheads="1"/>
            </p:cNvSpPr>
            <p:nvPr/>
          </p:nvSpPr>
          <p:spPr bwMode="auto">
            <a:xfrm>
              <a:off x="1152" y="3446"/>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i="1">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000" b="1" baseline="-25000">
                  <a:latin typeface="Times New Roman" panose="02020603050405020304" pitchFamily="18" charset="0"/>
                  <a:ea typeface="华文中宋" panose="02010600040101010101" pitchFamily="2" charset="-122"/>
                  <a:cs typeface="Times New Roman" panose="02020603050405020304" pitchFamily="18" charset="0"/>
                </a:rPr>
                <a:t>S1</a:t>
              </a:r>
            </a:p>
          </p:txBody>
        </p:sp>
        <p:grpSp>
          <p:nvGrpSpPr>
            <p:cNvPr id="55308" name="Group 87"/>
            <p:cNvGrpSpPr>
              <a:grpSpLocks/>
            </p:cNvGrpSpPr>
            <p:nvPr/>
          </p:nvGrpSpPr>
          <p:grpSpPr bwMode="auto">
            <a:xfrm>
              <a:off x="2064" y="2640"/>
              <a:ext cx="288" cy="1296"/>
              <a:chOff x="7376" y="3482"/>
              <a:chExt cx="693" cy="3058"/>
            </a:xfrm>
          </p:grpSpPr>
          <p:grpSp>
            <p:nvGrpSpPr>
              <p:cNvPr id="55310" name="Group 88"/>
              <p:cNvGrpSpPr>
                <a:grpSpLocks/>
              </p:cNvGrpSpPr>
              <p:nvPr/>
            </p:nvGrpSpPr>
            <p:grpSpPr bwMode="auto">
              <a:xfrm>
                <a:off x="7750" y="3845"/>
                <a:ext cx="319" cy="2354"/>
                <a:chOff x="7750" y="3845"/>
                <a:chExt cx="220" cy="2189"/>
              </a:xfrm>
            </p:grpSpPr>
            <p:sp>
              <p:nvSpPr>
                <p:cNvPr id="55314" name="Line 89"/>
                <p:cNvSpPr>
                  <a:spLocks noChangeShapeType="1"/>
                </p:cNvSpPr>
                <p:nvPr/>
              </p:nvSpPr>
              <p:spPr bwMode="auto">
                <a:xfrm>
                  <a:off x="7860" y="3845"/>
                  <a:ext cx="0" cy="2189"/>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15" name="Rectangle 90"/>
                <p:cNvSpPr>
                  <a:spLocks noChangeArrowheads="1"/>
                </p:cNvSpPr>
                <p:nvPr/>
              </p:nvSpPr>
              <p:spPr bwMode="auto">
                <a:xfrm>
                  <a:off x="7750" y="4593"/>
                  <a:ext cx="220" cy="594"/>
                </a:xfrm>
                <a:prstGeom prst="rect">
                  <a:avLst/>
                </a:prstGeom>
                <a:solidFill>
                  <a:srgbClr val="FF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5311" name="Line 91"/>
              <p:cNvSpPr>
                <a:spLocks noChangeShapeType="1"/>
              </p:cNvSpPr>
              <p:nvPr/>
            </p:nvSpPr>
            <p:spPr bwMode="auto">
              <a:xfrm>
                <a:off x="7387" y="3856"/>
                <a:ext cx="517"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12" name="Line 92"/>
              <p:cNvSpPr>
                <a:spLocks noChangeShapeType="1"/>
              </p:cNvSpPr>
              <p:nvPr/>
            </p:nvSpPr>
            <p:spPr bwMode="auto">
              <a:xfrm>
                <a:off x="7387" y="6177"/>
                <a:ext cx="517"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5313" name="Line 93"/>
              <p:cNvSpPr>
                <a:spLocks noChangeShapeType="1"/>
              </p:cNvSpPr>
              <p:nvPr/>
            </p:nvSpPr>
            <p:spPr bwMode="auto">
              <a:xfrm>
                <a:off x="7376" y="3482"/>
                <a:ext cx="0" cy="3058"/>
              </a:xfrm>
              <a:prstGeom prst="line">
                <a:avLst/>
              </a:prstGeom>
              <a:noFill/>
              <a:ln w="2857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5309" name="Text Box 102"/>
            <p:cNvSpPr txBox="1">
              <a:spLocks noChangeArrowheads="1"/>
            </p:cNvSpPr>
            <p:nvPr/>
          </p:nvSpPr>
          <p:spPr bwMode="auto">
            <a:xfrm>
              <a:off x="2304" y="3398"/>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5Ω</a:t>
              </a:r>
            </a:p>
          </p:txBody>
        </p:sp>
      </p:grpSp>
      <p:sp>
        <p:nvSpPr>
          <p:cNvPr id="55304" name="Text Box 103"/>
          <p:cNvSpPr txBox="1">
            <a:spLocks noChangeArrowheads="1"/>
          </p:cNvSpPr>
          <p:nvPr/>
        </p:nvSpPr>
        <p:spPr bwMode="auto">
          <a:xfrm>
            <a:off x="6781800" y="5334000"/>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5Ω</a:t>
            </a:r>
          </a:p>
        </p:txBody>
      </p:sp>
      <p:sp>
        <p:nvSpPr>
          <p:cNvPr id="61" name="Text Box 125"/>
          <p:cNvSpPr txBox="1">
            <a:spLocks noChangeArrowheads="1"/>
          </p:cNvSpPr>
          <p:nvPr/>
        </p:nvSpPr>
        <p:spPr bwMode="auto">
          <a:xfrm>
            <a:off x="676126" y="230445"/>
            <a:ext cx="79248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400" b="1" dirty="0" smtClean="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多</a:t>
            </a:r>
            <a:r>
              <a:rPr lang="zh-CN" altLang="en-US" sz="2400" b="1"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个理想电流源并联时</a:t>
            </a:r>
            <a:r>
              <a:rPr lang="en-US" altLang="zh-CN" sz="2400" b="1"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a:t>
            </a:r>
            <a:endParaRPr lang="zh-CN" altLang="en-US" sz="2400" b="1" dirty="0">
              <a:solidFill>
                <a:srgbClr val="00B050"/>
              </a:solidFill>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9C62B73-2C2D-438E-A609-24805AF635D9}"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50</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6323" name="Group 2"/>
          <p:cNvGrpSpPr>
            <a:grpSpLocks/>
          </p:cNvGrpSpPr>
          <p:nvPr/>
        </p:nvGrpSpPr>
        <p:grpSpPr bwMode="auto">
          <a:xfrm>
            <a:off x="609600" y="1371600"/>
            <a:ext cx="1676400" cy="1358900"/>
            <a:chOff x="1326" y="3757"/>
            <a:chExt cx="2079" cy="1661"/>
          </a:xfrm>
        </p:grpSpPr>
        <p:grpSp>
          <p:nvGrpSpPr>
            <p:cNvPr id="56444" name="Group 3"/>
            <p:cNvGrpSpPr>
              <a:grpSpLocks/>
            </p:cNvGrpSpPr>
            <p:nvPr/>
          </p:nvGrpSpPr>
          <p:grpSpPr bwMode="auto">
            <a:xfrm>
              <a:off x="2481" y="3768"/>
              <a:ext cx="187" cy="1639"/>
              <a:chOff x="743" y="567"/>
              <a:chExt cx="187" cy="1639"/>
            </a:xfrm>
          </p:grpSpPr>
          <p:sp>
            <p:nvSpPr>
              <p:cNvPr id="56455" name="Line 4"/>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56" name="Rectangle 5"/>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6445" name="Group 6"/>
            <p:cNvGrpSpPr>
              <a:grpSpLocks/>
            </p:cNvGrpSpPr>
            <p:nvPr/>
          </p:nvGrpSpPr>
          <p:grpSpPr bwMode="auto">
            <a:xfrm>
              <a:off x="1326" y="3757"/>
              <a:ext cx="694" cy="1650"/>
              <a:chOff x="4417" y="567"/>
              <a:chExt cx="693" cy="1650"/>
            </a:xfrm>
          </p:grpSpPr>
          <p:grpSp>
            <p:nvGrpSpPr>
              <p:cNvPr id="56448" name="Group 7"/>
              <p:cNvGrpSpPr>
                <a:grpSpLocks/>
              </p:cNvGrpSpPr>
              <p:nvPr/>
            </p:nvGrpSpPr>
            <p:grpSpPr bwMode="auto">
              <a:xfrm>
                <a:off x="4417" y="567"/>
                <a:ext cx="550" cy="1650"/>
                <a:chOff x="4417" y="567"/>
                <a:chExt cx="550" cy="1650"/>
              </a:xfrm>
            </p:grpSpPr>
            <p:sp>
              <p:nvSpPr>
                <p:cNvPr id="56453" name="Oval 8"/>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54" name="Line 9"/>
                <p:cNvSpPr>
                  <a:spLocks noChangeShapeType="1"/>
                </p:cNvSpPr>
                <p:nvPr/>
              </p:nvSpPr>
              <p:spPr bwMode="auto">
                <a:xfrm>
                  <a:off x="4692" y="567"/>
                  <a:ext cx="0" cy="16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6449" name="Group 10"/>
              <p:cNvGrpSpPr>
                <a:grpSpLocks/>
              </p:cNvGrpSpPr>
              <p:nvPr/>
            </p:nvGrpSpPr>
            <p:grpSpPr bwMode="auto">
              <a:xfrm>
                <a:off x="4956" y="853"/>
                <a:ext cx="154" cy="979"/>
                <a:chOff x="4956" y="853"/>
                <a:chExt cx="154" cy="979"/>
              </a:xfrm>
            </p:grpSpPr>
            <p:sp>
              <p:nvSpPr>
                <p:cNvPr id="56450" name="Line 11"/>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51" name="Line 12"/>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52" name="Line 13"/>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56446" name="Line 14"/>
            <p:cNvSpPr>
              <a:spLocks noChangeShapeType="1"/>
            </p:cNvSpPr>
            <p:nvPr/>
          </p:nvSpPr>
          <p:spPr bwMode="auto">
            <a:xfrm>
              <a:off x="1601" y="3768"/>
              <a:ext cx="179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47" name="Line 15"/>
            <p:cNvSpPr>
              <a:spLocks noChangeShapeType="1"/>
            </p:cNvSpPr>
            <p:nvPr/>
          </p:nvSpPr>
          <p:spPr bwMode="auto">
            <a:xfrm>
              <a:off x="1612" y="5418"/>
              <a:ext cx="179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6324" name="Group 16"/>
          <p:cNvGrpSpPr>
            <a:grpSpLocks/>
          </p:cNvGrpSpPr>
          <p:nvPr/>
        </p:nvGrpSpPr>
        <p:grpSpPr bwMode="auto">
          <a:xfrm>
            <a:off x="2971800" y="1371600"/>
            <a:ext cx="914400" cy="1371600"/>
            <a:chOff x="4615" y="3779"/>
            <a:chExt cx="1045" cy="1683"/>
          </a:xfrm>
        </p:grpSpPr>
        <p:grpSp>
          <p:nvGrpSpPr>
            <p:cNvPr id="56434" name="Group 17"/>
            <p:cNvGrpSpPr>
              <a:grpSpLocks/>
            </p:cNvGrpSpPr>
            <p:nvPr/>
          </p:nvGrpSpPr>
          <p:grpSpPr bwMode="auto">
            <a:xfrm>
              <a:off x="4615" y="3801"/>
              <a:ext cx="694" cy="1650"/>
              <a:chOff x="4417" y="567"/>
              <a:chExt cx="693" cy="1650"/>
            </a:xfrm>
          </p:grpSpPr>
          <p:grpSp>
            <p:nvGrpSpPr>
              <p:cNvPr id="56437" name="Group 18"/>
              <p:cNvGrpSpPr>
                <a:grpSpLocks/>
              </p:cNvGrpSpPr>
              <p:nvPr/>
            </p:nvGrpSpPr>
            <p:grpSpPr bwMode="auto">
              <a:xfrm>
                <a:off x="4417" y="567"/>
                <a:ext cx="550" cy="1650"/>
                <a:chOff x="4417" y="567"/>
                <a:chExt cx="550" cy="1650"/>
              </a:xfrm>
            </p:grpSpPr>
            <p:sp>
              <p:nvSpPr>
                <p:cNvPr id="56442" name="Oval 19"/>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43" name="Line 20"/>
                <p:cNvSpPr>
                  <a:spLocks noChangeShapeType="1"/>
                </p:cNvSpPr>
                <p:nvPr/>
              </p:nvSpPr>
              <p:spPr bwMode="auto">
                <a:xfrm>
                  <a:off x="4692" y="567"/>
                  <a:ext cx="0" cy="16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6438" name="Group 21"/>
              <p:cNvGrpSpPr>
                <a:grpSpLocks/>
              </p:cNvGrpSpPr>
              <p:nvPr/>
            </p:nvGrpSpPr>
            <p:grpSpPr bwMode="auto">
              <a:xfrm>
                <a:off x="4956" y="853"/>
                <a:ext cx="154" cy="979"/>
                <a:chOff x="4956" y="853"/>
                <a:chExt cx="154" cy="979"/>
              </a:xfrm>
            </p:grpSpPr>
            <p:sp>
              <p:nvSpPr>
                <p:cNvPr id="56439" name="Line 22"/>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40" name="Line 23"/>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41" name="Line 24"/>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56435" name="Line 25"/>
            <p:cNvSpPr>
              <a:spLocks noChangeShapeType="1"/>
            </p:cNvSpPr>
            <p:nvPr/>
          </p:nvSpPr>
          <p:spPr bwMode="auto">
            <a:xfrm>
              <a:off x="4890" y="3779"/>
              <a:ext cx="75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36" name="Line 26"/>
            <p:cNvSpPr>
              <a:spLocks noChangeShapeType="1"/>
            </p:cNvSpPr>
            <p:nvPr/>
          </p:nvSpPr>
          <p:spPr bwMode="auto">
            <a:xfrm>
              <a:off x="4901" y="5462"/>
              <a:ext cx="75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6325" name="Group 27"/>
          <p:cNvGrpSpPr>
            <a:grpSpLocks/>
          </p:cNvGrpSpPr>
          <p:nvPr/>
        </p:nvGrpSpPr>
        <p:grpSpPr bwMode="auto">
          <a:xfrm>
            <a:off x="4572000" y="1371600"/>
            <a:ext cx="1600200" cy="1358900"/>
            <a:chOff x="1326" y="3757"/>
            <a:chExt cx="2079" cy="1661"/>
          </a:xfrm>
        </p:grpSpPr>
        <p:grpSp>
          <p:nvGrpSpPr>
            <p:cNvPr id="56416" name="Group 28"/>
            <p:cNvGrpSpPr>
              <a:grpSpLocks/>
            </p:cNvGrpSpPr>
            <p:nvPr/>
          </p:nvGrpSpPr>
          <p:grpSpPr bwMode="auto">
            <a:xfrm>
              <a:off x="1326" y="3757"/>
              <a:ext cx="694" cy="1650"/>
              <a:chOff x="4417" y="567"/>
              <a:chExt cx="693" cy="1650"/>
            </a:xfrm>
          </p:grpSpPr>
          <p:grpSp>
            <p:nvGrpSpPr>
              <p:cNvPr id="56427" name="Group 29"/>
              <p:cNvGrpSpPr>
                <a:grpSpLocks/>
              </p:cNvGrpSpPr>
              <p:nvPr/>
            </p:nvGrpSpPr>
            <p:grpSpPr bwMode="auto">
              <a:xfrm>
                <a:off x="4417" y="567"/>
                <a:ext cx="550" cy="1650"/>
                <a:chOff x="4417" y="567"/>
                <a:chExt cx="550" cy="1650"/>
              </a:xfrm>
            </p:grpSpPr>
            <p:sp>
              <p:nvSpPr>
                <p:cNvPr id="56432" name="Oval 30"/>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33" name="Line 31"/>
                <p:cNvSpPr>
                  <a:spLocks noChangeShapeType="1"/>
                </p:cNvSpPr>
                <p:nvPr/>
              </p:nvSpPr>
              <p:spPr bwMode="auto">
                <a:xfrm>
                  <a:off x="4692" y="567"/>
                  <a:ext cx="0" cy="16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6428" name="Group 32"/>
              <p:cNvGrpSpPr>
                <a:grpSpLocks/>
              </p:cNvGrpSpPr>
              <p:nvPr/>
            </p:nvGrpSpPr>
            <p:grpSpPr bwMode="auto">
              <a:xfrm>
                <a:off x="4956" y="853"/>
                <a:ext cx="154" cy="979"/>
                <a:chOff x="4956" y="853"/>
                <a:chExt cx="154" cy="979"/>
              </a:xfrm>
            </p:grpSpPr>
            <p:sp>
              <p:nvSpPr>
                <p:cNvPr id="56429" name="Line 33"/>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30" name="Line 34"/>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31" name="Line 35"/>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56417" name="Line 36"/>
            <p:cNvSpPr>
              <a:spLocks noChangeShapeType="1"/>
            </p:cNvSpPr>
            <p:nvPr/>
          </p:nvSpPr>
          <p:spPr bwMode="auto">
            <a:xfrm>
              <a:off x="1601" y="3768"/>
              <a:ext cx="179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18" name="Line 37"/>
            <p:cNvSpPr>
              <a:spLocks noChangeShapeType="1"/>
            </p:cNvSpPr>
            <p:nvPr/>
          </p:nvSpPr>
          <p:spPr bwMode="auto">
            <a:xfrm>
              <a:off x="1612" y="5418"/>
              <a:ext cx="179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6419" name="Group 38"/>
            <p:cNvGrpSpPr>
              <a:grpSpLocks/>
            </p:cNvGrpSpPr>
            <p:nvPr/>
          </p:nvGrpSpPr>
          <p:grpSpPr bwMode="auto">
            <a:xfrm>
              <a:off x="2425" y="3757"/>
              <a:ext cx="551" cy="1650"/>
              <a:chOff x="3591" y="567"/>
              <a:chExt cx="301" cy="907"/>
            </a:xfrm>
          </p:grpSpPr>
          <p:sp>
            <p:nvSpPr>
              <p:cNvPr id="56420" name="Line 39"/>
              <p:cNvSpPr>
                <a:spLocks noChangeShapeType="1"/>
              </p:cNvSpPr>
              <p:nvPr/>
            </p:nvSpPr>
            <p:spPr bwMode="auto">
              <a:xfrm>
                <a:off x="3742" y="567"/>
                <a:ext cx="0" cy="90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21" name="Oval 40"/>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22" name="Line 41"/>
              <p:cNvSpPr>
                <a:spLocks noChangeShapeType="1"/>
              </p:cNvSpPr>
              <p:nvPr/>
            </p:nvSpPr>
            <p:spPr bwMode="auto">
              <a:xfrm>
                <a:off x="3591" y="1021"/>
                <a:ext cx="29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6423" name="Group 42"/>
              <p:cNvGrpSpPr>
                <a:grpSpLocks/>
              </p:cNvGrpSpPr>
              <p:nvPr/>
            </p:nvGrpSpPr>
            <p:grpSpPr bwMode="auto">
              <a:xfrm>
                <a:off x="3715" y="591"/>
                <a:ext cx="56" cy="222"/>
                <a:chOff x="4507" y="645"/>
                <a:chExt cx="56" cy="222"/>
              </a:xfrm>
            </p:grpSpPr>
            <p:sp>
              <p:nvSpPr>
                <p:cNvPr id="56424" name="Line 43"/>
                <p:cNvSpPr>
                  <a:spLocks noChangeShapeType="1"/>
                </p:cNvSpPr>
                <p:nvPr/>
              </p:nvSpPr>
              <p:spPr bwMode="auto">
                <a:xfrm flipH="1">
                  <a:off x="4507" y="646"/>
                  <a:ext cx="24" cy="109"/>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25" name="Line 44"/>
                <p:cNvSpPr>
                  <a:spLocks noChangeShapeType="1"/>
                </p:cNvSpPr>
                <p:nvPr/>
              </p:nvSpPr>
              <p:spPr bwMode="auto">
                <a:xfrm>
                  <a:off x="4533" y="645"/>
                  <a:ext cx="30" cy="10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26" name="Line 45"/>
                <p:cNvSpPr>
                  <a:spLocks noChangeShapeType="1"/>
                </p:cNvSpPr>
                <p:nvPr/>
              </p:nvSpPr>
              <p:spPr bwMode="auto">
                <a:xfrm>
                  <a:off x="4533" y="645"/>
                  <a:ext cx="0" cy="22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grpSp>
        <p:nvGrpSpPr>
          <p:cNvPr id="56326" name="Group 46"/>
          <p:cNvGrpSpPr>
            <a:grpSpLocks/>
          </p:cNvGrpSpPr>
          <p:nvPr/>
        </p:nvGrpSpPr>
        <p:grpSpPr bwMode="auto">
          <a:xfrm>
            <a:off x="7010400" y="1371600"/>
            <a:ext cx="838200" cy="1371600"/>
            <a:chOff x="4615" y="3779"/>
            <a:chExt cx="1045" cy="1683"/>
          </a:xfrm>
        </p:grpSpPr>
        <p:grpSp>
          <p:nvGrpSpPr>
            <p:cNvPr id="56406" name="Group 47"/>
            <p:cNvGrpSpPr>
              <a:grpSpLocks/>
            </p:cNvGrpSpPr>
            <p:nvPr/>
          </p:nvGrpSpPr>
          <p:grpSpPr bwMode="auto">
            <a:xfrm>
              <a:off x="4615" y="3801"/>
              <a:ext cx="694" cy="1650"/>
              <a:chOff x="4417" y="567"/>
              <a:chExt cx="693" cy="1650"/>
            </a:xfrm>
          </p:grpSpPr>
          <p:grpSp>
            <p:nvGrpSpPr>
              <p:cNvPr id="56409" name="Group 48"/>
              <p:cNvGrpSpPr>
                <a:grpSpLocks/>
              </p:cNvGrpSpPr>
              <p:nvPr/>
            </p:nvGrpSpPr>
            <p:grpSpPr bwMode="auto">
              <a:xfrm>
                <a:off x="4417" y="567"/>
                <a:ext cx="550" cy="1650"/>
                <a:chOff x="4417" y="567"/>
                <a:chExt cx="550" cy="1650"/>
              </a:xfrm>
            </p:grpSpPr>
            <p:sp>
              <p:nvSpPr>
                <p:cNvPr id="56414" name="Oval 49"/>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15" name="Line 50"/>
                <p:cNvSpPr>
                  <a:spLocks noChangeShapeType="1"/>
                </p:cNvSpPr>
                <p:nvPr/>
              </p:nvSpPr>
              <p:spPr bwMode="auto">
                <a:xfrm>
                  <a:off x="4692" y="567"/>
                  <a:ext cx="0" cy="16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6410" name="Group 51"/>
              <p:cNvGrpSpPr>
                <a:grpSpLocks/>
              </p:cNvGrpSpPr>
              <p:nvPr/>
            </p:nvGrpSpPr>
            <p:grpSpPr bwMode="auto">
              <a:xfrm>
                <a:off x="4956" y="853"/>
                <a:ext cx="154" cy="979"/>
                <a:chOff x="4956" y="853"/>
                <a:chExt cx="154" cy="979"/>
              </a:xfrm>
            </p:grpSpPr>
            <p:sp>
              <p:nvSpPr>
                <p:cNvPr id="56411" name="Line 52"/>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12" name="Line 53"/>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13" name="Line 54"/>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56407" name="Line 55"/>
            <p:cNvSpPr>
              <a:spLocks noChangeShapeType="1"/>
            </p:cNvSpPr>
            <p:nvPr/>
          </p:nvSpPr>
          <p:spPr bwMode="auto">
            <a:xfrm>
              <a:off x="4890" y="3779"/>
              <a:ext cx="75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08" name="Line 56"/>
            <p:cNvSpPr>
              <a:spLocks noChangeShapeType="1"/>
            </p:cNvSpPr>
            <p:nvPr/>
          </p:nvSpPr>
          <p:spPr bwMode="auto">
            <a:xfrm>
              <a:off x="4901" y="5462"/>
              <a:ext cx="75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6327" name="Group 57"/>
          <p:cNvGrpSpPr>
            <a:grpSpLocks/>
          </p:cNvGrpSpPr>
          <p:nvPr/>
        </p:nvGrpSpPr>
        <p:grpSpPr bwMode="auto">
          <a:xfrm>
            <a:off x="685800" y="3946525"/>
            <a:ext cx="1466850" cy="2073275"/>
            <a:chOff x="1325" y="3757"/>
            <a:chExt cx="2069" cy="3025"/>
          </a:xfrm>
        </p:grpSpPr>
        <p:grpSp>
          <p:nvGrpSpPr>
            <p:cNvPr id="56388" name="Group 58"/>
            <p:cNvGrpSpPr>
              <a:grpSpLocks/>
            </p:cNvGrpSpPr>
            <p:nvPr/>
          </p:nvGrpSpPr>
          <p:grpSpPr bwMode="auto">
            <a:xfrm>
              <a:off x="1326" y="3757"/>
              <a:ext cx="694" cy="1650"/>
              <a:chOff x="4417" y="567"/>
              <a:chExt cx="693" cy="1650"/>
            </a:xfrm>
          </p:grpSpPr>
          <p:grpSp>
            <p:nvGrpSpPr>
              <p:cNvPr id="56399" name="Group 59"/>
              <p:cNvGrpSpPr>
                <a:grpSpLocks/>
              </p:cNvGrpSpPr>
              <p:nvPr/>
            </p:nvGrpSpPr>
            <p:grpSpPr bwMode="auto">
              <a:xfrm>
                <a:off x="4417" y="567"/>
                <a:ext cx="550" cy="1650"/>
                <a:chOff x="4417" y="567"/>
                <a:chExt cx="550" cy="1650"/>
              </a:xfrm>
            </p:grpSpPr>
            <p:sp>
              <p:nvSpPr>
                <p:cNvPr id="56404" name="Oval 60"/>
                <p:cNvSpPr>
                  <a:spLocks noChangeArrowheads="1"/>
                </p:cNvSpPr>
                <p:nvPr/>
              </p:nvSpPr>
              <p:spPr bwMode="auto">
                <a:xfrm>
                  <a:off x="4417" y="1117"/>
                  <a:ext cx="550" cy="550"/>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05" name="Line 61"/>
                <p:cNvSpPr>
                  <a:spLocks noChangeShapeType="1"/>
                </p:cNvSpPr>
                <p:nvPr/>
              </p:nvSpPr>
              <p:spPr bwMode="auto">
                <a:xfrm>
                  <a:off x="4692" y="567"/>
                  <a:ext cx="0" cy="165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6400" name="Group 62"/>
              <p:cNvGrpSpPr>
                <a:grpSpLocks/>
              </p:cNvGrpSpPr>
              <p:nvPr/>
            </p:nvGrpSpPr>
            <p:grpSpPr bwMode="auto">
              <a:xfrm>
                <a:off x="4956" y="853"/>
                <a:ext cx="154" cy="979"/>
                <a:chOff x="4956" y="853"/>
                <a:chExt cx="154" cy="979"/>
              </a:xfrm>
            </p:grpSpPr>
            <p:sp>
              <p:nvSpPr>
                <p:cNvPr id="56401" name="Line 63"/>
                <p:cNvSpPr>
                  <a:spLocks noChangeShapeType="1"/>
                </p:cNvSpPr>
                <p:nvPr/>
              </p:nvSpPr>
              <p:spPr bwMode="auto">
                <a:xfrm>
                  <a:off x="4967" y="930"/>
                  <a:ext cx="14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02" name="Line 64"/>
                <p:cNvSpPr>
                  <a:spLocks noChangeShapeType="1"/>
                </p:cNvSpPr>
                <p:nvPr/>
              </p:nvSpPr>
              <p:spPr bwMode="auto">
                <a:xfrm>
                  <a:off x="4956" y="1832"/>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403" name="Line 65"/>
                <p:cNvSpPr>
                  <a:spLocks noChangeShapeType="1"/>
                </p:cNvSpPr>
                <p:nvPr/>
              </p:nvSpPr>
              <p:spPr bwMode="auto">
                <a:xfrm rot="5400000">
                  <a:off x="4967" y="930"/>
                  <a:ext cx="15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56389" name="Line 66"/>
            <p:cNvSpPr>
              <a:spLocks noChangeShapeType="1"/>
            </p:cNvSpPr>
            <p:nvPr/>
          </p:nvSpPr>
          <p:spPr bwMode="auto">
            <a:xfrm>
              <a:off x="1601" y="3768"/>
              <a:ext cx="179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90" name="Line 67"/>
            <p:cNvSpPr>
              <a:spLocks noChangeShapeType="1"/>
            </p:cNvSpPr>
            <p:nvPr/>
          </p:nvSpPr>
          <p:spPr bwMode="auto">
            <a:xfrm>
              <a:off x="1590" y="6771"/>
              <a:ext cx="179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6391" name="Group 68"/>
            <p:cNvGrpSpPr>
              <a:grpSpLocks/>
            </p:cNvGrpSpPr>
            <p:nvPr/>
          </p:nvGrpSpPr>
          <p:grpSpPr bwMode="auto">
            <a:xfrm>
              <a:off x="1325" y="5132"/>
              <a:ext cx="551" cy="1650"/>
              <a:chOff x="3591" y="567"/>
              <a:chExt cx="301" cy="907"/>
            </a:xfrm>
          </p:grpSpPr>
          <p:sp>
            <p:nvSpPr>
              <p:cNvPr id="56392" name="Line 69"/>
              <p:cNvSpPr>
                <a:spLocks noChangeShapeType="1"/>
              </p:cNvSpPr>
              <p:nvPr/>
            </p:nvSpPr>
            <p:spPr bwMode="auto">
              <a:xfrm>
                <a:off x="3742" y="567"/>
                <a:ext cx="0" cy="90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93" name="Oval 70"/>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94" name="Line 71"/>
              <p:cNvSpPr>
                <a:spLocks noChangeShapeType="1"/>
              </p:cNvSpPr>
              <p:nvPr/>
            </p:nvSpPr>
            <p:spPr bwMode="auto">
              <a:xfrm>
                <a:off x="3591" y="1021"/>
                <a:ext cx="29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6395" name="Group 72"/>
              <p:cNvGrpSpPr>
                <a:grpSpLocks/>
              </p:cNvGrpSpPr>
              <p:nvPr/>
            </p:nvGrpSpPr>
            <p:grpSpPr bwMode="auto">
              <a:xfrm>
                <a:off x="3715" y="591"/>
                <a:ext cx="56" cy="222"/>
                <a:chOff x="4507" y="645"/>
                <a:chExt cx="56" cy="222"/>
              </a:xfrm>
            </p:grpSpPr>
            <p:sp>
              <p:nvSpPr>
                <p:cNvPr id="56396" name="Line 73"/>
                <p:cNvSpPr>
                  <a:spLocks noChangeShapeType="1"/>
                </p:cNvSpPr>
                <p:nvPr/>
              </p:nvSpPr>
              <p:spPr bwMode="auto">
                <a:xfrm flipH="1">
                  <a:off x="4507" y="646"/>
                  <a:ext cx="24" cy="109"/>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97" name="Line 74"/>
                <p:cNvSpPr>
                  <a:spLocks noChangeShapeType="1"/>
                </p:cNvSpPr>
                <p:nvPr/>
              </p:nvSpPr>
              <p:spPr bwMode="auto">
                <a:xfrm>
                  <a:off x="4533" y="645"/>
                  <a:ext cx="30" cy="10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98" name="Line 75"/>
                <p:cNvSpPr>
                  <a:spLocks noChangeShapeType="1"/>
                </p:cNvSpPr>
                <p:nvPr/>
              </p:nvSpPr>
              <p:spPr bwMode="auto">
                <a:xfrm>
                  <a:off x="4533" y="645"/>
                  <a:ext cx="0" cy="22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grpSp>
        <p:nvGrpSpPr>
          <p:cNvPr id="56328" name="Group 76"/>
          <p:cNvGrpSpPr>
            <a:grpSpLocks/>
          </p:cNvGrpSpPr>
          <p:nvPr/>
        </p:nvGrpSpPr>
        <p:grpSpPr bwMode="auto">
          <a:xfrm>
            <a:off x="2792413" y="4241800"/>
            <a:ext cx="941387" cy="1397000"/>
            <a:chOff x="4670" y="4241"/>
            <a:chExt cx="1243" cy="1958"/>
          </a:xfrm>
        </p:grpSpPr>
        <p:grpSp>
          <p:nvGrpSpPr>
            <p:cNvPr id="56377" name="Group 77"/>
            <p:cNvGrpSpPr>
              <a:grpSpLocks/>
            </p:cNvGrpSpPr>
            <p:nvPr/>
          </p:nvGrpSpPr>
          <p:grpSpPr bwMode="auto">
            <a:xfrm>
              <a:off x="4670" y="4549"/>
              <a:ext cx="551" cy="1650"/>
              <a:chOff x="3591" y="567"/>
              <a:chExt cx="301" cy="907"/>
            </a:xfrm>
          </p:grpSpPr>
          <p:sp>
            <p:nvSpPr>
              <p:cNvPr id="56381" name="Line 78"/>
              <p:cNvSpPr>
                <a:spLocks noChangeShapeType="1"/>
              </p:cNvSpPr>
              <p:nvPr/>
            </p:nvSpPr>
            <p:spPr bwMode="auto">
              <a:xfrm>
                <a:off x="3742" y="567"/>
                <a:ext cx="0" cy="90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82" name="Oval 79"/>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83" name="Line 80"/>
              <p:cNvSpPr>
                <a:spLocks noChangeShapeType="1"/>
              </p:cNvSpPr>
              <p:nvPr/>
            </p:nvSpPr>
            <p:spPr bwMode="auto">
              <a:xfrm>
                <a:off x="3591" y="1021"/>
                <a:ext cx="29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6384" name="Group 81"/>
              <p:cNvGrpSpPr>
                <a:grpSpLocks/>
              </p:cNvGrpSpPr>
              <p:nvPr/>
            </p:nvGrpSpPr>
            <p:grpSpPr bwMode="auto">
              <a:xfrm>
                <a:off x="3715" y="591"/>
                <a:ext cx="56" cy="222"/>
                <a:chOff x="4507" y="645"/>
                <a:chExt cx="56" cy="222"/>
              </a:xfrm>
            </p:grpSpPr>
            <p:sp>
              <p:nvSpPr>
                <p:cNvPr id="56385" name="Line 82"/>
                <p:cNvSpPr>
                  <a:spLocks noChangeShapeType="1"/>
                </p:cNvSpPr>
                <p:nvPr/>
              </p:nvSpPr>
              <p:spPr bwMode="auto">
                <a:xfrm flipH="1">
                  <a:off x="4507" y="646"/>
                  <a:ext cx="24" cy="109"/>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86" name="Line 83"/>
                <p:cNvSpPr>
                  <a:spLocks noChangeShapeType="1"/>
                </p:cNvSpPr>
                <p:nvPr/>
              </p:nvSpPr>
              <p:spPr bwMode="auto">
                <a:xfrm>
                  <a:off x="4533" y="645"/>
                  <a:ext cx="30" cy="10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87" name="Line 84"/>
                <p:cNvSpPr>
                  <a:spLocks noChangeShapeType="1"/>
                </p:cNvSpPr>
                <p:nvPr/>
              </p:nvSpPr>
              <p:spPr bwMode="auto">
                <a:xfrm>
                  <a:off x="4533" y="645"/>
                  <a:ext cx="0" cy="22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56378" name="Line 85"/>
            <p:cNvSpPr>
              <a:spLocks noChangeShapeType="1"/>
            </p:cNvSpPr>
            <p:nvPr/>
          </p:nvSpPr>
          <p:spPr bwMode="auto">
            <a:xfrm flipH="1">
              <a:off x="4945" y="4241"/>
              <a:ext cx="0" cy="374"/>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79" name="Line 86"/>
            <p:cNvSpPr>
              <a:spLocks noChangeShapeType="1"/>
            </p:cNvSpPr>
            <p:nvPr/>
          </p:nvSpPr>
          <p:spPr bwMode="auto">
            <a:xfrm>
              <a:off x="4934" y="4263"/>
              <a:ext cx="97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80" name="Line 87"/>
            <p:cNvSpPr>
              <a:spLocks noChangeShapeType="1"/>
            </p:cNvSpPr>
            <p:nvPr/>
          </p:nvSpPr>
          <p:spPr bwMode="auto">
            <a:xfrm>
              <a:off x="4934" y="6177"/>
              <a:ext cx="97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6329" name="Group 88"/>
          <p:cNvGrpSpPr>
            <a:grpSpLocks/>
          </p:cNvGrpSpPr>
          <p:nvPr/>
        </p:nvGrpSpPr>
        <p:grpSpPr bwMode="auto">
          <a:xfrm>
            <a:off x="4724400" y="4014788"/>
            <a:ext cx="1390650" cy="2005012"/>
            <a:chOff x="1325" y="3746"/>
            <a:chExt cx="2069" cy="3036"/>
          </a:xfrm>
        </p:grpSpPr>
        <p:sp>
          <p:nvSpPr>
            <p:cNvPr id="56364" name="Line 89"/>
            <p:cNvSpPr>
              <a:spLocks noChangeShapeType="1"/>
            </p:cNvSpPr>
            <p:nvPr/>
          </p:nvSpPr>
          <p:spPr bwMode="auto">
            <a:xfrm>
              <a:off x="1601" y="3768"/>
              <a:ext cx="179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65" name="Line 90"/>
            <p:cNvSpPr>
              <a:spLocks noChangeShapeType="1"/>
            </p:cNvSpPr>
            <p:nvPr/>
          </p:nvSpPr>
          <p:spPr bwMode="auto">
            <a:xfrm>
              <a:off x="1590" y="6771"/>
              <a:ext cx="1793"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6366" name="Group 91"/>
            <p:cNvGrpSpPr>
              <a:grpSpLocks/>
            </p:cNvGrpSpPr>
            <p:nvPr/>
          </p:nvGrpSpPr>
          <p:grpSpPr bwMode="auto">
            <a:xfrm>
              <a:off x="1325" y="5132"/>
              <a:ext cx="551" cy="1650"/>
              <a:chOff x="3591" y="567"/>
              <a:chExt cx="301" cy="907"/>
            </a:xfrm>
          </p:grpSpPr>
          <p:sp>
            <p:nvSpPr>
              <p:cNvPr id="56370" name="Line 92"/>
              <p:cNvSpPr>
                <a:spLocks noChangeShapeType="1"/>
              </p:cNvSpPr>
              <p:nvPr/>
            </p:nvSpPr>
            <p:spPr bwMode="auto">
              <a:xfrm>
                <a:off x="3742" y="567"/>
                <a:ext cx="0" cy="90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71" name="Oval 93"/>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72" name="Line 94"/>
              <p:cNvSpPr>
                <a:spLocks noChangeShapeType="1"/>
              </p:cNvSpPr>
              <p:nvPr/>
            </p:nvSpPr>
            <p:spPr bwMode="auto">
              <a:xfrm>
                <a:off x="3591" y="1021"/>
                <a:ext cx="29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6373" name="Group 95"/>
              <p:cNvGrpSpPr>
                <a:grpSpLocks/>
              </p:cNvGrpSpPr>
              <p:nvPr/>
            </p:nvGrpSpPr>
            <p:grpSpPr bwMode="auto">
              <a:xfrm>
                <a:off x="3715" y="591"/>
                <a:ext cx="56" cy="222"/>
                <a:chOff x="4507" y="645"/>
                <a:chExt cx="56" cy="222"/>
              </a:xfrm>
            </p:grpSpPr>
            <p:sp>
              <p:nvSpPr>
                <p:cNvPr id="56374" name="Line 96"/>
                <p:cNvSpPr>
                  <a:spLocks noChangeShapeType="1"/>
                </p:cNvSpPr>
                <p:nvPr/>
              </p:nvSpPr>
              <p:spPr bwMode="auto">
                <a:xfrm flipH="1">
                  <a:off x="4507" y="646"/>
                  <a:ext cx="24" cy="109"/>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75" name="Line 97"/>
                <p:cNvSpPr>
                  <a:spLocks noChangeShapeType="1"/>
                </p:cNvSpPr>
                <p:nvPr/>
              </p:nvSpPr>
              <p:spPr bwMode="auto">
                <a:xfrm>
                  <a:off x="4533" y="645"/>
                  <a:ext cx="30" cy="10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76" name="Line 98"/>
                <p:cNvSpPr>
                  <a:spLocks noChangeShapeType="1"/>
                </p:cNvSpPr>
                <p:nvPr/>
              </p:nvSpPr>
              <p:spPr bwMode="auto">
                <a:xfrm>
                  <a:off x="4533" y="645"/>
                  <a:ext cx="0" cy="22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6367" name="Group 99"/>
            <p:cNvGrpSpPr>
              <a:grpSpLocks/>
            </p:cNvGrpSpPr>
            <p:nvPr/>
          </p:nvGrpSpPr>
          <p:grpSpPr bwMode="auto">
            <a:xfrm>
              <a:off x="1502" y="3746"/>
              <a:ext cx="187" cy="1639"/>
              <a:chOff x="743" y="567"/>
              <a:chExt cx="187" cy="1639"/>
            </a:xfrm>
          </p:grpSpPr>
          <p:sp>
            <p:nvSpPr>
              <p:cNvPr id="56368" name="Line 100"/>
              <p:cNvSpPr>
                <a:spLocks noChangeShapeType="1"/>
              </p:cNvSpPr>
              <p:nvPr/>
            </p:nvSpPr>
            <p:spPr bwMode="auto">
              <a:xfrm flipH="1">
                <a:off x="842" y="567"/>
                <a:ext cx="0" cy="16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69" name="Rectangle 101"/>
              <p:cNvSpPr>
                <a:spLocks noChangeArrowheads="1"/>
              </p:cNvSpPr>
              <p:nvPr/>
            </p:nvSpPr>
            <p:spPr bwMode="auto">
              <a:xfrm>
                <a:off x="743" y="1150"/>
                <a:ext cx="187" cy="561"/>
              </a:xfrm>
              <a:prstGeom prst="rect">
                <a:avLst/>
              </a:prstGeom>
              <a:solidFill>
                <a:srgbClr val="FFFFFF"/>
              </a:solidFill>
              <a:ln w="3810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grpSp>
        <p:nvGrpSpPr>
          <p:cNvPr id="56330" name="Group 102"/>
          <p:cNvGrpSpPr>
            <a:grpSpLocks/>
          </p:cNvGrpSpPr>
          <p:nvPr/>
        </p:nvGrpSpPr>
        <p:grpSpPr bwMode="auto">
          <a:xfrm>
            <a:off x="6858000" y="4343400"/>
            <a:ext cx="914400" cy="1371600"/>
            <a:chOff x="4670" y="4241"/>
            <a:chExt cx="1243" cy="1958"/>
          </a:xfrm>
        </p:grpSpPr>
        <p:grpSp>
          <p:nvGrpSpPr>
            <p:cNvPr id="56353" name="Group 103"/>
            <p:cNvGrpSpPr>
              <a:grpSpLocks/>
            </p:cNvGrpSpPr>
            <p:nvPr/>
          </p:nvGrpSpPr>
          <p:grpSpPr bwMode="auto">
            <a:xfrm>
              <a:off x="4670" y="4549"/>
              <a:ext cx="551" cy="1650"/>
              <a:chOff x="3591" y="567"/>
              <a:chExt cx="301" cy="907"/>
            </a:xfrm>
          </p:grpSpPr>
          <p:sp>
            <p:nvSpPr>
              <p:cNvPr id="56357" name="Line 104"/>
              <p:cNvSpPr>
                <a:spLocks noChangeShapeType="1"/>
              </p:cNvSpPr>
              <p:nvPr/>
            </p:nvSpPr>
            <p:spPr bwMode="auto">
              <a:xfrm>
                <a:off x="3742" y="567"/>
                <a:ext cx="0" cy="90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58" name="Oval 105"/>
              <p:cNvSpPr>
                <a:spLocks noChangeArrowheads="1"/>
              </p:cNvSpPr>
              <p:nvPr/>
            </p:nvSpPr>
            <p:spPr bwMode="auto">
              <a:xfrm>
                <a:off x="3591" y="869"/>
                <a:ext cx="301" cy="303"/>
              </a:xfrm>
              <a:prstGeom prst="ellipse">
                <a:avLst/>
              </a:prstGeom>
              <a:solidFill>
                <a:srgbClr val="FFFFFF"/>
              </a:solidFill>
              <a:ln w="3810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59" name="Line 106"/>
              <p:cNvSpPr>
                <a:spLocks noChangeShapeType="1"/>
              </p:cNvSpPr>
              <p:nvPr/>
            </p:nvSpPr>
            <p:spPr bwMode="auto">
              <a:xfrm>
                <a:off x="3591" y="1021"/>
                <a:ext cx="29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6360" name="Group 107"/>
              <p:cNvGrpSpPr>
                <a:grpSpLocks/>
              </p:cNvGrpSpPr>
              <p:nvPr/>
            </p:nvGrpSpPr>
            <p:grpSpPr bwMode="auto">
              <a:xfrm>
                <a:off x="3715" y="591"/>
                <a:ext cx="56" cy="222"/>
                <a:chOff x="4507" y="645"/>
                <a:chExt cx="56" cy="222"/>
              </a:xfrm>
            </p:grpSpPr>
            <p:sp>
              <p:nvSpPr>
                <p:cNvPr id="56361" name="Line 108"/>
                <p:cNvSpPr>
                  <a:spLocks noChangeShapeType="1"/>
                </p:cNvSpPr>
                <p:nvPr/>
              </p:nvSpPr>
              <p:spPr bwMode="auto">
                <a:xfrm flipH="1">
                  <a:off x="4507" y="646"/>
                  <a:ext cx="24" cy="109"/>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62" name="Line 109"/>
                <p:cNvSpPr>
                  <a:spLocks noChangeShapeType="1"/>
                </p:cNvSpPr>
                <p:nvPr/>
              </p:nvSpPr>
              <p:spPr bwMode="auto">
                <a:xfrm>
                  <a:off x="4533" y="645"/>
                  <a:ext cx="30" cy="108"/>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63" name="Line 110"/>
                <p:cNvSpPr>
                  <a:spLocks noChangeShapeType="1"/>
                </p:cNvSpPr>
                <p:nvPr/>
              </p:nvSpPr>
              <p:spPr bwMode="auto">
                <a:xfrm>
                  <a:off x="4533" y="645"/>
                  <a:ext cx="0" cy="22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56354" name="Line 111"/>
            <p:cNvSpPr>
              <a:spLocks noChangeShapeType="1"/>
            </p:cNvSpPr>
            <p:nvPr/>
          </p:nvSpPr>
          <p:spPr bwMode="auto">
            <a:xfrm flipH="1">
              <a:off x="4945" y="4241"/>
              <a:ext cx="0" cy="374"/>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55" name="Line 112"/>
            <p:cNvSpPr>
              <a:spLocks noChangeShapeType="1"/>
            </p:cNvSpPr>
            <p:nvPr/>
          </p:nvSpPr>
          <p:spPr bwMode="auto">
            <a:xfrm>
              <a:off x="4934" y="4263"/>
              <a:ext cx="97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56" name="Line 113"/>
            <p:cNvSpPr>
              <a:spLocks noChangeShapeType="1"/>
            </p:cNvSpPr>
            <p:nvPr/>
          </p:nvSpPr>
          <p:spPr bwMode="auto">
            <a:xfrm>
              <a:off x="4934" y="6177"/>
              <a:ext cx="979"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6331" name="AutoShape 114"/>
          <p:cNvSpPr>
            <a:spLocks noChangeArrowheads="1"/>
          </p:cNvSpPr>
          <p:nvPr/>
        </p:nvSpPr>
        <p:spPr bwMode="auto">
          <a:xfrm>
            <a:off x="2362200" y="1905000"/>
            <a:ext cx="381000" cy="381000"/>
          </a:xfrm>
          <a:prstGeom prst="rightArrow">
            <a:avLst>
              <a:gd name="adj1" fmla="val 50000"/>
              <a:gd name="adj2" fmla="val 25000"/>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32" name="AutoShape 115"/>
          <p:cNvSpPr>
            <a:spLocks noChangeArrowheads="1"/>
          </p:cNvSpPr>
          <p:nvPr/>
        </p:nvSpPr>
        <p:spPr bwMode="auto">
          <a:xfrm>
            <a:off x="6248400" y="4876800"/>
            <a:ext cx="381000" cy="381000"/>
          </a:xfrm>
          <a:prstGeom prst="rightArrow">
            <a:avLst>
              <a:gd name="adj1" fmla="val 50000"/>
              <a:gd name="adj2" fmla="val 25000"/>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33" name="AutoShape 116"/>
          <p:cNvSpPr>
            <a:spLocks noChangeArrowheads="1"/>
          </p:cNvSpPr>
          <p:nvPr/>
        </p:nvSpPr>
        <p:spPr bwMode="auto">
          <a:xfrm>
            <a:off x="2133600" y="4800600"/>
            <a:ext cx="381000" cy="381000"/>
          </a:xfrm>
          <a:prstGeom prst="rightArrow">
            <a:avLst>
              <a:gd name="adj1" fmla="val 50000"/>
              <a:gd name="adj2" fmla="val 25000"/>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34" name="AutoShape 117"/>
          <p:cNvSpPr>
            <a:spLocks noChangeArrowheads="1"/>
          </p:cNvSpPr>
          <p:nvPr/>
        </p:nvSpPr>
        <p:spPr bwMode="auto">
          <a:xfrm>
            <a:off x="6400800" y="1905000"/>
            <a:ext cx="381000" cy="381000"/>
          </a:xfrm>
          <a:prstGeom prst="rightArrow">
            <a:avLst>
              <a:gd name="adj1" fmla="val 50000"/>
              <a:gd name="adj2" fmla="val 25000"/>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6335" name="Rectangle 118"/>
          <p:cNvSpPr>
            <a:spLocks noChangeArrowheads="1"/>
          </p:cNvSpPr>
          <p:nvPr/>
        </p:nvSpPr>
        <p:spPr bwMode="auto">
          <a:xfrm>
            <a:off x="1868488" y="3108325"/>
            <a:ext cx="4937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56336" name="Rectangle 119"/>
          <p:cNvSpPr>
            <a:spLocks noChangeArrowheads="1"/>
          </p:cNvSpPr>
          <p:nvPr/>
        </p:nvSpPr>
        <p:spPr bwMode="auto">
          <a:xfrm>
            <a:off x="6350000" y="6080125"/>
            <a:ext cx="508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(d)</a:t>
            </a:r>
          </a:p>
        </p:txBody>
      </p:sp>
      <p:sp>
        <p:nvSpPr>
          <p:cNvPr id="56337" name="Rectangle 120"/>
          <p:cNvSpPr>
            <a:spLocks noChangeArrowheads="1"/>
          </p:cNvSpPr>
          <p:nvPr/>
        </p:nvSpPr>
        <p:spPr bwMode="auto">
          <a:xfrm>
            <a:off x="2109788" y="6003925"/>
            <a:ext cx="5966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 (c) </a:t>
            </a:r>
          </a:p>
        </p:txBody>
      </p:sp>
      <p:sp>
        <p:nvSpPr>
          <p:cNvPr id="56338" name="Rectangle 121"/>
          <p:cNvSpPr>
            <a:spLocks noChangeArrowheads="1"/>
          </p:cNvSpPr>
          <p:nvPr/>
        </p:nvSpPr>
        <p:spPr bwMode="auto">
          <a:xfrm>
            <a:off x="6286500" y="3048000"/>
            <a:ext cx="6254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 (b) </a:t>
            </a:r>
          </a:p>
        </p:txBody>
      </p:sp>
      <p:sp>
        <p:nvSpPr>
          <p:cNvPr id="56339" name="Text Box 122"/>
          <p:cNvSpPr txBox="1">
            <a:spLocks noChangeArrowheads="1"/>
          </p:cNvSpPr>
          <p:nvPr/>
        </p:nvSpPr>
        <p:spPr bwMode="auto">
          <a:xfrm>
            <a:off x="0" y="333375"/>
            <a:ext cx="2293938"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600" b="1">
                <a:solidFill>
                  <a:schemeClr val="accent2"/>
                </a:solidFill>
                <a:latin typeface="Times New Roman" panose="02020603050405020304" pitchFamily="18" charset="0"/>
                <a:ea typeface="华文中宋" panose="02010600040101010101" pitchFamily="2" charset="-122"/>
                <a:cs typeface="Times New Roman" panose="02020603050405020304" pitchFamily="18" charset="0"/>
              </a:rPr>
              <a:t>常用等效电路</a:t>
            </a:r>
          </a:p>
        </p:txBody>
      </p:sp>
      <p:sp>
        <p:nvSpPr>
          <p:cNvPr id="56340" name="Text Box 123"/>
          <p:cNvSpPr txBox="1">
            <a:spLocks noChangeArrowheads="1"/>
          </p:cNvSpPr>
          <p:nvPr/>
        </p:nvSpPr>
        <p:spPr bwMode="auto">
          <a:xfrm>
            <a:off x="3429000" y="182880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3V</a:t>
            </a:r>
          </a:p>
        </p:txBody>
      </p:sp>
      <p:sp>
        <p:nvSpPr>
          <p:cNvPr id="56341" name="Text Box 124"/>
          <p:cNvSpPr txBox="1">
            <a:spLocks noChangeArrowheads="1"/>
          </p:cNvSpPr>
          <p:nvPr/>
        </p:nvSpPr>
        <p:spPr bwMode="auto">
          <a:xfrm>
            <a:off x="1066800" y="19653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3V</a:t>
            </a:r>
          </a:p>
        </p:txBody>
      </p:sp>
      <p:sp>
        <p:nvSpPr>
          <p:cNvPr id="56342" name="Text Box 125"/>
          <p:cNvSpPr txBox="1">
            <a:spLocks noChangeArrowheads="1"/>
          </p:cNvSpPr>
          <p:nvPr/>
        </p:nvSpPr>
        <p:spPr bwMode="auto">
          <a:xfrm>
            <a:off x="1066800" y="43275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3V</a:t>
            </a:r>
          </a:p>
        </p:txBody>
      </p:sp>
      <p:sp>
        <p:nvSpPr>
          <p:cNvPr id="56343" name="Text Box 126"/>
          <p:cNvSpPr txBox="1">
            <a:spLocks noChangeArrowheads="1"/>
          </p:cNvSpPr>
          <p:nvPr/>
        </p:nvSpPr>
        <p:spPr bwMode="auto">
          <a:xfrm>
            <a:off x="7467600" y="182880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3V</a:t>
            </a:r>
          </a:p>
        </p:txBody>
      </p:sp>
      <p:sp>
        <p:nvSpPr>
          <p:cNvPr id="56344" name="Text Box 127"/>
          <p:cNvSpPr txBox="1">
            <a:spLocks noChangeArrowheads="1"/>
          </p:cNvSpPr>
          <p:nvPr/>
        </p:nvSpPr>
        <p:spPr bwMode="auto">
          <a:xfrm>
            <a:off x="4953000" y="182880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3V</a:t>
            </a:r>
          </a:p>
        </p:txBody>
      </p:sp>
      <p:sp>
        <p:nvSpPr>
          <p:cNvPr id="56345" name="Text Box 128"/>
          <p:cNvSpPr txBox="1">
            <a:spLocks noChangeArrowheads="1"/>
          </p:cNvSpPr>
          <p:nvPr/>
        </p:nvSpPr>
        <p:spPr bwMode="auto">
          <a:xfrm>
            <a:off x="7239000" y="49371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2A</a:t>
            </a:r>
          </a:p>
        </p:txBody>
      </p:sp>
      <p:sp>
        <p:nvSpPr>
          <p:cNvPr id="56346" name="Text Box 129"/>
          <p:cNvSpPr txBox="1">
            <a:spLocks noChangeArrowheads="1"/>
          </p:cNvSpPr>
          <p:nvPr/>
        </p:nvSpPr>
        <p:spPr bwMode="auto">
          <a:xfrm>
            <a:off x="5105400" y="525780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2A</a:t>
            </a:r>
          </a:p>
        </p:txBody>
      </p:sp>
      <p:sp>
        <p:nvSpPr>
          <p:cNvPr id="56347" name="Text Box 130"/>
          <p:cNvSpPr txBox="1">
            <a:spLocks noChangeArrowheads="1"/>
          </p:cNvSpPr>
          <p:nvPr/>
        </p:nvSpPr>
        <p:spPr bwMode="auto">
          <a:xfrm>
            <a:off x="3200400" y="48609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2A</a:t>
            </a:r>
          </a:p>
        </p:txBody>
      </p:sp>
      <p:sp>
        <p:nvSpPr>
          <p:cNvPr id="56348" name="Text Box 131"/>
          <p:cNvSpPr txBox="1">
            <a:spLocks noChangeArrowheads="1"/>
          </p:cNvSpPr>
          <p:nvPr/>
        </p:nvSpPr>
        <p:spPr bwMode="auto">
          <a:xfrm>
            <a:off x="1143000" y="525780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2A</a:t>
            </a:r>
          </a:p>
        </p:txBody>
      </p:sp>
      <p:sp>
        <p:nvSpPr>
          <p:cNvPr id="56349" name="Text Box 132"/>
          <p:cNvSpPr txBox="1">
            <a:spLocks noChangeArrowheads="1"/>
          </p:cNvSpPr>
          <p:nvPr/>
        </p:nvSpPr>
        <p:spPr bwMode="auto">
          <a:xfrm>
            <a:off x="5638800" y="2193925"/>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2A</a:t>
            </a:r>
          </a:p>
        </p:txBody>
      </p:sp>
      <p:sp>
        <p:nvSpPr>
          <p:cNvPr id="56350" name="Text Box 137"/>
          <p:cNvSpPr txBox="1">
            <a:spLocks noChangeArrowheads="1"/>
          </p:cNvSpPr>
          <p:nvPr/>
        </p:nvSpPr>
        <p:spPr bwMode="auto">
          <a:xfrm>
            <a:off x="5029200" y="4343400"/>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5Ω</a:t>
            </a:r>
          </a:p>
        </p:txBody>
      </p:sp>
      <p:sp>
        <p:nvSpPr>
          <p:cNvPr id="56351" name="Text Box 138"/>
          <p:cNvSpPr txBox="1">
            <a:spLocks noChangeArrowheads="1"/>
          </p:cNvSpPr>
          <p:nvPr/>
        </p:nvSpPr>
        <p:spPr bwMode="auto">
          <a:xfrm>
            <a:off x="1676400" y="1965325"/>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000" b="1">
                <a:latin typeface="Times New Roman" panose="02020603050405020304" pitchFamily="18" charset="0"/>
                <a:ea typeface="华文中宋" panose="02010600040101010101" pitchFamily="2" charset="-122"/>
                <a:cs typeface="Times New Roman" panose="02020603050405020304" pitchFamily="18" charset="0"/>
              </a:rPr>
              <a:t>5Ω</a:t>
            </a:r>
          </a:p>
        </p:txBody>
      </p:sp>
      <p:sp>
        <p:nvSpPr>
          <p:cNvPr id="56352" name="Text Box 125"/>
          <p:cNvSpPr txBox="1">
            <a:spLocks noChangeArrowheads="1"/>
          </p:cNvSpPr>
          <p:nvPr/>
        </p:nvSpPr>
        <p:spPr bwMode="auto">
          <a:xfrm>
            <a:off x="2201863" y="114300"/>
            <a:ext cx="6907212"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400" b="1">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理想电压源与其他电路元件并联时</a:t>
            </a:r>
            <a:r>
              <a:rPr lang="en-US" altLang="zh-CN" sz="2400" b="1">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400" b="1">
              <a:solidFill>
                <a:srgbClr val="00B050"/>
              </a:solidFill>
              <a:latin typeface="Times New Roman" panose="02020603050405020304" pitchFamily="18" charset="0"/>
              <a:ea typeface="华文中宋" panose="02010600040101010101" pitchFamily="2" charset="-122"/>
              <a:cs typeface="Times New Roman" panose="02020603050405020304" pitchFamily="18" charset="0"/>
            </a:endParaRPr>
          </a:p>
          <a:p>
            <a:pPr algn="just" eaLnBrk="1" hangingPunct="1">
              <a:spcBef>
                <a:spcPct val="50000"/>
              </a:spcBef>
              <a:buFontTx/>
              <a:buNone/>
            </a:pPr>
            <a:r>
              <a:rPr lang="zh-CN" altLang="en-US" sz="2400" b="1">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理想电流源与其他电路元件串联时</a:t>
            </a:r>
            <a:r>
              <a:rPr lang="en-US" altLang="zh-CN" sz="2400" b="1">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400" b="1">
                <a:solidFill>
                  <a:srgbClr val="00B050"/>
                </a:solidFill>
                <a:latin typeface="Times New Roman" panose="02020603050405020304" pitchFamily="18" charset="0"/>
                <a:ea typeface="华文中宋" panose="02010600040101010101" pitchFamily="2" charset="-122"/>
                <a:cs typeface="Times New Roman" panose="02020603050405020304" pitchFamily="18" charset="0"/>
              </a:rPr>
              <a:t>，</a:t>
            </a:r>
            <a:endParaRPr lang="en-US" altLang="zh-CN" sz="2400" b="1">
              <a:solidFill>
                <a:srgbClr val="00B050"/>
              </a:solidFill>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5911FE0-E813-4249-930D-8326941419D5}" type="slidenum">
              <a:rPr lang="en-US" altLang="zh-CN" sz="1400" smtClean="0">
                <a:latin typeface="华文中宋" panose="02010600040101010101" pitchFamily="2" charset="-122"/>
                <a:ea typeface="华文中宋" panose="02010600040101010101" pitchFamily="2" charset="-122"/>
              </a:rPr>
              <a:pPr>
                <a:spcBef>
                  <a:spcPct val="0"/>
                </a:spcBef>
                <a:buFontTx/>
                <a:buNone/>
              </a:pPr>
              <a:t>51</a:t>
            </a:fld>
            <a:endParaRPr lang="en-US" altLang="zh-CN" sz="1400" smtClean="0">
              <a:latin typeface="华文中宋" panose="02010600040101010101" pitchFamily="2" charset="-122"/>
              <a:ea typeface="华文中宋" panose="02010600040101010101" pitchFamily="2" charset="-122"/>
            </a:endParaRPr>
          </a:p>
        </p:txBody>
      </p:sp>
      <p:sp>
        <p:nvSpPr>
          <p:cNvPr id="131074" name="Rectangle 2"/>
          <p:cNvSpPr>
            <a:spLocks noChangeArrowheads="1"/>
          </p:cNvSpPr>
          <p:nvPr/>
        </p:nvSpPr>
        <p:spPr bwMode="auto">
          <a:xfrm>
            <a:off x="152400" y="447675"/>
            <a:ext cx="1219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hangingPunct="1">
              <a:defRPr/>
            </a:pPr>
            <a:r>
              <a:rPr lang="en-US" altLang="zh-CN" sz="2800" b="1" smtClean="0">
                <a:solidFill>
                  <a:srgbClr val="CC0000"/>
                </a:solidFill>
                <a:effectLst>
                  <a:outerShdw blurRad="38100" dist="38100" dir="2700000" algn="tl">
                    <a:srgbClr val="C0C0C0"/>
                  </a:outerShdw>
                </a:effectLst>
                <a:latin typeface="华文中宋" panose="02010600040101010101" pitchFamily="2" charset="-122"/>
                <a:ea typeface="华文中宋" panose="02010600040101010101" pitchFamily="2" charset="-122"/>
              </a:rPr>
              <a:t>[</a:t>
            </a:r>
            <a:r>
              <a:rPr lang="zh-CN" altLang="en-US" sz="2800" b="1" smtClean="0">
                <a:solidFill>
                  <a:srgbClr val="CC0000"/>
                </a:solidFill>
                <a:effectLst>
                  <a:outerShdw blurRad="38100" dist="38100" dir="2700000" algn="tl">
                    <a:srgbClr val="C0C0C0"/>
                  </a:outerShdw>
                </a:effectLst>
                <a:latin typeface="华文中宋" panose="02010600040101010101" pitchFamily="2" charset="-122"/>
                <a:ea typeface="华文中宋" panose="02010600040101010101" pitchFamily="2" charset="-122"/>
              </a:rPr>
              <a:t>例</a:t>
            </a:r>
            <a:r>
              <a:rPr lang="en-US" altLang="zh-CN" sz="2800" b="1" smtClean="0">
                <a:solidFill>
                  <a:srgbClr val="CC0000"/>
                </a:solidFill>
                <a:effectLst>
                  <a:outerShdw blurRad="38100" dist="38100" dir="2700000" algn="tl">
                    <a:srgbClr val="C0C0C0"/>
                  </a:outerShdw>
                </a:effectLst>
                <a:latin typeface="华文中宋" panose="02010600040101010101" pitchFamily="2" charset="-122"/>
                <a:ea typeface="华文中宋" panose="02010600040101010101" pitchFamily="2" charset="-122"/>
              </a:rPr>
              <a:t>]</a:t>
            </a:r>
          </a:p>
        </p:txBody>
      </p:sp>
      <p:sp>
        <p:nvSpPr>
          <p:cNvPr id="131075" name="Text Box 3"/>
          <p:cNvSpPr txBox="1">
            <a:spLocks noChangeArrowheads="1"/>
          </p:cNvSpPr>
          <p:nvPr/>
        </p:nvSpPr>
        <p:spPr bwMode="auto">
          <a:xfrm>
            <a:off x="1143000" y="447675"/>
            <a:ext cx="43434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1" hangingPunct="1">
              <a:spcBef>
                <a:spcPct val="5000"/>
              </a:spcBef>
              <a:defRPr/>
            </a:pPr>
            <a:r>
              <a:rPr lang="zh-CN" altLang="en-US" sz="2600" b="1">
                <a:effectLst>
                  <a:outerShdw blurRad="38100" dist="38100" dir="2700000" algn="tl">
                    <a:srgbClr val="C0C0C0"/>
                  </a:outerShdw>
                </a:effectLst>
                <a:latin typeface="华文中宋" panose="02010600040101010101" pitchFamily="2" charset="-122"/>
                <a:ea typeface="华文中宋" panose="02010600040101010101" pitchFamily="2" charset="-122"/>
              </a:rPr>
              <a:t>求下列各电路的等效电路。</a:t>
            </a:r>
          </a:p>
        </p:txBody>
      </p:sp>
      <p:sp>
        <p:nvSpPr>
          <p:cNvPr id="62469" name="Text Box 4"/>
          <p:cNvSpPr txBox="1">
            <a:spLocks noChangeArrowheads="1"/>
          </p:cNvSpPr>
          <p:nvPr/>
        </p:nvSpPr>
        <p:spPr bwMode="auto">
          <a:xfrm>
            <a:off x="381000" y="3371850"/>
            <a:ext cx="660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CC0000"/>
                </a:solidFill>
                <a:latin typeface="华文中宋" panose="02010600040101010101" pitchFamily="2" charset="-122"/>
                <a:ea typeface="华文中宋" panose="02010600040101010101" pitchFamily="2" charset="-122"/>
              </a:rPr>
              <a:t>解</a:t>
            </a:r>
            <a:r>
              <a:rPr kumimoji="1" lang="en-US" altLang="zh-CN" sz="2800" b="1">
                <a:solidFill>
                  <a:srgbClr val="CC0000"/>
                </a:solidFill>
                <a:latin typeface="华文中宋" panose="02010600040101010101" pitchFamily="2" charset="-122"/>
                <a:ea typeface="华文中宋" panose="02010600040101010101" pitchFamily="2" charset="-122"/>
              </a:rPr>
              <a:t>:</a:t>
            </a:r>
          </a:p>
        </p:txBody>
      </p:sp>
      <p:grpSp>
        <p:nvGrpSpPr>
          <p:cNvPr id="131077" name="Group 5"/>
          <p:cNvGrpSpPr>
            <a:grpSpLocks/>
          </p:cNvGrpSpPr>
          <p:nvPr/>
        </p:nvGrpSpPr>
        <p:grpSpPr bwMode="auto">
          <a:xfrm>
            <a:off x="652463" y="3700781"/>
            <a:ext cx="2335056" cy="2320449"/>
            <a:chOff x="310" y="2236"/>
            <a:chExt cx="1634" cy="1624"/>
          </a:xfrm>
        </p:grpSpPr>
        <p:sp>
          <p:nvSpPr>
            <p:cNvPr id="62591" name="Oval 6"/>
            <p:cNvSpPr>
              <a:spLocks noChangeArrowheads="1"/>
            </p:cNvSpPr>
            <p:nvPr/>
          </p:nvSpPr>
          <p:spPr bwMode="auto">
            <a:xfrm flipV="1">
              <a:off x="310" y="3102"/>
              <a:ext cx="266" cy="251"/>
            </a:xfrm>
            <a:prstGeom prst="ellipse">
              <a:avLst/>
            </a:prstGeom>
            <a:noFill/>
            <a:ln w="381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92" name="Line 7"/>
            <p:cNvSpPr>
              <a:spLocks noChangeShapeType="1"/>
            </p:cNvSpPr>
            <p:nvPr/>
          </p:nvSpPr>
          <p:spPr bwMode="auto">
            <a:xfrm flipV="1">
              <a:off x="443" y="2913"/>
              <a:ext cx="0" cy="628"/>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93" name="Rectangle 8"/>
            <p:cNvSpPr>
              <a:spLocks noChangeArrowheads="1"/>
            </p:cNvSpPr>
            <p:nvPr/>
          </p:nvSpPr>
          <p:spPr bwMode="auto">
            <a:xfrm flipV="1">
              <a:off x="376" y="2662"/>
              <a:ext cx="133" cy="251"/>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en-US" altLang="zh-CN" sz="2800" b="1">
                <a:latin typeface="华文中宋" panose="02010600040101010101" pitchFamily="2" charset="-122"/>
                <a:ea typeface="华文中宋" panose="02010600040101010101" pitchFamily="2" charset="-122"/>
              </a:endParaRPr>
            </a:p>
          </p:txBody>
        </p:sp>
        <p:sp>
          <p:nvSpPr>
            <p:cNvPr id="62594" name="Line 9"/>
            <p:cNvSpPr>
              <a:spLocks noChangeShapeType="1"/>
            </p:cNvSpPr>
            <p:nvPr/>
          </p:nvSpPr>
          <p:spPr bwMode="auto">
            <a:xfrm flipV="1">
              <a:off x="443" y="2427"/>
              <a:ext cx="0" cy="23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95" name="Text Box 10"/>
            <p:cNvSpPr txBox="1">
              <a:spLocks noChangeArrowheads="1"/>
            </p:cNvSpPr>
            <p:nvPr/>
          </p:nvSpPr>
          <p:spPr bwMode="auto">
            <a:xfrm>
              <a:off x="509" y="2798"/>
              <a:ext cx="266" cy="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t>
              </a:r>
              <a:endParaRPr kumimoji="1" lang="en-US" altLang="zh-CN" sz="2800">
                <a:latin typeface="华文中宋" panose="02010600040101010101" pitchFamily="2" charset="-122"/>
                <a:ea typeface="华文中宋" panose="02010600040101010101" pitchFamily="2" charset="-122"/>
              </a:endParaRPr>
            </a:p>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t>
              </a:r>
            </a:p>
          </p:txBody>
        </p:sp>
        <p:sp>
          <p:nvSpPr>
            <p:cNvPr id="62596" name="Line 11"/>
            <p:cNvSpPr>
              <a:spLocks noChangeShapeType="1"/>
            </p:cNvSpPr>
            <p:nvPr/>
          </p:nvSpPr>
          <p:spPr bwMode="auto">
            <a:xfrm>
              <a:off x="443" y="2427"/>
              <a:ext cx="113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97" name="Oval 12"/>
            <p:cNvSpPr>
              <a:spLocks noChangeArrowheads="1"/>
            </p:cNvSpPr>
            <p:nvPr/>
          </p:nvSpPr>
          <p:spPr bwMode="auto">
            <a:xfrm>
              <a:off x="1573" y="2396"/>
              <a:ext cx="81" cy="7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98" name="Text Box 13"/>
            <p:cNvSpPr txBox="1">
              <a:spLocks noChangeArrowheads="1"/>
            </p:cNvSpPr>
            <p:nvPr/>
          </p:nvSpPr>
          <p:spPr bwMode="auto">
            <a:xfrm>
              <a:off x="1669" y="2236"/>
              <a:ext cx="275"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a:t>
              </a:r>
            </a:p>
          </p:txBody>
        </p:sp>
        <p:sp>
          <p:nvSpPr>
            <p:cNvPr id="62599" name="Line 14"/>
            <p:cNvSpPr>
              <a:spLocks noChangeShapeType="1"/>
            </p:cNvSpPr>
            <p:nvPr/>
          </p:nvSpPr>
          <p:spPr bwMode="auto">
            <a:xfrm>
              <a:off x="443" y="3525"/>
              <a:ext cx="113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600" name="Oval 15"/>
            <p:cNvSpPr>
              <a:spLocks noChangeArrowheads="1"/>
            </p:cNvSpPr>
            <p:nvPr/>
          </p:nvSpPr>
          <p:spPr bwMode="auto">
            <a:xfrm>
              <a:off x="1556" y="3494"/>
              <a:ext cx="82" cy="77"/>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601" name="Text Box 16"/>
            <p:cNvSpPr txBox="1">
              <a:spLocks noChangeArrowheads="1"/>
            </p:cNvSpPr>
            <p:nvPr/>
          </p:nvSpPr>
          <p:spPr bwMode="auto">
            <a:xfrm>
              <a:off x="1645" y="3335"/>
              <a:ext cx="285"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b</a:t>
              </a:r>
            </a:p>
          </p:txBody>
        </p:sp>
        <p:sp>
          <p:nvSpPr>
            <p:cNvPr id="62602" name="Text Box 17"/>
            <p:cNvSpPr txBox="1">
              <a:spLocks noChangeArrowheads="1"/>
            </p:cNvSpPr>
            <p:nvPr/>
          </p:nvSpPr>
          <p:spPr bwMode="auto">
            <a:xfrm>
              <a:off x="1416" y="2770"/>
              <a:ext cx="326"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i="1">
                  <a:latin typeface="华文中宋" panose="02010600040101010101" pitchFamily="2" charset="-122"/>
                  <a:ea typeface="华文中宋" panose="02010600040101010101" pitchFamily="2" charset="-122"/>
                </a:rPr>
                <a:t>U</a:t>
              </a:r>
            </a:p>
          </p:txBody>
        </p:sp>
        <p:sp>
          <p:nvSpPr>
            <p:cNvPr id="62603" name="Text Box 18"/>
            <p:cNvSpPr txBox="1">
              <a:spLocks noChangeArrowheads="1"/>
            </p:cNvSpPr>
            <p:nvPr/>
          </p:nvSpPr>
          <p:spPr bwMode="auto">
            <a:xfrm>
              <a:off x="446" y="2614"/>
              <a:ext cx="478"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2</a:t>
              </a:r>
              <a:r>
                <a:rPr kumimoji="1" lang="en-US" altLang="zh-CN" sz="2800" b="1">
                  <a:latin typeface="华文中宋" panose="02010600040101010101" pitchFamily="2" charset="-122"/>
                  <a:ea typeface="华文中宋" panose="02010600040101010101" pitchFamily="2" charset="-122"/>
                  <a:sym typeface="Symbol" panose="05050102010706020507" pitchFamily="18" charset="2"/>
                </a:rPr>
                <a:t></a:t>
              </a:r>
              <a:endParaRPr kumimoji="1" lang="zh-CN" altLang="zh-CN" sz="2800" b="1">
                <a:latin typeface="华文中宋" panose="02010600040101010101" pitchFamily="2" charset="-122"/>
                <a:ea typeface="华文中宋" panose="02010600040101010101" pitchFamily="2" charset="-122"/>
              </a:endParaRPr>
            </a:p>
          </p:txBody>
        </p:sp>
        <p:sp>
          <p:nvSpPr>
            <p:cNvPr id="62604" name="Text Box 19"/>
            <p:cNvSpPr txBox="1">
              <a:spLocks noChangeArrowheads="1"/>
            </p:cNvSpPr>
            <p:nvPr/>
          </p:nvSpPr>
          <p:spPr bwMode="auto">
            <a:xfrm>
              <a:off x="535" y="3062"/>
              <a:ext cx="461"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5V</a:t>
              </a:r>
            </a:p>
          </p:txBody>
        </p:sp>
        <p:sp>
          <p:nvSpPr>
            <p:cNvPr id="62605" name="Text Box 20"/>
            <p:cNvSpPr txBox="1">
              <a:spLocks noChangeArrowheads="1"/>
            </p:cNvSpPr>
            <p:nvPr/>
          </p:nvSpPr>
          <p:spPr bwMode="auto">
            <a:xfrm>
              <a:off x="811" y="3494"/>
              <a:ext cx="425"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a:t>
              </a:r>
            </a:p>
          </p:txBody>
        </p:sp>
        <p:sp>
          <p:nvSpPr>
            <p:cNvPr id="62606" name="Text Box 21"/>
            <p:cNvSpPr txBox="1">
              <a:spLocks noChangeArrowheads="1"/>
            </p:cNvSpPr>
            <p:nvPr/>
          </p:nvSpPr>
          <p:spPr bwMode="auto">
            <a:xfrm>
              <a:off x="1481" y="2406"/>
              <a:ext cx="318"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t>
              </a:r>
            </a:p>
          </p:txBody>
        </p:sp>
        <p:sp>
          <p:nvSpPr>
            <p:cNvPr id="62607" name="Text Box 22"/>
            <p:cNvSpPr txBox="1">
              <a:spLocks noChangeArrowheads="1"/>
            </p:cNvSpPr>
            <p:nvPr/>
          </p:nvSpPr>
          <p:spPr bwMode="auto">
            <a:xfrm>
              <a:off x="1481" y="3222"/>
              <a:ext cx="318"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sym typeface="Symbol" panose="05050102010706020507" pitchFamily="18" charset="2"/>
                </a:rPr>
                <a:t></a:t>
              </a:r>
            </a:p>
          </p:txBody>
        </p:sp>
      </p:grpSp>
      <p:grpSp>
        <p:nvGrpSpPr>
          <p:cNvPr id="131095" name="Group 23"/>
          <p:cNvGrpSpPr>
            <a:grpSpLocks/>
          </p:cNvGrpSpPr>
          <p:nvPr/>
        </p:nvGrpSpPr>
        <p:grpSpPr bwMode="auto">
          <a:xfrm>
            <a:off x="6434137" y="3656173"/>
            <a:ext cx="2139722" cy="2441256"/>
            <a:chOff x="4053" y="2093"/>
            <a:chExt cx="1544" cy="1710"/>
          </a:xfrm>
        </p:grpSpPr>
        <p:sp>
          <p:nvSpPr>
            <p:cNvPr id="62577" name="Oval 24"/>
            <p:cNvSpPr>
              <a:spLocks noChangeArrowheads="1"/>
            </p:cNvSpPr>
            <p:nvPr/>
          </p:nvSpPr>
          <p:spPr bwMode="auto">
            <a:xfrm>
              <a:off x="4053" y="2750"/>
              <a:ext cx="251" cy="266"/>
            </a:xfrm>
            <a:prstGeom prst="ellipse">
              <a:avLst/>
            </a:prstGeom>
            <a:noFill/>
            <a:ln w="381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78" name="Line 25"/>
            <p:cNvSpPr>
              <a:spLocks noChangeShapeType="1"/>
            </p:cNvSpPr>
            <p:nvPr/>
          </p:nvSpPr>
          <p:spPr bwMode="auto">
            <a:xfrm>
              <a:off x="4178" y="2284"/>
              <a:ext cx="0" cy="1197"/>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79" name="Text Box 26"/>
            <p:cNvSpPr txBox="1">
              <a:spLocks noChangeArrowheads="1"/>
            </p:cNvSpPr>
            <p:nvPr/>
          </p:nvSpPr>
          <p:spPr bwMode="auto">
            <a:xfrm>
              <a:off x="4165" y="2455"/>
              <a:ext cx="251" cy="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t>
              </a:r>
            </a:p>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t>
              </a:r>
            </a:p>
          </p:txBody>
        </p:sp>
        <p:sp>
          <p:nvSpPr>
            <p:cNvPr id="62580" name="Line 27"/>
            <p:cNvSpPr>
              <a:spLocks noChangeShapeType="1"/>
            </p:cNvSpPr>
            <p:nvPr/>
          </p:nvSpPr>
          <p:spPr bwMode="auto">
            <a:xfrm>
              <a:off x="4178" y="2284"/>
              <a:ext cx="106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81" name="Oval 28"/>
            <p:cNvSpPr>
              <a:spLocks noChangeArrowheads="1"/>
            </p:cNvSpPr>
            <p:nvPr/>
          </p:nvSpPr>
          <p:spPr bwMode="auto">
            <a:xfrm>
              <a:off x="5228" y="2251"/>
              <a:ext cx="77" cy="81"/>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82" name="Text Box 29"/>
            <p:cNvSpPr txBox="1">
              <a:spLocks noChangeArrowheads="1"/>
            </p:cNvSpPr>
            <p:nvPr/>
          </p:nvSpPr>
          <p:spPr bwMode="auto">
            <a:xfrm>
              <a:off x="5304" y="2093"/>
              <a:ext cx="284"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a:t>
              </a:r>
            </a:p>
          </p:txBody>
        </p:sp>
        <p:sp>
          <p:nvSpPr>
            <p:cNvPr id="62583" name="Line 30"/>
            <p:cNvSpPr>
              <a:spLocks noChangeShapeType="1"/>
            </p:cNvSpPr>
            <p:nvPr/>
          </p:nvSpPr>
          <p:spPr bwMode="auto">
            <a:xfrm>
              <a:off x="4178" y="3464"/>
              <a:ext cx="104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84" name="Oval 31"/>
            <p:cNvSpPr>
              <a:spLocks noChangeArrowheads="1"/>
            </p:cNvSpPr>
            <p:nvPr/>
          </p:nvSpPr>
          <p:spPr bwMode="auto">
            <a:xfrm>
              <a:off x="5228" y="3431"/>
              <a:ext cx="76" cy="82"/>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85" name="Text Box 32"/>
            <p:cNvSpPr txBox="1">
              <a:spLocks noChangeArrowheads="1"/>
            </p:cNvSpPr>
            <p:nvPr/>
          </p:nvSpPr>
          <p:spPr bwMode="auto">
            <a:xfrm>
              <a:off x="5303" y="3271"/>
              <a:ext cx="294"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b</a:t>
              </a:r>
            </a:p>
          </p:txBody>
        </p:sp>
        <p:sp>
          <p:nvSpPr>
            <p:cNvPr id="62586" name="Text Box 33"/>
            <p:cNvSpPr txBox="1">
              <a:spLocks noChangeArrowheads="1"/>
            </p:cNvSpPr>
            <p:nvPr/>
          </p:nvSpPr>
          <p:spPr bwMode="auto">
            <a:xfrm>
              <a:off x="5107" y="2678"/>
              <a:ext cx="336"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i="1">
                  <a:latin typeface="华文中宋" panose="02010600040101010101" pitchFamily="2" charset="-122"/>
                  <a:ea typeface="华文中宋" panose="02010600040101010101" pitchFamily="2" charset="-122"/>
                </a:rPr>
                <a:t>U</a:t>
              </a:r>
            </a:p>
          </p:txBody>
        </p:sp>
        <p:sp>
          <p:nvSpPr>
            <p:cNvPr id="62587" name="Text Box 34"/>
            <p:cNvSpPr txBox="1">
              <a:spLocks noChangeArrowheads="1"/>
            </p:cNvSpPr>
            <p:nvPr/>
          </p:nvSpPr>
          <p:spPr bwMode="auto">
            <a:xfrm>
              <a:off x="4230" y="2708"/>
              <a:ext cx="476"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5V</a:t>
              </a:r>
            </a:p>
          </p:txBody>
        </p:sp>
        <p:sp>
          <p:nvSpPr>
            <p:cNvPr id="62588" name="Text Box 35"/>
            <p:cNvSpPr txBox="1">
              <a:spLocks noChangeArrowheads="1"/>
            </p:cNvSpPr>
            <p:nvPr/>
          </p:nvSpPr>
          <p:spPr bwMode="auto">
            <a:xfrm>
              <a:off x="4609" y="3437"/>
              <a:ext cx="424"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(c)</a:t>
              </a:r>
            </a:p>
          </p:txBody>
        </p:sp>
        <p:sp>
          <p:nvSpPr>
            <p:cNvPr id="62589" name="Text Box 36"/>
            <p:cNvSpPr txBox="1">
              <a:spLocks noChangeArrowheads="1"/>
            </p:cNvSpPr>
            <p:nvPr/>
          </p:nvSpPr>
          <p:spPr bwMode="auto">
            <a:xfrm>
              <a:off x="5148" y="2262"/>
              <a:ext cx="318"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t>
              </a:r>
            </a:p>
          </p:txBody>
        </p:sp>
        <p:sp>
          <p:nvSpPr>
            <p:cNvPr id="62590" name="Text Box 37"/>
            <p:cNvSpPr txBox="1">
              <a:spLocks noChangeArrowheads="1"/>
            </p:cNvSpPr>
            <p:nvPr/>
          </p:nvSpPr>
          <p:spPr bwMode="auto">
            <a:xfrm>
              <a:off x="5147" y="3169"/>
              <a:ext cx="318"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sym typeface="Symbol" panose="05050102010706020507" pitchFamily="18" charset="2"/>
                </a:rPr>
                <a:t></a:t>
              </a:r>
            </a:p>
          </p:txBody>
        </p:sp>
      </p:grpSp>
      <p:grpSp>
        <p:nvGrpSpPr>
          <p:cNvPr id="62472" name="Group 38"/>
          <p:cNvGrpSpPr>
            <a:grpSpLocks/>
          </p:cNvGrpSpPr>
          <p:nvPr/>
        </p:nvGrpSpPr>
        <p:grpSpPr bwMode="auto">
          <a:xfrm>
            <a:off x="442913" y="977900"/>
            <a:ext cx="8408989" cy="2451100"/>
            <a:chOff x="279" y="616"/>
            <a:chExt cx="5297" cy="1544"/>
          </a:xfrm>
        </p:grpSpPr>
        <p:grpSp>
          <p:nvGrpSpPr>
            <p:cNvPr id="62501" name="Group 39"/>
            <p:cNvGrpSpPr>
              <a:grpSpLocks/>
            </p:cNvGrpSpPr>
            <p:nvPr/>
          </p:nvGrpSpPr>
          <p:grpSpPr bwMode="auto">
            <a:xfrm>
              <a:off x="3911" y="616"/>
              <a:ext cx="1665" cy="1507"/>
              <a:chOff x="3863" y="616"/>
              <a:chExt cx="1665" cy="1507"/>
            </a:xfrm>
          </p:grpSpPr>
          <p:grpSp>
            <p:nvGrpSpPr>
              <p:cNvPr id="62554" name="Group 40"/>
              <p:cNvGrpSpPr>
                <a:grpSpLocks/>
              </p:cNvGrpSpPr>
              <p:nvPr/>
            </p:nvGrpSpPr>
            <p:grpSpPr bwMode="auto">
              <a:xfrm>
                <a:off x="4310" y="616"/>
                <a:ext cx="1213" cy="329"/>
                <a:chOff x="600" y="717"/>
                <a:chExt cx="1097" cy="284"/>
              </a:xfrm>
            </p:grpSpPr>
            <p:sp>
              <p:nvSpPr>
                <p:cNvPr id="62574" name="Line 41"/>
                <p:cNvSpPr>
                  <a:spLocks noChangeShapeType="1"/>
                </p:cNvSpPr>
                <p:nvPr/>
              </p:nvSpPr>
              <p:spPr bwMode="auto">
                <a:xfrm>
                  <a:off x="600" y="864"/>
                  <a:ext cx="8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75" name="Oval 42"/>
                <p:cNvSpPr>
                  <a:spLocks noChangeArrowheads="1"/>
                </p:cNvSpPr>
                <p:nvPr/>
              </p:nvSpPr>
              <p:spPr bwMode="auto">
                <a:xfrm>
                  <a:off x="1416" y="840"/>
                  <a:ext cx="59" cy="59"/>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76" name="Text Box 43"/>
                <p:cNvSpPr txBox="1">
                  <a:spLocks noChangeArrowheads="1"/>
                </p:cNvSpPr>
                <p:nvPr/>
              </p:nvSpPr>
              <p:spPr bwMode="auto">
                <a:xfrm>
                  <a:off x="1473" y="717"/>
                  <a:ext cx="224"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a:t>
                  </a:r>
                </a:p>
              </p:txBody>
            </p:sp>
          </p:grpSp>
          <p:sp>
            <p:nvSpPr>
              <p:cNvPr id="62555" name="Oval 44"/>
              <p:cNvSpPr>
                <a:spLocks noChangeArrowheads="1"/>
              </p:cNvSpPr>
              <p:nvPr/>
            </p:nvSpPr>
            <p:spPr bwMode="auto">
              <a:xfrm>
                <a:off x="4762" y="1176"/>
                <a:ext cx="240" cy="223"/>
              </a:xfrm>
              <a:prstGeom prst="ellipse">
                <a:avLst/>
              </a:prstGeom>
              <a:noFill/>
              <a:ln w="381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56" name="Line 45"/>
              <p:cNvSpPr>
                <a:spLocks noChangeShapeType="1"/>
              </p:cNvSpPr>
              <p:nvPr/>
            </p:nvSpPr>
            <p:spPr bwMode="auto">
              <a:xfrm>
                <a:off x="4882" y="787"/>
                <a:ext cx="0" cy="1001"/>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57" name="Text Box 46"/>
              <p:cNvSpPr txBox="1">
                <a:spLocks noChangeArrowheads="1"/>
              </p:cNvSpPr>
              <p:nvPr/>
            </p:nvSpPr>
            <p:spPr bwMode="auto">
              <a:xfrm>
                <a:off x="4655" y="1017"/>
                <a:ext cx="240" cy="5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65000"/>
                  </a:lnSpc>
                  <a:spcBef>
                    <a:spcPct val="50000"/>
                  </a:spcBef>
                  <a:buFontTx/>
                  <a:buNone/>
                </a:pPr>
                <a:r>
                  <a:rPr kumimoji="1" lang="en-US" altLang="zh-CN" sz="2800" b="1">
                    <a:latin typeface="华文中宋" panose="02010600040101010101" pitchFamily="2" charset="-122"/>
                    <a:ea typeface="华文中宋" panose="02010600040101010101" pitchFamily="2" charset="-122"/>
                  </a:rPr>
                  <a:t>+</a:t>
                </a:r>
                <a:endParaRPr kumimoji="1" lang="en-US" altLang="zh-CN" sz="2800">
                  <a:latin typeface="华文中宋" panose="02010600040101010101" pitchFamily="2" charset="-122"/>
                  <a:ea typeface="华文中宋" panose="02010600040101010101" pitchFamily="2" charset="-122"/>
                </a:endParaRPr>
              </a:p>
              <a:p>
                <a:pPr algn="ctr" eaLnBrk="1" hangingPunct="1">
                  <a:lnSpc>
                    <a:spcPct val="65000"/>
                  </a:lnSpc>
                  <a:spcBef>
                    <a:spcPct val="50000"/>
                  </a:spcBef>
                  <a:buFontTx/>
                  <a:buNone/>
                </a:pPr>
                <a:r>
                  <a:rPr kumimoji="1" lang="en-US" altLang="zh-CN" sz="2800" b="1">
                    <a:latin typeface="华文中宋" panose="02010600040101010101" pitchFamily="2" charset="-122"/>
                    <a:ea typeface="华文中宋" panose="02010600040101010101" pitchFamily="2" charset="-122"/>
                  </a:rPr>
                  <a:t>-</a:t>
                </a:r>
              </a:p>
            </p:txBody>
          </p:sp>
          <p:sp>
            <p:nvSpPr>
              <p:cNvPr id="62558" name="Text Box 47"/>
              <p:cNvSpPr txBox="1">
                <a:spLocks noChangeArrowheads="1"/>
              </p:cNvSpPr>
              <p:nvPr/>
            </p:nvSpPr>
            <p:spPr bwMode="auto">
              <a:xfrm>
                <a:off x="3863" y="1381"/>
                <a:ext cx="41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2V</a:t>
                </a:r>
              </a:p>
            </p:txBody>
          </p:sp>
          <p:sp>
            <p:nvSpPr>
              <p:cNvPr id="62559" name="Text Box 48"/>
              <p:cNvSpPr txBox="1">
                <a:spLocks noChangeArrowheads="1"/>
              </p:cNvSpPr>
              <p:nvPr/>
            </p:nvSpPr>
            <p:spPr bwMode="auto">
              <a:xfrm>
                <a:off x="4419" y="1121"/>
                <a:ext cx="41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5V</a:t>
                </a:r>
              </a:p>
            </p:txBody>
          </p:sp>
          <p:sp>
            <p:nvSpPr>
              <p:cNvPr id="62560" name="Text Box 49"/>
              <p:cNvSpPr txBox="1">
                <a:spLocks noChangeArrowheads="1"/>
              </p:cNvSpPr>
              <p:nvPr/>
            </p:nvSpPr>
            <p:spPr bwMode="auto">
              <a:xfrm>
                <a:off x="5128" y="1160"/>
                <a:ext cx="29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i="1">
                    <a:latin typeface="华文中宋" panose="02010600040101010101" pitchFamily="2" charset="-122"/>
                    <a:ea typeface="华文中宋" panose="02010600040101010101" pitchFamily="2" charset="-122"/>
                  </a:rPr>
                  <a:t>U</a:t>
                </a:r>
                <a:endParaRPr kumimoji="1" lang="en-US" altLang="zh-CN" sz="2800" b="1">
                  <a:latin typeface="华文中宋" panose="02010600040101010101" pitchFamily="2" charset="-122"/>
                  <a:ea typeface="华文中宋" panose="02010600040101010101" pitchFamily="2" charset="-122"/>
                </a:endParaRPr>
              </a:p>
            </p:txBody>
          </p:sp>
          <p:sp>
            <p:nvSpPr>
              <p:cNvPr id="62561" name="Line 50"/>
              <p:cNvSpPr>
                <a:spLocks noChangeShapeType="1"/>
              </p:cNvSpPr>
              <p:nvPr/>
            </p:nvSpPr>
            <p:spPr bwMode="auto">
              <a:xfrm flipV="1">
                <a:off x="4164" y="1413"/>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62" name="Oval 51"/>
              <p:cNvSpPr>
                <a:spLocks noChangeArrowheads="1"/>
              </p:cNvSpPr>
              <p:nvPr/>
            </p:nvSpPr>
            <p:spPr bwMode="auto">
              <a:xfrm flipV="1">
                <a:off x="4201" y="1413"/>
                <a:ext cx="228" cy="219"/>
              </a:xfrm>
              <a:prstGeom prst="ellipse">
                <a:avLst/>
              </a:prstGeom>
              <a:noFill/>
              <a:ln w="381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63" name="Line 52"/>
              <p:cNvSpPr>
                <a:spLocks noChangeShapeType="1"/>
              </p:cNvSpPr>
              <p:nvPr/>
            </p:nvSpPr>
            <p:spPr bwMode="auto">
              <a:xfrm flipV="1">
                <a:off x="4323" y="1246"/>
                <a:ext cx="0" cy="556"/>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64" name="Rectangle 53"/>
              <p:cNvSpPr>
                <a:spLocks noChangeArrowheads="1"/>
              </p:cNvSpPr>
              <p:nvPr/>
            </p:nvSpPr>
            <p:spPr bwMode="auto">
              <a:xfrm flipV="1">
                <a:off x="4270" y="1024"/>
                <a:ext cx="106" cy="22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en-US" altLang="zh-CN" sz="2800" b="1">
                  <a:latin typeface="华文中宋" panose="02010600040101010101" pitchFamily="2" charset="-122"/>
                  <a:ea typeface="华文中宋" panose="02010600040101010101" pitchFamily="2" charset="-122"/>
                </a:endParaRPr>
              </a:p>
            </p:txBody>
          </p:sp>
          <p:sp>
            <p:nvSpPr>
              <p:cNvPr id="62565" name="Line 54"/>
              <p:cNvSpPr>
                <a:spLocks noChangeShapeType="1"/>
              </p:cNvSpPr>
              <p:nvPr/>
            </p:nvSpPr>
            <p:spPr bwMode="auto">
              <a:xfrm flipV="1">
                <a:off x="4323" y="801"/>
                <a:ext cx="0" cy="22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66" name="Text Box 55"/>
              <p:cNvSpPr txBox="1">
                <a:spLocks noChangeArrowheads="1"/>
              </p:cNvSpPr>
              <p:nvPr/>
            </p:nvSpPr>
            <p:spPr bwMode="auto">
              <a:xfrm>
                <a:off x="4127" y="1161"/>
                <a:ext cx="213" cy="6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t>
                </a:r>
                <a:endParaRPr kumimoji="1" lang="en-US" altLang="zh-CN" sz="2800">
                  <a:latin typeface="华文中宋" panose="02010600040101010101" pitchFamily="2" charset="-122"/>
                  <a:ea typeface="华文中宋" panose="02010600040101010101" pitchFamily="2" charset="-122"/>
                </a:endParaRPr>
              </a:p>
              <a:p>
                <a:pPr algn="ctr" eaLnBrk="1" hangingPunct="1">
                  <a:lnSpc>
                    <a:spcPct val="75000"/>
                  </a:lnSpc>
                  <a:spcBef>
                    <a:spcPct val="50000"/>
                  </a:spcBef>
                  <a:buFontTx/>
                  <a:buNone/>
                </a:pPr>
                <a:r>
                  <a:rPr kumimoji="1" lang="en-US" altLang="zh-CN" sz="2800" b="1">
                    <a:latin typeface="华文中宋" panose="02010600040101010101" pitchFamily="2" charset="-122"/>
                    <a:ea typeface="华文中宋" panose="02010600040101010101" pitchFamily="2" charset="-122"/>
                  </a:rPr>
                  <a:t>-</a:t>
                </a:r>
              </a:p>
            </p:txBody>
          </p:sp>
          <p:sp>
            <p:nvSpPr>
              <p:cNvPr id="62567" name="Line 56"/>
              <p:cNvSpPr>
                <a:spLocks noChangeShapeType="1"/>
              </p:cNvSpPr>
              <p:nvPr/>
            </p:nvSpPr>
            <p:spPr bwMode="auto">
              <a:xfrm>
                <a:off x="4310" y="1802"/>
                <a:ext cx="88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68" name="Oval 57"/>
              <p:cNvSpPr>
                <a:spLocks noChangeArrowheads="1"/>
              </p:cNvSpPr>
              <p:nvPr/>
            </p:nvSpPr>
            <p:spPr bwMode="auto">
              <a:xfrm>
                <a:off x="5213" y="1774"/>
                <a:ext cx="65" cy="69"/>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69" name="Text Box 58"/>
              <p:cNvSpPr txBox="1">
                <a:spLocks noChangeArrowheads="1"/>
              </p:cNvSpPr>
              <p:nvPr/>
            </p:nvSpPr>
            <p:spPr bwMode="auto">
              <a:xfrm>
                <a:off x="5271" y="1632"/>
                <a:ext cx="25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b</a:t>
                </a:r>
              </a:p>
            </p:txBody>
          </p:sp>
          <p:sp>
            <p:nvSpPr>
              <p:cNvPr id="62570" name="Text Box 59"/>
              <p:cNvSpPr txBox="1">
                <a:spLocks noChangeArrowheads="1"/>
              </p:cNvSpPr>
              <p:nvPr/>
            </p:nvSpPr>
            <p:spPr bwMode="auto">
              <a:xfrm>
                <a:off x="3872" y="944"/>
                <a:ext cx="43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2</a:t>
                </a:r>
                <a:r>
                  <a:rPr kumimoji="1" lang="en-US" altLang="zh-CN" sz="2800" b="1">
                    <a:latin typeface="华文中宋" panose="02010600040101010101" pitchFamily="2" charset="-122"/>
                    <a:ea typeface="华文中宋" panose="02010600040101010101" pitchFamily="2" charset="-122"/>
                    <a:sym typeface="Symbol" panose="05050102010706020507" pitchFamily="18" charset="2"/>
                  </a:rPr>
                  <a:t></a:t>
                </a:r>
                <a:endParaRPr kumimoji="1" lang="zh-CN" altLang="zh-CN" sz="2800" b="1">
                  <a:latin typeface="华文中宋" panose="02010600040101010101" pitchFamily="2" charset="-122"/>
                  <a:ea typeface="华文中宋" panose="02010600040101010101" pitchFamily="2" charset="-122"/>
                </a:endParaRPr>
              </a:p>
            </p:txBody>
          </p:sp>
          <p:sp>
            <p:nvSpPr>
              <p:cNvPr id="62571" name="Text Box 60"/>
              <p:cNvSpPr txBox="1">
                <a:spLocks noChangeArrowheads="1"/>
              </p:cNvSpPr>
              <p:nvPr/>
            </p:nvSpPr>
            <p:spPr bwMode="auto">
              <a:xfrm>
                <a:off x="4672" y="1793"/>
                <a:ext cx="37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(c)</a:t>
                </a:r>
              </a:p>
            </p:txBody>
          </p:sp>
          <p:sp>
            <p:nvSpPr>
              <p:cNvPr id="62572" name="Text Box 61"/>
              <p:cNvSpPr txBox="1">
                <a:spLocks noChangeArrowheads="1"/>
              </p:cNvSpPr>
              <p:nvPr/>
            </p:nvSpPr>
            <p:spPr bwMode="auto">
              <a:xfrm>
                <a:off x="5147" y="754"/>
                <a:ext cx="31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t>
                </a:r>
              </a:p>
            </p:txBody>
          </p:sp>
          <p:sp>
            <p:nvSpPr>
              <p:cNvPr id="62573" name="Text Box 62"/>
              <p:cNvSpPr txBox="1">
                <a:spLocks noChangeArrowheads="1"/>
              </p:cNvSpPr>
              <p:nvPr/>
            </p:nvSpPr>
            <p:spPr bwMode="auto">
              <a:xfrm>
                <a:off x="5103" y="1488"/>
                <a:ext cx="31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sym typeface="Symbol" panose="05050102010706020507" pitchFamily="18" charset="2"/>
                  </a:rPr>
                  <a:t></a:t>
                </a:r>
              </a:p>
            </p:txBody>
          </p:sp>
        </p:grpSp>
        <p:sp>
          <p:nvSpPr>
            <p:cNvPr id="62502" name="Text Box 63"/>
            <p:cNvSpPr txBox="1">
              <a:spLocks noChangeArrowheads="1"/>
            </p:cNvSpPr>
            <p:nvPr/>
          </p:nvSpPr>
          <p:spPr bwMode="auto">
            <a:xfrm>
              <a:off x="2824" y="1833"/>
              <a:ext cx="39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(b)</a:t>
              </a:r>
            </a:p>
          </p:txBody>
        </p:sp>
        <p:sp>
          <p:nvSpPr>
            <p:cNvPr id="62503" name="Text Box 64"/>
            <p:cNvSpPr txBox="1">
              <a:spLocks noChangeArrowheads="1"/>
            </p:cNvSpPr>
            <p:nvPr/>
          </p:nvSpPr>
          <p:spPr bwMode="auto">
            <a:xfrm>
              <a:off x="3505" y="632"/>
              <a:ext cx="248"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a:t>
              </a:r>
            </a:p>
          </p:txBody>
        </p:sp>
        <p:grpSp>
          <p:nvGrpSpPr>
            <p:cNvPr id="62504" name="Group 65"/>
            <p:cNvGrpSpPr>
              <a:grpSpLocks/>
            </p:cNvGrpSpPr>
            <p:nvPr/>
          </p:nvGrpSpPr>
          <p:grpSpPr bwMode="auto">
            <a:xfrm rot="10800000">
              <a:off x="2242" y="1449"/>
              <a:ext cx="259" cy="235"/>
              <a:chOff x="576" y="1152"/>
              <a:chExt cx="192" cy="192"/>
            </a:xfrm>
          </p:grpSpPr>
          <p:sp>
            <p:nvSpPr>
              <p:cNvPr id="62552" name="Oval 66"/>
              <p:cNvSpPr>
                <a:spLocks noChangeArrowheads="1"/>
              </p:cNvSpPr>
              <p:nvPr/>
            </p:nvSpPr>
            <p:spPr bwMode="auto">
              <a:xfrm flipV="1">
                <a:off x="576" y="1152"/>
                <a:ext cx="192" cy="192"/>
              </a:xfrm>
              <a:prstGeom prst="ellipse">
                <a:avLst/>
              </a:prstGeom>
              <a:noFill/>
              <a:ln w="381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53" name="Line 67"/>
              <p:cNvSpPr>
                <a:spLocks noChangeShapeType="1"/>
              </p:cNvSpPr>
              <p:nvPr/>
            </p:nvSpPr>
            <p:spPr bwMode="auto">
              <a:xfrm flipV="1">
                <a:off x="576" y="1248"/>
                <a:ext cx="192" cy="0"/>
              </a:xfrm>
              <a:prstGeom prst="line">
                <a:avLst/>
              </a:prstGeom>
              <a:noFill/>
              <a:ln w="3810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grpSp>
        <p:sp>
          <p:nvSpPr>
            <p:cNvPr id="62505" name="Rectangle 68"/>
            <p:cNvSpPr>
              <a:spLocks noChangeArrowheads="1"/>
            </p:cNvSpPr>
            <p:nvPr/>
          </p:nvSpPr>
          <p:spPr bwMode="auto">
            <a:xfrm rot="10800000">
              <a:off x="2307" y="1038"/>
              <a:ext cx="129" cy="23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en-US" altLang="zh-CN" sz="2800" b="1">
                <a:latin typeface="华文中宋" panose="02010600040101010101" pitchFamily="2" charset="-122"/>
                <a:ea typeface="华文中宋" panose="02010600040101010101" pitchFamily="2" charset="-122"/>
              </a:endParaRPr>
            </a:p>
          </p:txBody>
        </p:sp>
        <p:sp>
          <p:nvSpPr>
            <p:cNvPr id="62506" name="Line 69"/>
            <p:cNvSpPr>
              <a:spLocks noChangeShapeType="1"/>
            </p:cNvSpPr>
            <p:nvPr/>
          </p:nvSpPr>
          <p:spPr bwMode="auto">
            <a:xfrm rot="10800000">
              <a:off x="2372" y="802"/>
              <a:ext cx="0" cy="23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07" name="Line 70"/>
            <p:cNvSpPr>
              <a:spLocks noChangeShapeType="1"/>
            </p:cNvSpPr>
            <p:nvPr/>
          </p:nvSpPr>
          <p:spPr bwMode="auto">
            <a:xfrm rot="10800000" flipV="1">
              <a:off x="2372" y="1274"/>
              <a:ext cx="0" cy="1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08" name="Line 71"/>
            <p:cNvSpPr>
              <a:spLocks noChangeShapeType="1"/>
            </p:cNvSpPr>
            <p:nvPr/>
          </p:nvSpPr>
          <p:spPr bwMode="auto">
            <a:xfrm rot="10800000" flipV="1">
              <a:off x="2357" y="1691"/>
              <a:ext cx="0" cy="15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09" name="Text Box 72"/>
            <p:cNvSpPr txBox="1">
              <a:spLocks noChangeArrowheads="1"/>
            </p:cNvSpPr>
            <p:nvPr/>
          </p:nvSpPr>
          <p:spPr bwMode="auto">
            <a:xfrm>
              <a:off x="3345" y="1110"/>
              <a:ext cx="366"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i="1">
                  <a:latin typeface="华文中宋" panose="02010600040101010101" pitchFamily="2" charset="-122"/>
                  <a:ea typeface="华文中宋" panose="02010600040101010101" pitchFamily="2" charset="-122"/>
                </a:rPr>
                <a:t>U </a:t>
              </a:r>
              <a:endParaRPr kumimoji="1" lang="en-US" altLang="zh-CN" sz="2800" b="1">
                <a:latin typeface="华文中宋" panose="02010600040101010101" pitchFamily="2" charset="-122"/>
                <a:ea typeface="华文中宋" panose="02010600040101010101" pitchFamily="2" charset="-122"/>
              </a:endParaRPr>
            </a:p>
          </p:txBody>
        </p:sp>
        <p:sp>
          <p:nvSpPr>
            <p:cNvPr id="62510" name="Rectangle 73"/>
            <p:cNvSpPr>
              <a:spLocks noChangeArrowheads="1"/>
            </p:cNvSpPr>
            <p:nvPr/>
          </p:nvSpPr>
          <p:spPr bwMode="auto">
            <a:xfrm>
              <a:off x="2972" y="1209"/>
              <a:ext cx="130" cy="232"/>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en-US" altLang="zh-CN" sz="2800" b="1">
                <a:latin typeface="华文中宋" panose="02010600040101010101" pitchFamily="2" charset="-122"/>
                <a:ea typeface="华文中宋" panose="02010600040101010101" pitchFamily="2" charset="-122"/>
              </a:endParaRPr>
            </a:p>
          </p:txBody>
        </p:sp>
        <p:sp>
          <p:nvSpPr>
            <p:cNvPr id="62511" name="Line 74"/>
            <p:cNvSpPr>
              <a:spLocks noChangeShapeType="1"/>
            </p:cNvSpPr>
            <p:nvPr/>
          </p:nvSpPr>
          <p:spPr bwMode="auto">
            <a:xfrm>
              <a:off x="3037" y="1441"/>
              <a:ext cx="0" cy="40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12" name="Line 75"/>
            <p:cNvSpPr>
              <a:spLocks noChangeShapeType="1"/>
            </p:cNvSpPr>
            <p:nvPr/>
          </p:nvSpPr>
          <p:spPr bwMode="auto">
            <a:xfrm flipV="1">
              <a:off x="3037" y="803"/>
              <a:ext cx="0" cy="40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13" name="Line 76"/>
            <p:cNvSpPr>
              <a:spLocks noChangeShapeType="1"/>
            </p:cNvSpPr>
            <p:nvPr/>
          </p:nvSpPr>
          <p:spPr bwMode="auto">
            <a:xfrm flipV="1">
              <a:off x="2207" y="1392"/>
              <a:ext cx="0" cy="367"/>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14" name="Text Box 77"/>
            <p:cNvSpPr txBox="1">
              <a:spLocks noChangeArrowheads="1"/>
            </p:cNvSpPr>
            <p:nvPr/>
          </p:nvSpPr>
          <p:spPr bwMode="auto">
            <a:xfrm>
              <a:off x="1860" y="1391"/>
              <a:ext cx="411"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5A</a:t>
              </a:r>
            </a:p>
          </p:txBody>
        </p:sp>
        <p:sp>
          <p:nvSpPr>
            <p:cNvPr id="62515" name="Text Box 78"/>
            <p:cNvSpPr txBox="1">
              <a:spLocks noChangeArrowheads="1"/>
            </p:cNvSpPr>
            <p:nvPr/>
          </p:nvSpPr>
          <p:spPr bwMode="auto">
            <a:xfrm>
              <a:off x="1888" y="1016"/>
              <a:ext cx="43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2</a:t>
              </a:r>
              <a:r>
                <a:rPr kumimoji="1" lang="en-US" altLang="zh-CN" sz="2800" b="1">
                  <a:latin typeface="华文中宋" panose="02010600040101010101" pitchFamily="2" charset="-122"/>
                  <a:ea typeface="华文中宋" panose="02010600040101010101" pitchFamily="2" charset="-122"/>
                  <a:sym typeface="Symbol" panose="05050102010706020507" pitchFamily="18" charset="2"/>
                </a:rPr>
                <a:t></a:t>
              </a:r>
              <a:endParaRPr kumimoji="1" lang="zh-CN" altLang="zh-CN" sz="2800" b="1">
                <a:latin typeface="华文中宋" panose="02010600040101010101" pitchFamily="2" charset="-122"/>
                <a:ea typeface="华文中宋" panose="02010600040101010101" pitchFamily="2" charset="-122"/>
              </a:endParaRPr>
            </a:p>
          </p:txBody>
        </p:sp>
        <p:sp>
          <p:nvSpPr>
            <p:cNvPr id="62516" name="Text Box 79"/>
            <p:cNvSpPr txBox="1">
              <a:spLocks noChangeArrowheads="1"/>
            </p:cNvSpPr>
            <p:nvPr/>
          </p:nvSpPr>
          <p:spPr bwMode="auto">
            <a:xfrm>
              <a:off x="2543" y="1218"/>
              <a:ext cx="400"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dirty="0">
                  <a:latin typeface="华文中宋" panose="02010600040101010101" pitchFamily="2" charset="-122"/>
                  <a:ea typeface="华文中宋" panose="02010600040101010101" pitchFamily="2" charset="-122"/>
                </a:rPr>
                <a:t>3</a:t>
              </a:r>
              <a:r>
                <a:rPr kumimoji="1" lang="en-US" altLang="zh-CN" sz="2400" b="1" dirty="0">
                  <a:latin typeface="华文中宋" panose="02010600040101010101" pitchFamily="2" charset="-122"/>
                  <a:ea typeface="华文中宋" panose="02010600040101010101" pitchFamily="2" charset="-122"/>
                  <a:sym typeface="Symbol" panose="05050102010706020507" pitchFamily="18" charset="2"/>
                </a:rPr>
                <a:t></a:t>
              </a:r>
              <a:endParaRPr kumimoji="1" lang="zh-CN" altLang="zh-CN" sz="2400" b="1" dirty="0">
                <a:latin typeface="华文中宋" panose="02010600040101010101" pitchFamily="2" charset="-122"/>
                <a:ea typeface="华文中宋" panose="02010600040101010101" pitchFamily="2" charset="-122"/>
              </a:endParaRPr>
            </a:p>
          </p:txBody>
        </p:sp>
        <p:sp>
          <p:nvSpPr>
            <p:cNvPr id="62517" name="Line 80"/>
            <p:cNvSpPr>
              <a:spLocks noChangeShapeType="1"/>
            </p:cNvSpPr>
            <p:nvPr/>
          </p:nvSpPr>
          <p:spPr bwMode="auto">
            <a:xfrm>
              <a:off x="2372" y="803"/>
              <a:ext cx="107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18" name="Oval 81"/>
            <p:cNvSpPr>
              <a:spLocks noChangeArrowheads="1"/>
            </p:cNvSpPr>
            <p:nvPr/>
          </p:nvSpPr>
          <p:spPr bwMode="auto">
            <a:xfrm>
              <a:off x="3458" y="774"/>
              <a:ext cx="80" cy="70"/>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19" name="Line 82"/>
            <p:cNvSpPr>
              <a:spLocks noChangeShapeType="1"/>
            </p:cNvSpPr>
            <p:nvPr/>
          </p:nvSpPr>
          <p:spPr bwMode="auto">
            <a:xfrm>
              <a:off x="2364" y="1832"/>
              <a:ext cx="1094" cy="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20" name="Oval 83"/>
            <p:cNvSpPr>
              <a:spLocks noChangeArrowheads="1"/>
            </p:cNvSpPr>
            <p:nvPr/>
          </p:nvSpPr>
          <p:spPr bwMode="auto">
            <a:xfrm>
              <a:off x="3458" y="1806"/>
              <a:ext cx="80" cy="70"/>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21" name="Text Box 84"/>
            <p:cNvSpPr txBox="1">
              <a:spLocks noChangeArrowheads="1"/>
            </p:cNvSpPr>
            <p:nvPr/>
          </p:nvSpPr>
          <p:spPr bwMode="auto">
            <a:xfrm>
              <a:off x="3543" y="1678"/>
              <a:ext cx="25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b</a:t>
              </a:r>
            </a:p>
          </p:txBody>
        </p:sp>
        <p:sp>
          <p:nvSpPr>
            <p:cNvPr id="62522" name="Text Box 85"/>
            <p:cNvSpPr txBox="1">
              <a:spLocks noChangeArrowheads="1"/>
            </p:cNvSpPr>
            <p:nvPr/>
          </p:nvSpPr>
          <p:spPr bwMode="auto">
            <a:xfrm>
              <a:off x="3388" y="754"/>
              <a:ext cx="31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t>
              </a:r>
            </a:p>
          </p:txBody>
        </p:sp>
        <p:sp>
          <p:nvSpPr>
            <p:cNvPr id="62523" name="Text Box 86"/>
            <p:cNvSpPr txBox="1">
              <a:spLocks noChangeArrowheads="1"/>
            </p:cNvSpPr>
            <p:nvPr/>
          </p:nvSpPr>
          <p:spPr bwMode="auto">
            <a:xfrm>
              <a:off x="3377" y="1488"/>
              <a:ext cx="31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sym typeface="Symbol" panose="05050102010706020507" pitchFamily="18" charset="2"/>
                </a:rPr>
                <a:t></a:t>
              </a:r>
            </a:p>
          </p:txBody>
        </p:sp>
        <p:sp>
          <p:nvSpPr>
            <p:cNvPr id="62524" name="Text Box 87"/>
            <p:cNvSpPr txBox="1">
              <a:spLocks noChangeArrowheads="1"/>
            </p:cNvSpPr>
            <p:nvPr/>
          </p:nvSpPr>
          <p:spPr bwMode="auto">
            <a:xfrm>
              <a:off x="1003" y="1814"/>
              <a:ext cx="38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a:t>
              </a:r>
            </a:p>
          </p:txBody>
        </p:sp>
        <p:sp>
          <p:nvSpPr>
            <p:cNvPr id="62525" name="Text Box 88"/>
            <p:cNvSpPr txBox="1">
              <a:spLocks noChangeArrowheads="1"/>
            </p:cNvSpPr>
            <p:nvPr/>
          </p:nvSpPr>
          <p:spPr bwMode="auto">
            <a:xfrm>
              <a:off x="1586" y="623"/>
              <a:ext cx="248"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a:t>
              </a:r>
            </a:p>
          </p:txBody>
        </p:sp>
        <p:sp>
          <p:nvSpPr>
            <p:cNvPr id="62526" name="Oval 89"/>
            <p:cNvSpPr>
              <a:spLocks noChangeArrowheads="1"/>
            </p:cNvSpPr>
            <p:nvPr/>
          </p:nvSpPr>
          <p:spPr bwMode="auto">
            <a:xfrm>
              <a:off x="1103" y="1451"/>
              <a:ext cx="237" cy="225"/>
            </a:xfrm>
            <a:prstGeom prst="ellipse">
              <a:avLst/>
            </a:prstGeom>
            <a:noFill/>
            <a:ln w="381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27" name="Line 90"/>
            <p:cNvSpPr>
              <a:spLocks noChangeShapeType="1"/>
            </p:cNvSpPr>
            <p:nvPr/>
          </p:nvSpPr>
          <p:spPr bwMode="auto">
            <a:xfrm flipH="1">
              <a:off x="1222" y="1295"/>
              <a:ext cx="0" cy="519"/>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28" name="Text Box 91"/>
            <p:cNvSpPr txBox="1">
              <a:spLocks noChangeArrowheads="1"/>
            </p:cNvSpPr>
            <p:nvPr/>
          </p:nvSpPr>
          <p:spPr bwMode="auto">
            <a:xfrm>
              <a:off x="1014" y="1295"/>
              <a:ext cx="201" cy="5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65000"/>
                </a:lnSpc>
                <a:spcBef>
                  <a:spcPct val="50000"/>
                </a:spcBef>
                <a:buFontTx/>
                <a:buNone/>
              </a:pPr>
              <a:r>
                <a:rPr kumimoji="1" lang="en-US" altLang="zh-CN" sz="2800" b="1">
                  <a:latin typeface="华文中宋" panose="02010600040101010101" pitchFamily="2" charset="-122"/>
                  <a:ea typeface="华文中宋" panose="02010600040101010101" pitchFamily="2" charset="-122"/>
                </a:rPr>
                <a:t>+</a:t>
              </a:r>
              <a:endParaRPr kumimoji="1" lang="en-US" altLang="zh-CN" sz="2800">
                <a:latin typeface="华文中宋" panose="02010600040101010101" pitchFamily="2" charset="-122"/>
                <a:ea typeface="华文中宋" panose="02010600040101010101" pitchFamily="2" charset="-122"/>
              </a:endParaRPr>
            </a:p>
            <a:p>
              <a:pPr algn="ctr" eaLnBrk="1" hangingPunct="1">
                <a:lnSpc>
                  <a:spcPct val="65000"/>
                </a:lnSpc>
                <a:spcBef>
                  <a:spcPct val="50000"/>
                </a:spcBef>
                <a:buFontTx/>
                <a:buNone/>
              </a:pPr>
              <a:r>
                <a:rPr kumimoji="1" lang="en-US" altLang="zh-CN" sz="2800" b="1">
                  <a:latin typeface="华文中宋" panose="02010600040101010101" pitchFamily="2" charset="-122"/>
                  <a:ea typeface="华文中宋" panose="02010600040101010101" pitchFamily="2" charset="-122"/>
                </a:rPr>
                <a:t>–</a:t>
              </a:r>
            </a:p>
          </p:txBody>
        </p:sp>
        <p:sp>
          <p:nvSpPr>
            <p:cNvPr id="62529" name="Rectangle 92"/>
            <p:cNvSpPr>
              <a:spLocks noChangeArrowheads="1"/>
            </p:cNvSpPr>
            <p:nvPr/>
          </p:nvSpPr>
          <p:spPr bwMode="auto">
            <a:xfrm>
              <a:off x="690" y="934"/>
              <a:ext cx="96" cy="22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en-US" altLang="zh-CN" sz="2800" b="1">
                <a:latin typeface="华文中宋" panose="02010600040101010101" pitchFamily="2" charset="-122"/>
                <a:ea typeface="华文中宋" panose="02010600040101010101" pitchFamily="2" charset="-122"/>
              </a:endParaRPr>
            </a:p>
          </p:txBody>
        </p:sp>
        <p:sp>
          <p:nvSpPr>
            <p:cNvPr id="62530" name="Line 93"/>
            <p:cNvSpPr>
              <a:spLocks noChangeShapeType="1"/>
            </p:cNvSpPr>
            <p:nvPr/>
          </p:nvSpPr>
          <p:spPr bwMode="auto">
            <a:xfrm>
              <a:off x="738" y="1158"/>
              <a:ext cx="0" cy="2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31" name="Line 94"/>
            <p:cNvSpPr>
              <a:spLocks noChangeShapeType="1"/>
            </p:cNvSpPr>
            <p:nvPr/>
          </p:nvSpPr>
          <p:spPr bwMode="auto">
            <a:xfrm flipV="1">
              <a:off x="738" y="800"/>
              <a:ext cx="0" cy="12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32" name="Rectangle 95"/>
            <p:cNvSpPr>
              <a:spLocks noChangeArrowheads="1"/>
            </p:cNvSpPr>
            <p:nvPr/>
          </p:nvSpPr>
          <p:spPr bwMode="auto">
            <a:xfrm>
              <a:off x="690" y="1466"/>
              <a:ext cx="96" cy="22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en-US" altLang="zh-CN" sz="2800" b="1">
                <a:latin typeface="华文中宋" panose="02010600040101010101" pitchFamily="2" charset="-122"/>
                <a:ea typeface="华文中宋" panose="02010600040101010101" pitchFamily="2" charset="-122"/>
              </a:endParaRPr>
            </a:p>
          </p:txBody>
        </p:sp>
        <p:sp>
          <p:nvSpPr>
            <p:cNvPr id="62533" name="Line 96"/>
            <p:cNvSpPr>
              <a:spLocks noChangeShapeType="1"/>
            </p:cNvSpPr>
            <p:nvPr/>
          </p:nvSpPr>
          <p:spPr bwMode="auto">
            <a:xfrm>
              <a:off x="738" y="1689"/>
              <a:ext cx="0" cy="14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34" name="Line 97"/>
            <p:cNvSpPr>
              <a:spLocks noChangeShapeType="1"/>
            </p:cNvSpPr>
            <p:nvPr/>
          </p:nvSpPr>
          <p:spPr bwMode="auto">
            <a:xfrm flipV="1">
              <a:off x="738" y="1242"/>
              <a:ext cx="0" cy="22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35" name="Line 98"/>
            <p:cNvSpPr>
              <a:spLocks noChangeShapeType="1"/>
            </p:cNvSpPr>
            <p:nvPr/>
          </p:nvSpPr>
          <p:spPr bwMode="auto">
            <a:xfrm>
              <a:off x="750" y="1295"/>
              <a:ext cx="46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36" name="Line 99"/>
            <p:cNvSpPr>
              <a:spLocks noChangeShapeType="1"/>
            </p:cNvSpPr>
            <p:nvPr/>
          </p:nvSpPr>
          <p:spPr bwMode="auto">
            <a:xfrm>
              <a:off x="726" y="1815"/>
              <a:ext cx="80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37" name="Text Box 100"/>
            <p:cNvSpPr txBox="1">
              <a:spLocks noChangeArrowheads="1"/>
            </p:cNvSpPr>
            <p:nvPr/>
          </p:nvSpPr>
          <p:spPr bwMode="auto">
            <a:xfrm>
              <a:off x="755" y="1400"/>
              <a:ext cx="41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5V</a:t>
              </a:r>
            </a:p>
          </p:txBody>
        </p:sp>
        <p:sp>
          <p:nvSpPr>
            <p:cNvPr id="62538" name="Text Box 101"/>
            <p:cNvSpPr txBox="1">
              <a:spLocks noChangeArrowheads="1"/>
            </p:cNvSpPr>
            <p:nvPr/>
          </p:nvSpPr>
          <p:spPr bwMode="auto">
            <a:xfrm>
              <a:off x="279" y="1407"/>
              <a:ext cx="43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3</a:t>
              </a:r>
              <a:r>
                <a:rPr kumimoji="1" lang="en-US" altLang="zh-CN" sz="2800" b="1">
                  <a:latin typeface="华文中宋" panose="02010600040101010101" pitchFamily="2" charset="-122"/>
                  <a:ea typeface="华文中宋" panose="02010600040101010101" pitchFamily="2" charset="-122"/>
                  <a:sym typeface="Symbol" panose="05050102010706020507" pitchFamily="18" charset="2"/>
                </a:rPr>
                <a:t></a:t>
              </a:r>
              <a:endParaRPr kumimoji="1" lang="zh-CN" altLang="zh-CN" sz="2800" b="1">
                <a:latin typeface="华文中宋" panose="02010600040101010101" pitchFamily="2" charset="-122"/>
                <a:ea typeface="华文中宋" panose="02010600040101010101" pitchFamily="2" charset="-122"/>
              </a:endParaRPr>
            </a:p>
          </p:txBody>
        </p:sp>
        <p:sp>
          <p:nvSpPr>
            <p:cNvPr id="62539" name="Text Box 102"/>
            <p:cNvSpPr txBox="1">
              <a:spLocks noChangeArrowheads="1"/>
            </p:cNvSpPr>
            <p:nvPr/>
          </p:nvSpPr>
          <p:spPr bwMode="auto">
            <a:xfrm>
              <a:off x="279" y="911"/>
              <a:ext cx="43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2</a:t>
              </a:r>
              <a:r>
                <a:rPr kumimoji="1" lang="en-US" altLang="zh-CN" sz="2800" b="1">
                  <a:latin typeface="华文中宋" panose="02010600040101010101" pitchFamily="2" charset="-122"/>
                  <a:ea typeface="华文中宋" panose="02010600040101010101" pitchFamily="2" charset="-122"/>
                  <a:sym typeface="Symbol" panose="05050102010706020507" pitchFamily="18" charset="2"/>
                </a:rPr>
                <a:t></a:t>
              </a:r>
              <a:endParaRPr kumimoji="1" lang="zh-CN" altLang="zh-CN" sz="2800" b="1">
                <a:latin typeface="华文中宋" panose="02010600040101010101" pitchFamily="2" charset="-122"/>
                <a:ea typeface="华文中宋" panose="02010600040101010101" pitchFamily="2" charset="-122"/>
              </a:endParaRPr>
            </a:p>
          </p:txBody>
        </p:sp>
        <p:sp>
          <p:nvSpPr>
            <p:cNvPr id="62540" name="Oval 103"/>
            <p:cNvSpPr>
              <a:spLocks noChangeArrowheads="1"/>
            </p:cNvSpPr>
            <p:nvPr/>
          </p:nvSpPr>
          <p:spPr bwMode="auto">
            <a:xfrm>
              <a:off x="1518" y="1773"/>
              <a:ext cx="59" cy="69"/>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41" name="Line 104"/>
            <p:cNvSpPr>
              <a:spLocks noChangeShapeType="1"/>
            </p:cNvSpPr>
            <p:nvPr/>
          </p:nvSpPr>
          <p:spPr bwMode="auto">
            <a:xfrm>
              <a:off x="726" y="794"/>
              <a:ext cx="82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42" name="Oval 105"/>
            <p:cNvSpPr>
              <a:spLocks noChangeArrowheads="1"/>
            </p:cNvSpPr>
            <p:nvPr/>
          </p:nvSpPr>
          <p:spPr bwMode="auto">
            <a:xfrm>
              <a:off x="1542" y="766"/>
              <a:ext cx="59" cy="69"/>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43" name="Text Box 106"/>
            <p:cNvSpPr txBox="1">
              <a:spLocks noChangeArrowheads="1"/>
            </p:cNvSpPr>
            <p:nvPr/>
          </p:nvSpPr>
          <p:spPr bwMode="auto">
            <a:xfrm>
              <a:off x="1390" y="1151"/>
              <a:ext cx="29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i="1">
                  <a:latin typeface="华文中宋" panose="02010600040101010101" pitchFamily="2" charset="-122"/>
                  <a:ea typeface="华文中宋" panose="02010600040101010101" pitchFamily="2" charset="-122"/>
                </a:rPr>
                <a:t>U</a:t>
              </a:r>
            </a:p>
          </p:txBody>
        </p:sp>
        <p:sp>
          <p:nvSpPr>
            <p:cNvPr id="62544" name="Text Box 107"/>
            <p:cNvSpPr txBox="1">
              <a:spLocks noChangeArrowheads="1"/>
            </p:cNvSpPr>
            <p:nvPr/>
          </p:nvSpPr>
          <p:spPr bwMode="auto">
            <a:xfrm>
              <a:off x="1445" y="745"/>
              <a:ext cx="31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t>
              </a:r>
            </a:p>
          </p:txBody>
        </p:sp>
        <p:sp>
          <p:nvSpPr>
            <p:cNvPr id="62545" name="Text Box 108"/>
            <p:cNvSpPr txBox="1">
              <a:spLocks noChangeArrowheads="1"/>
            </p:cNvSpPr>
            <p:nvPr/>
          </p:nvSpPr>
          <p:spPr bwMode="auto">
            <a:xfrm>
              <a:off x="1445" y="1516"/>
              <a:ext cx="31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sym typeface="Symbol" panose="05050102010706020507" pitchFamily="18" charset="2"/>
                </a:rPr>
                <a:t></a:t>
              </a:r>
            </a:p>
          </p:txBody>
        </p:sp>
        <p:sp>
          <p:nvSpPr>
            <p:cNvPr id="62546" name="Oval 109"/>
            <p:cNvSpPr>
              <a:spLocks noChangeArrowheads="1"/>
            </p:cNvSpPr>
            <p:nvPr/>
          </p:nvSpPr>
          <p:spPr bwMode="auto">
            <a:xfrm>
              <a:off x="714" y="1258"/>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47" name="Oval 110"/>
            <p:cNvSpPr>
              <a:spLocks noChangeArrowheads="1"/>
            </p:cNvSpPr>
            <p:nvPr/>
          </p:nvSpPr>
          <p:spPr bwMode="auto">
            <a:xfrm>
              <a:off x="1200" y="1776"/>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48" name="Oval 111"/>
            <p:cNvSpPr>
              <a:spLocks noChangeArrowheads="1"/>
            </p:cNvSpPr>
            <p:nvPr/>
          </p:nvSpPr>
          <p:spPr bwMode="auto">
            <a:xfrm>
              <a:off x="2999" y="784"/>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49" name="Oval 112"/>
            <p:cNvSpPr>
              <a:spLocks noChangeArrowheads="1"/>
            </p:cNvSpPr>
            <p:nvPr/>
          </p:nvSpPr>
          <p:spPr bwMode="auto">
            <a:xfrm>
              <a:off x="3015" y="1815"/>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50" name="Oval 113"/>
            <p:cNvSpPr>
              <a:spLocks noChangeArrowheads="1"/>
            </p:cNvSpPr>
            <p:nvPr/>
          </p:nvSpPr>
          <p:spPr bwMode="auto">
            <a:xfrm>
              <a:off x="4896" y="754"/>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551" name="Oval 114"/>
            <p:cNvSpPr>
              <a:spLocks noChangeArrowheads="1"/>
            </p:cNvSpPr>
            <p:nvPr/>
          </p:nvSpPr>
          <p:spPr bwMode="auto">
            <a:xfrm>
              <a:off x="4896" y="1776"/>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grpSp>
      <p:grpSp>
        <p:nvGrpSpPr>
          <p:cNvPr id="131187" name="Group 115"/>
          <p:cNvGrpSpPr>
            <a:grpSpLocks/>
          </p:cNvGrpSpPr>
          <p:nvPr/>
        </p:nvGrpSpPr>
        <p:grpSpPr bwMode="auto">
          <a:xfrm>
            <a:off x="2901950" y="3687763"/>
            <a:ext cx="3054348" cy="2408238"/>
            <a:chOff x="1828" y="2323"/>
            <a:chExt cx="1924" cy="1517"/>
          </a:xfrm>
        </p:grpSpPr>
        <p:grpSp>
          <p:nvGrpSpPr>
            <p:cNvPr id="62475" name="Group 116"/>
            <p:cNvGrpSpPr>
              <a:grpSpLocks/>
            </p:cNvGrpSpPr>
            <p:nvPr/>
          </p:nvGrpSpPr>
          <p:grpSpPr bwMode="auto">
            <a:xfrm>
              <a:off x="1828" y="2323"/>
              <a:ext cx="1924" cy="1517"/>
              <a:chOff x="1828" y="2131"/>
              <a:chExt cx="1924" cy="1517"/>
            </a:xfrm>
          </p:grpSpPr>
          <p:sp>
            <p:nvSpPr>
              <p:cNvPr id="62478" name="Line 117"/>
              <p:cNvSpPr>
                <a:spLocks noChangeShapeType="1"/>
              </p:cNvSpPr>
              <p:nvPr/>
            </p:nvSpPr>
            <p:spPr bwMode="auto">
              <a:xfrm>
                <a:off x="2353" y="2302"/>
                <a:ext cx="105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479" name="Oval 118"/>
              <p:cNvSpPr>
                <a:spLocks noChangeArrowheads="1"/>
              </p:cNvSpPr>
              <p:nvPr/>
            </p:nvSpPr>
            <p:spPr bwMode="auto">
              <a:xfrm>
                <a:off x="3405" y="2272"/>
                <a:ext cx="77" cy="73"/>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480" name="Text Box 119"/>
              <p:cNvSpPr txBox="1">
                <a:spLocks noChangeArrowheads="1"/>
              </p:cNvSpPr>
              <p:nvPr/>
            </p:nvSpPr>
            <p:spPr bwMode="auto">
              <a:xfrm>
                <a:off x="3497" y="2131"/>
                <a:ext cx="248"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a:t>
                </a:r>
              </a:p>
            </p:txBody>
          </p:sp>
          <p:grpSp>
            <p:nvGrpSpPr>
              <p:cNvPr id="62481" name="Group 120"/>
              <p:cNvGrpSpPr>
                <a:grpSpLocks/>
              </p:cNvGrpSpPr>
              <p:nvPr/>
            </p:nvGrpSpPr>
            <p:grpSpPr bwMode="auto">
              <a:xfrm>
                <a:off x="2843" y="2302"/>
                <a:ext cx="122" cy="1058"/>
                <a:chOff x="2822" y="2499"/>
                <a:chExt cx="136" cy="1175"/>
              </a:xfrm>
            </p:grpSpPr>
            <p:sp>
              <p:nvSpPr>
                <p:cNvPr id="62498" name="Rectangle 121"/>
                <p:cNvSpPr>
                  <a:spLocks noChangeArrowheads="1"/>
                </p:cNvSpPr>
                <p:nvPr/>
              </p:nvSpPr>
              <p:spPr bwMode="auto">
                <a:xfrm>
                  <a:off x="2822" y="2956"/>
                  <a:ext cx="136" cy="261"/>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en-US" altLang="zh-CN" sz="2800" b="1">
                    <a:latin typeface="华文中宋" panose="02010600040101010101" pitchFamily="2" charset="-122"/>
                    <a:ea typeface="华文中宋" panose="02010600040101010101" pitchFamily="2" charset="-122"/>
                  </a:endParaRPr>
                </a:p>
              </p:txBody>
            </p:sp>
            <p:sp>
              <p:nvSpPr>
                <p:cNvPr id="62499" name="Line 122"/>
                <p:cNvSpPr>
                  <a:spLocks noChangeShapeType="1"/>
                </p:cNvSpPr>
                <p:nvPr/>
              </p:nvSpPr>
              <p:spPr bwMode="auto">
                <a:xfrm>
                  <a:off x="2890" y="3217"/>
                  <a:ext cx="0" cy="45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500" name="Line 123"/>
                <p:cNvSpPr>
                  <a:spLocks noChangeShapeType="1"/>
                </p:cNvSpPr>
                <p:nvPr/>
              </p:nvSpPr>
              <p:spPr bwMode="auto">
                <a:xfrm flipV="1">
                  <a:off x="2890" y="2499"/>
                  <a:ext cx="0" cy="45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grpSp>
          <p:sp>
            <p:nvSpPr>
              <p:cNvPr id="62482" name="Text Box 124"/>
              <p:cNvSpPr txBox="1">
                <a:spLocks noChangeArrowheads="1"/>
              </p:cNvSpPr>
              <p:nvPr/>
            </p:nvSpPr>
            <p:spPr bwMode="auto">
              <a:xfrm>
                <a:off x="1828" y="2671"/>
                <a:ext cx="411"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5A</a:t>
                </a:r>
              </a:p>
            </p:txBody>
          </p:sp>
          <p:grpSp>
            <p:nvGrpSpPr>
              <p:cNvPr id="62483" name="Group 125"/>
              <p:cNvGrpSpPr>
                <a:grpSpLocks/>
              </p:cNvGrpSpPr>
              <p:nvPr/>
            </p:nvGrpSpPr>
            <p:grpSpPr bwMode="auto">
              <a:xfrm>
                <a:off x="2231" y="2302"/>
                <a:ext cx="245" cy="1058"/>
                <a:chOff x="2142" y="2499"/>
                <a:chExt cx="272" cy="1175"/>
              </a:xfrm>
            </p:grpSpPr>
            <p:grpSp>
              <p:nvGrpSpPr>
                <p:cNvPr id="62493" name="Group 126"/>
                <p:cNvGrpSpPr>
                  <a:grpSpLocks/>
                </p:cNvGrpSpPr>
                <p:nvPr/>
              </p:nvGrpSpPr>
              <p:grpSpPr bwMode="auto">
                <a:xfrm>
                  <a:off x="2142" y="2956"/>
                  <a:ext cx="272" cy="261"/>
                  <a:chOff x="2142" y="2956"/>
                  <a:chExt cx="272" cy="261"/>
                </a:xfrm>
              </p:grpSpPr>
              <p:sp>
                <p:nvSpPr>
                  <p:cNvPr id="62496" name="Oval 127"/>
                  <p:cNvSpPr>
                    <a:spLocks noChangeArrowheads="1"/>
                  </p:cNvSpPr>
                  <p:nvPr/>
                </p:nvSpPr>
                <p:spPr bwMode="auto">
                  <a:xfrm flipV="1">
                    <a:off x="2142" y="2956"/>
                    <a:ext cx="272" cy="261"/>
                  </a:xfrm>
                  <a:prstGeom prst="ellipse">
                    <a:avLst/>
                  </a:prstGeom>
                  <a:noFill/>
                  <a:ln w="381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497" name="Line 128"/>
                  <p:cNvSpPr>
                    <a:spLocks noChangeShapeType="1"/>
                  </p:cNvSpPr>
                  <p:nvPr/>
                </p:nvSpPr>
                <p:spPr bwMode="auto">
                  <a:xfrm flipV="1">
                    <a:off x="2142" y="3087"/>
                    <a:ext cx="272" cy="0"/>
                  </a:xfrm>
                  <a:prstGeom prst="line">
                    <a:avLst/>
                  </a:prstGeom>
                  <a:noFill/>
                  <a:ln w="3810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grpSp>
            <p:sp>
              <p:nvSpPr>
                <p:cNvPr id="62494" name="Line 129"/>
                <p:cNvSpPr>
                  <a:spLocks noChangeShapeType="1"/>
                </p:cNvSpPr>
                <p:nvPr/>
              </p:nvSpPr>
              <p:spPr bwMode="auto">
                <a:xfrm>
                  <a:off x="2278" y="3217"/>
                  <a:ext cx="0" cy="45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495" name="Line 130"/>
                <p:cNvSpPr>
                  <a:spLocks noChangeShapeType="1"/>
                </p:cNvSpPr>
                <p:nvPr/>
              </p:nvSpPr>
              <p:spPr bwMode="auto">
                <a:xfrm>
                  <a:off x="2278" y="2499"/>
                  <a:ext cx="0" cy="45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grpSp>
          <p:sp>
            <p:nvSpPr>
              <p:cNvPr id="62484" name="Line 131"/>
              <p:cNvSpPr>
                <a:spLocks noChangeShapeType="1"/>
              </p:cNvSpPr>
              <p:nvPr/>
            </p:nvSpPr>
            <p:spPr bwMode="auto">
              <a:xfrm>
                <a:off x="2368" y="3345"/>
                <a:ext cx="105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485" name="Oval 132"/>
              <p:cNvSpPr>
                <a:spLocks noChangeArrowheads="1"/>
              </p:cNvSpPr>
              <p:nvPr/>
            </p:nvSpPr>
            <p:spPr bwMode="auto">
              <a:xfrm>
                <a:off x="3410" y="3315"/>
                <a:ext cx="75" cy="74"/>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486" name="Text Box 133"/>
              <p:cNvSpPr txBox="1">
                <a:spLocks noChangeArrowheads="1"/>
              </p:cNvSpPr>
              <p:nvPr/>
            </p:nvSpPr>
            <p:spPr bwMode="auto">
              <a:xfrm>
                <a:off x="3495" y="3173"/>
                <a:ext cx="25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b</a:t>
                </a:r>
              </a:p>
            </p:txBody>
          </p:sp>
          <p:sp>
            <p:nvSpPr>
              <p:cNvPr id="62487" name="Line 134"/>
              <p:cNvSpPr>
                <a:spLocks noChangeShapeType="1"/>
              </p:cNvSpPr>
              <p:nvPr/>
            </p:nvSpPr>
            <p:spPr bwMode="auto">
              <a:xfrm flipV="1">
                <a:off x="2204" y="2678"/>
                <a:ext cx="0" cy="313"/>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华文中宋" panose="02010600040101010101" pitchFamily="2" charset="-122"/>
                  <a:ea typeface="华文中宋" panose="02010600040101010101" pitchFamily="2" charset="-122"/>
                </a:endParaRPr>
              </a:p>
            </p:txBody>
          </p:sp>
          <p:sp>
            <p:nvSpPr>
              <p:cNvPr id="62488" name="Text Box 135"/>
              <p:cNvSpPr txBox="1">
                <a:spLocks noChangeArrowheads="1"/>
              </p:cNvSpPr>
              <p:nvPr/>
            </p:nvSpPr>
            <p:spPr bwMode="auto">
              <a:xfrm>
                <a:off x="3271" y="2679"/>
                <a:ext cx="29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i="1">
                    <a:latin typeface="华文中宋" panose="02010600040101010101" pitchFamily="2" charset="-122"/>
                    <a:ea typeface="华文中宋" panose="02010600040101010101" pitchFamily="2" charset="-122"/>
                  </a:rPr>
                  <a:t>U</a:t>
                </a:r>
              </a:p>
            </p:txBody>
          </p:sp>
          <p:sp>
            <p:nvSpPr>
              <p:cNvPr id="62489" name="Text Box 136"/>
              <p:cNvSpPr txBox="1">
                <a:spLocks noChangeArrowheads="1"/>
              </p:cNvSpPr>
              <p:nvPr/>
            </p:nvSpPr>
            <p:spPr bwMode="auto">
              <a:xfrm>
                <a:off x="2448" y="2665"/>
                <a:ext cx="48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3</a:t>
                </a:r>
                <a:r>
                  <a:rPr kumimoji="1" lang="en-US" altLang="zh-CN" sz="2800" b="1">
                    <a:latin typeface="华文中宋" panose="02010600040101010101" pitchFamily="2" charset="-122"/>
                    <a:ea typeface="华文中宋" panose="02010600040101010101" pitchFamily="2" charset="-122"/>
                    <a:sym typeface="Symbol" panose="05050102010706020507" pitchFamily="18" charset="2"/>
                  </a:rPr>
                  <a:t></a:t>
                </a:r>
                <a:endParaRPr kumimoji="1" lang="zh-CN" altLang="zh-CN" sz="2800" b="1">
                  <a:latin typeface="华文中宋" panose="02010600040101010101" pitchFamily="2" charset="-122"/>
                  <a:ea typeface="华文中宋" panose="02010600040101010101" pitchFamily="2" charset="-122"/>
                </a:endParaRPr>
              </a:p>
            </p:txBody>
          </p:sp>
          <p:sp>
            <p:nvSpPr>
              <p:cNvPr id="62490" name="Text Box 137"/>
              <p:cNvSpPr txBox="1">
                <a:spLocks noChangeArrowheads="1"/>
              </p:cNvSpPr>
              <p:nvPr/>
            </p:nvSpPr>
            <p:spPr bwMode="auto">
              <a:xfrm>
                <a:off x="2738" y="3321"/>
                <a:ext cx="39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(b)</a:t>
                </a:r>
              </a:p>
            </p:txBody>
          </p:sp>
          <p:sp>
            <p:nvSpPr>
              <p:cNvPr id="62491" name="Text Box 138"/>
              <p:cNvSpPr txBox="1">
                <a:spLocks noChangeArrowheads="1"/>
              </p:cNvSpPr>
              <p:nvPr/>
            </p:nvSpPr>
            <p:spPr bwMode="auto">
              <a:xfrm>
                <a:off x="3343" y="2283"/>
                <a:ext cx="28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a:t>
                </a:r>
              </a:p>
            </p:txBody>
          </p:sp>
          <p:sp>
            <p:nvSpPr>
              <p:cNvPr id="62492" name="Text Box 139"/>
              <p:cNvSpPr txBox="1">
                <a:spLocks noChangeArrowheads="1"/>
              </p:cNvSpPr>
              <p:nvPr/>
            </p:nvSpPr>
            <p:spPr bwMode="auto">
              <a:xfrm>
                <a:off x="3312" y="3024"/>
                <a:ext cx="28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sym typeface="Symbol" panose="05050102010706020507" pitchFamily="18" charset="2"/>
                  </a:rPr>
                  <a:t></a:t>
                </a:r>
              </a:p>
            </p:txBody>
          </p:sp>
        </p:grpSp>
        <p:sp>
          <p:nvSpPr>
            <p:cNvPr id="62476" name="Oval 140"/>
            <p:cNvSpPr>
              <a:spLocks noChangeArrowheads="1"/>
            </p:cNvSpPr>
            <p:nvPr/>
          </p:nvSpPr>
          <p:spPr bwMode="auto">
            <a:xfrm>
              <a:off x="2880" y="2471"/>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sp>
          <p:nvSpPr>
            <p:cNvPr id="62477" name="Oval 141"/>
            <p:cNvSpPr>
              <a:spLocks noChangeArrowheads="1"/>
            </p:cNvSpPr>
            <p:nvPr/>
          </p:nvSpPr>
          <p:spPr bwMode="auto">
            <a:xfrm>
              <a:off x="2880" y="3504"/>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华文中宋" panose="02010600040101010101" pitchFamily="2" charset="-122"/>
                <a:ea typeface="华文中宋" panose="02010600040101010101" pitchFamily="2" charset="-122"/>
              </a:endParaRPr>
            </a:p>
          </p:txBody>
        </p:sp>
      </p:grpSp>
      <p:sp>
        <p:nvSpPr>
          <p:cNvPr id="62474" name="Text Box 142"/>
          <p:cNvSpPr txBox="1">
            <a:spLocks noChangeArrowheads="1"/>
          </p:cNvSpPr>
          <p:nvPr/>
        </p:nvSpPr>
        <p:spPr bwMode="auto">
          <a:xfrm>
            <a:off x="2514600" y="2590800"/>
            <a:ext cx="533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华文中宋" panose="02010600040101010101" pitchFamily="2" charset="-122"/>
                <a:ea typeface="华文中宋" panose="02010600040101010101" pitchFamily="2" charset="-122"/>
              </a:rPr>
              <a:t>b</a:t>
            </a:r>
          </a:p>
        </p:txBody>
      </p:sp>
    </p:spTree>
    <p:extLst>
      <p:ext uri="{BB962C8B-B14F-4D97-AF65-F5344CB8AC3E}">
        <p14:creationId xmlns:p14="http://schemas.microsoft.com/office/powerpoint/2010/main" val="42202294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1077"/>
                                        </p:tgtEl>
                                        <p:attrNameLst>
                                          <p:attrName>style.visibility</p:attrName>
                                        </p:attrNameLst>
                                      </p:cBhvr>
                                      <p:to>
                                        <p:strVal val="visible"/>
                                      </p:to>
                                    </p:set>
                                    <p:animEffect transition="in" filter="wipe(up)">
                                      <p:cBhvr>
                                        <p:cTn id="7" dur="500"/>
                                        <p:tgtEl>
                                          <p:spTgt spid="1310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131187"/>
                                        </p:tgtEl>
                                        <p:attrNameLst>
                                          <p:attrName>style.visibility</p:attrName>
                                        </p:attrNameLst>
                                      </p:cBhvr>
                                      <p:to>
                                        <p:strVal val="visible"/>
                                      </p:to>
                                    </p:set>
                                    <p:animEffect transition="in" filter="wipe(right)">
                                      <p:cBhvr>
                                        <p:cTn id="12" dur="500"/>
                                        <p:tgtEl>
                                          <p:spTgt spid="1311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131095"/>
                                        </p:tgtEl>
                                        <p:attrNameLst>
                                          <p:attrName>style.visibility</p:attrName>
                                        </p:attrNameLst>
                                      </p:cBhvr>
                                      <p:to>
                                        <p:strVal val="visible"/>
                                      </p:to>
                                    </p:set>
                                    <p:animEffect transition="in" filter="wipe(up)">
                                      <p:cBhvr>
                                        <p:cTn id="17" dur="500"/>
                                        <p:tgtEl>
                                          <p:spTgt spid="131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07E83A0-A923-4B40-93C2-ECAE5E7508C8}"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52</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47" name="Rectangle 2"/>
          <p:cNvSpPr>
            <a:spLocks noChangeArrowheads="1"/>
          </p:cNvSpPr>
          <p:nvPr/>
        </p:nvSpPr>
        <p:spPr bwMode="auto">
          <a:xfrm>
            <a:off x="0" y="260350"/>
            <a:ext cx="7608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（二）实际电源的两个电路模型及其等效变换</a:t>
            </a:r>
          </a:p>
        </p:txBody>
      </p:sp>
      <p:sp>
        <p:nvSpPr>
          <p:cNvPr id="120835" name="Rectangle 3"/>
          <p:cNvSpPr>
            <a:spLocks noChangeArrowheads="1"/>
          </p:cNvSpPr>
          <p:nvPr/>
        </p:nvSpPr>
        <p:spPr bwMode="auto">
          <a:xfrm>
            <a:off x="395288" y="981075"/>
            <a:ext cx="28813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spcBef>
                <a:spcPct val="20000"/>
              </a:spcBef>
              <a:defRPr sz="3200">
                <a:solidFill>
                  <a:schemeClr val="tx1"/>
                </a:solidFill>
                <a:latin typeface="Arial" panose="020B0604020202020204" pitchFamily="34" charset="0"/>
                <a:ea typeface="宋体" panose="02010600030101010101" pitchFamily="2" charset="-122"/>
              </a:defRPr>
            </a:lvl1pPr>
            <a:lvl2pPr algn="ctr">
              <a:spcBef>
                <a:spcPct val="20000"/>
              </a:spcBef>
              <a:defRPr sz="2800">
                <a:solidFill>
                  <a:schemeClr val="tx1"/>
                </a:solidFill>
                <a:latin typeface="Arial" panose="020B0604020202020204" pitchFamily="34" charset="0"/>
                <a:ea typeface="宋体" panose="02010600030101010101" pitchFamily="2" charset="-122"/>
              </a:defRPr>
            </a:lvl2pPr>
            <a:lvl3pPr algn="ctr">
              <a:spcBef>
                <a:spcPct val="20000"/>
              </a:spcBef>
              <a:defRPr sz="2400">
                <a:solidFill>
                  <a:schemeClr val="tx1"/>
                </a:solidFill>
                <a:latin typeface="Arial" panose="020B0604020202020204" pitchFamily="34" charset="0"/>
                <a:ea typeface="宋体" panose="02010600030101010101" pitchFamily="2" charset="-122"/>
              </a:defRPr>
            </a:lvl3pPr>
            <a:lvl4pPr algn="ctr">
              <a:spcBef>
                <a:spcPct val="20000"/>
              </a:spcBef>
              <a:defRPr sz="2000">
                <a:solidFill>
                  <a:schemeClr val="tx1"/>
                </a:solidFill>
                <a:latin typeface="Arial" panose="020B0604020202020204" pitchFamily="34" charset="0"/>
                <a:ea typeface="宋体" panose="02010600030101010101" pitchFamily="2" charset="-122"/>
              </a:defRPr>
            </a:lvl4pPr>
            <a:lvl5pPr algn="ctr">
              <a:spcBef>
                <a:spcPct val="20000"/>
              </a:spcBef>
              <a:defRPr sz="2000">
                <a:solidFill>
                  <a:schemeClr val="tx1"/>
                </a:solidFill>
                <a:latin typeface="Arial" panose="020B0604020202020204" pitchFamily="34" charset="0"/>
                <a:ea typeface="宋体" panose="02010600030101010101" pitchFamily="2" charset="-122"/>
              </a:defRPr>
            </a:lvl5pPr>
            <a:lvl6pPr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6pPr>
            <a:lvl7pPr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7pPr>
            <a:lvl8pPr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8pPr>
            <a:lvl9pPr algn="ctr" fontAlgn="base">
              <a:spcBef>
                <a:spcPct val="20000"/>
              </a:spcBef>
              <a:spcAft>
                <a:spcPct val="0"/>
              </a:spcAft>
              <a:defRPr sz="2000">
                <a:solidFill>
                  <a:schemeClr val="tx1"/>
                </a:solidFill>
                <a:latin typeface="Arial" panose="020B0604020202020204" pitchFamily="34" charset="0"/>
                <a:ea typeface="宋体" panose="02010600030101010101" pitchFamily="2" charset="-122"/>
              </a:defRPr>
            </a:lvl9pPr>
          </a:lstStyle>
          <a:p>
            <a:pPr algn="l" eaLnBrk="1" hangingPunct="1">
              <a:defRPr/>
            </a:pPr>
            <a:endParaRPr lang="zh-CN" altLang="zh-CN" b="1" smtClean="0">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0836" name="Text Box 4"/>
          <p:cNvSpPr txBox="1">
            <a:spLocks noChangeArrowheads="1"/>
          </p:cNvSpPr>
          <p:nvPr/>
        </p:nvSpPr>
        <p:spPr bwMode="auto">
          <a:xfrm>
            <a:off x="4343400" y="3195638"/>
            <a:ext cx="36420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defRPr/>
            </a:pPr>
            <a:r>
              <a:rPr kumimoji="1" lang="en-US" altLang="zh-CN" sz="2800" b="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en-US" altLang="zh-CN" sz="2800" b="1">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0837" name="Text Box 5"/>
          <p:cNvSpPr txBox="1">
            <a:spLocks noChangeArrowheads="1"/>
          </p:cNvSpPr>
          <p:nvPr/>
        </p:nvSpPr>
        <p:spPr bwMode="auto">
          <a:xfrm>
            <a:off x="228600" y="2531487"/>
            <a:ext cx="41148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defRPr/>
            </a:pPr>
            <a:r>
              <a:rPr kumimoji="1" lang="en-US" altLang="zh-CN" sz="2800" b="1" i="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U </a:t>
            </a:r>
            <a:r>
              <a:rPr kumimoji="1" lang="en-US" altLang="zh-CN" sz="2800" b="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800" b="1" i="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U</a:t>
            </a:r>
            <a:r>
              <a:rPr kumimoji="1" lang="en-US" altLang="zh-CN" sz="2800" b="1" baseline="-250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800" b="1" i="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–R</a:t>
            </a:r>
            <a:r>
              <a:rPr kumimoji="1" lang="en-US" altLang="zh-CN" sz="2800" b="1" baseline="-250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800" b="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20838" name="Text Box 6"/>
          <p:cNvSpPr txBox="1">
            <a:spLocks noChangeArrowheads="1"/>
          </p:cNvSpPr>
          <p:nvPr/>
        </p:nvSpPr>
        <p:spPr bwMode="auto">
          <a:xfrm>
            <a:off x="4203700" y="5692849"/>
            <a:ext cx="49339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defRPr/>
            </a:pPr>
            <a:r>
              <a:rPr kumimoji="1" lang="zh-CN" altLang="en-US"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若 </a:t>
            </a:r>
            <a:r>
              <a:rPr kumimoji="1" lang="en-US" altLang="zh-CN" sz="2800" b="1"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S </a:t>
            </a:r>
            <a:r>
              <a:rPr kumimoji="1" lang="en-US" altLang="zh-CN"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0</a:t>
            </a:r>
            <a:r>
              <a:rPr kumimoji="1" lang="zh-CN" altLang="en-US"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，即为</a:t>
            </a:r>
            <a:r>
              <a:rPr kumimoji="1" lang="zh-CN" altLang="en-US" sz="2800" b="1" dirty="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理想电压源。</a:t>
            </a:r>
            <a:endParaRPr kumimoji="1" lang="zh-CN" altLang="en-US" sz="2800" b="1" baseline="-25000" dirty="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0843" name="Rectangle 11"/>
          <p:cNvSpPr>
            <a:spLocks noChangeArrowheads="1"/>
          </p:cNvSpPr>
          <p:nvPr/>
        </p:nvSpPr>
        <p:spPr bwMode="auto">
          <a:xfrm>
            <a:off x="4681538" y="1435100"/>
            <a:ext cx="1514475" cy="1760538"/>
          </a:xfrm>
          <a:prstGeom prst="rect">
            <a:avLst/>
          </a:prstGeom>
          <a:noFill/>
          <a:ln w="38100">
            <a:solidFill>
              <a:srgbClr val="990099"/>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0844" name="Text Box 12"/>
          <p:cNvSpPr txBox="1">
            <a:spLocks noChangeArrowheads="1"/>
          </p:cNvSpPr>
          <p:nvPr/>
        </p:nvSpPr>
        <p:spPr bwMode="auto">
          <a:xfrm>
            <a:off x="845468" y="5830887"/>
            <a:ext cx="32766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defRPr/>
            </a:pPr>
            <a:r>
              <a:rPr kumimoji="1" lang="zh-CN" altLang="en-US" b="1"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实际电压源的端口特性</a:t>
            </a:r>
          </a:p>
        </p:txBody>
      </p:sp>
      <p:grpSp>
        <p:nvGrpSpPr>
          <p:cNvPr id="120850" name="Group 18"/>
          <p:cNvGrpSpPr>
            <a:grpSpLocks/>
          </p:cNvGrpSpPr>
          <p:nvPr/>
        </p:nvGrpSpPr>
        <p:grpSpPr bwMode="auto">
          <a:xfrm>
            <a:off x="7010400" y="993776"/>
            <a:ext cx="719138" cy="461963"/>
            <a:chOff x="4416" y="459"/>
            <a:chExt cx="453" cy="291"/>
          </a:xfrm>
        </p:grpSpPr>
        <p:sp>
          <p:nvSpPr>
            <p:cNvPr id="120851" name="Rectangle 19"/>
            <p:cNvSpPr>
              <a:spLocks noChangeArrowheads="1"/>
            </p:cNvSpPr>
            <p:nvPr/>
          </p:nvSpPr>
          <p:spPr bwMode="auto">
            <a:xfrm>
              <a:off x="4522" y="459"/>
              <a:ext cx="19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defRPr/>
              </a:pPr>
              <a:r>
                <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endParaRPr kumimoji="1" lang="en-US" altLang="zh-CN"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92" name="Line 20"/>
            <p:cNvSpPr>
              <a:spLocks noChangeShapeType="1"/>
            </p:cNvSpPr>
            <p:nvPr/>
          </p:nvSpPr>
          <p:spPr bwMode="auto">
            <a:xfrm>
              <a:off x="4416" y="720"/>
              <a:ext cx="453" cy="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120853" name="Group 21"/>
          <p:cNvGrpSpPr>
            <a:grpSpLocks/>
          </p:cNvGrpSpPr>
          <p:nvPr/>
        </p:nvGrpSpPr>
        <p:grpSpPr bwMode="auto">
          <a:xfrm>
            <a:off x="6886575" y="1536700"/>
            <a:ext cx="1779588" cy="1558925"/>
            <a:chOff x="4338" y="779"/>
            <a:chExt cx="1121" cy="982"/>
          </a:xfrm>
        </p:grpSpPr>
        <p:sp>
          <p:nvSpPr>
            <p:cNvPr id="120854" name="Text Box 22"/>
            <p:cNvSpPr txBox="1">
              <a:spLocks noChangeArrowheads="1"/>
            </p:cNvSpPr>
            <p:nvPr/>
          </p:nvSpPr>
          <p:spPr bwMode="auto">
            <a:xfrm>
              <a:off x="5126" y="1140"/>
              <a:ext cx="33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spcBef>
                  <a:spcPct val="50000"/>
                </a:spcBef>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endParaRPr kumimoji="1"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7385" name="Group 23"/>
            <p:cNvGrpSpPr>
              <a:grpSpLocks/>
            </p:cNvGrpSpPr>
            <p:nvPr/>
          </p:nvGrpSpPr>
          <p:grpSpPr bwMode="auto">
            <a:xfrm>
              <a:off x="4338" y="779"/>
              <a:ext cx="797" cy="982"/>
              <a:chOff x="4338" y="779"/>
              <a:chExt cx="797" cy="982"/>
            </a:xfrm>
          </p:grpSpPr>
          <p:sp>
            <p:nvSpPr>
              <p:cNvPr id="57386" name="Line 24"/>
              <p:cNvSpPr>
                <a:spLocks noChangeShapeType="1"/>
              </p:cNvSpPr>
              <p:nvPr/>
            </p:nvSpPr>
            <p:spPr bwMode="auto">
              <a:xfrm>
                <a:off x="4338" y="779"/>
                <a:ext cx="750" cy="0"/>
              </a:xfrm>
              <a:prstGeom prst="line">
                <a:avLst/>
              </a:prstGeom>
              <a:noFill/>
              <a:ln w="38100">
                <a:solidFill>
                  <a:srgbClr val="005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0857" name="Rectangle 25"/>
              <p:cNvSpPr>
                <a:spLocks noChangeArrowheads="1"/>
              </p:cNvSpPr>
              <p:nvPr/>
            </p:nvSpPr>
            <p:spPr bwMode="auto">
              <a:xfrm>
                <a:off x="5010" y="1169"/>
                <a:ext cx="125" cy="215"/>
              </a:xfrm>
              <a:prstGeom prst="rect">
                <a:avLst/>
              </a:prstGeom>
              <a:noFill/>
              <a:ln w="38100">
                <a:solidFill>
                  <a:srgbClr val="005200"/>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defRPr/>
                </a:pPr>
                <a:endParaRPr kumimoji="1" lang="en-US"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88" name="Line 26"/>
              <p:cNvSpPr>
                <a:spLocks noChangeShapeType="1"/>
              </p:cNvSpPr>
              <p:nvPr/>
            </p:nvSpPr>
            <p:spPr bwMode="auto">
              <a:xfrm>
                <a:off x="5073" y="1384"/>
                <a:ext cx="0" cy="377"/>
              </a:xfrm>
              <a:prstGeom prst="line">
                <a:avLst/>
              </a:prstGeom>
              <a:noFill/>
              <a:ln w="38100">
                <a:solidFill>
                  <a:srgbClr val="005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89" name="Line 27"/>
              <p:cNvSpPr>
                <a:spLocks noChangeShapeType="1"/>
              </p:cNvSpPr>
              <p:nvPr/>
            </p:nvSpPr>
            <p:spPr bwMode="auto">
              <a:xfrm flipV="1">
                <a:off x="5073" y="792"/>
                <a:ext cx="0" cy="377"/>
              </a:xfrm>
              <a:prstGeom prst="line">
                <a:avLst/>
              </a:prstGeom>
              <a:noFill/>
              <a:ln w="38100">
                <a:solidFill>
                  <a:srgbClr val="005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90" name="Line 28"/>
              <p:cNvSpPr>
                <a:spLocks noChangeShapeType="1"/>
              </p:cNvSpPr>
              <p:nvPr/>
            </p:nvSpPr>
            <p:spPr bwMode="auto">
              <a:xfrm>
                <a:off x="4354" y="1748"/>
                <a:ext cx="734" cy="0"/>
              </a:xfrm>
              <a:prstGeom prst="line">
                <a:avLst/>
              </a:prstGeom>
              <a:noFill/>
              <a:ln w="38100">
                <a:solidFill>
                  <a:srgbClr val="005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sp>
        <p:nvSpPr>
          <p:cNvPr id="120862" name="Text Box 30"/>
          <p:cNvSpPr txBox="1">
            <a:spLocks noChangeArrowheads="1"/>
          </p:cNvSpPr>
          <p:nvPr/>
        </p:nvSpPr>
        <p:spPr bwMode="auto">
          <a:xfrm>
            <a:off x="4971837" y="2398068"/>
            <a:ext cx="503663"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spcBef>
                <a:spcPct val="50000"/>
              </a:spcBef>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7357" name="Group 31"/>
          <p:cNvGrpSpPr>
            <a:grpSpLocks/>
          </p:cNvGrpSpPr>
          <p:nvPr/>
        </p:nvGrpSpPr>
        <p:grpSpPr bwMode="auto">
          <a:xfrm>
            <a:off x="5157788" y="1371600"/>
            <a:ext cx="595312" cy="1746250"/>
            <a:chOff x="2541" y="864"/>
            <a:chExt cx="375" cy="1224"/>
          </a:xfrm>
        </p:grpSpPr>
        <p:sp>
          <p:nvSpPr>
            <p:cNvPr id="57378" name="Line 32"/>
            <p:cNvSpPr>
              <a:spLocks noChangeShapeType="1"/>
            </p:cNvSpPr>
            <p:nvPr/>
          </p:nvSpPr>
          <p:spPr bwMode="auto">
            <a:xfrm>
              <a:off x="2604" y="1418"/>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79" name="Oval 33"/>
            <p:cNvSpPr>
              <a:spLocks noChangeArrowheads="1"/>
            </p:cNvSpPr>
            <p:nvPr/>
          </p:nvSpPr>
          <p:spPr bwMode="auto">
            <a:xfrm>
              <a:off x="2666" y="1174"/>
              <a:ext cx="250" cy="244"/>
            </a:xfrm>
            <a:prstGeom prst="ellips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80" name="Line 34"/>
            <p:cNvSpPr>
              <a:spLocks noChangeShapeType="1"/>
            </p:cNvSpPr>
            <p:nvPr/>
          </p:nvSpPr>
          <p:spPr bwMode="auto">
            <a:xfrm>
              <a:off x="2791" y="991"/>
              <a:ext cx="0" cy="609"/>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0867" name="Rectangle 35"/>
            <p:cNvSpPr>
              <a:spLocks noChangeArrowheads="1"/>
            </p:cNvSpPr>
            <p:nvPr/>
          </p:nvSpPr>
          <p:spPr bwMode="auto">
            <a:xfrm>
              <a:off x="2729" y="1600"/>
              <a:ext cx="125" cy="247"/>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defRPr/>
              </a:pPr>
              <a:endParaRPr kumimoji="1" lang="en-US"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82" name="Line 36"/>
            <p:cNvSpPr>
              <a:spLocks noChangeShapeType="1"/>
            </p:cNvSpPr>
            <p:nvPr/>
          </p:nvSpPr>
          <p:spPr bwMode="auto">
            <a:xfrm>
              <a:off x="2791" y="1844"/>
              <a:ext cx="0" cy="2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0869" name="Text Box 37"/>
            <p:cNvSpPr txBox="1">
              <a:spLocks noChangeArrowheads="1"/>
            </p:cNvSpPr>
            <p:nvPr/>
          </p:nvSpPr>
          <p:spPr bwMode="auto">
            <a:xfrm>
              <a:off x="2541" y="864"/>
              <a:ext cx="250" cy="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spcBef>
                  <a:spcPct val="50000"/>
                </a:spcBef>
                <a:defRPr/>
              </a:pPr>
              <a:r>
                <a:rPr kumimoji="1" lang="en-US" altLang="zh-CN" sz="2800"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8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50000"/>
                </a:spcBef>
                <a:defRPr/>
              </a:pPr>
              <a:r>
                <a:rPr kumimoji="1" lang="en-US" altLang="zh-CN" sz="2800"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grpSp>
      <p:sp>
        <p:nvSpPr>
          <p:cNvPr id="120870" name="Rectangle 38"/>
          <p:cNvSpPr>
            <a:spLocks noChangeArrowheads="1"/>
          </p:cNvSpPr>
          <p:nvPr/>
        </p:nvSpPr>
        <p:spPr bwMode="auto">
          <a:xfrm>
            <a:off x="4827289" y="1759893"/>
            <a:ext cx="52129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1" baseline="-250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120871" name="Rectangle 39"/>
          <p:cNvSpPr>
            <a:spLocks noChangeArrowheads="1"/>
          </p:cNvSpPr>
          <p:nvPr/>
        </p:nvSpPr>
        <p:spPr bwMode="auto">
          <a:xfrm>
            <a:off x="6686802" y="2140893"/>
            <a:ext cx="40748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defRPr/>
            </a:pPr>
            <a:r>
              <a:rPr kumimoji="1" lang="en-US" altLang="zh-CN"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p>
        </p:txBody>
      </p:sp>
      <p:sp>
        <p:nvSpPr>
          <p:cNvPr id="57360" name="Line 40"/>
          <p:cNvSpPr>
            <a:spLocks noChangeShapeType="1"/>
          </p:cNvSpPr>
          <p:nvPr/>
        </p:nvSpPr>
        <p:spPr bwMode="auto">
          <a:xfrm>
            <a:off x="5549900" y="1552575"/>
            <a:ext cx="12398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61" name="Line 41"/>
          <p:cNvSpPr>
            <a:spLocks noChangeShapeType="1"/>
          </p:cNvSpPr>
          <p:nvPr/>
        </p:nvSpPr>
        <p:spPr bwMode="auto">
          <a:xfrm>
            <a:off x="5556250" y="3097213"/>
            <a:ext cx="12398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62" name="Oval 42"/>
          <p:cNvSpPr>
            <a:spLocks noChangeArrowheads="1"/>
          </p:cNvSpPr>
          <p:nvPr/>
        </p:nvSpPr>
        <p:spPr bwMode="auto">
          <a:xfrm>
            <a:off x="6789738" y="1489075"/>
            <a:ext cx="104775" cy="104775"/>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63" name="Oval 43"/>
          <p:cNvSpPr>
            <a:spLocks noChangeArrowheads="1"/>
          </p:cNvSpPr>
          <p:nvPr/>
        </p:nvSpPr>
        <p:spPr bwMode="auto">
          <a:xfrm>
            <a:off x="6789738" y="3013075"/>
            <a:ext cx="104775" cy="104775"/>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0876" name="Text Box 44"/>
          <p:cNvSpPr txBox="1">
            <a:spLocks noChangeArrowheads="1"/>
          </p:cNvSpPr>
          <p:nvPr/>
        </p:nvSpPr>
        <p:spPr bwMode="auto">
          <a:xfrm>
            <a:off x="6551613" y="1577975"/>
            <a:ext cx="728662"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sz="2800"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20877" name="Text Box 45"/>
          <p:cNvSpPr txBox="1">
            <a:spLocks noChangeArrowheads="1"/>
          </p:cNvSpPr>
          <p:nvPr/>
        </p:nvSpPr>
        <p:spPr bwMode="auto">
          <a:xfrm>
            <a:off x="6670675" y="2673350"/>
            <a:ext cx="49371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sz="2800"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20878" name="Text Box 46"/>
          <p:cNvSpPr txBox="1">
            <a:spLocks noChangeArrowheads="1"/>
          </p:cNvSpPr>
          <p:nvPr/>
        </p:nvSpPr>
        <p:spPr bwMode="auto">
          <a:xfrm>
            <a:off x="457200" y="1066800"/>
            <a:ext cx="4267200" cy="1435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110000"/>
              </a:lnSpc>
              <a:defRPr/>
            </a:pPr>
            <a:r>
              <a:rPr lang="en-US" altLang="zh-CN" sz="2600" b="1" dirty="0">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600" b="1" dirty="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实际电源模型可以</a:t>
            </a:r>
            <a:r>
              <a:rPr kumimoji="1" lang="zh-CN" altLang="en-US" sz="2600" b="1" dirty="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由电压源 </a:t>
            </a:r>
            <a:r>
              <a:rPr kumimoji="1" lang="en-US" altLang="zh-CN" sz="2600" b="1" i="1" dirty="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600" b="1" baseline="-25000" dirty="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zh-CN" altLang="en-US" sz="2600" b="1" dirty="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和内阻 </a:t>
            </a:r>
            <a:r>
              <a:rPr kumimoji="1" lang="en-US" altLang="zh-CN" sz="2600" b="1" i="1" dirty="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dirty="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 </a:t>
            </a:r>
            <a:r>
              <a:rPr kumimoji="1" lang="zh-CN" altLang="en-US" sz="2600" b="1" dirty="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串联组成</a:t>
            </a:r>
            <a:r>
              <a:rPr kumimoji="1" lang="zh-CN" altLang="en-US" sz="2600" b="1" dirty="0" smtClean="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a:p>
            <a:pPr eaLnBrk="1" hangingPunct="1">
              <a:lnSpc>
                <a:spcPct val="110000"/>
              </a:lnSpc>
              <a:defRPr/>
            </a:pPr>
            <a:r>
              <a:rPr kumimoji="1" lang="zh-CN" altLang="en-US" sz="2600"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其端口伏安特性可表示为</a:t>
            </a:r>
            <a:r>
              <a:rPr kumimoji="1" lang="zh-CN" altLang="en-US" sz="2800"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endParaRPr kumimoji="1" lang="zh-CN" altLang="en-US"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67" name="Text Box 52"/>
          <p:cNvSpPr txBox="1">
            <a:spLocks noChangeArrowheads="1"/>
          </p:cNvSpPr>
          <p:nvPr/>
        </p:nvSpPr>
        <p:spPr bwMode="auto">
          <a:xfrm>
            <a:off x="4038922" y="4558543"/>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0841" name="Line 9"/>
          <p:cNvSpPr>
            <a:spLocks noChangeShapeType="1"/>
          </p:cNvSpPr>
          <p:nvPr/>
        </p:nvSpPr>
        <p:spPr bwMode="auto">
          <a:xfrm>
            <a:off x="1390650" y="4079875"/>
            <a:ext cx="2168525" cy="1319213"/>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0842" name="Text Box 10"/>
          <p:cNvSpPr txBox="1">
            <a:spLocks noChangeArrowheads="1"/>
          </p:cNvSpPr>
          <p:nvPr/>
        </p:nvSpPr>
        <p:spPr bwMode="auto">
          <a:xfrm>
            <a:off x="792163" y="4037013"/>
            <a:ext cx="12652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lang="en-US" altLang="zh-CN" b="1" i="1">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1" baseline="-2500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0C</a:t>
            </a:r>
            <a:endParaRPr lang="en-US" altLang="zh-CN" sz="2800" b="1" i="1">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70" name="Line 14"/>
          <p:cNvSpPr>
            <a:spLocks noChangeShapeType="1"/>
          </p:cNvSpPr>
          <p:nvPr/>
        </p:nvSpPr>
        <p:spPr bwMode="auto">
          <a:xfrm>
            <a:off x="838200" y="5280025"/>
            <a:ext cx="3076575" cy="381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7371" name="Line 15"/>
          <p:cNvSpPr>
            <a:spLocks noChangeShapeType="1"/>
          </p:cNvSpPr>
          <p:nvPr/>
        </p:nvSpPr>
        <p:spPr bwMode="auto">
          <a:xfrm flipH="1" flipV="1">
            <a:off x="1597025" y="3733800"/>
            <a:ext cx="3175" cy="18891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0848" name="Text Box 16"/>
          <p:cNvSpPr txBox="1">
            <a:spLocks noChangeArrowheads="1"/>
          </p:cNvSpPr>
          <p:nvPr/>
        </p:nvSpPr>
        <p:spPr bwMode="auto">
          <a:xfrm>
            <a:off x="3581400" y="5360988"/>
            <a:ext cx="30489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20849" name="Text Box 17"/>
          <p:cNvSpPr txBox="1">
            <a:spLocks noChangeArrowheads="1"/>
          </p:cNvSpPr>
          <p:nvPr/>
        </p:nvSpPr>
        <p:spPr bwMode="auto">
          <a:xfrm>
            <a:off x="1652588" y="3657600"/>
            <a:ext cx="40748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p>
        </p:txBody>
      </p:sp>
      <p:sp>
        <p:nvSpPr>
          <p:cNvPr id="120882" name="Text Box 50"/>
          <p:cNvSpPr txBox="1">
            <a:spLocks noChangeArrowheads="1"/>
          </p:cNvSpPr>
          <p:nvPr/>
        </p:nvSpPr>
        <p:spPr bwMode="auto">
          <a:xfrm>
            <a:off x="930527" y="5284143"/>
            <a:ext cx="40748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spcBef>
                <a:spcPct val="50000"/>
              </a:spcBef>
              <a:defRPr/>
            </a:pPr>
            <a:r>
              <a:rPr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O</a:t>
            </a:r>
          </a:p>
        </p:txBody>
      </p:sp>
      <p:sp>
        <p:nvSpPr>
          <p:cNvPr id="57375" name="Text Box 53"/>
          <p:cNvSpPr txBox="1">
            <a:spLocks noChangeArrowheads="1"/>
          </p:cNvSpPr>
          <p:nvPr/>
        </p:nvSpPr>
        <p:spPr bwMode="auto">
          <a:xfrm>
            <a:off x="3200400" y="46482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i="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400" b="1" baseline="-2500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SC</a:t>
            </a:r>
          </a:p>
        </p:txBody>
      </p:sp>
      <p:sp>
        <p:nvSpPr>
          <p:cNvPr id="120887" name="Text Box 55"/>
          <p:cNvSpPr txBox="1">
            <a:spLocks noChangeArrowheads="1"/>
          </p:cNvSpPr>
          <p:nvPr/>
        </p:nvSpPr>
        <p:spPr bwMode="auto">
          <a:xfrm>
            <a:off x="4211960" y="3347281"/>
            <a:ext cx="4179887"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lnSpc>
                <a:spcPct val="120000"/>
              </a:lnSpc>
              <a:spcBef>
                <a:spcPct val="50000"/>
              </a:spcBef>
              <a:defRPr/>
            </a:pPr>
            <a:r>
              <a:rPr lang="en-US" altLang="zh-CN" sz="2800" b="1"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en-US" altLang="zh-CN" b="1"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1"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OC </a:t>
            </a:r>
            <a:r>
              <a:rPr lang="zh-CN" altLang="en-US"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称为</a:t>
            </a:r>
            <a:r>
              <a:rPr lang="zh-CN" altLang="en-US" b="1" dirty="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开路电压（负载电阻为无穷大），</a:t>
            </a:r>
            <a:r>
              <a:rPr lang="en-US" altLang="zh-CN" b="1" i="1" dirty="0">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1" baseline="-25000" dirty="0">
                <a:latin typeface="Times New Roman" panose="02020603050405020304" pitchFamily="18" charset="0"/>
                <a:ea typeface="华文中宋" panose="02010600040101010101" pitchFamily="2" charset="-122"/>
                <a:cs typeface="Times New Roman" panose="02020603050405020304" pitchFamily="18" charset="0"/>
              </a:rPr>
              <a:t>SC</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称为</a:t>
            </a:r>
            <a:r>
              <a:rPr lang="zh-CN" altLang="en-US"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短路电流</a:t>
            </a:r>
            <a:r>
              <a:rPr lang="zh-CN" altLang="en-US" b="1" dirty="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（负载电阻为</a:t>
            </a:r>
            <a:r>
              <a:rPr lang="en-US" altLang="zh-CN" b="1" dirty="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r>
              <a:rPr lang="zh-CN" altLang="en-US" b="1" dirty="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lang="zh-CN" altLang="en-US" b="1" dirty="0">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120889" name="Object 57"/>
          <p:cNvGraphicFramePr>
            <a:graphicFrameLocks noChangeAspect="1"/>
          </p:cNvGraphicFramePr>
          <p:nvPr>
            <p:extLst>
              <p:ext uri="{D42A27DB-BD31-4B8C-83A1-F6EECF244321}">
                <p14:modId xmlns:p14="http://schemas.microsoft.com/office/powerpoint/2010/main" val="3584083495"/>
              </p:ext>
            </p:extLst>
          </p:nvPr>
        </p:nvGraphicFramePr>
        <p:xfrm>
          <a:off x="4551362" y="4731052"/>
          <a:ext cx="3402013" cy="1069975"/>
        </p:xfrm>
        <a:graphic>
          <a:graphicData uri="http://schemas.openxmlformats.org/presentationml/2006/ole">
            <mc:AlternateContent xmlns:mc="http://schemas.openxmlformats.org/markup-compatibility/2006">
              <mc:Choice xmlns:v="urn:schemas-microsoft-com:vml" Requires="v">
                <p:oleObj spid="_x0000_s57423" name="Equation" r:id="rId3" imgW="1371600" imgH="431800" progId="Equation.3">
                  <p:embed/>
                </p:oleObj>
              </mc:Choice>
              <mc:Fallback>
                <p:oleObj name="Equation" r:id="rId3" imgW="1371600" imgH="431800" progId="Equation.3">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1362" y="4731052"/>
                        <a:ext cx="3402013"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120835">
                                            <p:txEl>
                                              <p:pRg st="0" end="0"/>
                                            </p:txEl>
                                          </p:spTgt>
                                        </p:tgtEl>
                                        <p:attrNameLst>
                                          <p:attrName>style.visibility</p:attrName>
                                        </p:attrNameLst>
                                      </p:cBhvr>
                                      <p:to>
                                        <p:strVal val="visible"/>
                                      </p:to>
                                    </p:set>
                                    <p:animEffect transition="in" filter="wipe(left)">
                                      <p:cBhvr>
                                        <p:cTn id="7" dur="500"/>
                                        <p:tgtEl>
                                          <p:spTgt spid="1208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878"/>
                                        </p:tgtEl>
                                        <p:attrNameLst>
                                          <p:attrName>style.visibility</p:attrName>
                                        </p:attrNameLst>
                                      </p:cBhvr>
                                      <p:to>
                                        <p:strVal val="visible"/>
                                      </p:to>
                                    </p:set>
                                    <p:animEffect transition="in" filter="wipe(left)">
                                      <p:cBhvr>
                                        <p:cTn id="12" dur="500"/>
                                        <p:tgtEl>
                                          <p:spTgt spid="1208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20843"/>
                                        </p:tgtEl>
                                        <p:attrNameLst>
                                          <p:attrName>style.visibility</p:attrName>
                                        </p:attrNameLst>
                                      </p:cBhvr>
                                      <p:to>
                                        <p:strVal val="visible"/>
                                      </p:to>
                                    </p:set>
                                    <p:animEffect transition="in" filter="barn(outVertical)">
                                      <p:cBhvr>
                                        <p:cTn id="17" dur="500"/>
                                        <p:tgtEl>
                                          <p:spTgt spid="120843"/>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20836"/>
                                        </p:tgtEl>
                                        <p:attrNameLst>
                                          <p:attrName>style.visibility</p:attrName>
                                        </p:attrNameLst>
                                      </p:cBhvr>
                                      <p:to>
                                        <p:strVal val="visible"/>
                                      </p:to>
                                    </p:set>
                                    <p:animEffect transition="in" filter="wipe(left)">
                                      <p:cBhvr>
                                        <p:cTn id="21" dur="500"/>
                                        <p:tgtEl>
                                          <p:spTgt spid="12083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20853"/>
                                        </p:tgtEl>
                                        <p:attrNameLst>
                                          <p:attrName>style.visibility</p:attrName>
                                        </p:attrNameLst>
                                      </p:cBhvr>
                                      <p:to>
                                        <p:strVal val="visible"/>
                                      </p:to>
                                    </p:set>
                                    <p:animEffect transition="in" filter="wipe(left)">
                                      <p:cBhvr>
                                        <p:cTn id="26" dur="500"/>
                                        <p:tgtEl>
                                          <p:spTgt spid="120853"/>
                                        </p:tgtEl>
                                      </p:cBhvr>
                                    </p:animEffect>
                                  </p:childTnLst>
                                </p:cTn>
                              </p:par>
                            </p:childTnLst>
                          </p:cTn>
                        </p:par>
                        <p:par>
                          <p:cTn id="27" fill="hold" nodeType="afterGroup">
                            <p:stCondLst>
                              <p:cond delay="500"/>
                            </p:stCondLst>
                            <p:childTnLst>
                              <p:par>
                                <p:cTn id="28" presetID="22" presetClass="entr" presetSubtype="8" fill="hold" nodeType="afterEffect">
                                  <p:stCondLst>
                                    <p:cond delay="0"/>
                                  </p:stCondLst>
                                  <p:childTnLst>
                                    <p:set>
                                      <p:cBhvr>
                                        <p:cTn id="29" dur="1" fill="hold">
                                          <p:stCondLst>
                                            <p:cond delay="0"/>
                                          </p:stCondLst>
                                        </p:cTn>
                                        <p:tgtEl>
                                          <p:spTgt spid="120850"/>
                                        </p:tgtEl>
                                        <p:attrNameLst>
                                          <p:attrName>style.visibility</p:attrName>
                                        </p:attrNameLst>
                                      </p:cBhvr>
                                      <p:to>
                                        <p:strVal val="visible"/>
                                      </p:to>
                                    </p:set>
                                    <p:animEffect transition="in" filter="wipe(left)">
                                      <p:cBhvr>
                                        <p:cTn id="30" dur="500"/>
                                        <p:tgtEl>
                                          <p:spTgt spid="12085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0837"/>
                                        </p:tgtEl>
                                        <p:attrNameLst>
                                          <p:attrName>style.visibility</p:attrName>
                                        </p:attrNameLst>
                                      </p:cBhvr>
                                      <p:to>
                                        <p:strVal val="visible"/>
                                      </p:to>
                                    </p:set>
                                    <p:animEffect transition="in" filter="wipe(left)">
                                      <p:cBhvr>
                                        <p:cTn id="35" dur="500"/>
                                        <p:tgtEl>
                                          <p:spTgt spid="120837"/>
                                        </p:tgtEl>
                                      </p:cBhvr>
                                    </p:animEffect>
                                  </p:childTnLst>
                                </p:cTn>
                              </p:par>
                            </p:childTnLst>
                          </p:cTn>
                        </p:par>
                        <p:par>
                          <p:cTn id="36" fill="hold" nodeType="afterGroup">
                            <p:stCondLst>
                              <p:cond delay="500"/>
                            </p:stCondLst>
                            <p:childTnLst>
                              <p:par>
                                <p:cTn id="37" presetID="1" presetClass="entr" presetSubtype="0" fill="hold" grpId="0" nodeType="afterEffect">
                                  <p:stCondLst>
                                    <p:cond delay="0"/>
                                  </p:stCondLst>
                                  <p:childTnLst>
                                    <p:set>
                                      <p:cBhvr>
                                        <p:cTn id="38" dur="1" fill="hold">
                                          <p:stCondLst>
                                            <p:cond delay="499"/>
                                          </p:stCondLst>
                                        </p:cTn>
                                        <p:tgtEl>
                                          <p:spTgt spid="12088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20842"/>
                                        </p:tgtEl>
                                        <p:attrNameLst>
                                          <p:attrName>style.visibility</p:attrName>
                                        </p:attrNameLst>
                                      </p:cBhvr>
                                      <p:to>
                                        <p:strVal val="visible"/>
                                      </p:to>
                                    </p:set>
                                    <p:animEffect transition="in" filter="wipe(left)">
                                      <p:cBhvr>
                                        <p:cTn id="43" dur="500"/>
                                        <p:tgtEl>
                                          <p:spTgt spid="12084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8" presetClass="entr" presetSubtype="6" fill="hold" grpId="0" nodeType="clickEffect">
                                  <p:stCondLst>
                                    <p:cond delay="0"/>
                                  </p:stCondLst>
                                  <p:childTnLst>
                                    <p:set>
                                      <p:cBhvr>
                                        <p:cTn id="47" dur="1" fill="hold">
                                          <p:stCondLst>
                                            <p:cond delay="0"/>
                                          </p:stCondLst>
                                        </p:cTn>
                                        <p:tgtEl>
                                          <p:spTgt spid="120841"/>
                                        </p:tgtEl>
                                        <p:attrNameLst>
                                          <p:attrName>style.visibility</p:attrName>
                                        </p:attrNameLst>
                                      </p:cBhvr>
                                      <p:to>
                                        <p:strVal val="visible"/>
                                      </p:to>
                                    </p:set>
                                    <p:animEffect transition="in" filter="strips(downRight)">
                                      <p:cBhvr>
                                        <p:cTn id="48" dur="500"/>
                                        <p:tgtEl>
                                          <p:spTgt spid="12084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20844"/>
                                        </p:tgtEl>
                                        <p:attrNameLst>
                                          <p:attrName>style.visibility</p:attrName>
                                        </p:attrNameLst>
                                      </p:cBhvr>
                                      <p:to>
                                        <p:strVal val="visible"/>
                                      </p:to>
                                    </p:set>
                                    <p:animEffect transition="in" filter="wipe(left)">
                                      <p:cBhvr>
                                        <p:cTn id="53" dur="500"/>
                                        <p:tgtEl>
                                          <p:spTgt spid="12084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20838"/>
                                        </p:tgtEl>
                                        <p:attrNameLst>
                                          <p:attrName>style.visibility</p:attrName>
                                        </p:attrNameLst>
                                      </p:cBhvr>
                                      <p:to>
                                        <p:strVal val="visible"/>
                                      </p:to>
                                    </p:set>
                                    <p:animEffect transition="in" filter="wipe(left)">
                                      <p:cBhvr>
                                        <p:cTn id="58" dur="500"/>
                                        <p:tgtEl>
                                          <p:spTgt spid="120838"/>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120887"/>
                                        </p:tgtEl>
                                        <p:attrNameLst>
                                          <p:attrName>style.visibility</p:attrName>
                                        </p:attrNameLst>
                                      </p:cBhvr>
                                      <p:to>
                                        <p:strVal val="visible"/>
                                      </p:to>
                                    </p:set>
                                    <p:anim calcmode="lin" valueType="num">
                                      <p:cBhvr additive="base">
                                        <p:cTn id="63" dur="500" fill="hold"/>
                                        <p:tgtEl>
                                          <p:spTgt spid="120887"/>
                                        </p:tgtEl>
                                        <p:attrNameLst>
                                          <p:attrName>ppt_x</p:attrName>
                                        </p:attrNameLst>
                                      </p:cBhvr>
                                      <p:tavLst>
                                        <p:tav tm="0">
                                          <p:val>
                                            <p:strVal val="#ppt_x"/>
                                          </p:val>
                                        </p:tav>
                                        <p:tav tm="100000">
                                          <p:val>
                                            <p:strVal val="#ppt_x"/>
                                          </p:val>
                                        </p:tav>
                                      </p:tavLst>
                                    </p:anim>
                                    <p:anim calcmode="lin" valueType="num">
                                      <p:cBhvr additive="base">
                                        <p:cTn id="64" dur="500" fill="hold"/>
                                        <p:tgtEl>
                                          <p:spTgt spid="120887"/>
                                        </p:tgtEl>
                                        <p:attrNameLst>
                                          <p:attrName>ppt_y</p:attrName>
                                        </p:attrNameLst>
                                      </p:cBhvr>
                                      <p:tavLst>
                                        <p:tav tm="0">
                                          <p:val>
                                            <p:strVal val="1+#ppt_h/2"/>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4" presetClass="entr" presetSubtype="16" fill="hold" nodeType="clickEffect">
                                  <p:stCondLst>
                                    <p:cond delay="0"/>
                                  </p:stCondLst>
                                  <p:childTnLst>
                                    <p:set>
                                      <p:cBhvr>
                                        <p:cTn id="68" dur="1" fill="hold">
                                          <p:stCondLst>
                                            <p:cond delay="0"/>
                                          </p:stCondLst>
                                        </p:cTn>
                                        <p:tgtEl>
                                          <p:spTgt spid="120889"/>
                                        </p:tgtEl>
                                        <p:attrNameLst>
                                          <p:attrName>style.visibility</p:attrName>
                                        </p:attrNameLst>
                                      </p:cBhvr>
                                      <p:to>
                                        <p:strVal val="visible"/>
                                      </p:to>
                                    </p:set>
                                    <p:animEffect transition="in" filter="box(in)">
                                      <p:cBhvr>
                                        <p:cTn id="69" dur="500"/>
                                        <p:tgtEl>
                                          <p:spTgt spid="1208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autoUpdateAnimBg="0"/>
      <p:bldP spid="120836" grpId="0" autoUpdateAnimBg="0"/>
      <p:bldP spid="120837" grpId="0" autoUpdateAnimBg="0"/>
      <p:bldP spid="120838" grpId="0" autoUpdateAnimBg="0"/>
      <p:bldP spid="120843" grpId="0" animBg="1"/>
      <p:bldP spid="120844" grpId="0" autoUpdateAnimBg="0"/>
      <p:bldP spid="120878" grpId="0" autoUpdateAnimBg="0"/>
      <p:bldP spid="120841" grpId="0" animBg="1"/>
      <p:bldP spid="120842" grpId="0" autoUpdateAnimBg="0"/>
      <p:bldP spid="120882" grpId="0" autoUpdateAnimBg="0"/>
      <p:bldP spid="12088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2E6414A-04ED-40D0-9931-55DF29070F99}"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53</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graphicFrame>
        <p:nvGraphicFramePr>
          <p:cNvPr id="122883" name="Object 3" descr="75%"/>
          <p:cNvGraphicFramePr>
            <a:graphicFrameLocks noChangeAspect="1"/>
          </p:cNvGraphicFramePr>
          <p:nvPr>
            <p:extLst>
              <p:ext uri="{D42A27DB-BD31-4B8C-83A1-F6EECF244321}">
                <p14:modId xmlns:p14="http://schemas.microsoft.com/office/powerpoint/2010/main" val="2903265763"/>
              </p:ext>
            </p:extLst>
          </p:nvPr>
        </p:nvGraphicFramePr>
        <p:xfrm>
          <a:off x="4234677" y="3547526"/>
          <a:ext cx="1863725" cy="838583"/>
        </p:xfrm>
        <a:graphic>
          <a:graphicData uri="http://schemas.openxmlformats.org/presentationml/2006/ole">
            <mc:AlternateContent xmlns:mc="http://schemas.openxmlformats.org/markup-compatibility/2006">
              <mc:Choice xmlns:v="urn:schemas-microsoft-com:vml" Requires="v">
                <p:oleObj spid="_x0000_s58485" name="公式" r:id="rId3" imgW="888840" imgH="444240" progId="Equation.3">
                  <p:embed/>
                </p:oleObj>
              </mc:Choice>
              <mc:Fallback>
                <p:oleObj name="公式" r:id="rId3" imgW="888840" imgH="444240" progId="Equation.3">
                  <p:embed/>
                  <p:pic>
                    <p:nvPicPr>
                      <p:cNvPr id="0" name="Object 3" descr="75%"/>
                      <p:cNvPicPr>
                        <a:picLocks noChangeAspect="1" noChangeArrowheads="1"/>
                      </p:cNvPicPr>
                      <p:nvPr/>
                    </p:nvPicPr>
                    <p:blipFill>
                      <a:blip r:embed="rId4"/>
                      <a:srcRect/>
                      <a:stretch>
                        <a:fillRect/>
                      </a:stretch>
                    </p:blipFill>
                    <p:spPr bwMode="auto">
                      <a:xfrm>
                        <a:off x="4234677" y="3547526"/>
                        <a:ext cx="1863725" cy="838583"/>
                      </a:xfrm>
                      <a:prstGeom prst="rect">
                        <a:avLst/>
                      </a:prstGeom>
                      <a:noFill/>
                      <a:ln>
                        <a:noFill/>
                      </a:ln>
                      <a:effectLst/>
                      <a:extLst/>
                    </p:spPr>
                  </p:pic>
                </p:oleObj>
              </mc:Fallback>
            </mc:AlternateContent>
          </a:graphicData>
        </a:graphic>
      </p:graphicFrame>
      <p:grpSp>
        <p:nvGrpSpPr>
          <p:cNvPr id="122884" name="Group 4"/>
          <p:cNvGrpSpPr>
            <a:grpSpLocks/>
          </p:cNvGrpSpPr>
          <p:nvPr/>
        </p:nvGrpSpPr>
        <p:grpSpPr bwMode="auto">
          <a:xfrm>
            <a:off x="7219950" y="304800"/>
            <a:ext cx="934468" cy="522462"/>
            <a:chOff x="2160" y="523"/>
            <a:chExt cx="918" cy="312"/>
          </a:xfrm>
        </p:grpSpPr>
        <p:sp>
          <p:nvSpPr>
            <p:cNvPr id="58423" name="Line 5"/>
            <p:cNvSpPr>
              <a:spLocks noChangeShapeType="1"/>
            </p:cNvSpPr>
            <p:nvPr/>
          </p:nvSpPr>
          <p:spPr bwMode="auto">
            <a:xfrm>
              <a:off x="2160" y="660"/>
              <a:ext cx="554" cy="0"/>
            </a:xfrm>
            <a:prstGeom prst="line">
              <a:avLst/>
            </a:prstGeom>
            <a:noFill/>
            <a:ln w="3810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886" name="Rectangle 6"/>
            <p:cNvSpPr>
              <a:spLocks noChangeArrowheads="1"/>
            </p:cNvSpPr>
            <p:nvPr/>
          </p:nvSpPr>
          <p:spPr bwMode="auto">
            <a:xfrm>
              <a:off x="2760" y="523"/>
              <a:ext cx="318"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lang="en-US" altLang="zh-CN" sz="2800" b="1" i="1">
                  <a:solidFill>
                    <a:srgbClr val="CC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grpSp>
      <p:sp>
        <p:nvSpPr>
          <p:cNvPr id="122908" name="Text Box 28"/>
          <p:cNvSpPr txBox="1">
            <a:spLocks noChangeArrowheads="1"/>
          </p:cNvSpPr>
          <p:nvPr/>
        </p:nvSpPr>
        <p:spPr bwMode="auto">
          <a:xfrm>
            <a:off x="533400" y="685800"/>
            <a:ext cx="3962400" cy="21236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1" hangingPunct="1">
              <a:defRPr/>
            </a:pPr>
            <a:r>
              <a:rPr kumimoji="1" lang="en-US" altLang="zh-CN" sz="2600" b="1" dirty="0">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dirty="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实际电源模型可以由电流源是 </a:t>
            </a:r>
            <a:r>
              <a:rPr kumimoji="1" lang="en-US" altLang="zh-CN" sz="2600" b="1" i="1" dirty="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600" b="1" baseline="-25000" dirty="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 </a:t>
            </a:r>
            <a:r>
              <a:rPr kumimoji="1" lang="zh-CN" altLang="en-US" sz="2600" b="1" dirty="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和内阻 </a:t>
            </a:r>
            <a:r>
              <a:rPr kumimoji="1" lang="en-US" altLang="zh-CN" sz="2600" b="1" i="1" dirty="0" smtClean="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dirty="0" smtClean="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 </a:t>
            </a:r>
            <a:r>
              <a:rPr kumimoji="1" lang="zh-CN" altLang="en-US" sz="2600" b="1" dirty="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并联组成</a:t>
            </a:r>
            <a:r>
              <a:rPr kumimoji="1" lang="zh-CN" altLang="en-US" sz="2600" b="1" dirty="0" smtClean="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其端口伏安特性可表示为</a:t>
            </a:r>
            <a:r>
              <a:rPr kumimoji="1" lang="zh-CN" altLang="en-US"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p>
          <a:p>
            <a:pPr algn="just" eaLnBrk="1" hangingPunct="1">
              <a:defRPr/>
            </a:pPr>
            <a:endParaRPr kumimoji="1" lang="zh-CN" altLang="en-US" sz="2600" b="1" dirty="0">
              <a:solidFill>
                <a:schemeClr val="hlink"/>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911" name="Text Box 31"/>
          <p:cNvSpPr txBox="1">
            <a:spLocks noChangeArrowheads="1"/>
          </p:cNvSpPr>
          <p:nvPr/>
        </p:nvSpPr>
        <p:spPr bwMode="auto">
          <a:xfrm>
            <a:off x="3908425" y="5768255"/>
            <a:ext cx="50292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1" hangingPunct="1">
              <a:defRPr/>
            </a:pPr>
            <a:r>
              <a:rPr kumimoji="1" lang="zh-CN" altLang="en-US"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若 </a:t>
            </a:r>
            <a:r>
              <a:rPr kumimoji="1" lang="en-US" altLang="zh-CN" sz="2800" b="1"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baseline="-25000"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r>
              <a:rPr kumimoji="1" lang="en-US" altLang="zh-CN" sz="2800" b="1" dirty="0" smtClean="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zh-CN" altLang="en-US"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，则为</a:t>
            </a:r>
            <a:r>
              <a:rPr kumimoji="1" lang="zh-CN" altLang="en-US" sz="2800" b="1" dirty="0">
                <a:solidFill>
                  <a:srgbClr val="3333FF"/>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理想电流源。</a:t>
            </a:r>
            <a:r>
              <a:rPr lang="zh-CN" altLang="en-US" b="1" baseline="-25000"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p>
        </p:txBody>
      </p:sp>
      <p:grpSp>
        <p:nvGrpSpPr>
          <p:cNvPr id="58375" name="Group 68"/>
          <p:cNvGrpSpPr>
            <a:grpSpLocks/>
          </p:cNvGrpSpPr>
          <p:nvPr/>
        </p:nvGrpSpPr>
        <p:grpSpPr bwMode="auto">
          <a:xfrm>
            <a:off x="4878389" y="609600"/>
            <a:ext cx="3886201" cy="2133600"/>
            <a:chOff x="3073" y="384"/>
            <a:chExt cx="2448" cy="1344"/>
          </a:xfrm>
        </p:grpSpPr>
        <p:sp>
          <p:nvSpPr>
            <p:cNvPr id="58388" name="Rectangle 7"/>
            <p:cNvSpPr>
              <a:spLocks noChangeArrowheads="1"/>
            </p:cNvSpPr>
            <p:nvPr/>
          </p:nvSpPr>
          <p:spPr bwMode="auto">
            <a:xfrm>
              <a:off x="3095" y="384"/>
              <a:ext cx="1417" cy="1344"/>
            </a:xfrm>
            <a:prstGeom prst="rect">
              <a:avLst/>
            </a:prstGeom>
            <a:noFill/>
            <a:ln w="38100">
              <a:solidFill>
                <a:schemeClr val="accent2"/>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8389" name="Group 8"/>
            <p:cNvGrpSpPr>
              <a:grpSpLocks/>
            </p:cNvGrpSpPr>
            <p:nvPr/>
          </p:nvGrpSpPr>
          <p:grpSpPr bwMode="auto">
            <a:xfrm>
              <a:off x="4720" y="531"/>
              <a:ext cx="801" cy="1094"/>
              <a:chOff x="2318" y="850"/>
              <a:chExt cx="1001" cy="1368"/>
            </a:xfrm>
          </p:grpSpPr>
          <p:sp>
            <p:nvSpPr>
              <p:cNvPr id="122889" name="Text Box 9"/>
              <p:cNvSpPr txBox="1">
                <a:spLocks noChangeArrowheads="1"/>
              </p:cNvSpPr>
              <p:nvPr/>
            </p:nvSpPr>
            <p:spPr bwMode="auto">
              <a:xfrm>
                <a:off x="2856" y="1361"/>
                <a:ext cx="463" cy="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spcBef>
                    <a:spcPct val="50000"/>
                  </a:spcBef>
                  <a:defRPr/>
                </a:pPr>
                <a:r>
                  <a:rPr kumimoji="1" lang="en-US" altLang="zh-CN" sz="2800"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endParaRPr kumimoji="1" lang="en-US" altLang="zh-CN"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8417" name="Group 10"/>
              <p:cNvGrpSpPr>
                <a:grpSpLocks/>
              </p:cNvGrpSpPr>
              <p:nvPr/>
            </p:nvGrpSpPr>
            <p:grpSpPr bwMode="auto">
              <a:xfrm>
                <a:off x="2738" y="850"/>
                <a:ext cx="153" cy="1368"/>
                <a:chOff x="2784" y="912"/>
                <a:chExt cx="96" cy="864"/>
              </a:xfrm>
            </p:grpSpPr>
            <p:sp>
              <p:nvSpPr>
                <p:cNvPr id="122891" name="Rectangle 11"/>
                <p:cNvSpPr>
                  <a:spLocks noChangeArrowheads="1"/>
                </p:cNvSpPr>
                <p:nvPr/>
              </p:nvSpPr>
              <p:spPr bwMode="auto">
                <a:xfrm>
                  <a:off x="2784" y="1248"/>
                  <a:ext cx="96" cy="193"/>
                </a:xfrm>
                <a:prstGeom prst="rect">
                  <a:avLst/>
                </a:prstGeom>
                <a:noFill/>
                <a:ln w="38100">
                  <a:solidFill>
                    <a:srgbClr val="CC33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defRPr/>
                  </a:pPr>
                  <a:endParaRPr kumimoji="1" lang="en-US"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21" name="Line 12"/>
                <p:cNvSpPr>
                  <a:spLocks noChangeShapeType="1"/>
                </p:cNvSpPr>
                <p:nvPr/>
              </p:nvSpPr>
              <p:spPr bwMode="auto">
                <a:xfrm>
                  <a:off x="2832" y="1440"/>
                  <a:ext cx="0" cy="336"/>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22" name="Line 13"/>
                <p:cNvSpPr>
                  <a:spLocks noChangeShapeType="1"/>
                </p:cNvSpPr>
                <p:nvPr/>
              </p:nvSpPr>
              <p:spPr bwMode="auto">
                <a:xfrm flipV="1">
                  <a:off x="2832" y="912"/>
                  <a:ext cx="0" cy="336"/>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418" name="Line 14"/>
              <p:cNvSpPr>
                <a:spLocks noChangeShapeType="1"/>
              </p:cNvSpPr>
              <p:nvPr/>
            </p:nvSpPr>
            <p:spPr bwMode="auto">
              <a:xfrm flipV="1">
                <a:off x="2340" y="2218"/>
                <a:ext cx="494" cy="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19" name="Line 15"/>
              <p:cNvSpPr>
                <a:spLocks noChangeShapeType="1"/>
              </p:cNvSpPr>
              <p:nvPr/>
            </p:nvSpPr>
            <p:spPr bwMode="auto">
              <a:xfrm>
                <a:off x="2318" y="850"/>
                <a:ext cx="516" cy="0"/>
              </a:xfrm>
              <a:prstGeom prst="line">
                <a:avLst/>
              </a:prstGeom>
              <a:noFill/>
              <a:ln w="381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58390" name="Group 67"/>
            <p:cNvGrpSpPr>
              <a:grpSpLocks/>
            </p:cNvGrpSpPr>
            <p:nvPr/>
          </p:nvGrpSpPr>
          <p:grpSpPr bwMode="auto">
            <a:xfrm>
              <a:off x="3442" y="546"/>
              <a:ext cx="245" cy="1094"/>
              <a:chOff x="3442" y="546"/>
              <a:chExt cx="245" cy="1094"/>
            </a:xfrm>
          </p:grpSpPr>
          <p:grpSp>
            <p:nvGrpSpPr>
              <p:cNvPr id="58411" name="Group 38"/>
              <p:cNvGrpSpPr>
                <a:grpSpLocks/>
              </p:cNvGrpSpPr>
              <p:nvPr/>
            </p:nvGrpSpPr>
            <p:grpSpPr bwMode="auto">
              <a:xfrm flipV="1">
                <a:off x="3442" y="971"/>
                <a:ext cx="245" cy="244"/>
                <a:chOff x="1344" y="1872"/>
                <a:chExt cx="192" cy="192"/>
              </a:xfrm>
            </p:grpSpPr>
            <p:sp>
              <p:nvSpPr>
                <p:cNvPr id="58414" name="Oval 39"/>
                <p:cNvSpPr>
                  <a:spLocks noChangeArrowheads="1"/>
                </p:cNvSpPr>
                <p:nvPr/>
              </p:nvSpPr>
              <p:spPr bwMode="auto">
                <a:xfrm>
                  <a:off x="1344" y="1872"/>
                  <a:ext cx="192" cy="192"/>
                </a:xfrm>
                <a:prstGeom prst="ellips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15" name="Line 40"/>
                <p:cNvSpPr>
                  <a:spLocks noChangeShapeType="1"/>
                </p:cNvSpPr>
                <p:nvPr/>
              </p:nvSpPr>
              <p:spPr bwMode="auto">
                <a:xfrm>
                  <a:off x="1344" y="1968"/>
                  <a:ext cx="192" cy="0"/>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412" name="Line 41"/>
              <p:cNvSpPr>
                <a:spLocks noChangeShapeType="1"/>
              </p:cNvSpPr>
              <p:nvPr/>
            </p:nvSpPr>
            <p:spPr bwMode="auto">
              <a:xfrm>
                <a:off x="3565" y="1215"/>
                <a:ext cx="0" cy="4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13" name="Line 42"/>
              <p:cNvSpPr>
                <a:spLocks noChangeShapeType="1"/>
              </p:cNvSpPr>
              <p:nvPr/>
            </p:nvSpPr>
            <p:spPr bwMode="auto">
              <a:xfrm>
                <a:off x="3565" y="546"/>
                <a:ext cx="0" cy="4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8391" name="Line 43"/>
            <p:cNvSpPr>
              <a:spLocks noChangeShapeType="1"/>
            </p:cNvSpPr>
            <p:nvPr/>
          </p:nvSpPr>
          <p:spPr bwMode="auto">
            <a:xfrm>
              <a:off x="3565" y="531"/>
              <a:ext cx="111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392" name="Line 44"/>
            <p:cNvSpPr>
              <a:spLocks noChangeShapeType="1"/>
            </p:cNvSpPr>
            <p:nvPr/>
          </p:nvSpPr>
          <p:spPr bwMode="auto">
            <a:xfrm>
              <a:off x="3573" y="1625"/>
              <a:ext cx="110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8393" name="Group 45"/>
            <p:cNvGrpSpPr>
              <a:grpSpLocks/>
            </p:cNvGrpSpPr>
            <p:nvPr/>
          </p:nvGrpSpPr>
          <p:grpSpPr bwMode="auto">
            <a:xfrm>
              <a:off x="4017" y="531"/>
              <a:ext cx="122" cy="1094"/>
              <a:chOff x="1438" y="850"/>
              <a:chExt cx="153" cy="1368"/>
            </a:xfrm>
          </p:grpSpPr>
          <p:sp>
            <p:nvSpPr>
              <p:cNvPr id="122926" name="Rectangle 46"/>
              <p:cNvSpPr>
                <a:spLocks noChangeArrowheads="1"/>
              </p:cNvSpPr>
              <p:nvPr/>
            </p:nvSpPr>
            <p:spPr bwMode="auto">
              <a:xfrm>
                <a:off x="1438" y="1381"/>
                <a:ext cx="153" cy="30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defRPr/>
                </a:pPr>
                <a:endParaRPr kumimoji="1" lang="en-US" sz="2800" b="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09" name="Line 47"/>
              <p:cNvSpPr>
                <a:spLocks noChangeShapeType="1"/>
              </p:cNvSpPr>
              <p:nvPr/>
            </p:nvSpPr>
            <p:spPr bwMode="auto">
              <a:xfrm>
                <a:off x="1515" y="1686"/>
                <a:ext cx="0" cy="5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10" name="Line 48"/>
              <p:cNvSpPr>
                <a:spLocks noChangeShapeType="1"/>
              </p:cNvSpPr>
              <p:nvPr/>
            </p:nvSpPr>
            <p:spPr bwMode="auto">
              <a:xfrm flipV="1">
                <a:off x="1515" y="850"/>
                <a:ext cx="0" cy="53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22929" name="Text Box 49"/>
            <p:cNvSpPr txBox="1">
              <a:spLocks noChangeArrowheads="1"/>
            </p:cNvSpPr>
            <p:nvPr/>
          </p:nvSpPr>
          <p:spPr bwMode="auto">
            <a:xfrm>
              <a:off x="3694" y="924"/>
              <a:ext cx="34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spcBef>
                  <a:spcPct val="50000"/>
                </a:spcBef>
                <a:defRPr/>
              </a:pPr>
              <a:r>
                <a:rPr kumimoji="1" lang="en-US" altLang="zh-CN" sz="2800" b="1" i="1" dirty="0" smtClean="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dirty="0" smtClean="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endParaRPr kumimoji="1" lang="en-US" altLang="zh-CN" sz="2800" b="1" dirty="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930" name="Rectangle 50"/>
            <p:cNvSpPr>
              <a:spLocks noChangeArrowheads="1"/>
            </p:cNvSpPr>
            <p:nvPr/>
          </p:nvSpPr>
          <p:spPr bwMode="auto">
            <a:xfrm>
              <a:off x="4566" y="919"/>
              <a:ext cx="28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defRPr/>
              </a:pPr>
              <a:r>
                <a:rPr kumimoji="1" lang="en-US" altLang="zh-CN" sz="2800"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p>
          </p:txBody>
        </p:sp>
        <p:sp>
          <p:nvSpPr>
            <p:cNvPr id="58396" name="Line 51"/>
            <p:cNvSpPr>
              <a:spLocks noChangeShapeType="1"/>
            </p:cNvSpPr>
            <p:nvPr/>
          </p:nvSpPr>
          <p:spPr bwMode="auto">
            <a:xfrm>
              <a:off x="4215" y="944"/>
              <a:ext cx="0" cy="327"/>
            </a:xfrm>
            <a:prstGeom prst="line">
              <a:avLst/>
            </a:prstGeom>
            <a:noFill/>
            <a:ln w="3810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932" name="Text Box 52"/>
            <p:cNvSpPr txBox="1">
              <a:spLocks noChangeArrowheads="1"/>
            </p:cNvSpPr>
            <p:nvPr/>
          </p:nvSpPr>
          <p:spPr bwMode="auto">
            <a:xfrm>
              <a:off x="4217" y="1014"/>
              <a:ext cx="34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spcBef>
                  <a:spcPct val="50000"/>
                </a:spcBef>
                <a:defRPr/>
              </a:pPr>
              <a:r>
                <a:rPr kumimoji="1" lang="en-US" altLang="zh-CN" sz="2800" b="1" i="1" dirty="0" smtClean="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dirty="0" smtClean="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endParaRPr kumimoji="1" lang="en-US" altLang="zh-CN" sz="2800" b="1" dirty="0">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933" name="Rectangle 53"/>
            <p:cNvSpPr>
              <a:spLocks noChangeArrowheads="1"/>
            </p:cNvSpPr>
            <p:nvPr/>
          </p:nvSpPr>
          <p:spPr bwMode="auto">
            <a:xfrm>
              <a:off x="4233" y="767"/>
              <a:ext cx="28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defRPr/>
              </a:pPr>
              <a:r>
                <a:rPr kumimoji="1" lang="en-US" altLang="zh-CN" sz="2800" b="1" i="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p>
          </p:txBody>
        </p:sp>
        <p:sp>
          <p:nvSpPr>
            <p:cNvPr id="58399" name="Line 54"/>
            <p:cNvSpPr>
              <a:spLocks noChangeShapeType="1"/>
            </p:cNvSpPr>
            <p:nvPr/>
          </p:nvSpPr>
          <p:spPr bwMode="auto">
            <a:xfrm>
              <a:off x="4282" y="1054"/>
              <a:ext cx="18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00" name="Oval 55"/>
            <p:cNvSpPr>
              <a:spLocks noChangeArrowheads="1"/>
            </p:cNvSpPr>
            <p:nvPr/>
          </p:nvSpPr>
          <p:spPr bwMode="auto">
            <a:xfrm>
              <a:off x="4659" y="485"/>
              <a:ext cx="62" cy="76"/>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01" name="Oval 56"/>
            <p:cNvSpPr>
              <a:spLocks noChangeArrowheads="1"/>
            </p:cNvSpPr>
            <p:nvPr/>
          </p:nvSpPr>
          <p:spPr bwMode="auto">
            <a:xfrm>
              <a:off x="4675" y="1594"/>
              <a:ext cx="61" cy="76"/>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02" name="Line 57"/>
            <p:cNvSpPr>
              <a:spLocks noChangeShapeType="1"/>
            </p:cNvSpPr>
            <p:nvPr/>
          </p:nvSpPr>
          <p:spPr bwMode="auto">
            <a:xfrm flipH="1" flipV="1">
              <a:off x="3366" y="944"/>
              <a:ext cx="0" cy="327"/>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938" name="Rectangle 58"/>
            <p:cNvSpPr>
              <a:spLocks noChangeArrowheads="1"/>
            </p:cNvSpPr>
            <p:nvPr/>
          </p:nvSpPr>
          <p:spPr bwMode="auto">
            <a:xfrm>
              <a:off x="3073" y="976"/>
              <a:ext cx="29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defRPr/>
              </a:pPr>
              <a:r>
                <a:rPr kumimoji="1" lang="en-US" altLang="zh-CN" sz="2800"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sz="28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939" name="Text Box 59"/>
            <p:cNvSpPr txBox="1">
              <a:spLocks noChangeArrowheads="1"/>
            </p:cNvSpPr>
            <p:nvPr/>
          </p:nvSpPr>
          <p:spPr bwMode="auto">
            <a:xfrm>
              <a:off x="4617" y="557"/>
              <a:ext cx="17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sz="2800" b="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22940" name="Text Box 60"/>
            <p:cNvSpPr txBox="1">
              <a:spLocks noChangeArrowheads="1"/>
            </p:cNvSpPr>
            <p:nvPr/>
          </p:nvSpPr>
          <p:spPr bwMode="auto">
            <a:xfrm>
              <a:off x="4617" y="1325"/>
              <a:ext cx="170"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zh-CN" altLang="en-US" sz="2800" b="1">
                  <a:solidFill>
                    <a:schemeClr val="tx2"/>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58406" name="Oval 61"/>
            <p:cNvSpPr>
              <a:spLocks noChangeArrowheads="1"/>
            </p:cNvSpPr>
            <p:nvPr/>
          </p:nvSpPr>
          <p:spPr bwMode="auto">
            <a:xfrm>
              <a:off x="4046" y="503"/>
              <a:ext cx="5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407" name="Oval 62"/>
            <p:cNvSpPr>
              <a:spLocks noChangeArrowheads="1"/>
            </p:cNvSpPr>
            <p:nvPr/>
          </p:nvSpPr>
          <p:spPr bwMode="auto">
            <a:xfrm>
              <a:off x="4048" y="1593"/>
              <a:ext cx="57" cy="5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22897" name="Line 17"/>
          <p:cNvSpPr>
            <a:spLocks noChangeShapeType="1"/>
          </p:cNvSpPr>
          <p:nvPr/>
        </p:nvSpPr>
        <p:spPr bwMode="auto">
          <a:xfrm>
            <a:off x="1208088" y="3033713"/>
            <a:ext cx="2168525" cy="1319212"/>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898" name="Text Box 18"/>
          <p:cNvSpPr txBox="1">
            <a:spLocks noChangeArrowheads="1"/>
          </p:cNvSpPr>
          <p:nvPr/>
        </p:nvSpPr>
        <p:spPr bwMode="auto">
          <a:xfrm>
            <a:off x="685800" y="2971800"/>
            <a:ext cx="74732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lang="en-US" altLang="zh-CN"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0C</a:t>
            </a:r>
            <a:r>
              <a:rPr lang="en-US" altLang="zh-CN" sz="2800"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122903" name="Text Box 23"/>
          <p:cNvSpPr txBox="1">
            <a:spLocks noChangeArrowheads="1"/>
          </p:cNvSpPr>
          <p:nvPr/>
        </p:nvSpPr>
        <p:spPr bwMode="auto">
          <a:xfrm>
            <a:off x="3657600" y="4062413"/>
            <a:ext cx="30489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b="1" i="1">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22904" name="Text Box 24"/>
          <p:cNvSpPr txBox="1">
            <a:spLocks noChangeArrowheads="1"/>
          </p:cNvSpPr>
          <p:nvPr/>
        </p:nvSpPr>
        <p:spPr bwMode="auto">
          <a:xfrm>
            <a:off x="1463675" y="2732088"/>
            <a:ext cx="5937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b="1" i="1">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p>
        </p:txBody>
      </p:sp>
      <p:sp>
        <p:nvSpPr>
          <p:cNvPr id="122906" name="Text Box 26"/>
          <p:cNvSpPr txBox="1">
            <a:spLocks noChangeArrowheads="1"/>
          </p:cNvSpPr>
          <p:nvPr/>
        </p:nvSpPr>
        <p:spPr bwMode="auto">
          <a:xfrm>
            <a:off x="760664" y="4264968"/>
            <a:ext cx="40748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spcBef>
                <a:spcPct val="50000"/>
              </a:spcBef>
              <a:defRPr/>
            </a:pPr>
            <a:r>
              <a:rPr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O</a:t>
            </a:r>
          </a:p>
        </p:txBody>
      </p:sp>
      <p:sp>
        <p:nvSpPr>
          <p:cNvPr id="122907" name="Text Box 27"/>
          <p:cNvSpPr txBox="1">
            <a:spLocks noChangeArrowheads="1"/>
          </p:cNvSpPr>
          <p:nvPr/>
        </p:nvSpPr>
        <p:spPr bwMode="auto">
          <a:xfrm>
            <a:off x="2895600" y="4267200"/>
            <a:ext cx="609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lang="en-US" altLang="zh-CN" b="1" i="1">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1" baseline="-2500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SC</a:t>
            </a:r>
            <a:endParaRPr lang="en-US" altLang="zh-CN" b="1" i="1">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382" name="Line 63"/>
          <p:cNvSpPr>
            <a:spLocks noChangeShapeType="1"/>
          </p:cNvSpPr>
          <p:nvPr/>
        </p:nvSpPr>
        <p:spPr bwMode="auto">
          <a:xfrm>
            <a:off x="914400" y="4267200"/>
            <a:ext cx="27432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8383" name="Line 64"/>
          <p:cNvSpPr>
            <a:spLocks noChangeShapeType="1"/>
          </p:cNvSpPr>
          <p:nvPr/>
        </p:nvSpPr>
        <p:spPr bwMode="auto">
          <a:xfrm>
            <a:off x="1371600" y="2743200"/>
            <a:ext cx="0" cy="17526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2946" name="Text Box 66"/>
          <p:cNvSpPr txBox="1">
            <a:spLocks noChangeArrowheads="1"/>
          </p:cNvSpPr>
          <p:nvPr/>
        </p:nvSpPr>
        <p:spPr bwMode="auto">
          <a:xfrm>
            <a:off x="533400" y="4876800"/>
            <a:ext cx="32766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defRPr/>
            </a:pPr>
            <a:r>
              <a:rPr kumimoji="1" lang="zh-CN" altLang="en-US" b="1"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实际</a:t>
            </a:r>
            <a:r>
              <a:rPr kumimoji="1" lang="zh-CN" altLang="en-US" b="1" dirty="0" smtClean="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a:t>
            </a:r>
            <a:r>
              <a:rPr kumimoji="1" lang="zh-CN" altLang="en-US" b="1"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流</a:t>
            </a:r>
            <a:r>
              <a:rPr kumimoji="1" lang="zh-CN" altLang="en-US" b="1" dirty="0" smtClean="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源</a:t>
            </a:r>
            <a:r>
              <a:rPr kumimoji="1" lang="zh-CN" altLang="en-US" b="1" dirty="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的端口特性</a:t>
            </a:r>
          </a:p>
        </p:txBody>
      </p:sp>
      <p:sp>
        <p:nvSpPr>
          <p:cNvPr id="122949" name="Text Box 69"/>
          <p:cNvSpPr txBox="1">
            <a:spLocks noChangeArrowheads="1"/>
          </p:cNvSpPr>
          <p:nvPr/>
        </p:nvSpPr>
        <p:spPr bwMode="auto">
          <a:xfrm>
            <a:off x="4267200" y="2986088"/>
            <a:ext cx="41148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defRPr/>
            </a:pPr>
            <a:r>
              <a:rPr kumimoji="1" lang="zh-CN" altLang="en-US"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其端口伏安特性可表示为</a:t>
            </a:r>
            <a:r>
              <a:rPr kumimoji="1" lang="zh-CN" altLang="en-US" sz="2800" b="1"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122952" name="Text Box 72"/>
          <p:cNvSpPr txBox="1">
            <a:spLocks noChangeArrowheads="1"/>
          </p:cNvSpPr>
          <p:nvPr/>
        </p:nvSpPr>
        <p:spPr bwMode="auto">
          <a:xfrm>
            <a:off x="3953669" y="4387920"/>
            <a:ext cx="5029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dirty="0">
                <a:latin typeface="Times New Roman" panose="02020603050405020304" pitchFamily="18" charset="0"/>
                <a:ea typeface="华文中宋" panose="02010600040101010101" pitchFamily="2" charset="-122"/>
                <a:cs typeface="Times New Roman" panose="02020603050405020304" pitchFamily="18" charset="0"/>
              </a:rPr>
              <a:t>其</a:t>
            </a:r>
            <a:r>
              <a:rPr lang="zh-CN" altLang="en-US" sz="2800" b="1" dirty="0">
                <a:solidFill>
                  <a:srgbClr val="3333FF"/>
                </a:solidFill>
                <a:latin typeface="Times New Roman" panose="02020603050405020304" pitchFamily="18" charset="0"/>
                <a:ea typeface="华文中宋" panose="02010600040101010101" pitchFamily="2" charset="-122"/>
                <a:cs typeface="Times New Roman" panose="02020603050405020304" pitchFamily="18" charset="0"/>
              </a:rPr>
              <a:t>开路电压和短路电流</a:t>
            </a:r>
            <a:r>
              <a:rPr lang="zh-CN" altLang="en-US" sz="2800" b="1" dirty="0">
                <a:latin typeface="Times New Roman" panose="02020603050405020304" pitchFamily="18" charset="0"/>
                <a:ea typeface="华文中宋" panose="02010600040101010101" pitchFamily="2" charset="-122"/>
                <a:cs typeface="Times New Roman" panose="02020603050405020304" pitchFamily="18" charset="0"/>
              </a:rPr>
              <a:t>分别为</a:t>
            </a:r>
          </a:p>
        </p:txBody>
      </p:sp>
      <p:graphicFrame>
        <p:nvGraphicFramePr>
          <p:cNvPr id="122953" name="Object 73"/>
          <p:cNvGraphicFramePr>
            <a:graphicFrameLocks noChangeAspect="1"/>
          </p:cNvGraphicFramePr>
          <p:nvPr>
            <p:extLst>
              <p:ext uri="{D42A27DB-BD31-4B8C-83A1-F6EECF244321}">
                <p14:modId xmlns:p14="http://schemas.microsoft.com/office/powerpoint/2010/main" val="1938553951"/>
              </p:ext>
            </p:extLst>
          </p:nvPr>
        </p:nvGraphicFramePr>
        <p:xfrm>
          <a:off x="4611883" y="5106484"/>
          <a:ext cx="3425080" cy="462318"/>
        </p:xfrm>
        <a:graphic>
          <a:graphicData uri="http://schemas.openxmlformats.org/presentationml/2006/ole">
            <mc:AlternateContent xmlns:mc="http://schemas.openxmlformats.org/markup-compatibility/2006">
              <mc:Choice xmlns:v="urn:schemas-microsoft-com:vml" Requires="v">
                <p:oleObj spid="_x0000_s58486" name="公式" r:id="rId5" imgW="1777680" imgH="228600" progId="Equation.3">
                  <p:embed/>
                </p:oleObj>
              </mc:Choice>
              <mc:Fallback>
                <p:oleObj name="公式" r:id="rId5" imgW="1777680" imgH="228600" progId="Equation.3">
                  <p:embed/>
                  <p:pic>
                    <p:nvPicPr>
                      <p:cNvPr id="0" name="Object 73"/>
                      <p:cNvPicPr>
                        <a:picLocks noChangeAspect="1" noChangeArrowheads="1"/>
                      </p:cNvPicPr>
                      <p:nvPr/>
                    </p:nvPicPr>
                    <p:blipFill>
                      <a:blip r:embed="rId6"/>
                      <a:srcRect/>
                      <a:stretch>
                        <a:fillRect/>
                      </a:stretch>
                    </p:blipFill>
                    <p:spPr bwMode="auto">
                      <a:xfrm>
                        <a:off x="4611883" y="5106484"/>
                        <a:ext cx="3425080" cy="462318"/>
                      </a:xfrm>
                      <a:prstGeom prst="rect">
                        <a:avLst/>
                      </a:prstGeom>
                      <a:noFill/>
                      <a:ln>
                        <a:noFill/>
                      </a:ln>
                      <a:effectLst/>
                      <a:extLst/>
                    </p:spPr>
                  </p:pic>
                </p:oleObj>
              </mc:Fallback>
            </mc:AlternateContent>
          </a:graphicData>
        </a:graphic>
      </p:graphicFrame>
      <p:sp>
        <p:nvSpPr>
          <p:cNvPr id="58" name="Rectangle 4"/>
          <p:cNvSpPr>
            <a:spLocks noChangeArrowheads="1"/>
          </p:cNvSpPr>
          <p:nvPr/>
        </p:nvSpPr>
        <p:spPr bwMode="auto">
          <a:xfrm>
            <a:off x="6629400" y="3659187"/>
            <a:ext cx="26670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defRPr/>
            </a:pPr>
            <a:r>
              <a:rPr kumimoji="1" lang="en-US" altLang="zh-CN" sz="2800" b="1" i="1" dirty="0" smtClean="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dirty="0" smtClean="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800" b="1" i="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r>
              <a:rPr kumimoji="1" lang="en-US" altLang="zh-CN" sz="2800" b="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 </a:t>
            </a:r>
            <a:r>
              <a:rPr kumimoji="1" lang="en-US" altLang="zh-CN" sz="2800" b="1" i="1"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IR</a:t>
            </a:r>
            <a:r>
              <a:rPr kumimoji="1" lang="en-US" altLang="zh-CN" sz="2800" b="1" baseline="-25000" dirty="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D9A1835-6C10-4C0F-8E00-DC74D3F3719F}"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54</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4930" name="Rectangle 2"/>
          <p:cNvSpPr>
            <a:spLocks noChangeArrowheads="1"/>
          </p:cNvSpPr>
          <p:nvPr/>
        </p:nvSpPr>
        <p:spPr bwMode="auto">
          <a:xfrm>
            <a:off x="0" y="260350"/>
            <a:ext cx="611028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eaLnBrk="1" hangingPunct="1">
              <a:defRPr/>
            </a:pPr>
            <a:r>
              <a:rPr lang="zh-CN" altLang="en-US" sz="2800" b="1" smtClean="0">
                <a:solidFill>
                  <a:schemeClr val="tx1"/>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实际电源两种模型的等效变换</a:t>
            </a:r>
          </a:p>
        </p:txBody>
      </p:sp>
      <p:sp>
        <p:nvSpPr>
          <p:cNvPr id="124931" name="Text Box 3"/>
          <p:cNvSpPr txBox="1">
            <a:spLocks noChangeArrowheads="1"/>
          </p:cNvSpPr>
          <p:nvPr/>
        </p:nvSpPr>
        <p:spPr bwMode="auto">
          <a:xfrm>
            <a:off x="806450" y="3810000"/>
            <a:ext cx="2470150" cy="1031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110000"/>
              </a:lnSpc>
              <a:defRPr/>
            </a:pPr>
            <a:r>
              <a:rPr kumimoji="1" lang="zh-CN" altLang="en-US"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由左图</a:t>
            </a:r>
          </a:p>
          <a:p>
            <a:pPr eaLnBrk="1" hangingPunct="1">
              <a:lnSpc>
                <a:spcPct val="110000"/>
              </a:lnSpc>
              <a:defRPr/>
            </a:pPr>
            <a:r>
              <a:rPr kumimoji="1" lang="zh-CN" altLang="en-US"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 </a:t>
            </a:r>
            <a:r>
              <a:rPr kumimoji="1" lang="en-US" altLang="zh-CN" sz="2800"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zh-CN" altLang="en-US"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en-US" altLang="zh-CN" sz="2800"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en-US" altLang="zh-CN" sz="2800"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24932" name="Rectangle 4"/>
          <p:cNvSpPr>
            <a:spLocks noChangeArrowheads="1"/>
          </p:cNvSpPr>
          <p:nvPr/>
        </p:nvSpPr>
        <p:spPr bwMode="auto">
          <a:xfrm>
            <a:off x="5562600" y="3810000"/>
            <a:ext cx="2667000" cy="954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defRPr/>
            </a:pPr>
            <a:r>
              <a:rPr kumimoji="1" lang="zh-CN" altLang="en-US"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由右图 </a:t>
            </a:r>
          </a:p>
          <a:p>
            <a:pPr eaLnBrk="1" hangingPunct="1">
              <a:defRPr/>
            </a:pPr>
            <a:r>
              <a:rPr kumimoji="1" lang="en-US" altLang="zh-CN" sz="2800" b="1"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 </a:t>
            </a:r>
            <a:r>
              <a:rPr kumimoji="1" lang="en-US" altLang="zh-CN" sz="2800" b="1"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800" b="1"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r>
              <a:rPr kumimoji="1" lang="en-US" altLang="zh-CN" sz="28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 </a:t>
            </a:r>
            <a:r>
              <a:rPr kumimoji="1" lang="en-US" altLang="zh-CN" sz="2800" b="1"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IR</a:t>
            </a:r>
            <a:r>
              <a:rPr kumimoji="1" lang="en-US" altLang="zh-CN" sz="2800" b="1"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p>
        </p:txBody>
      </p:sp>
      <p:sp>
        <p:nvSpPr>
          <p:cNvPr id="124934" name="Rectangle 6"/>
          <p:cNvSpPr>
            <a:spLocks noChangeArrowheads="1"/>
          </p:cNvSpPr>
          <p:nvPr/>
        </p:nvSpPr>
        <p:spPr bwMode="auto">
          <a:xfrm>
            <a:off x="2724898" y="1031231"/>
            <a:ext cx="30489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defRPr/>
            </a:pPr>
            <a:r>
              <a:rPr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24935" name="Text Box 7"/>
          <p:cNvSpPr txBox="1">
            <a:spLocks noChangeArrowheads="1"/>
          </p:cNvSpPr>
          <p:nvPr/>
        </p:nvSpPr>
        <p:spPr bwMode="auto">
          <a:xfrm>
            <a:off x="3452476" y="1674168"/>
            <a:ext cx="52931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spcBef>
                <a:spcPct val="50000"/>
              </a:spcBef>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endParaRPr kumimoji="1"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4936" name="Rectangle 8"/>
          <p:cNvSpPr>
            <a:spLocks noChangeArrowheads="1"/>
          </p:cNvSpPr>
          <p:nvPr/>
        </p:nvSpPr>
        <p:spPr bwMode="auto">
          <a:xfrm>
            <a:off x="3365500" y="2133600"/>
            <a:ext cx="155575" cy="29527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defRPr/>
            </a:pPr>
            <a:endParaRPr kumimoji="1"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01" name="Line 9"/>
          <p:cNvSpPr>
            <a:spLocks noChangeShapeType="1"/>
          </p:cNvSpPr>
          <p:nvPr/>
        </p:nvSpPr>
        <p:spPr bwMode="auto">
          <a:xfrm>
            <a:off x="3443288" y="2428875"/>
            <a:ext cx="0" cy="514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02" name="Line 10"/>
          <p:cNvSpPr>
            <a:spLocks noChangeShapeType="1"/>
          </p:cNvSpPr>
          <p:nvPr/>
        </p:nvSpPr>
        <p:spPr bwMode="auto">
          <a:xfrm flipV="1">
            <a:off x="3443288" y="1563688"/>
            <a:ext cx="0" cy="5683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03" name="Line 11"/>
          <p:cNvSpPr>
            <a:spLocks noChangeShapeType="1"/>
          </p:cNvSpPr>
          <p:nvPr/>
        </p:nvSpPr>
        <p:spPr bwMode="auto">
          <a:xfrm>
            <a:off x="2627313" y="1447800"/>
            <a:ext cx="563562"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04" name="Line 12"/>
          <p:cNvSpPr>
            <a:spLocks noChangeShapeType="1"/>
          </p:cNvSpPr>
          <p:nvPr/>
        </p:nvSpPr>
        <p:spPr bwMode="auto">
          <a:xfrm>
            <a:off x="2530475" y="1560513"/>
            <a:ext cx="93186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05" name="Line 13"/>
          <p:cNvSpPr>
            <a:spLocks noChangeShapeType="1"/>
          </p:cNvSpPr>
          <p:nvPr/>
        </p:nvSpPr>
        <p:spPr bwMode="auto">
          <a:xfrm>
            <a:off x="2551113" y="2925763"/>
            <a:ext cx="9112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4942" name="Text Box 14"/>
          <p:cNvSpPr txBox="1">
            <a:spLocks noChangeArrowheads="1"/>
          </p:cNvSpPr>
          <p:nvPr/>
        </p:nvSpPr>
        <p:spPr bwMode="auto">
          <a:xfrm>
            <a:off x="938000" y="2293293"/>
            <a:ext cx="503663"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spcBef>
                <a:spcPct val="50000"/>
              </a:spcBef>
              <a:defRPr/>
            </a:pPr>
            <a:r>
              <a:rPr kumimoji="1" lang="en-US" altLang="zh-CN" b="1" i="1">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b="1">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07" name="Line 15"/>
          <p:cNvSpPr>
            <a:spLocks noChangeShapeType="1"/>
          </p:cNvSpPr>
          <p:nvPr/>
        </p:nvSpPr>
        <p:spPr bwMode="auto">
          <a:xfrm>
            <a:off x="1249363" y="2112963"/>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08" name="Oval 16"/>
          <p:cNvSpPr>
            <a:spLocks noChangeArrowheads="1"/>
          </p:cNvSpPr>
          <p:nvPr/>
        </p:nvSpPr>
        <p:spPr bwMode="auto">
          <a:xfrm>
            <a:off x="1328738" y="1804988"/>
            <a:ext cx="317500" cy="307975"/>
          </a:xfrm>
          <a:prstGeom prst="ellips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09" name="Line 17"/>
          <p:cNvSpPr>
            <a:spLocks noChangeShapeType="1"/>
          </p:cNvSpPr>
          <p:nvPr/>
        </p:nvSpPr>
        <p:spPr bwMode="auto">
          <a:xfrm>
            <a:off x="1487488" y="1574800"/>
            <a:ext cx="0" cy="768350"/>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4946" name="Rectangle 18"/>
          <p:cNvSpPr>
            <a:spLocks noChangeArrowheads="1"/>
          </p:cNvSpPr>
          <p:nvPr/>
        </p:nvSpPr>
        <p:spPr bwMode="auto">
          <a:xfrm>
            <a:off x="1408113" y="2343150"/>
            <a:ext cx="158750" cy="30797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defRPr/>
            </a:pPr>
            <a:endParaRPr kumimoji="1" lang="en-US"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11" name="Line 19"/>
          <p:cNvSpPr>
            <a:spLocks noChangeShapeType="1"/>
          </p:cNvSpPr>
          <p:nvPr/>
        </p:nvSpPr>
        <p:spPr bwMode="auto">
          <a:xfrm>
            <a:off x="1487488" y="2651125"/>
            <a:ext cx="0" cy="3063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4948" name="Text Box 20"/>
          <p:cNvSpPr txBox="1">
            <a:spLocks noChangeArrowheads="1"/>
          </p:cNvSpPr>
          <p:nvPr/>
        </p:nvSpPr>
        <p:spPr bwMode="auto">
          <a:xfrm>
            <a:off x="1169988" y="1420188"/>
            <a:ext cx="317500"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spcBef>
                <a:spcPct val="50000"/>
              </a:spcBef>
              <a:defRPr/>
            </a:pPr>
            <a:r>
              <a:rPr kumimoji="1"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50000"/>
              </a:spcBef>
              <a:defRPr/>
            </a:pPr>
            <a:r>
              <a:rPr kumimoji="1"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24949" name="Rectangle 21"/>
          <p:cNvSpPr>
            <a:spLocks noChangeArrowheads="1"/>
          </p:cNvSpPr>
          <p:nvPr/>
        </p:nvSpPr>
        <p:spPr bwMode="auto">
          <a:xfrm>
            <a:off x="788689" y="1731318"/>
            <a:ext cx="521297"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defRPr/>
            </a:pPr>
            <a:r>
              <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124950" name="Rectangle 22"/>
          <p:cNvSpPr>
            <a:spLocks noChangeArrowheads="1"/>
          </p:cNvSpPr>
          <p:nvPr/>
        </p:nvSpPr>
        <p:spPr bwMode="auto">
          <a:xfrm>
            <a:off x="2352927" y="2066281"/>
            <a:ext cx="40748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p>
        </p:txBody>
      </p:sp>
      <p:sp>
        <p:nvSpPr>
          <p:cNvPr id="59415" name="Line 23"/>
          <p:cNvSpPr>
            <a:spLocks noChangeShapeType="1"/>
          </p:cNvSpPr>
          <p:nvPr/>
        </p:nvSpPr>
        <p:spPr bwMode="auto">
          <a:xfrm>
            <a:off x="1482725" y="1576388"/>
            <a:ext cx="9921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16" name="Line 24"/>
          <p:cNvSpPr>
            <a:spLocks noChangeShapeType="1"/>
          </p:cNvSpPr>
          <p:nvPr/>
        </p:nvSpPr>
        <p:spPr bwMode="auto">
          <a:xfrm>
            <a:off x="1489075" y="2938463"/>
            <a:ext cx="9921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17" name="Oval 25"/>
          <p:cNvSpPr>
            <a:spLocks noChangeArrowheads="1"/>
          </p:cNvSpPr>
          <p:nvPr/>
        </p:nvSpPr>
        <p:spPr bwMode="auto">
          <a:xfrm>
            <a:off x="2474913" y="1519238"/>
            <a:ext cx="84137" cy="92075"/>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18" name="Oval 26"/>
          <p:cNvSpPr>
            <a:spLocks noChangeArrowheads="1"/>
          </p:cNvSpPr>
          <p:nvPr/>
        </p:nvSpPr>
        <p:spPr bwMode="auto">
          <a:xfrm>
            <a:off x="2474913" y="2865438"/>
            <a:ext cx="84137" cy="92075"/>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4955" name="Text Box 27"/>
          <p:cNvSpPr txBox="1">
            <a:spLocks noChangeArrowheads="1"/>
          </p:cNvSpPr>
          <p:nvPr/>
        </p:nvSpPr>
        <p:spPr bwMode="auto">
          <a:xfrm>
            <a:off x="2282825" y="1597025"/>
            <a:ext cx="5857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24956" name="Text Box 28"/>
          <p:cNvSpPr txBox="1">
            <a:spLocks noChangeArrowheads="1"/>
          </p:cNvSpPr>
          <p:nvPr/>
        </p:nvSpPr>
        <p:spPr bwMode="auto">
          <a:xfrm>
            <a:off x="2332038" y="2424113"/>
            <a:ext cx="3968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24957" name="Rectangle 29"/>
          <p:cNvSpPr>
            <a:spLocks noChangeArrowheads="1"/>
          </p:cNvSpPr>
          <p:nvPr/>
        </p:nvSpPr>
        <p:spPr bwMode="auto">
          <a:xfrm>
            <a:off x="1187450" y="3141663"/>
            <a:ext cx="17160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defRPr/>
            </a:pPr>
            <a:r>
              <a:rPr kumimoji="1" lang="zh-CN" altLang="en-US" b="1">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电压源模型</a:t>
            </a:r>
          </a:p>
        </p:txBody>
      </p:sp>
      <p:sp>
        <p:nvSpPr>
          <p:cNvPr id="59422" name="Rectangle 30"/>
          <p:cNvSpPr>
            <a:spLocks noChangeArrowheads="1"/>
          </p:cNvSpPr>
          <p:nvPr/>
        </p:nvSpPr>
        <p:spPr bwMode="auto">
          <a:xfrm>
            <a:off x="731838" y="1357313"/>
            <a:ext cx="1524000" cy="1752600"/>
          </a:xfrm>
          <a:prstGeom prst="rect">
            <a:avLst/>
          </a:prstGeom>
          <a:noFill/>
          <a:ln w="38100">
            <a:solidFill>
              <a:srgbClr val="CC0000"/>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4961" name="Text Box 33"/>
          <p:cNvSpPr txBox="1">
            <a:spLocks noChangeArrowheads="1"/>
          </p:cNvSpPr>
          <p:nvPr/>
        </p:nvSpPr>
        <p:spPr bwMode="auto">
          <a:xfrm>
            <a:off x="990600" y="5181600"/>
            <a:ext cx="2446338"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defRPr/>
            </a:pPr>
            <a:r>
              <a:rPr kumimoji="1" lang="zh-CN" altLang="en-US" sz="2800"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等效变换条件</a:t>
            </a:r>
            <a:r>
              <a:rPr kumimoji="1" lang="en-US" altLang="zh-CN" sz="2800"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24962" name="Rectangle 34" descr="40%"/>
          <p:cNvSpPr>
            <a:spLocks noChangeArrowheads="1"/>
          </p:cNvSpPr>
          <p:nvPr/>
        </p:nvSpPr>
        <p:spPr bwMode="auto">
          <a:xfrm>
            <a:off x="3733800" y="4724400"/>
            <a:ext cx="2057400" cy="604838"/>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120000"/>
              </a:lnSpc>
              <a:defRPr/>
            </a:pPr>
            <a:r>
              <a:rPr kumimoji="1" lang="en-US" altLang="zh-CN" sz="2800"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sz="2800" b="1" baseline="-250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800"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 </a:t>
            </a:r>
            <a:r>
              <a:rPr kumimoji="1" lang="en-US" altLang="zh-CN" sz="2800"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kumimoji="1" lang="en-US" altLang="zh-CN" sz="2800" b="1" baseline="-250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800"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p>
        </p:txBody>
      </p:sp>
      <p:sp>
        <p:nvSpPr>
          <p:cNvPr id="124964" name="AutoShape 36"/>
          <p:cNvSpPr>
            <a:spLocks/>
          </p:cNvSpPr>
          <p:nvPr/>
        </p:nvSpPr>
        <p:spPr bwMode="auto">
          <a:xfrm>
            <a:off x="3505200" y="5029200"/>
            <a:ext cx="152400" cy="914400"/>
          </a:xfrm>
          <a:prstGeom prst="leftBrace">
            <a:avLst>
              <a:gd name="adj1" fmla="val 50000"/>
              <a:gd name="adj2" fmla="val 50000"/>
            </a:avLst>
          </a:prstGeom>
          <a:noFill/>
          <a:ln w="38100">
            <a:solidFill>
              <a:srgbClr val="003E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nvGrpSpPr>
          <p:cNvPr id="59426" name="Group 40"/>
          <p:cNvGrpSpPr>
            <a:grpSpLocks/>
          </p:cNvGrpSpPr>
          <p:nvPr/>
        </p:nvGrpSpPr>
        <p:grpSpPr bwMode="auto">
          <a:xfrm>
            <a:off x="5641975" y="1565275"/>
            <a:ext cx="360363" cy="1427163"/>
            <a:chOff x="2448" y="960"/>
            <a:chExt cx="192" cy="864"/>
          </a:xfrm>
        </p:grpSpPr>
        <p:grpSp>
          <p:nvGrpSpPr>
            <p:cNvPr id="59455" name="Group 41"/>
            <p:cNvGrpSpPr>
              <a:grpSpLocks/>
            </p:cNvGrpSpPr>
            <p:nvPr/>
          </p:nvGrpSpPr>
          <p:grpSpPr bwMode="auto">
            <a:xfrm flipV="1">
              <a:off x="2448" y="1296"/>
              <a:ext cx="192" cy="192"/>
              <a:chOff x="1344" y="1872"/>
              <a:chExt cx="192" cy="192"/>
            </a:xfrm>
          </p:grpSpPr>
          <p:sp>
            <p:nvSpPr>
              <p:cNvPr id="59458" name="Oval 42"/>
              <p:cNvSpPr>
                <a:spLocks noChangeArrowheads="1"/>
              </p:cNvSpPr>
              <p:nvPr/>
            </p:nvSpPr>
            <p:spPr bwMode="auto">
              <a:xfrm>
                <a:off x="1344" y="1872"/>
                <a:ext cx="192" cy="192"/>
              </a:xfrm>
              <a:prstGeom prst="ellips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59" name="Line 43"/>
              <p:cNvSpPr>
                <a:spLocks noChangeShapeType="1"/>
              </p:cNvSpPr>
              <p:nvPr/>
            </p:nvSpPr>
            <p:spPr bwMode="auto">
              <a:xfrm>
                <a:off x="1344" y="1968"/>
                <a:ext cx="192" cy="0"/>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59456" name="Line 44"/>
            <p:cNvSpPr>
              <a:spLocks noChangeShapeType="1"/>
            </p:cNvSpPr>
            <p:nvPr/>
          </p:nvSpPr>
          <p:spPr bwMode="auto">
            <a:xfrm>
              <a:off x="2544" y="1488"/>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57" name="Line 45"/>
            <p:cNvSpPr>
              <a:spLocks noChangeShapeType="1"/>
            </p:cNvSpPr>
            <p:nvPr/>
          </p:nvSpPr>
          <p:spPr bwMode="auto">
            <a:xfrm>
              <a:off x="2544" y="960"/>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124974" name="Text Box 46"/>
          <p:cNvSpPr txBox="1">
            <a:spLocks noChangeArrowheads="1"/>
          </p:cNvSpPr>
          <p:nvPr/>
        </p:nvSpPr>
        <p:spPr bwMode="auto">
          <a:xfrm>
            <a:off x="8130838" y="1597968"/>
            <a:ext cx="52931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spcBef>
                <a:spcPct val="50000"/>
              </a:spcBef>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endParaRPr kumimoji="1"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4975" name="Rectangle 47"/>
          <p:cNvSpPr>
            <a:spLocks noChangeArrowheads="1"/>
          </p:cNvSpPr>
          <p:nvPr/>
        </p:nvSpPr>
        <p:spPr bwMode="auto">
          <a:xfrm>
            <a:off x="7986713" y="2109788"/>
            <a:ext cx="180975" cy="3175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defRPr/>
            </a:pPr>
            <a:endParaRPr kumimoji="1" lang="en-US" sz="2800" b="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29" name="Line 48"/>
          <p:cNvSpPr>
            <a:spLocks noChangeShapeType="1"/>
          </p:cNvSpPr>
          <p:nvPr/>
        </p:nvSpPr>
        <p:spPr bwMode="auto">
          <a:xfrm>
            <a:off x="8078788" y="2427288"/>
            <a:ext cx="0" cy="5524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30" name="Line 49"/>
          <p:cNvSpPr>
            <a:spLocks noChangeShapeType="1"/>
          </p:cNvSpPr>
          <p:nvPr/>
        </p:nvSpPr>
        <p:spPr bwMode="auto">
          <a:xfrm flipV="1">
            <a:off x="8078788" y="1554163"/>
            <a:ext cx="0" cy="5556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31" name="Line 50"/>
          <p:cNvSpPr>
            <a:spLocks noChangeShapeType="1"/>
          </p:cNvSpPr>
          <p:nvPr/>
        </p:nvSpPr>
        <p:spPr bwMode="auto">
          <a:xfrm>
            <a:off x="5799138" y="1546225"/>
            <a:ext cx="15779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32" name="Line 51"/>
          <p:cNvSpPr>
            <a:spLocks noChangeShapeType="1"/>
          </p:cNvSpPr>
          <p:nvPr/>
        </p:nvSpPr>
        <p:spPr bwMode="auto">
          <a:xfrm>
            <a:off x="5799138" y="2971800"/>
            <a:ext cx="16240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33" name="Line 52"/>
          <p:cNvSpPr>
            <a:spLocks noChangeShapeType="1"/>
          </p:cNvSpPr>
          <p:nvPr/>
        </p:nvSpPr>
        <p:spPr bwMode="auto">
          <a:xfrm>
            <a:off x="7129463" y="1433513"/>
            <a:ext cx="65405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4981" name="Rectangle 53"/>
          <p:cNvSpPr>
            <a:spLocks noChangeArrowheads="1"/>
          </p:cNvSpPr>
          <p:nvPr/>
        </p:nvSpPr>
        <p:spPr bwMode="auto">
          <a:xfrm>
            <a:off x="6453188" y="2101850"/>
            <a:ext cx="179387" cy="315913"/>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defRPr/>
            </a:pPr>
            <a:endParaRPr kumimoji="1" lang="en-US" sz="2800" b="1">
              <a:solidFill>
                <a:srgbClr val="0033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35" name="Line 54"/>
          <p:cNvSpPr>
            <a:spLocks noChangeShapeType="1"/>
          </p:cNvSpPr>
          <p:nvPr/>
        </p:nvSpPr>
        <p:spPr bwMode="auto">
          <a:xfrm>
            <a:off x="6543675" y="2417763"/>
            <a:ext cx="0" cy="5540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36" name="Line 55"/>
          <p:cNvSpPr>
            <a:spLocks noChangeShapeType="1"/>
          </p:cNvSpPr>
          <p:nvPr/>
        </p:nvSpPr>
        <p:spPr bwMode="auto">
          <a:xfrm flipV="1">
            <a:off x="6543675" y="1546225"/>
            <a:ext cx="0" cy="5556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4984" name="Text Box 56"/>
          <p:cNvSpPr txBox="1">
            <a:spLocks noChangeArrowheads="1"/>
          </p:cNvSpPr>
          <p:nvPr/>
        </p:nvSpPr>
        <p:spPr bwMode="auto">
          <a:xfrm>
            <a:off x="6083142" y="2274243"/>
            <a:ext cx="492443"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spcBef>
                <a:spcPct val="50000"/>
              </a:spcBef>
              <a:defRPr/>
            </a:pPr>
            <a:r>
              <a:rPr kumimoji="1" lang="en-US" altLang="zh-CN" b="1" i="1">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endParaRPr kumimoji="1" lang="en-US" altLang="zh-CN" b="1">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4985" name="Rectangle 57"/>
          <p:cNvSpPr>
            <a:spLocks noChangeArrowheads="1"/>
          </p:cNvSpPr>
          <p:nvPr/>
        </p:nvSpPr>
        <p:spPr bwMode="auto">
          <a:xfrm>
            <a:off x="7318627" y="2071043"/>
            <a:ext cx="407484"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defRPr/>
            </a:pPr>
            <a:r>
              <a:rPr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p>
        </p:txBody>
      </p:sp>
      <p:sp>
        <p:nvSpPr>
          <p:cNvPr id="59439" name="Line 58"/>
          <p:cNvSpPr>
            <a:spLocks noChangeShapeType="1"/>
          </p:cNvSpPr>
          <p:nvPr/>
        </p:nvSpPr>
        <p:spPr bwMode="auto">
          <a:xfrm>
            <a:off x="6675438" y="1619250"/>
            <a:ext cx="0" cy="500063"/>
          </a:xfrm>
          <a:prstGeom prst="line">
            <a:avLst/>
          </a:prstGeom>
          <a:noFill/>
          <a:ln w="3810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40" name="Oval 62"/>
          <p:cNvSpPr>
            <a:spLocks noChangeArrowheads="1"/>
          </p:cNvSpPr>
          <p:nvPr/>
        </p:nvSpPr>
        <p:spPr bwMode="auto">
          <a:xfrm>
            <a:off x="7400925" y="1487488"/>
            <a:ext cx="90488" cy="98425"/>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41" name="Oval 63"/>
          <p:cNvSpPr>
            <a:spLocks noChangeArrowheads="1"/>
          </p:cNvSpPr>
          <p:nvPr/>
        </p:nvSpPr>
        <p:spPr bwMode="auto">
          <a:xfrm>
            <a:off x="7423150" y="2932113"/>
            <a:ext cx="90488" cy="100012"/>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42" name="Line 64"/>
          <p:cNvSpPr>
            <a:spLocks noChangeShapeType="1"/>
          </p:cNvSpPr>
          <p:nvPr/>
        </p:nvSpPr>
        <p:spPr bwMode="auto">
          <a:xfrm>
            <a:off x="7513638" y="2979738"/>
            <a:ext cx="5778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43" name="Line 65"/>
          <p:cNvSpPr>
            <a:spLocks noChangeShapeType="1"/>
          </p:cNvSpPr>
          <p:nvPr/>
        </p:nvSpPr>
        <p:spPr bwMode="auto">
          <a:xfrm>
            <a:off x="7491413" y="1546225"/>
            <a:ext cx="60801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44" name="Line 66"/>
          <p:cNvSpPr>
            <a:spLocks noChangeShapeType="1"/>
          </p:cNvSpPr>
          <p:nvPr/>
        </p:nvSpPr>
        <p:spPr bwMode="auto">
          <a:xfrm flipV="1">
            <a:off x="5532438" y="1966913"/>
            <a:ext cx="0" cy="569912"/>
          </a:xfrm>
          <a:prstGeom prst="line">
            <a:avLst/>
          </a:prstGeom>
          <a:noFill/>
          <a:ln w="3810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4995" name="Rectangle 67"/>
          <p:cNvSpPr>
            <a:spLocks noChangeArrowheads="1"/>
          </p:cNvSpPr>
          <p:nvPr/>
        </p:nvSpPr>
        <p:spPr bwMode="auto">
          <a:xfrm>
            <a:off x="5091280" y="1994843"/>
            <a:ext cx="425116"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defRPr/>
            </a:pPr>
            <a:r>
              <a:rPr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124996" name="Rectangle 68"/>
          <p:cNvSpPr>
            <a:spLocks noChangeArrowheads="1"/>
          </p:cNvSpPr>
          <p:nvPr/>
        </p:nvSpPr>
        <p:spPr bwMode="auto">
          <a:xfrm>
            <a:off x="7300073" y="1018531"/>
            <a:ext cx="30489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defRPr/>
            </a:pPr>
            <a:r>
              <a:rPr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p>
        </p:txBody>
      </p:sp>
      <p:sp>
        <p:nvSpPr>
          <p:cNvPr id="124997" name="Text Box 69"/>
          <p:cNvSpPr txBox="1">
            <a:spLocks noChangeArrowheads="1"/>
          </p:cNvSpPr>
          <p:nvPr/>
        </p:nvSpPr>
        <p:spPr bwMode="auto">
          <a:xfrm>
            <a:off x="7253288" y="1524000"/>
            <a:ext cx="5651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24998" name="Text Box 70"/>
          <p:cNvSpPr txBox="1">
            <a:spLocks noChangeArrowheads="1"/>
          </p:cNvSpPr>
          <p:nvPr/>
        </p:nvSpPr>
        <p:spPr bwMode="auto">
          <a:xfrm>
            <a:off x="7207250" y="2525713"/>
            <a:ext cx="566738"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defRPr/>
            </a:pPr>
            <a:r>
              <a:rPr lang="en-US" altLang="zh-CN"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24999" name="Rectangle 71"/>
          <p:cNvSpPr>
            <a:spLocks noChangeArrowheads="1"/>
          </p:cNvSpPr>
          <p:nvPr/>
        </p:nvSpPr>
        <p:spPr bwMode="auto">
          <a:xfrm>
            <a:off x="5827713" y="3230563"/>
            <a:ext cx="171608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defRPr/>
            </a:pPr>
            <a:r>
              <a:rPr kumimoji="1" lang="zh-CN" altLang="en-US" b="1">
                <a:solidFill>
                  <a:srgbClr val="000099"/>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电流源模型</a:t>
            </a:r>
          </a:p>
        </p:txBody>
      </p:sp>
      <p:sp>
        <p:nvSpPr>
          <p:cNvPr id="59450" name="Rectangle 72"/>
          <p:cNvSpPr>
            <a:spLocks noChangeArrowheads="1"/>
          </p:cNvSpPr>
          <p:nvPr/>
        </p:nvSpPr>
        <p:spPr bwMode="auto">
          <a:xfrm>
            <a:off x="5151438" y="1357313"/>
            <a:ext cx="1676400" cy="1752600"/>
          </a:xfrm>
          <a:prstGeom prst="rect">
            <a:avLst/>
          </a:prstGeom>
          <a:noFill/>
          <a:ln w="38100">
            <a:solidFill>
              <a:srgbClr val="CC0000"/>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51" name="Oval 73"/>
          <p:cNvSpPr>
            <a:spLocks noChangeArrowheads="1"/>
          </p:cNvSpPr>
          <p:nvPr/>
        </p:nvSpPr>
        <p:spPr bwMode="auto">
          <a:xfrm>
            <a:off x="6494463" y="1492250"/>
            <a:ext cx="90487" cy="9048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59452" name="Oval 74"/>
          <p:cNvSpPr>
            <a:spLocks noChangeArrowheads="1"/>
          </p:cNvSpPr>
          <p:nvPr/>
        </p:nvSpPr>
        <p:spPr bwMode="auto">
          <a:xfrm>
            <a:off x="6488113" y="2911475"/>
            <a:ext cx="90487" cy="9048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5003" name="Rectangle 75" descr="40%"/>
          <p:cNvSpPr>
            <a:spLocks noChangeArrowheads="1"/>
          </p:cNvSpPr>
          <p:nvPr/>
        </p:nvSpPr>
        <p:spPr bwMode="auto">
          <a:xfrm>
            <a:off x="3733800" y="5486400"/>
            <a:ext cx="2057400" cy="604838"/>
          </a:xfrm>
          <a:prstGeom prst="rect">
            <a:avLst/>
          </a:prstGeom>
          <a:noFill/>
          <a:ln>
            <a:noFill/>
          </a:ln>
          <a:effectLst/>
          <a:extLst>
            <a:ext uri="{909E8E84-426E-40DD-AFC4-6F175D3DCCD1}">
              <a14:hiddenFill xmlns:a14="http://schemas.microsoft.com/office/drawing/2010/main">
                <a:pattFill prst="pct40">
                  <a:fgClr>
                    <a:srgbClr val="FFFF00"/>
                  </a:fgClr>
                  <a:bgClr>
                    <a:srgbClr val="FFFFFF"/>
                  </a:bgClr>
                </a:patt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lnSpc>
                <a:spcPct val="120000"/>
              </a:lnSpc>
              <a:defRPr/>
            </a:pPr>
            <a:r>
              <a:rPr kumimoji="1" lang="en-US" altLang="zh-CN" sz="2800"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800" b="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 </a:t>
            </a:r>
            <a:r>
              <a:rPr kumimoji="1" lang="en-US" altLang="zh-CN" sz="2800" b="1" i="1">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800" b="1" baseline="-2500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p>
        </p:txBody>
      </p:sp>
      <p:sp>
        <p:nvSpPr>
          <p:cNvPr id="59454" name="AutoShape 76"/>
          <p:cNvSpPr>
            <a:spLocks noChangeArrowheads="1"/>
          </p:cNvSpPr>
          <p:nvPr/>
        </p:nvSpPr>
        <p:spPr bwMode="auto">
          <a:xfrm>
            <a:off x="4191000" y="2209800"/>
            <a:ext cx="609600" cy="533400"/>
          </a:xfrm>
          <a:prstGeom prst="leftRightArrow">
            <a:avLst>
              <a:gd name="adj1" fmla="val 50000"/>
              <a:gd name="adj2" fmla="val 2285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4931"/>
                                        </p:tgtEl>
                                        <p:attrNameLst>
                                          <p:attrName>style.visibility</p:attrName>
                                        </p:attrNameLst>
                                      </p:cBhvr>
                                      <p:to>
                                        <p:strVal val="visible"/>
                                      </p:to>
                                    </p:set>
                                    <p:animEffect transition="in" filter="wipe(left)">
                                      <p:cBhvr>
                                        <p:cTn id="7" dur="500"/>
                                        <p:tgtEl>
                                          <p:spTgt spid="1249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4932"/>
                                        </p:tgtEl>
                                        <p:attrNameLst>
                                          <p:attrName>style.visibility</p:attrName>
                                        </p:attrNameLst>
                                      </p:cBhvr>
                                      <p:to>
                                        <p:strVal val="visible"/>
                                      </p:to>
                                    </p:set>
                                    <p:animEffect transition="in" filter="wipe(left)">
                                      <p:cBhvr>
                                        <p:cTn id="12" dur="500"/>
                                        <p:tgtEl>
                                          <p:spTgt spid="1249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4961"/>
                                        </p:tgtEl>
                                        <p:attrNameLst>
                                          <p:attrName>style.visibility</p:attrName>
                                        </p:attrNameLst>
                                      </p:cBhvr>
                                      <p:to>
                                        <p:strVal val="visible"/>
                                      </p:to>
                                    </p:set>
                                    <p:anim calcmode="lin" valueType="num">
                                      <p:cBhvr additive="base">
                                        <p:cTn id="17" dur="500" fill="hold"/>
                                        <p:tgtEl>
                                          <p:spTgt spid="124961"/>
                                        </p:tgtEl>
                                        <p:attrNameLst>
                                          <p:attrName>ppt_x</p:attrName>
                                        </p:attrNameLst>
                                      </p:cBhvr>
                                      <p:tavLst>
                                        <p:tav tm="0">
                                          <p:val>
                                            <p:strVal val="#ppt_x"/>
                                          </p:val>
                                        </p:tav>
                                        <p:tav tm="100000">
                                          <p:val>
                                            <p:strVal val="#ppt_x"/>
                                          </p:val>
                                        </p:tav>
                                      </p:tavLst>
                                    </p:anim>
                                    <p:anim calcmode="lin" valueType="num">
                                      <p:cBhvr additive="base">
                                        <p:cTn id="18" dur="500" fill="hold"/>
                                        <p:tgtEl>
                                          <p:spTgt spid="12496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4962"/>
                                        </p:tgtEl>
                                        <p:attrNameLst>
                                          <p:attrName>style.visibility</p:attrName>
                                        </p:attrNameLst>
                                      </p:cBhvr>
                                      <p:to>
                                        <p:strVal val="visible"/>
                                      </p:to>
                                    </p:set>
                                    <p:anim calcmode="lin" valueType="num">
                                      <p:cBhvr additive="base">
                                        <p:cTn id="21" dur="500" fill="hold"/>
                                        <p:tgtEl>
                                          <p:spTgt spid="124962"/>
                                        </p:tgtEl>
                                        <p:attrNameLst>
                                          <p:attrName>ppt_x</p:attrName>
                                        </p:attrNameLst>
                                      </p:cBhvr>
                                      <p:tavLst>
                                        <p:tav tm="0">
                                          <p:val>
                                            <p:strVal val="#ppt_x"/>
                                          </p:val>
                                        </p:tav>
                                        <p:tav tm="100000">
                                          <p:val>
                                            <p:strVal val="#ppt_x"/>
                                          </p:val>
                                        </p:tav>
                                      </p:tavLst>
                                    </p:anim>
                                    <p:anim calcmode="lin" valueType="num">
                                      <p:cBhvr additive="base">
                                        <p:cTn id="22" dur="500" fill="hold"/>
                                        <p:tgtEl>
                                          <p:spTgt spid="12496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24964"/>
                                        </p:tgtEl>
                                        <p:attrNameLst>
                                          <p:attrName>style.visibility</p:attrName>
                                        </p:attrNameLst>
                                      </p:cBhvr>
                                      <p:to>
                                        <p:strVal val="visible"/>
                                      </p:to>
                                    </p:set>
                                    <p:anim calcmode="lin" valueType="num">
                                      <p:cBhvr additive="base">
                                        <p:cTn id="25" dur="500" fill="hold"/>
                                        <p:tgtEl>
                                          <p:spTgt spid="124964"/>
                                        </p:tgtEl>
                                        <p:attrNameLst>
                                          <p:attrName>ppt_x</p:attrName>
                                        </p:attrNameLst>
                                      </p:cBhvr>
                                      <p:tavLst>
                                        <p:tav tm="0">
                                          <p:val>
                                            <p:strVal val="#ppt_x"/>
                                          </p:val>
                                        </p:tav>
                                        <p:tav tm="100000">
                                          <p:val>
                                            <p:strVal val="#ppt_x"/>
                                          </p:val>
                                        </p:tav>
                                      </p:tavLst>
                                    </p:anim>
                                    <p:anim calcmode="lin" valueType="num">
                                      <p:cBhvr additive="base">
                                        <p:cTn id="26" dur="500" fill="hold"/>
                                        <p:tgtEl>
                                          <p:spTgt spid="124964"/>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25003"/>
                                        </p:tgtEl>
                                        <p:attrNameLst>
                                          <p:attrName>style.visibility</p:attrName>
                                        </p:attrNameLst>
                                      </p:cBhvr>
                                      <p:to>
                                        <p:strVal val="visible"/>
                                      </p:to>
                                    </p:set>
                                    <p:anim calcmode="lin" valueType="num">
                                      <p:cBhvr additive="base">
                                        <p:cTn id="29" dur="500" fill="hold"/>
                                        <p:tgtEl>
                                          <p:spTgt spid="125003"/>
                                        </p:tgtEl>
                                        <p:attrNameLst>
                                          <p:attrName>ppt_x</p:attrName>
                                        </p:attrNameLst>
                                      </p:cBhvr>
                                      <p:tavLst>
                                        <p:tav tm="0">
                                          <p:val>
                                            <p:strVal val="#ppt_x"/>
                                          </p:val>
                                        </p:tav>
                                        <p:tav tm="100000">
                                          <p:val>
                                            <p:strVal val="#ppt_x"/>
                                          </p:val>
                                        </p:tav>
                                      </p:tavLst>
                                    </p:anim>
                                    <p:anim calcmode="lin" valueType="num">
                                      <p:cBhvr additive="base">
                                        <p:cTn id="30" dur="500" fill="hold"/>
                                        <p:tgtEl>
                                          <p:spTgt spid="1250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autoUpdateAnimBg="0"/>
      <p:bldP spid="124932" grpId="0" autoUpdateAnimBg="0"/>
      <p:bldP spid="124961" grpId="0"/>
      <p:bldP spid="124962" grpId="0"/>
      <p:bldP spid="124964" grpId="0" animBg="1"/>
      <p:bldP spid="12500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C0A7576-E001-48A0-BC92-35EA675B2CB3}"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55</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5954" name="Text Box 2"/>
          <p:cNvSpPr txBox="1">
            <a:spLocks noChangeArrowheads="1"/>
          </p:cNvSpPr>
          <p:nvPr/>
        </p:nvSpPr>
        <p:spPr bwMode="auto">
          <a:xfrm>
            <a:off x="304800" y="2590800"/>
            <a:ext cx="85344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1" hangingPunct="1">
              <a:spcBef>
                <a:spcPct val="5000"/>
              </a:spcBef>
              <a:defRPr/>
            </a:pPr>
            <a:r>
              <a:rPr lang="en-US" altLang="zh-CN"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②  </a:t>
            </a:r>
            <a:r>
              <a:rPr lang="zh-CN" altLang="en-US"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等效变换时，两电源的参考方向要一一对应。</a:t>
            </a:r>
          </a:p>
        </p:txBody>
      </p:sp>
      <p:sp>
        <p:nvSpPr>
          <p:cNvPr id="125955" name="Text Box 3"/>
          <p:cNvSpPr txBox="1">
            <a:spLocks noChangeArrowheads="1"/>
          </p:cNvSpPr>
          <p:nvPr/>
        </p:nvSpPr>
        <p:spPr bwMode="auto">
          <a:xfrm>
            <a:off x="381000" y="4953000"/>
            <a:ext cx="76200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1" hangingPunct="1">
              <a:spcBef>
                <a:spcPct val="5000"/>
              </a:spcBef>
              <a:defRPr/>
            </a:pPr>
            <a:r>
              <a:rPr lang="en-US" altLang="zh-CN"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③  </a:t>
            </a:r>
            <a:r>
              <a:rPr lang="zh-CN" altLang="en-US"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理想电压源与理想电流源之间无等效关系。</a:t>
            </a:r>
          </a:p>
        </p:txBody>
      </p:sp>
      <p:sp>
        <p:nvSpPr>
          <p:cNvPr id="125956" name="Text Box 4"/>
          <p:cNvSpPr txBox="1">
            <a:spLocks noChangeArrowheads="1"/>
          </p:cNvSpPr>
          <p:nvPr/>
        </p:nvSpPr>
        <p:spPr bwMode="auto">
          <a:xfrm>
            <a:off x="304800" y="838200"/>
            <a:ext cx="83058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1" hangingPunct="1">
              <a:spcBef>
                <a:spcPct val="5000"/>
              </a:spcBef>
              <a:defRPr/>
            </a:pPr>
            <a:r>
              <a:rPr lang="en-US" altLang="zh-CN"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①  </a:t>
            </a:r>
            <a:r>
              <a:rPr lang="zh-CN" altLang="en-US"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电压源模型和电流源模型的等效关系</a:t>
            </a:r>
            <a:r>
              <a:rPr lang="zh-CN" altLang="en-US" sz="2600" b="1" dirty="0">
                <a:solidFill>
                  <a:srgbClr val="00B05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只对外电路而言，</a:t>
            </a:r>
            <a:r>
              <a:rPr lang="zh-CN" altLang="en-US"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对电源内部则是不等效的。</a:t>
            </a:r>
          </a:p>
        </p:txBody>
      </p:sp>
      <p:sp>
        <p:nvSpPr>
          <p:cNvPr id="125958" name="Text Box 6"/>
          <p:cNvSpPr txBox="1">
            <a:spLocks noChangeArrowheads="1"/>
          </p:cNvSpPr>
          <p:nvPr/>
        </p:nvSpPr>
        <p:spPr bwMode="auto">
          <a:xfrm>
            <a:off x="838200" y="1700213"/>
            <a:ext cx="77724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1" hangingPunct="1">
              <a:spcBef>
                <a:spcPct val="5000"/>
              </a:spcBef>
              <a:defRPr/>
            </a:pPr>
            <a:r>
              <a:rPr kumimoji="1" lang="en-US" altLang="zh-CN" sz="2600" b="1" dirty="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kumimoji="1" lang="zh-CN" altLang="en-US" sz="2600" b="1" dirty="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比如</a:t>
            </a:r>
            <a:r>
              <a:rPr kumimoji="1" lang="en-US" altLang="zh-CN" sz="2600" b="1" dirty="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dirty="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当</a:t>
            </a:r>
            <a:r>
              <a:rPr kumimoji="1" lang="en-US" altLang="zh-CN" sz="2600" b="1" i="1" dirty="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dirty="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L</a:t>
            </a:r>
            <a:r>
              <a:rPr kumimoji="1" lang="en-US" altLang="zh-CN" sz="2600" b="1" dirty="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lang="en-US" altLang="zh-CN" sz="2600" b="1" dirty="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lang="zh-CN" altLang="en-US" sz="2600" b="1" dirty="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时，</a:t>
            </a:r>
            <a:r>
              <a:rPr lang="zh-CN" altLang="en-US"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电压源模型内阻 </a:t>
            </a:r>
            <a:r>
              <a:rPr kumimoji="1" lang="en-US" altLang="zh-CN" sz="2600" b="1"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中不损耗功率，</a:t>
            </a:r>
            <a:r>
              <a:rPr lang="zh-CN" altLang="en-US"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而电流源模型的内阻 </a:t>
            </a:r>
            <a:r>
              <a:rPr kumimoji="1" lang="en-US" altLang="zh-CN" sz="2600" b="1" i="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sz="2600" b="1"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0</a:t>
            </a:r>
            <a:r>
              <a:rPr kumimoji="1" lang="en-US" altLang="zh-CN"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中则损耗功率。</a:t>
            </a:r>
          </a:p>
        </p:txBody>
      </p:sp>
      <p:sp>
        <p:nvSpPr>
          <p:cNvPr id="125959" name="Text Box 7"/>
          <p:cNvSpPr txBox="1">
            <a:spLocks noChangeArrowheads="1"/>
          </p:cNvSpPr>
          <p:nvPr/>
        </p:nvSpPr>
        <p:spPr bwMode="auto">
          <a:xfrm>
            <a:off x="381000" y="5410200"/>
            <a:ext cx="83820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1" hangingPunct="1">
              <a:spcBef>
                <a:spcPct val="5000"/>
              </a:spcBef>
              <a:defRPr/>
            </a:pPr>
            <a:r>
              <a:rPr lang="en-US" altLang="zh-CN"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④  </a:t>
            </a:r>
            <a:r>
              <a:rPr lang="zh-CN" altLang="en-US"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任何一个电动势 </a:t>
            </a:r>
            <a:r>
              <a:rPr lang="en-US" altLang="zh-CN"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lang="en-US" altLang="zh-CN" sz="2600" b="1"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 </a:t>
            </a:r>
            <a:r>
              <a:rPr lang="zh-CN" altLang="en-US"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和某个电阻 </a:t>
            </a:r>
            <a:r>
              <a:rPr lang="en-US" altLang="zh-CN"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 </a:t>
            </a:r>
            <a:r>
              <a:rPr lang="zh-CN" altLang="en-US"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串联的电路，都可化为一个电流为 </a:t>
            </a:r>
            <a:r>
              <a:rPr lang="en-US" altLang="zh-CN"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sz="2600" b="1" baseline="-25000"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lang="en-US" altLang="zh-CN"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和这个电阻</a:t>
            </a:r>
            <a:r>
              <a:rPr lang="en-US" altLang="zh-CN"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lang="zh-CN" altLang="en-US" sz="2600" b="1" dirty="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并联的电路。</a:t>
            </a:r>
          </a:p>
        </p:txBody>
      </p:sp>
      <p:grpSp>
        <p:nvGrpSpPr>
          <p:cNvPr id="60424" name="Group 98"/>
          <p:cNvGrpSpPr>
            <a:grpSpLocks/>
          </p:cNvGrpSpPr>
          <p:nvPr/>
        </p:nvGrpSpPr>
        <p:grpSpPr bwMode="auto">
          <a:xfrm>
            <a:off x="666751" y="3000376"/>
            <a:ext cx="3981450" cy="1906588"/>
            <a:chOff x="420" y="1890"/>
            <a:chExt cx="2508" cy="1201"/>
          </a:xfrm>
        </p:grpSpPr>
        <p:grpSp>
          <p:nvGrpSpPr>
            <p:cNvPr id="60464" name="Group 97"/>
            <p:cNvGrpSpPr>
              <a:grpSpLocks/>
            </p:cNvGrpSpPr>
            <p:nvPr/>
          </p:nvGrpSpPr>
          <p:grpSpPr bwMode="auto">
            <a:xfrm>
              <a:off x="420" y="1890"/>
              <a:ext cx="2508" cy="1201"/>
              <a:chOff x="420" y="1890"/>
              <a:chExt cx="2508" cy="1201"/>
            </a:xfrm>
          </p:grpSpPr>
          <p:grpSp>
            <p:nvGrpSpPr>
              <p:cNvPr id="60467" name="Group 95"/>
              <p:cNvGrpSpPr>
                <a:grpSpLocks/>
              </p:cNvGrpSpPr>
              <p:nvPr/>
            </p:nvGrpSpPr>
            <p:grpSpPr bwMode="auto">
              <a:xfrm>
                <a:off x="420" y="1890"/>
                <a:ext cx="1148" cy="1155"/>
                <a:chOff x="420" y="1890"/>
                <a:chExt cx="1148" cy="1155"/>
              </a:xfrm>
            </p:grpSpPr>
            <p:sp>
              <p:nvSpPr>
                <p:cNvPr id="125963" name="Text Box 11"/>
                <p:cNvSpPr txBox="1">
                  <a:spLocks noChangeArrowheads="1"/>
                </p:cNvSpPr>
                <p:nvPr/>
              </p:nvSpPr>
              <p:spPr bwMode="auto">
                <a:xfrm>
                  <a:off x="453" y="2522"/>
                  <a:ext cx="315"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spcBef>
                      <a:spcPct val="50000"/>
                    </a:spcBef>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88" name="Line 12"/>
                <p:cNvSpPr>
                  <a:spLocks noChangeShapeType="1"/>
                </p:cNvSpPr>
                <p:nvPr/>
              </p:nvSpPr>
              <p:spPr bwMode="auto">
                <a:xfrm>
                  <a:off x="699" y="2396"/>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89" name="Oval 13"/>
                <p:cNvSpPr>
                  <a:spLocks noChangeArrowheads="1"/>
                </p:cNvSpPr>
                <p:nvPr/>
              </p:nvSpPr>
              <p:spPr bwMode="auto">
                <a:xfrm>
                  <a:off x="713" y="2202"/>
                  <a:ext cx="195" cy="194"/>
                </a:xfrm>
                <a:prstGeom prst="ellips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90" name="Line 14"/>
                <p:cNvSpPr>
                  <a:spLocks noChangeShapeType="1"/>
                </p:cNvSpPr>
                <p:nvPr/>
              </p:nvSpPr>
              <p:spPr bwMode="auto">
                <a:xfrm>
                  <a:off x="819" y="2057"/>
                  <a:ext cx="0" cy="484"/>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5967" name="Rectangle 15"/>
                <p:cNvSpPr>
                  <a:spLocks noChangeArrowheads="1"/>
                </p:cNvSpPr>
                <p:nvPr/>
              </p:nvSpPr>
              <p:spPr bwMode="auto">
                <a:xfrm>
                  <a:off x="779" y="2541"/>
                  <a:ext cx="80" cy="19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defRPr/>
                  </a:pPr>
                  <a:endParaRPr kumimoji="1" lang="en-US"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92" name="Line 16"/>
                <p:cNvSpPr>
                  <a:spLocks noChangeShapeType="1"/>
                </p:cNvSpPr>
                <p:nvPr/>
              </p:nvSpPr>
              <p:spPr bwMode="auto">
                <a:xfrm>
                  <a:off x="819" y="2735"/>
                  <a:ext cx="0" cy="19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5969" name="Text Box 17"/>
                <p:cNvSpPr txBox="1">
                  <a:spLocks noChangeArrowheads="1"/>
                </p:cNvSpPr>
                <p:nvPr/>
              </p:nvSpPr>
              <p:spPr bwMode="auto">
                <a:xfrm>
                  <a:off x="528" y="1914"/>
                  <a:ext cx="160" cy="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spcBef>
                      <a:spcPct val="50000"/>
                    </a:spcBef>
                    <a:defRPr/>
                  </a:pPr>
                  <a:r>
                    <a:rPr kumimoji="1" lang="en-US" altLang="zh-CN" sz="28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50000"/>
                    </a:spcBef>
                    <a:defRPr/>
                  </a:pPr>
                  <a:r>
                    <a:rPr kumimoji="1" lang="en-US" altLang="zh-CN" sz="2800" b="1">
                      <a:solidFill>
                        <a:srgbClr val="FF33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25970" name="Rectangle 18"/>
                <p:cNvSpPr>
                  <a:spLocks noChangeArrowheads="1"/>
                </p:cNvSpPr>
                <p:nvPr/>
              </p:nvSpPr>
              <p:spPr bwMode="auto">
                <a:xfrm>
                  <a:off x="420" y="2156"/>
                  <a:ext cx="328"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defRPr/>
                  </a:pPr>
                  <a:r>
                    <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sp>
              <p:nvSpPr>
                <p:cNvPr id="60495" name="Line 19"/>
                <p:cNvSpPr>
                  <a:spLocks noChangeShapeType="1"/>
                </p:cNvSpPr>
                <p:nvPr/>
              </p:nvSpPr>
              <p:spPr bwMode="auto">
                <a:xfrm>
                  <a:off x="817" y="2058"/>
                  <a:ext cx="5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96" name="Line 20"/>
                <p:cNvSpPr>
                  <a:spLocks noChangeShapeType="1"/>
                </p:cNvSpPr>
                <p:nvPr/>
              </p:nvSpPr>
              <p:spPr bwMode="auto">
                <a:xfrm>
                  <a:off x="820" y="2916"/>
                  <a:ext cx="50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97" name="Oval 21"/>
                <p:cNvSpPr>
                  <a:spLocks noChangeArrowheads="1"/>
                </p:cNvSpPr>
                <p:nvPr/>
              </p:nvSpPr>
              <p:spPr bwMode="auto">
                <a:xfrm>
                  <a:off x="1317" y="2022"/>
                  <a:ext cx="43" cy="58"/>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98" name="Oval 22"/>
                <p:cNvSpPr>
                  <a:spLocks noChangeArrowheads="1"/>
                </p:cNvSpPr>
                <p:nvPr/>
              </p:nvSpPr>
              <p:spPr bwMode="auto">
                <a:xfrm>
                  <a:off x="1317" y="2870"/>
                  <a:ext cx="43" cy="58"/>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5975" name="Text Box 23"/>
                <p:cNvSpPr txBox="1">
                  <a:spLocks noChangeArrowheads="1"/>
                </p:cNvSpPr>
                <p:nvPr/>
              </p:nvSpPr>
              <p:spPr bwMode="auto">
                <a:xfrm>
                  <a:off x="1355" y="1890"/>
                  <a:ext cx="21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125976" name="Text Box 24"/>
                <p:cNvSpPr txBox="1">
                  <a:spLocks noChangeArrowheads="1"/>
                </p:cNvSpPr>
                <p:nvPr/>
              </p:nvSpPr>
              <p:spPr bwMode="auto">
                <a:xfrm>
                  <a:off x="1340" y="2754"/>
                  <a:ext cx="22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grpSp>
          <p:grpSp>
            <p:nvGrpSpPr>
              <p:cNvPr id="60468" name="Group 96"/>
              <p:cNvGrpSpPr>
                <a:grpSpLocks/>
              </p:cNvGrpSpPr>
              <p:nvPr/>
            </p:nvGrpSpPr>
            <p:grpSpPr bwMode="auto">
              <a:xfrm>
                <a:off x="1363" y="1891"/>
                <a:ext cx="1565" cy="1200"/>
                <a:chOff x="1363" y="1891"/>
                <a:chExt cx="1565" cy="1200"/>
              </a:xfrm>
            </p:grpSpPr>
            <p:sp>
              <p:nvSpPr>
                <p:cNvPr id="125978" name="Rectangle 26"/>
                <p:cNvSpPr>
                  <a:spLocks noChangeArrowheads="1"/>
                </p:cNvSpPr>
                <p:nvPr/>
              </p:nvSpPr>
              <p:spPr bwMode="auto">
                <a:xfrm>
                  <a:off x="1363" y="2358"/>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defRPr/>
                  </a:pPr>
                  <a:r>
                    <a:rPr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grpSp>
              <p:nvGrpSpPr>
                <p:cNvPr id="60470" name="Group 27"/>
                <p:cNvGrpSpPr>
                  <a:grpSpLocks/>
                </p:cNvGrpSpPr>
                <p:nvPr/>
              </p:nvGrpSpPr>
              <p:grpSpPr bwMode="auto">
                <a:xfrm>
                  <a:off x="1754" y="2065"/>
                  <a:ext cx="195" cy="899"/>
                  <a:chOff x="2448" y="960"/>
                  <a:chExt cx="192" cy="864"/>
                </a:xfrm>
              </p:grpSpPr>
              <p:grpSp>
                <p:nvGrpSpPr>
                  <p:cNvPr id="60482" name="Group 28"/>
                  <p:cNvGrpSpPr>
                    <a:grpSpLocks/>
                  </p:cNvGrpSpPr>
                  <p:nvPr/>
                </p:nvGrpSpPr>
                <p:grpSpPr bwMode="auto">
                  <a:xfrm flipV="1">
                    <a:off x="2448" y="1296"/>
                    <a:ext cx="192" cy="192"/>
                    <a:chOff x="1344" y="1872"/>
                    <a:chExt cx="192" cy="192"/>
                  </a:xfrm>
                </p:grpSpPr>
                <p:sp>
                  <p:nvSpPr>
                    <p:cNvPr id="60485" name="Oval 29"/>
                    <p:cNvSpPr>
                      <a:spLocks noChangeArrowheads="1"/>
                    </p:cNvSpPr>
                    <p:nvPr/>
                  </p:nvSpPr>
                  <p:spPr bwMode="auto">
                    <a:xfrm>
                      <a:off x="1344" y="1872"/>
                      <a:ext cx="192" cy="192"/>
                    </a:xfrm>
                    <a:prstGeom prst="ellips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86" name="Line 30"/>
                    <p:cNvSpPr>
                      <a:spLocks noChangeShapeType="1"/>
                    </p:cNvSpPr>
                    <p:nvPr/>
                  </p:nvSpPr>
                  <p:spPr bwMode="auto">
                    <a:xfrm>
                      <a:off x="1344" y="1968"/>
                      <a:ext cx="192" cy="0"/>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0483" name="Line 31"/>
                  <p:cNvSpPr>
                    <a:spLocks noChangeShapeType="1"/>
                  </p:cNvSpPr>
                  <p:nvPr/>
                </p:nvSpPr>
                <p:spPr bwMode="auto">
                  <a:xfrm>
                    <a:off x="2544" y="1488"/>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84" name="Line 32"/>
                  <p:cNvSpPr>
                    <a:spLocks noChangeShapeType="1"/>
                  </p:cNvSpPr>
                  <p:nvPr/>
                </p:nvSpPr>
                <p:spPr bwMode="auto">
                  <a:xfrm>
                    <a:off x="2544" y="960"/>
                    <a:ext cx="0" cy="33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0471" name="Line 33"/>
                <p:cNvSpPr>
                  <a:spLocks noChangeShapeType="1"/>
                </p:cNvSpPr>
                <p:nvPr/>
              </p:nvSpPr>
              <p:spPr bwMode="auto">
                <a:xfrm>
                  <a:off x="1833" y="2053"/>
                  <a:ext cx="7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72" name="Line 34"/>
                <p:cNvSpPr>
                  <a:spLocks noChangeShapeType="1"/>
                </p:cNvSpPr>
                <p:nvPr/>
              </p:nvSpPr>
              <p:spPr bwMode="auto">
                <a:xfrm>
                  <a:off x="1833" y="2951"/>
                  <a:ext cx="81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5987" name="Rectangle 35"/>
                <p:cNvSpPr>
                  <a:spLocks noChangeArrowheads="1"/>
                </p:cNvSpPr>
                <p:nvPr/>
              </p:nvSpPr>
              <p:spPr bwMode="auto">
                <a:xfrm>
                  <a:off x="2163" y="2403"/>
                  <a:ext cx="90" cy="199"/>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defRPr/>
                  </a:pPr>
                  <a:endParaRPr kumimoji="1" lang="en-US"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74" name="Line 36"/>
                <p:cNvSpPr>
                  <a:spLocks noChangeShapeType="1"/>
                </p:cNvSpPr>
                <p:nvPr/>
              </p:nvSpPr>
              <p:spPr bwMode="auto">
                <a:xfrm>
                  <a:off x="2209" y="2602"/>
                  <a:ext cx="0" cy="34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75" name="Line 37"/>
                <p:cNvSpPr>
                  <a:spLocks noChangeShapeType="1"/>
                </p:cNvSpPr>
                <p:nvPr/>
              </p:nvSpPr>
              <p:spPr bwMode="auto">
                <a:xfrm flipV="1">
                  <a:off x="2209" y="2053"/>
                  <a:ext cx="0" cy="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5990" name="Text Box 38"/>
                <p:cNvSpPr txBox="1">
                  <a:spLocks noChangeArrowheads="1"/>
                </p:cNvSpPr>
                <p:nvPr/>
              </p:nvSpPr>
              <p:spPr bwMode="auto">
                <a:xfrm>
                  <a:off x="2237" y="2363"/>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spcBef>
                      <a:spcPct val="50000"/>
                    </a:spcBef>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77" name="Oval 39"/>
                <p:cNvSpPr>
                  <a:spLocks noChangeArrowheads="1"/>
                </p:cNvSpPr>
                <p:nvPr/>
              </p:nvSpPr>
              <p:spPr bwMode="auto">
                <a:xfrm>
                  <a:off x="2641" y="2016"/>
                  <a:ext cx="45" cy="62"/>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78" name="Oval 40"/>
                <p:cNvSpPr>
                  <a:spLocks noChangeArrowheads="1"/>
                </p:cNvSpPr>
                <p:nvPr/>
              </p:nvSpPr>
              <p:spPr bwMode="auto">
                <a:xfrm>
                  <a:off x="2652" y="2926"/>
                  <a:ext cx="46" cy="63"/>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79" name="Line 41"/>
                <p:cNvSpPr>
                  <a:spLocks noChangeShapeType="1"/>
                </p:cNvSpPr>
                <p:nvPr/>
              </p:nvSpPr>
              <p:spPr bwMode="auto">
                <a:xfrm flipV="1">
                  <a:off x="1699" y="2318"/>
                  <a:ext cx="0" cy="359"/>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5994" name="Text Box 42"/>
                <p:cNvSpPr txBox="1">
                  <a:spLocks noChangeArrowheads="1"/>
                </p:cNvSpPr>
                <p:nvPr/>
              </p:nvSpPr>
              <p:spPr bwMode="auto">
                <a:xfrm>
                  <a:off x="2659" y="1891"/>
                  <a:ext cx="2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125995" name="Text Box 43"/>
                <p:cNvSpPr txBox="1">
                  <a:spLocks noChangeArrowheads="1"/>
                </p:cNvSpPr>
                <p:nvPr/>
              </p:nvSpPr>
              <p:spPr bwMode="auto">
                <a:xfrm>
                  <a:off x="2698" y="2803"/>
                  <a:ext cx="23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grpSp>
        </p:grpSp>
        <p:sp>
          <p:nvSpPr>
            <p:cNvPr id="60465" name="Oval 44"/>
            <p:cNvSpPr>
              <a:spLocks noChangeArrowheads="1"/>
            </p:cNvSpPr>
            <p:nvPr/>
          </p:nvSpPr>
          <p:spPr bwMode="auto">
            <a:xfrm>
              <a:off x="2171" y="2028"/>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66" name="Oval 45"/>
            <p:cNvSpPr>
              <a:spLocks noChangeArrowheads="1"/>
            </p:cNvSpPr>
            <p:nvPr/>
          </p:nvSpPr>
          <p:spPr bwMode="auto">
            <a:xfrm>
              <a:off x="2171" y="2919"/>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grpSp>
        <p:nvGrpSpPr>
          <p:cNvPr id="60425" name="Group 101"/>
          <p:cNvGrpSpPr>
            <a:grpSpLocks/>
          </p:cNvGrpSpPr>
          <p:nvPr/>
        </p:nvGrpSpPr>
        <p:grpSpPr bwMode="auto">
          <a:xfrm>
            <a:off x="4722813" y="3090863"/>
            <a:ext cx="4027488" cy="1906588"/>
            <a:chOff x="2975" y="1947"/>
            <a:chExt cx="2537" cy="1201"/>
          </a:xfrm>
        </p:grpSpPr>
        <p:grpSp>
          <p:nvGrpSpPr>
            <p:cNvPr id="60427" name="Group 100"/>
            <p:cNvGrpSpPr>
              <a:grpSpLocks/>
            </p:cNvGrpSpPr>
            <p:nvPr/>
          </p:nvGrpSpPr>
          <p:grpSpPr bwMode="auto">
            <a:xfrm>
              <a:off x="2975" y="1947"/>
              <a:ext cx="2537" cy="1201"/>
              <a:chOff x="2975" y="1947"/>
              <a:chExt cx="2537" cy="1201"/>
            </a:xfrm>
          </p:grpSpPr>
          <p:grpSp>
            <p:nvGrpSpPr>
              <p:cNvPr id="60430" name="Group 99"/>
              <p:cNvGrpSpPr>
                <a:grpSpLocks/>
              </p:cNvGrpSpPr>
              <p:nvPr/>
            </p:nvGrpSpPr>
            <p:grpSpPr bwMode="auto">
              <a:xfrm>
                <a:off x="2975" y="1947"/>
                <a:ext cx="1162" cy="1155"/>
                <a:chOff x="2975" y="1947"/>
                <a:chExt cx="1162" cy="1155"/>
              </a:xfrm>
            </p:grpSpPr>
            <p:sp>
              <p:nvSpPr>
                <p:cNvPr id="126001" name="Text Box 49"/>
                <p:cNvSpPr txBox="1">
                  <a:spLocks noChangeArrowheads="1"/>
                </p:cNvSpPr>
                <p:nvPr/>
              </p:nvSpPr>
              <p:spPr bwMode="auto">
                <a:xfrm>
                  <a:off x="3024" y="2572"/>
                  <a:ext cx="36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spcBef>
                      <a:spcPct val="50000"/>
                    </a:spcBef>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51" name="Line 50"/>
                <p:cNvSpPr>
                  <a:spLocks noChangeShapeType="1"/>
                </p:cNvSpPr>
                <p:nvPr/>
              </p:nvSpPr>
              <p:spPr bwMode="auto">
                <a:xfrm>
                  <a:off x="3268" y="2453"/>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52" name="Oval 51"/>
                <p:cNvSpPr>
                  <a:spLocks noChangeArrowheads="1"/>
                </p:cNvSpPr>
                <p:nvPr/>
              </p:nvSpPr>
              <p:spPr bwMode="auto">
                <a:xfrm>
                  <a:off x="3298" y="2259"/>
                  <a:ext cx="195" cy="194"/>
                </a:xfrm>
                <a:prstGeom prst="ellips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53" name="Line 52"/>
                <p:cNvSpPr>
                  <a:spLocks noChangeShapeType="1"/>
                </p:cNvSpPr>
                <p:nvPr/>
              </p:nvSpPr>
              <p:spPr bwMode="auto">
                <a:xfrm>
                  <a:off x="3388" y="2114"/>
                  <a:ext cx="0" cy="484"/>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6005" name="Rectangle 53"/>
                <p:cNvSpPr>
                  <a:spLocks noChangeArrowheads="1"/>
                </p:cNvSpPr>
                <p:nvPr/>
              </p:nvSpPr>
              <p:spPr bwMode="auto">
                <a:xfrm>
                  <a:off x="3348" y="2598"/>
                  <a:ext cx="80" cy="194"/>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defRPr/>
                  </a:pPr>
                  <a:endParaRPr kumimoji="1" lang="en-US"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55" name="Line 54"/>
                <p:cNvSpPr>
                  <a:spLocks noChangeShapeType="1"/>
                </p:cNvSpPr>
                <p:nvPr/>
              </p:nvSpPr>
              <p:spPr bwMode="auto">
                <a:xfrm>
                  <a:off x="3388" y="2792"/>
                  <a:ext cx="0" cy="19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6007" name="Text Box 55"/>
                <p:cNvSpPr txBox="1">
                  <a:spLocks noChangeArrowheads="1"/>
                </p:cNvSpPr>
                <p:nvPr/>
              </p:nvSpPr>
              <p:spPr bwMode="auto">
                <a:xfrm>
                  <a:off x="3120" y="1968"/>
                  <a:ext cx="160" cy="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spcBef>
                      <a:spcPct val="50000"/>
                    </a:spcBef>
                    <a:defRPr/>
                  </a:pPr>
                  <a:r>
                    <a:rPr kumimoji="1" lang="en-US" altLang="zh-CN" sz="28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a:p>
                  <a:pPr algn="ctr" eaLnBrk="1" hangingPunct="1">
                    <a:spcBef>
                      <a:spcPct val="50000"/>
                    </a:spcBef>
                    <a:defRPr/>
                  </a:pPr>
                  <a:r>
                    <a:rPr kumimoji="1" lang="en-US" altLang="zh-CN" sz="2800" b="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26008" name="Rectangle 56"/>
                <p:cNvSpPr>
                  <a:spLocks noChangeArrowheads="1"/>
                </p:cNvSpPr>
                <p:nvPr/>
              </p:nvSpPr>
              <p:spPr bwMode="auto">
                <a:xfrm>
                  <a:off x="2975" y="2159"/>
                  <a:ext cx="385"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eaLnBrk="1" hangingPunct="1">
                    <a:defRPr/>
                  </a:pPr>
                  <a:r>
                    <a:rPr kumimoji="1"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U</a:t>
                  </a:r>
                  <a:r>
                    <a:rPr kumimoji="1" lang="en-US" altLang="zh-CN"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r>
                    <a:rPr kumimoji="1" lang="en-US" altLang="zh-CN" sz="2800"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 </a:t>
                  </a:r>
                </a:p>
              </p:txBody>
            </p:sp>
            <p:sp>
              <p:nvSpPr>
                <p:cNvPr id="60458" name="Line 57"/>
                <p:cNvSpPr>
                  <a:spLocks noChangeShapeType="1"/>
                </p:cNvSpPr>
                <p:nvPr/>
              </p:nvSpPr>
              <p:spPr bwMode="auto">
                <a:xfrm>
                  <a:off x="3386" y="2115"/>
                  <a:ext cx="5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59" name="Line 58"/>
                <p:cNvSpPr>
                  <a:spLocks noChangeShapeType="1"/>
                </p:cNvSpPr>
                <p:nvPr/>
              </p:nvSpPr>
              <p:spPr bwMode="auto">
                <a:xfrm>
                  <a:off x="3389" y="2973"/>
                  <a:ext cx="501"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60" name="Oval 59"/>
                <p:cNvSpPr>
                  <a:spLocks noChangeArrowheads="1"/>
                </p:cNvSpPr>
                <p:nvPr/>
              </p:nvSpPr>
              <p:spPr bwMode="auto">
                <a:xfrm>
                  <a:off x="3886" y="2079"/>
                  <a:ext cx="43" cy="58"/>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61" name="Oval 60"/>
                <p:cNvSpPr>
                  <a:spLocks noChangeArrowheads="1"/>
                </p:cNvSpPr>
                <p:nvPr/>
              </p:nvSpPr>
              <p:spPr bwMode="auto">
                <a:xfrm>
                  <a:off x="3886" y="2927"/>
                  <a:ext cx="43" cy="58"/>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6013" name="Text Box 61"/>
                <p:cNvSpPr txBox="1">
                  <a:spLocks noChangeArrowheads="1"/>
                </p:cNvSpPr>
                <p:nvPr/>
              </p:nvSpPr>
              <p:spPr bwMode="auto">
                <a:xfrm>
                  <a:off x="3924" y="1947"/>
                  <a:ext cx="213"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126014" name="Text Box 62"/>
                <p:cNvSpPr txBox="1">
                  <a:spLocks noChangeArrowheads="1"/>
                </p:cNvSpPr>
                <p:nvPr/>
              </p:nvSpPr>
              <p:spPr bwMode="auto">
                <a:xfrm>
                  <a:off x="3909" y="2811"/>
                  <a:ext cx="22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ctr">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grpSp>
          <p:grpSp>
            <p:nvGrpSpPr>
              <p:cNvPr id="60431" name="Group 92"/>
              <p:cNvGrpSpPr>
                <a:grpSpLocks/>
              </p:cNvGrpSpPr>
              <p:nvPr/>
            </p:nvGrpSpPr>
            <p:grpSpPr bwMode="auto">
              <a:xfrm>
                <a:off x="3947" y="1948"/>
                <a:ext cx="1565" cy="1200"/>
                <a:chOff x="3947" y="1948"/>
                <a:chExt cx="1565" cy="1200"/>
              </a:xfrm>
            </p:grpSpPr>
            <p:sp>
              <p:nvSpPr>
                <p:cNvPr id="126016" name="Rectangle 64"/>
                <p:cNvSpPr>
                  <a:spLocks noChangeArrowheads="1"/>
                </p:cNvSpPr>
                <p:nvPr/>
              </p:nvSpPr>
              <p:spPr bwMode="auto">
                <a:xfrm>
                  <a:off x="3947" y="2415"/>
                  <a:ext cx="43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defRPr/>
                  </a:pPr>
                  <a:r>
                    <a:rPr lang="en-US" altLang="zh-CN" b="1" i="1">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I</a:t>
                  </a:r>
                  <a:r>
                    <a:rPr lang="en-US" altLang="zh-CN" b="1" baseline="-25000">
                      <a:solidFill>
                        <a:srgbClr val="FF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p>
              </p:txBody>
            </p:sp>
            <p:grpSp>
              <p:nvGrpSpPr>
                <p:cNvPr id="60433" name="Group 91"/>
                <p:cNvGrpSpPr>
                  <a:grpSpLocks/>
                </p:cNvGrpSpPr>
                <p:nvPr/>
              </p:nvGrpSpPr>
              <p:grpSpPr bwMode="auto">
                <a:xfrm>
                  <a:off x="4315" y="2122"/>
                  <a:ext cx="195" cy="899"/>
                  <a:chOff x="4315" y="2122"/>
                  <a:chExt cx="195" cy="899"/>
                </a:xfrm>
              </p:grpSpPr>
              <p:grpSp>
                <p:nvGrpSpPr>
                  <p:cNvPr id="60445" name="Group 66"/>
                  <p:cNvGrpSpPr>
                    <a:grpSpLocks/>
                  </p:cNvGrpSpPr>
                  <p:nvPr/>
                </p:nvGrpSpPr>
                <p:grpSpPr bwMode="auto">
                  <a:xfrm flipV="1">
                    <a:off x="4315" y="2472"/>
                    <a:ext cx="195" cy="199"/>
                    <a:chOff x="1344" y="1872"/>
                    <a:chExt cx="192" cy="192"/>
                  </a:xfrm>
                </p:grpSpPr>
                <p:sp>
                  <p:nvSpPr>
                    <p:cNvPr id="60448" name="Oval 67"/>
                    <p:cNvSpPr>
                      <a:spLocks noChangeArrowheads="1"/>
                    </p:cNvSpPr>
                    <p:nvPr/>
                  </p:nvSpPr>
                  <p:spPr bwMode="auto">
                    <a:xfrm>
                      <a:off x="1344" y="1872"/>
                      <a:ext cx="192" cy="192"/>
                    </a:xfrm>
                    <a:prstGeom prst="ellipse">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49" name="Line 68"/>
                    <p:cNvSpPr>
                      <a:spLocks noChangeShapeType="1"/>
                    </p:cNvSpPr>
                    <p:nvPr/>
                  </p:nvSpPr>
                  <p:spPr bwMode="auto">
                    <a:xfrm>
                      <a:off x="1344" y="1968"/>
                      <a:ext cx="192" cy="0"/>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0446" name="Line 69"/>
                  <p:cNvSpPr>
                    <a:spLocks noChangeShapeType="1"/>
                  </p:cNvSpPr>
                  <p:nvPr/>
                </p:nvSpPr>
                <p:spPr bwMode="auto">
                  <a:xfrm>
                    <a:off x="4413" y="2671"/>
                    <a:ext cx="0" cy="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47" name="Line 70"/>
                  <p:cNvSpPr>
                    <a:spLocks noChangeShapeType="1"/>
                  </p:cNvSpPr>
                  <p:nvPr/>
                </p:nvSpPr>
                <p:spPr bwMode="auto">
                  <a:xfrm>
                    <a:off x="4413" y="2122"/>
                    <a:ext cx="0" cy="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0434" name="Line 71"/>
                <p:cNvSpPr>
                  <a:spLocks noChangeShapeType="1"/>
                </p:cNvSpPr>
                <p:nvPr/>
              </p:nvSpPr>
              <p:spPr bwMode="auto">
                <a:xfrm>
                  <a:off x="4417" y="2110"/>
                  <a:ext cx="79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35" name="Line 72"/>
                <p:cNvSpPr>
                  <a:spLocks noChangeShapeType="1"/>
                </p:cNvSpPr>
                <p:nvPr/>
              </p:nvSpPr>
              <p:spPr bwMode="auto">
                <a:xfrm>
                  <a:off x="4417" y="3008"/>
                  <a:ext cx="819"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6025" name="Rectangle 73"/>
                <p:cNvSpPr>
                  <a:spLocks noChangeArrowheads="1"/>
                </p:cNvSpPr>
                <p:nvPr/>
              </p:nvSpPr>
              <p:spPr bwMode="auto">
                <a:xfrm>
                  <a:off x="4747" y="2460"/>
                  <a:ext cx="90" cy="199"/>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defRPr/>
                  </a:pPr>
                  <a:endParaRPr kumimoji="1" lang="en-US" sz="28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37" name="Line 74"/>
                <p:cNvSpPr>
                  <a:spLocks noChangeShapeType="1"/>
                </p:cNvSpPr>
                <p:nvPr/>
              </p:nvSpPr>
              <p:spPr bwMode="auto">
                <a:xfrm>
                  <a:off x="4793" y="2659"/>
                  <a:ext cx="0" cy="34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38" name="Line 75"/>
                <p:cNvSpPr>
                  <a:spLocks noChangeShapeType="1"/>
                </p:cNvSpPr>
                <p:nvPr/>
              </p:nvSpPr>
              <p:spPr bwMode="auto">
                <a:xfrm flipV="1">
                  <a:off x="4793" y="2110"/>
                  <a:ext cx="0" cy="3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6028" name="Text Box 76"/>
                <p:cNvSpPr txBox="1">
                  <a:spLocks noChangeArrowheads="1"/>
                </p:cNvSpPr>
                <p:nvPr/>
              </p:nvSpPr>
              <p:spPr bwMode="auto">
                <a:xfrm>
                  <a:off x="4821" y="2420"/>
                  <a:ext cx="38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eaLnBrk="1" hangingPunct="1">
                    <a:spcBef>
                      <a:spcPct val="50000"/>
                    </a:spcBef>
                    <a:defRPr/>
                  </a:pPr>
                  <a:r>
                    <a:rPr kumimoji="1" lang="en-US" altLang="zh-CN" b="1" i="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R</a:t>
                  </a:r>
                  <a:r>
                    <a:rPr kumimoji="1" lang="en-US" altLang="zh-CN" b="1" baseline="-25000">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S</a:t>
                  </a:r>
                  <a:endParaRPr kumimoji="1"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40" name="Oval 77"/>
                <p:cNvSpPr>
                  <a:spLocks noChangeArrowheads="1"/>
                </p:cNvSpPr>
                <p:nvPr/>
              </p:nvSpPr>
              <p:spPr bwMode="auto">
                <a:xfrm>
                  <a:off x="5225" y="2073"/>
                  <a:ext cx="45" cy="62"/>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41" name="Oval 78"/>
                <p:cNvSpPr>
                  <a:spLocks noChangeArrowheads="1"/>
                </p:cNvSpPr>
                <p:nvPr/>
              </p:nvSpPr>
              <p:spPr bwMode="auto">
                <a:xfrm>
                  <a:off x="5236" y="2983"/>
                  <a:ext cx="46" cy="63"/>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42" name="Line 79"/>
                <p:cNvSpPr>
                  <a:spLocks noChangeShapeType="1"/>
                </p:cNvSpPr>
                <p:nvPr/>
              </p:nvSpPr>
              <p:spPr bwMode="auto">
                <a:xfrm>
                  <a:off x="4283" y="2425"/>
                  <a:ext cx="0" cy="359"/>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26032" name="Text Box 80"/>
                <p:cNvSpPr txBox="1">
                  <a:spLocks noChangeArrowheads="1"/>
                </p:cNvSpPr>
                <p:nvPr/>
              </p:nvSpPr>
              <p:spPr bwMode="auto">
                <a:xfrm>
                  <a:off x="5243" y="1948"/>
                  <a:ext cx="26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126033" name="Text Box 81"/>
                <p:cNvSpPr txBox="1">
                  <a:spLocks noChangeArrowheads="1"/>
                </p:cNvSpPr>
                <p:nvPr/>
              </p:nvSpPr>
              <p:spPr bwMode="auto">
                <a:xfrm>
                  <a:off x="5282" y="2860"/>
                  <a:ext cx="23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a:defRPr/>
                  </a:pPr>
                  <a:r>
                    <a:rPr lang="en-US" altLang="zh-CN"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b</a:t>
                  </a:r>
                </a:p>
              </p:txBody>
            </p:sp>
          </p:grpSp>
        </p:grpSp>
        <p:sp>
          <p:nvSpPr>
            <p:cNvPr id="60428" name="Oval 82"/>
            <p:cNvSpPr>
              <a:spLocks noChangeArrowheads="1"/>
            </p:cNvSpPr>
            <p:nvPr/>
          </p:nvSpPr>
          <p:spPr bwMode="auto">
            <a:xfrm>
              <a:off x="4765" y="2083"/>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0429" name="Oval 83"/>
            <p:cNvSpPr>
              <a:spLocks noChangeArrowheads="1"/>
            </p:cNvSpPr>
            <p:nvPr/>
          </p:nvSpPr>
          <p:spPr bwMode="auto">
            <a:xfrm>
              <a:off x="4765" y="2976"/>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0426" name="Text Box 85"/>
          <p:cNvSpPr txBox="1">
            <a:spLocks noChangeArrowheads="1"/>
          </p:cNvSpPr>
          <p:nvPr/>
        </p:nvSpPr>
        <p:spPr bwMode="auto">
          <a:xfrm>
            <a:off x="0" y="260350"/>
            <a:ext cx="2819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800" b="1">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注意事项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5956">
                                            <p:txEl>
                                              <p:pRg st="0" end="0"/>
                                            </p:txEl>
                                          </p:spTgt>
                                        </p:tgtEl>
                                        <p:attrNameLst>
                                          <p:attrName>style.visibility</p:attrName>
                                        </p:attrNameLst>
                                      </p:cBhvr>
                                      <p:to>
                                        <p:strVal val="visible"/>
                                      </p:to>
                                    </p:set>
                                    <p:animEffect transition="in" filter="wipe(left)">
                                      <p:cBhvr>
                                        <p:cTn id="7" dur="500"/>
                                        <p:tgtEl>
                                          <p:spTgt spid="12595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5958">
                                            <p:txEl>
                                              <p:pRg st="0" end="0"/>
                                            </p:txEl>
                                          </p:spTgt>
                                        </p:tgtEl>
                                        <p:attrNameLst>
                                          <p:attrName>style.visibility</p:attrName>
                                        </p:attrNameLst>
                                      </p:cBhvr>
                                      <p:to>
                                        <p:strVal val="visible"/>
                                      </p:to>
                                    </p:set>
                                    <p:animEffect transition="in" filter="wipe(left)">
                                      <p:cBhvr>
                                        <p:cTn id="12" dur="500"/>
                                        <p:tgtEl>
                                          <p:spTgt spid="12595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5954"/>
                                        </p:tgtEl>
                                        <p:attrNameLst>
                                          <p:attrName>style.visibility</p:attrName>
                                        </p:attrNameLst>
                                      </p:cBhvr>
                                      <p:to>
                                        <p:strVal val="visible"/>
                                      </p:to>
                                    </p:set>
                                    <p:animEffect transition="in" filter="wipe(left)">
                                      <p:cBhvr>
                                        <p:cTn id="17" dur="500"/>
                                        <p:tgtEl>
                                          <p:spTgt spid="1259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5955"/>
                                        </p:tgtEl>
                                        <p:attrNameLst>
                                          <p:attrName>style.visibility</p:attrName>
                                        </p:attrNameLst>
                                      </p:cBhvr>
                                      <p:to>
                                        <p:strVal val="visible"/>
                                      </p:to>
                                    </p:set>
                                    <p:animEffect transition="in" filter="wipe(left)">
                                      <p:cBhvr>
                                        <p:cTn id="22" dur="500"/>
                                        <p:tgtEl>
                                          <p:spTgt spid="1259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5959"/>
                                        </p:tgtEl>
                                        <p:attrNameLst>
                                          <p:attrName>style.visibility</p:attrName>
                                        </p:attrNameLst>
                                      </p:cBhvr>
                                      <p:to>
                                        <p:strVal val="visible"/>
                                      </p:to>
                                    </p:set>
                                    <p:animEffect transition="in" filter="wipe(left)">
                                      <p:cBhvr>
                                        <p:cTn id="27" dur="500"/>
                                        <p:tgtEl>
                                          <p:spTgt spid="125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autoUpdateAnimBg="0"/>
      <p:bldP spid="125955" grpId="0" autoUpdateAnimBg="0"/>
      <p:bldP spid="125956" grpId="0" build="p" autoUpdateAnimBg="0"/>
      <p:bldP spid="125958" grpId="0" build="p" autoUpdateAnimBg="0"/>
      <p:bldP spid="125959"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045EA22-4D1C-4F1E-9D7D-E472B6C7D9FA}" type="slidenum">
              <a:rPr lang="en-US" altLang="zh-CN" sz="1400" smtClean="0">
                <a:latin typeface="Times New Roman" panose="02020603050405020304" pitchFamily="18" charset="0"/>
                <a:ea typeface="华文中宋" panose="02010600040101010101" pitchFamily="2" charset="-122"/>
                <a:cs typeface="Times New Roman" panose="02020603050405020304" pitchFamily="18" charset="0"/>
              </a:rPr>
              <a:pPr>
                <a:spcBef>
                  <a:spcPct val="0"/>
                </a:spcBef>
                <a:buFontTx/>
                <a:buNone/>
              </a:pPr>
              <a:t>56</a:t>
            </a:fld>
            <a:endParaRPr lang="en-US" altLang="zh-CN" sz="1400" smtClean="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0050" name="Rectangle 2"/>
          <p:cNvSpPr>
            <a:spLocks noChangeArrowheads="1"/>
          </p:cNvSpPr>
          <p:nvPr/>
        </p:nvSpPr>
        <p:spPr bwMode="auto">
          <a:xfrm>
            <a:off x="304800" y="457200"/>
            <a:ext cx="1219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hangingPunct="1">
              <a:defRPr/>
            </a:pPr>
            <a:r>
              <a:rPr lang="en-US" altLang="zh-CN" sz="2800" b="1"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800" b="1"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800" b="1"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30051" name="Text Box 3"/>
          <p:cNvSpPr txBox="1">
            <a:spLocks noChangeArrowheads="1"/>
          </p:cNvSpPr>
          <p:nvPr/>
        </p:nvSpPr>
        <p:spPr bwMode="auto">
          <a:xfrm>
            <a:off x="1403350" y="404813"/>
            <a:ext cx="57912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1" hangingPunct="1">
              <a:spcBef>
                <a:spcPct val="5000"/>
              </a:spcBef>
              <a:defRPr/>
            </a:pPr>
            <a:r>
              <a:rPr lang="zh-CN" altLang="en-US" sz="26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将下列的电流源等效变换为电压源。</a:t>
            </a:r>
          </a:p>
        </p:txBody>
      </p:sp>
      <p:sp>
        <p:nvSpPr>
          <p:cNvPr id="61445" name="Text Box 4"/>
          <p:cNvSpPr txBox="1">
            <a:spLocks noChangeArrowheads="1"/>
          </p:cNvSpPr>
          <p:nvPr/>
        </p:nvSpPr>
        <p:spPr bwMode="auto">
          <a:xfrm>
            <a:off x="635000" y="1066800"/>
            <a:ext cx="660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解</a:t>
            </a:r>
            <a:r>
              <a:rPr kumimoji="1" lang="en-US" altLang="zh-CN"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grpSp>
        <p:nvGrpSpPr>
          <p:cNvPr id="130191" name="Group 143"/>
          <p:cNvGrpSpPr>
            <a:grpSpLocks/>
          </p:cNvGrpSpPr>
          <p:nvPr/>
        </p:nvGrpSpPr>
        <p:grpSpPr bwMode="auto">
          <a:xfrm>
            <a:off x="5410200" y="912813"/>
            <a:ext cx="2319338" cy="2317751"/>
            <a:chOff x="3360" y="2399"/>
            <a:chExt cx="1461" cy="1460"/>
          </a:xfrm>
        </p:grpSpPr>
        <p:sp>
          <p:nvSpPr>
            <p:cNvPr id="61524" name="Oval 6"/>
            <p:cNvSpPr>
              <a:spLocks noChangeArrowheads="1"/>
            </p:cNvSpPr>
            <p:nvPr/>
          </p:nvSpPr>
          <p:spPr bwMode="auto">
            <a:xfrm flipV="1">
              <a:off x="3360" y="3178"/>
              <a:ext cx="239" cy="226"/>
            </a:xfrm>
            <a:prstGeom prst="ellipse">
              <a:avLst/>
            </a:prstGeom>
            <a:noFill/>
            <a:ln w="381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25" name="Line 7"/>
            <p:cNvSpPr>
              <a:spLocks noChangeShapeType="1"/>
            </p:cNvSpPr>
            <p:nvPr/>
          </p:nvSpPr>
          <p:spPr bwMode="auto">
            <a:xfrm flipV="1">
              <a:off x="3480" y="3008"/>
              <a:ext cx="0" cy="565"/>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26" name="Rectangle 8"/>
            <p:cNvSpPr>
              <a:spLocks noChangeArrowheads="1"/>
            </p:cNvSpPr>
            <p:nvPr/>
          </p:nvSpPr>
          <p:spPr bwMode="auto">
            <a:xfrm flipV="1">
              <a:off x="3419" y="2782"/>
              <a:ext cx="120" cy="2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27" name="Line 9"/>
            <p:cNvSpPr>
              <a:spLocks noChangeShapeType="1"/>
            </p:cNvSpPr>
            <p:nvPr/>
          </p:nvSpPr>
          <p:spPr bwMode="auto">
            <a:xfrm flipV="1">
              <a:off x="3480" y="2570"/>
              <a:ext cx="0" cy="2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28" name="Text Box 10"/>
            <p:cNvSpPr txBox="1">
              <a:spLocks noChangeArrowheads="1"/>
            </p:cNvSpPr>
            <p:nvPr/>
          </p:nvSpPr>
          <p:spPr bwMode="auto">
            <a:xfrm>
              <a:off x="3539" y="2904"/>
              <a:ext cx="240" cy="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800">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529" name="Line 11"/>
            <p:cNvSpPr>
              <a:spLocks noChangeShapeType="1"/>
            </p:cNvSpPr>
            <p:nvPr/>
          </p:nvSpPr>
          <p:spPr bwMode="auto">
            <a:xfrm>
              <a:off x="3480" y="2570"/>
              <a:ext cx="101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30" name="Oval 12"/>
            <p:cNvSpPr>
              <a:spLocks noChangeArrowheads="1"/>
            </p:cNvSpPr>
            <p:nvPr/>
          </p:nvSpPr>
          <p:spPr bwMode="auto">
            <a:xfrm>
              <a:off x="4497" y="2542"/>
              <a:ext cx="73" cy="70"/>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31" name="Text Box 13"/>
            <p:cNvSpPr txBox="1">
              <a:spLocks noChangeArrowheads="1"/>
            </p:cNvSpPr>
            <p:nvPr/>
          </p:nvSpPr>
          <p:spPr bwMode="auto">
            <a:xfrm>
              <a:off x="4592" y="2399"/>
              <a:ext cx="22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61532" name="Line 14"/>
            <p:cNvSpPr>
              <a:spLocks noChangeShapeType="1"/>
            </p:cNvSpPr>
            <p:nvPr/>
          </p:nvSpPr>
          <p:spPr bwMode="auto">
            <a:xfrm>
              <a:off x="3480" y="3558"/>
              <a:ext cx="101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33" name="Oval 15"/>
            <p:cNvSpPr>
              <a:spLocks noChangeArrowheads="1"/>
            </p:cNvSpPr>
            <p:nvPr/>
          </p:nvSpPr>
          <p:spPr bwMode="auto">
            <a:xfrm>
              <a:off x="4482" y="3530"/>
              <a:ext cx="73" cy="70"/>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34" name="Text Box 16"/>
            <p:cNvSpPr txBox="1">
              <a:spLocks noChangeArrowheads="1"/>
            </p:cNvSpPr>
            <p:nvPr/>
          </p:nvSpPr>
          <p:spPr bwMode="auto">
            <a:xfrm>
              <a:off x="4569" y="3388"/>
              <a:ext cx="24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61535" name="Text Box 17"/>
            <p:cNvSpPr txBox="1">
              <a:spLocks noChangeArrowheads="1"/>
            </p:cNvSpPr>
            <p:nvPr/>
          </p:nvSpPr>
          <p:spPr bwMode="auto">
            <a:xfrm>
              <a:off x="4362" y="2879"/>
              <a:ext cx="28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U</a:t>
              </a:r>
            </a:p>
          </p:txBody>
        </p:sp>
        <p:sp>
          <p:nvSpPr>
            <p:cNvPr id="61536" name="Text Box 18"/>
            <p:cNvSpPr txBox="1">
              <a:spLocks noChangeArrowheads="1"/>
            </p:cNvSpPr>
            <p:nvPr/>
          </p:nvSpPr>
          <p:spPr bwMode="auto">
            <a:xfrm>
              <a:off x="3496" y="2739"/>
              <a:ext cx="40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endParaRPr kumimoji="1" lang="zh-CN"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37" name="Text Box 19"/>
            <p:cNvSpPr txBox="1">
              <a:spLocks noChangeArrowheads="1"/>
            </p:cNvSpPr>
            <p:nvPr/>
          </p:nvSpPr>
          <p:spPr bwMode="auto">
            <a:xfrm>
              <a:off x="3528" y="3142"/>
              <a:ext cx="506"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15V</a:t>
              </a:r>
            </a:p>
          </p:txBody>
        </p:sp>
        <p:sp>
          <p:nvSpPr>
            <p:cNvPr id="61538" name="Text Box 20"/>
            <p:cNvSpPr txBox="1">
              <a:spLocks noChangeArrowheads="1"/>
            </p:cNvSpPr>
            <p:nvPr/>
          </p:nvSpPr>
          <p:spPr bwMode="auto">
            <a:xfrm>
              <a:off x="3808" y="3532"/>
              <a:ext cx="39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61539" name="Text Box 21"/>
            <p:cNvSpPr txBox="1">
              <a:spLocks noChangeArrowheads="1"/>
            </p:cNvSpPr>
            <p:nvPr/>
          </p:nvSpPr>
          <p:spPr bwMode="auto">
            <a:xfrm>
              <a:off x="4414" y="2551"/>
              <a:ext cx="2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540" name="Text Box 22"/>
            <p:cNvSpPr txBox="1">
              <a:spLocks noChangeArrowheads="1"/>
            </p:cNvSpPr>
            <p:nvPr/>
          </p:nvSpPr>
          <p:spPr bwMode="auto">
            <a:xfrm>
              <a:off x="4414" y="3286"/>
              <a:ext cx="2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p:txBody>
        </p:sp>
      </p:grpSp>
      <p:grpSp>
        <p:nvGrpSpPr>
          <p:cNvPr id="61447" name="Group 115"/>
          <p:cNvGrpSpPr>
            <a:grpSpLocks/>
          </p:cNvGrpSpPr>
          <p:nvPr/>
        </p:nvGrpSpPr>
        <p:grpSpPr bwMode="auto">
          <a:xfrm>
            <a:off x="1292225" y="912813"/>
            <a:ext cx="3028951" cy="2411413"/>
            <a:chOff x="1837" y="2323"/>
            <a:chExt cx="1908" cy="1519"/>
          </a:xfrm>
        </p:grpSpPr>
        <p:grpSp>
          <p:nvGrpSpPr>
            <p:cNvPr id="61498" name="Group 116"/>
            <p:cNvGrpSpPr>
              <a:grpSpLocks/>
            </p:cNvGrpSpPr>
            <p:nvPr/>
          </p:nvGrpSpPr>
          <p:grpSpPr bwMode="auto">
            <a:xfrm>
              <a:off x="1837" y="2323"/>
              <a:ext cx="1908" cy="1519"/>
              <a:chOff x="1837" y="2131"/>
              <a:chExt cx="1908" cy="1519"/>
            </a:xfrm>
          </p:grpSpPr>
          <p:sp>
            <p:nvSpPr>
              <p:cNvPr id="61501" name="Line 117"/>
              <p:cNvSpPr>
                <a:spLocks noChangeShapeType="1"/>
              </p:cNvSpPr>
              <p:nvPr/>
            </p:nvSpPr>
            <p:spPr bwMode="auto">
              <a:xfrm>
                <a:off x="2353" y="2302"/>
                <a:ext cx="105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02" name="Oval 118"/>
              <p:cNvSpPr>
                <a:spLocks noChangeArrowheads="1"/>
              </p:cNvSpPr>
              <p:nvPr/>
            </p:nvSpPr>
            <p:spPr bwMode="auto">
              <a:xfrm>
                <a:off x="3405" y="2272"/>
                <a:ext cx="77" cy="73"/>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03" name="Text Box 119"/>
              <p:cNvSpPr txBox="1">
                <a:spLocks noChangeArrowheads="1"/>
              </p:cNvSpPr>
              <p:nvPr/>
            </p:nvSpPr>
            <p:spPr bwMode="auto">
              <a:xfrm>
                <a:off x="3506" y="2131"/>
                <a:ext cx="22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p>
            </p:txBody>
          </p:sp>
          <p:grpSp>
            <p:nvGrpSpPr>
              <p:cNvPr id="61504" name="Group 120"/>
              <p:cNvGrpSpPr>
                <a:grpSpLocks/>
              </p:cNvGrpSpPr>
              <p:nvPr/>
            </p:nvGrpSpPr>
            <p:grpSpPr bwMode="auto">
              <a:xfrm>
                <a:off x="2843" y="2302"/>
                <a:ext cx="122" cy="1058"/>
                <a:chOff x="2822" y="2499"/>
                <a:chExt cx="136" cy="1175"/>
              </a:xfrm>
            </p:grpSpPr>
            <p:sp>
              <p:nvSpPr>
                <p:cNvPr id="61521" name="Rectangle 121"/>
                <p:cNvSpPr>
                  <a:spLocks noChangeArrowheads="1"/>
                </p:cNvSpPr>
                <p:nvPr/>
              </p:nvSpPr>
              <p:spPr bwMode="auto">
                <a:xfrm>
                  <a:off x="2822" y="2956"/>
                  <a:ext cx="136" cy="261"/>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22" name="Line 122"/>
                <p:cNvSpPr>
                  <a:spLocks noChangeShapeType="1"/>
                </p:cNvSpPr>
                <p:nvPr/>
              </p:nvSpPr>
              <p:spPr bwMode="auto">
                <a:xfrm>
                  <a:off x="2890" y="3217"/>
                  <a:ext cx="0" cy="45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23" name="Line 123"/>
                <p:cNvSpPr>
                  <a:spLocks noChangeShapeType="1"/>
                </p:cNvSpPr>
                <p:nvPr/>
              </p:nvSpPr>
              <p:spPr bwMode="auto">
                <a:xfrm flipV="1">
                  <a:off x="2890" y="2499"/>
                  <a:ext cx="0" cy="45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1505" name="Text Box 124"/>
              <p:cNvSpPr txBox="1">
                <a:spLocks noChangeArrowheads="1"/>
              </p:cNvSpPr>
              <p:nvPr/>
            </p:nvSpPr>
            <p:spPr bwMode="auto">
              <a:xfrm>
                <a:off x="1837" y="2671"/>
                <a:ext cx="39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5A</a:t>
                </a:r>
              </a:p>
            </p:txBody>
          </p:sp>
          <p:grpSp>
            <p:nvGrpSpPr>
              <p:cNvPr id="61506" name="Group 125"/>
              <p:cNvGrpSpPr>
                <a:grpSpLocks/>
              </p:cNvGrpSpPr>
              <p:nvPr/>
            </p:nvGrpSpPr>
            <p:grpSpPr bwMode="auto">
              <a:xfrm>
                <a:off x="2231" y="2302"/>
                <a:ext cx="245" cy="1058"/>
                <a:chOff x="2142" y="2499"/>
                <a:chExt cx="272" cy="1175"/>
              </a:xfrm>
            </p:grpSpPr>
            <p:grpSp>
              <p:nvGrpSpPr>
                <p:cNvPr id="61516" name="Group 126"/>
                <p:cNvGrpSpPr>
                  <a:grpSpLocks/>
                </p:cNvGrpSpPr>
                <p:nvPr/>
              </p:nvGrpSpPr>
              <p:grpSpPr bwMode="auto">
                <a:xfrm>
                  <a:off x="2142" y="2956"/>
                  <a:ext cx="272" cy="261"/>
                  <a:chOff x="2142" y="2956"/>
                  <a:chExt cx="272" cy="261"/>
                </a:xfrm>
              </p:grpSpPr>
              <p:sp>
                <p:nvSpPr>
                  <p:cNvPr id="61519" name="Oval 127"/>
                  <p:cNvSpPr>
                    <a:spLocks noChangeArrowheads="1"/>
                  </p:cNvSpPr>
                  <p:nvPr/>
                </p:nvSpPr>
                <p:spPr bwMode="auto">
                  <a:xfrm flipV="1">
                    <a:off x="2142" y="2956"/>
                    <a:ext cx="272" cy="261"/>
                  </a:xfrm>
                  <a:prstGeom prst="ellipse">
                    <a:avLst/>
                  </a:prstGeom>
                  <a:noFill/>
                  <a:ln w="381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20" name="Line 128"/>
                  <p:cNvSpPr>
                    <a:spLocks noChangeShapeType="1"/>
                  </p:cNvSpPr>
                  <p:nvPr/>
                </p:nvSpPr>
                <p:spPr bwMode="auto">
                  <a:xfrm flipV="1">
                    <a:off x="2142" y="3087"/>
                    <a:ext cx="272" cy="0"/>
                  </a:xfrm>
                  <a:prstGeom prst="line">
                    <a:avLst/>
                  </a:prstGeom>
                  <a:noFill/>
                  <a:ln w="3810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1517" name="Line 129"/>
                <p:cNvSpPr>
                  <a:spLocks noChangeShapeType="1"/>
                </p:cNvSpPr>
                <p:nvPr/>
              </p:nvSpPr>
              <p:spPr bwMode="auto">
                <a:xfrm>
                  <a:off x="2278" y="3217"/>
                  <a:ext cx="0" cy="45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18" name="Line 130"/>
                <p:cNvSpPr>
                  <a:spLocks noChangeShapeType="1"/>
                </p:cNvSpPr>
                <p:nvPr/>
              </p:nvSpPr>
              <p:spPr bwMode="auto">
                <a:xfrm>
                  <a:off x="2278" y="2499"/>
                  <a:ext cx="0" cy="45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1507" name="Line 131"/>
              <p:cNvSpPr>
                <a:spLocks noChangeShapeType="1"/>
              </p:cNvSpPr>
              <p:nvPr/>
            </p:nvSpPr>
            <p:spPr bwMode="auto">
              <a:xfrm>
                <a:off x="2368" y="3345"/>
                <a:ext cx="105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08" name="Oval 132"/>
              <p:cNvSpPr>
                <a:spLocks noChangeArrowheads="1"/>
              </p:cNvSpPr>
              <p:nvPr/>
            </p:nvSpPr>
            <p:spPr bwMode="auto">
              <a:xfrm>
                <a:off x="3410" y="3315"/>
                <a:ext cx="75" cy="74"/>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09" name="Text Box 133"/>
              <p:cNvSpPr txBox="1">
                <a:spLocks noChangeArrowheads="1"/>
              </p:cNvSpPr>
              <p:nvPr/>
            </p:nvSpPr>
            <p:spPr bwMode="auto">
              <a:xfrm>
                <a:off x="3502" y="3173"/>
                <a:ext cx="24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61510" name="Line 134"/>
              <p:cNvSpPr>
                <a:spLocks noChangeShapeType="1"/>
              </p:cNvSpPr>
              <p:nvPr/>
            </p:nvSpPr>
            <p:spPr bwMode="auto">
              <a:xfrm flipV="1">
                <a:off x="2204" y="2678"/>
                <a:ext cx="0" cy="313"/>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11" name="Text Box 135"/>
              <p:cNvSpPr txBox="1">
                <a:spLocks noChangeArrowheads="1"/>
              </p:cNvSpPr>
              <p:nvPr/>
            </p:nvSpPr>
            <p:spPr bwMode="auto">
              <a:xfrm>
                <a:off x="3278" y="2679"/>
                <a:ext cx="28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U</a:t>
                </a:r>
              </a:p>
            </p:txBody>
          </p:sp>
          <p:sp>
            <p:nvSpPr>
              <p:cNvPr id="61512" name="Text Box 136"/>
              <p:cNvSpPr txBox="1">
                <a:spLocks noChangeArrowheads="1"/>
              </p:cNvSpPr>
              <p:nvPr/>
            </p:nvSpPr>
            <p:spPr bwMode="auto">
              <a:xfrm>
                <a:off x="2448" y="2665"/>
                <a:ext cx="48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3</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endParaRPr kumimoji="1" lang="zh-CN"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13" name="Text Box 137"/>
              <p:cNvSpPr txBox="1">
                <a:spLocks noChangeArrowheads="1"/>
              </p:cNvSpPr>
              <p:nvPr/>
            </p:nvSpPr>
            <p:spPr bwMode="auto">
              <a:xfrm>
                <a:off x="2742" y="3320"/>
                <a:ext cx="38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61514" name="Text Box 138"/>
              <p:cNvSpPr txBox="1">
                <a:spLocks noChangeArrowheads="1"/>
              </p:cNvSpPr>
              <p:nvPr/>
            </p:nvSpPr>
            <p:spPr bwMode="auto">
              <a:xfrm>
                <a:off x="3343" y="2283"/>
                <a:ext cx="28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515" name="Text Box 139"/>
              <p:cNvSpPr txBox="1">
                <a:spLocks noChangeArrowheads="1"/>
              </p:cNvSpPr>
              <p:nvPr/>
            </p:nvSpPr>
            <p:spPr bwMode="auto">
              <a:xfrm>
                <a:off x="3312" y="3024"/>
                <a:ext cx="28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p:txBody>
          </p:sp>
        </p:grpSp>
        <p:sp>
          <p:nvSpPr>
            <p:cNvPr id="61499" name="Oval 140"/>
            <p:cNvSpPr>
              <a:spLocks noChangeArrowheads="1"/>
            </p:cNvSpPr>
            <p:nvPr/>
          </p:nvSpPr>
          <p:spPr bwMode="auto">
            <a:xfrm>
              <a:off x="2880" y="2471"/>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500" name="Oval 141"/>
            <p:cNvSpPr>
              <a:spLocks noChangeArrowheads="1"/>
            </p:cNvSpPr>
            <p:nvPr/>
          </p:nvSpPr>
          <p:spPr bwMode="auto">
            <a:xfrm>
              <a:off x="2880" y="3504"/>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1448" name="AutoShape 144"/>
          <p:cNvSpPr>
            <a:spLocks noChangeArrowheads="1"/>
          </p:cNvSpPr>
          <p:nvPr/>
        </p:nvSpPr>
        <p:spPr bwMode="auto">
          <a:xfrm>
            <a:off x="4572000" y="1981200"/>
            <a:ext cx="533400" cy="381000"/>
          </a:xfrm>
          <a:prstGeom prst="rightArrow">
            <a:avLst>
              <a:gd name="adj1" fmla="val 50000"/>
              <a:gd name="adj2" fmla="val 3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0194" name="Rectangle 146"/>
          <p:cNvSpPr>
            <a:spLocks noChangeArrowheads="1"/>
          </p:cNvSpPr>
          <p:nvPr/>
        </p:nvSpPr>
        <p:spPr bwMode="auto">
          <a:xfrm>
            <a:off x="381000" y="3505200"/>
            <a:ext cx="1219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hangingPunct="1">
              <a:defRPr/>
            </a:pPr>
            <a:r>
              <a:rPr lang="en-US" altLang="zh-CN" sz="2800" b="1" dirty="0"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800" b="1" dirty="0"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800" b="1" dirty="0" smtClean="0">
                <a:solidFill>
                  <a:srgbClr val="CC0000"/>
                </a:solidFill>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450" name="Text Box 147"/>
          <p:cNvSpPr txBox="1">
            <a:spLocks noChangeArrowheads="1"/>
          </p:cNvSpPr>
          <p:nvPr/>
        </p:nvSpPr>
        <p:spPr bwMode="auto">
          <a:xfrm>
            <a:off x="685800" y="4267200"/>
            <a:ext cx="6604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解</a:t>
            </a:r>
            <a:r>
              <a:rPr kumimoji="1" lang="en-US" altLang="zh-CN" sz="2800" b="1">
                <a:solidFill>
                  <a:srgbClr val="CC0000"/>
                </a:solidFill>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130196" name="Text Box 148"/>
          <p:cNvSpPr txBox="1">
            <a:spLocks noChangeArrowheads="1"/>
          </p:cNvSpPr>
          <p:nvPr/>
        </p:nvSpPr>
        <p:spPr bwMode="auto">
          <a:xfrm>
            <a:off x="1476375" y="3429000"/>
            <a:ext cx="59436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1" hangingPunct="1">
              <a:spcBef>
                <a:spcPct val="5000"/>
              </a:spcBef>
              <a:defRPr/>
            </a:pPr>
            <a:r>
              <a:rPr lang="zh-CN" altLang="en-US" sz="2600" b="1">
                <a:effectLst>
                  <a:outerShdw blurRad="38100" dist="38100" dir="2700000" algn="tl">
                    <a:srgbClr val="C0C0C0"/>
                  </a:outerShdw>
                </a:effectLst>
                <a:latin typeface="Times New Roman" panose="02020603050405020304" pitchFamily="18" charset="0"/>
                <a:ea typeface="华文中宋" panose="02010600040101010101" pitchFamily="2" charset="-122"/>
                <a:cs typeface="Times New Roman" panose="02020603050405020304" pitchFamily="18" charset="0"/>
              </a:rPr>
              <a:t>将下列的电压源等效变换为电流源。</a:t>
            </a:r>
          </a:p>
        </p:txBody>
      </p:sp>
      <p:grpSp>
        <p:nvGrpSpPr>
          <p:cNvPr id="61452" name="Group 149"/>
          <p:cNvGrpSpPr>
            <a:grpSpLocks/>
          </p:cNvGrpSpPr>
          <p:nvPr/>
        </p:nvGrpSpPr>
        <p:grpSpPr bwMode="auto">
          <a:xfrm>
            <a:off x="1676400" y="4189413"/>
            <a:ext cx="2319338" cy="2320926"/>
            <a:chOff x="3360" y="2399"/>
            <a:chExt cx="1461" cy="1462"/>
          </a:xfrm>
        </p:grpSpPr>
        <p:sp>
          <p:nvSpPr>
            <p:cNvPr id="61481" name="Oval 150"/>
            <p:cNvSpPr>
              <a:spLocks noChangeArrowheads="1"/>
            </p:cNvSpPr>
            <p:nvPr/>
          </p:nvSpPr>
          <p:spPr bwMode="auto">
            <a:xfrm flipV="1">
              <a:off x="3360" y="3178"/>
              <a:ext cx="239" cy="226"/>
            </a:xfrm>
            <a:prstGeom prst="ellipse">
              <a:avLst/>
            </a:prstGeom>
            <a:noFill/>
            <a:ln w="381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82" name="Line 151"/>
            <p:cNvSpPr>
              <a:spLocks noChangeShapeType="1"/>
            </p:cNvSpPr>
            <p:nvPr/>
          </p:nvSpPr>
          <p:spPr bwMode="auto">
            <a:xfrm flipV="1">
              <a:off x="3480" y="3008"/>
              <a:ext cx="0" cy="565"/>
            </a:xfrm>
            <a:prstGeom prst="line">
              <a:avLst/>
            </a:prstGeom>
            <a:noFill/>
            <a:ln w="381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83" name="Rectangle 152"/>
            <p:cNvSpPr>
              <a:spLocks noChangeArrowheads="1"/>
            </p:cNvSpPr>
            <p:nvPr/>
          </p:nvSpPr>
          <p:spPr bwMode="auto">
            <a:xfrm flipV="1">
              <a:off x="3419" y="2782"/>
              <a:ext cx="120" cy="22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10800000"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84" name="Line 153"/>
            <p:cNvSpPr>
              <a:spLocks noChangeShapeType="1"/>
            </p:cNvSpPr>
            <p:nvPr/>
          </p:nvSpPr>
          <p:spPr bwMode="auto">
            <a:xfrm flipV="1">
              <a:off x="3480" y="2570"/>
              <a:ext cx="0" cy="2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85" name="Text Box 154"/>
            <p:cNvSpPr txBox="1">
              <a:spLocks noChangeArrowheads="1"/>
            </p:cNvSpPr>
            <p:nvPr/>
          </p:nvSpPr>
          <p:spPr bwMode="auto">
            <a:xfrm>
              <a:off x="3539" y="2904"/>
              <a:ext cx="240" cy="7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800">
                <a:latin typeface="Times New Roman" panose="02020603050405020304" pitchFamily="18" charset="0"/>
                <a:ea typeface="华文中宋" panose="02010600040101010101" pitchFamily="2" charset="-122"/>
                <a:cs typeface="Times New Roman" panose="02020603050405020304" pitchFamily="18" charset="0"/>
              </a:endParaRPr>
            </a:p>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486" name="Line 155"/>
            <p:cNvSpPr>
              <a:spLocks noChangeShapeType="1"/>
            </p:cNvSpPr>
            <p:nvPr/>
          </p:nvSpPr>
          <p:spPr bwMode="auto">
            <a:xfrm>
              <a:off x="3480" y="2570"/>
              <a:ext cx="101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87" name="Oval 156"/>
            <p:cNvSpPr>
              <a:spLocks noChangeArrowheads="1"/>
            </p:cNvSpPr>
            <p:nvPr/>
          </p:nvSpPr>
          <p:spPr bwMode="auto">
            <a:xfrm>
              <a:off x="4497" y="2542"/>
              <a:ext cx="73" cy="70"/>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88" name="Text Box 157"/>
            <p:cNvSpPr txBox="1">
              <a:spLocks noChangeArrowheads="1"/>
            </p:cNvSpPr>
            <p:nvPr/>
          </p:nvSpPr>
          <p:spPr bwMode="auto">
            <a:xfrm>
              <a:off x="4592" y="2399"/>
              <a:ext cx="22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61489" name="Line 158"/>
            <p:cNvSpPr>
              <a:spLocks noChangeShapeType="1"/>
            </p:cNvSpPr>
            <p:nvPr/>
          </p:nvSpPr>
          <p:spPr bwMode="auto">
            <a:xfrm>
              <a:off x="3480" y="3558"/>
              <a:ext cx="101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90" name="Oval 159"/>
            <p:cNvSpPr>
              <a:spLocks noChangeArrowheads="1"/>
            </p:cNvSpPr>
            <p:nvPr/>
          </p:nvSpPr>
          <p:spPr bwMode="auto">
            <a:xfrm>
              <a:off x="4482" y="3530"/>
              <a:ext cx="73" cy="70"/>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91" name="Text Box 160"/>
            <p:cNvSpPr txBox="1">
              <a:spLocks noChangeArrowheads="1"/>
            </p:cNvSpPr>
            <p:nvPr/>
          </p:nvSpPr>
          <p:spPr bwMode="auto">
            <a:xfrm>
              <a:off x="4569" y="3388"/>
              <a:ext cx="24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61492" name="Text Box 161"/>
            <p:cNvSpPr txBox="1">
              <a:spLocks noChangeArrowheads="1"/>
            </p:cNvSpPr>
            <p:nvPr/>
          </p:nvSpPr>
          <p:spPr bwMode="auto">
            <a:xfrm>
              <a:off x="4362" y="2879"/>
              <a:ext cx="28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U</a:t>
              </a:r>
            </a:p>
          </p:txBody>
        </p:sp>
        <p:sp>
          <p:nvSpPr>
            <p:cNvPr id="61493" name="Text Box 162"/>
            <p:cNvSpPr txBox="1">
              <a:spLocks noChangeArrowheads="1"/>
            </p:cNvSpPr>
            <p:nvPr/>
          </p:nvSpPr>
          <p:spPr bwMode="auto">
            <a:xfrm>
              <a:off x="3496" y="2739"/>
              <a:ext cx="40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endParaRPr kumimoji="1" lang="zh-CN"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94" name="Text Box 163"/>
            <p:cNvSpPr txBox="1">
              <a:spLocks noChangeArrowheads="1"/>
            </p:cNvSpPr>
            <p:nvPr/>
          </p:nvSpPr>
          <p:spPr bwMode="auto">
            <a:xfrm>
              <a:off x="3584" y="3142"/>
              <a:ext cx="39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8V</a:t>
              </a:r>
            </a:p>
          </p:txBody>
        </p:sp>
        <p:sp>
          <p:nvSpPr>
            <p:cNvPr id="61495" name="Text Box 164"/>
            <p:cNvSpPr txBox="1">
              <a:spLocks noChangeArrowheads="1"/>
            </p:cNvSpPr>
            <p:nvPr/>
          </p:nvSpPr>
          <p:spPr bwMode="auto">
            <a:xfrm>
              <a:off x="3812" y="3531"/>
              <a:ext cx="38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p>
          </p:txBody>
        </p:sp>
        <p:sp>
          <p:nvSpPr>
            <p:cNvPr id="61496" name="Text Box 165"/>
            <p:cNvSpPr txBox="1">
              <a:spLocks noChangeArrowheads="1"/>
            </p:cNvSpPr>
            <p:nvPr/>
          </p:nvSpPr>
          <p:spPr bwMode="auto">
            <a:xfrm>
              <a:off x="4414" y="2551"/>
              <a:ext cx="2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497" name="Text Box 166"/>
            <p:cNvSpPr txBox="1">
              <a:spLocks noChangeArrowheads="1"/>
            </p:cNvSpPr>
            <p:nvPr/>
          </p:nvSpPr>
          <p:spPr bwMode="auto">
            <a:xfrm>
              <a:off x="4414" y="3286"/>
              <a:ext cx="2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p:txBody>
        </p:sp>
      </p:grpSp>
      <p:grpSp>
        <p:nvGrpSpPr>
          <p:cNvPr id="130215" name="Group 167"/>
          <p:cNvGrpSpPr>
            <a:grpSpLocks/>
          </p:cNvGrpSpPr>
          <p:nvPr/>
        </p:nvGrpSpPr>
        <p:grpSpPr bwMode="auto">
          <a:xfrm>
            <a:off x="4784725" y="4148138"/>
            <a:ext cx="3028951" cy="2408238"/>
            <a:chOff x="1837" y="2323"/>
            <a:chExt cx="1908" cy="1517"/>
          </a:xfrm>
        </p:grpSpPr>
        <p:grpSp>
          <p:nvGrpSpPr>
            <p:cNvPr id="61455" name="Group 168"/>
            <p:cNvGrpSpPr>
              <a:grpSpLocks/>
            </p:cNvGrpSpPr>
            <p:nvPr/>
          </p:nvGrpSpPr>
          <p:grpSpPr bwMode="auto">
            <a:xfrm>
              <a:off x="1837" y="2323"/>
              <a:ext cx="1908" cy="1517"/>
              <a:chOff x="1837" y="2131"/>
              <a:chExt cx="1908" cy="1517"/>
            </a:xfrm>
          </p:grpSpPr>
          <p:sp>
            <p:nvSpPr>
              <p:cNvPr id="61458" name="Line 169"/>
              <p:cNvSpPr>
                <a:spLocks noChangeShapeType="1"/>
              </p:cNvSpPr>
              <p:nvPr/>
            </p:nvSpPr>
            <p:spPr bwMode="auto">
              <a:xfrm>
                <a:off x="2353" y="2302"/>
                <a:ext cx="105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59" name="Oval 170"/>
              <p:cNvSpPr>
                <a:spLocks noChangeArrowheads="1"/>
              </p:cNvSpPr>
              <p:nvPr/>
            </p:nvSpPr>
            <p:spPr bwMode="auto">
              <a:xfrm>
                <a:off x="3405" y="2272"/>
                <a:ext cx="77" cy="73"/>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60" name="Text Box 171"/>
              <p:cNvSpPr txBox="1">
                <a:spLocks noChangeArrowheads="1"/>
              </p:cNvSpPr>
              <p:nvPr/>
            </p:nvSpPr>
            <p:spPr bwMode="auto">
              <a:xfrm>
                <a:off x="3506" y="2131"/>
                <a:ext cx="229"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a:t>
                </a:r>
              </a:p>
            </p:txBody>
          </p:sp>
          <p:grpSp>
            <p:nvGrpSpPr>
              <p:cNvPr id="61461" name="Group 172"/>
              <p:cNvGrpSpPr>
                <a:grpSpLocks/>
              </p:cNvGrpSpPr>
              <p:nvPr/>
            </p:nvGrpSpPr>
            <p:grpSpPr bwMode="auto">
              <a:xfrm>
                <a:off x="2843" y="2302"/>
                <a:ext cx="122" cy="1058"/>
                <a:chOff x="2822" y="2499"/>
                <a:chExt cx="136" cy="1175"/>
              </a:xfrm>
            </p:grpSpPr>
            <p:sp>
              <p:nvSpPr>
                <p:cNvPr id="61478" name="Rectangle 173"/>
                <p:cNvSpPr>
                  <a:spLocks noChangeArrowheads="1"/>
                </p:cNvSpPr>
                <p:nvPr/>
              </p:nvSpPr>
              <p:spPr bwMode="auto">
                <a:xfrm>
                  <a:off x="2822" y="2956"/>
                  <a:ext cx="136" cy="261"/>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79" name="Line 174"/>
                <p:cNvSpPr>
                  <a:spLocks noChangeShapeType="1"/>
                </p:cNvSpPr>
                <p:nvPr/>
              </p:nvSpPr>
              <p:spPr bwMode="auto">
                <a:xfrm>
                  <a:off x="2890" y="3217"/>
                  <a:ext cx="0" cy="45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80" name="Line 175"/>
                <p:cNvSpPr>
                  <a:spLocks noChangeShapeType="1"/>
                </p:cNvSpPr>
                <p:nvPr/>
              </p:nvSpPr>
              <p:spPr bwMode="auto">
                <a:xfrm flipV="1">
                  <a:off x="2890" y="2499"/>
                  <a:ext cx="0" cy="45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1462" name="Text Box 176"/>
              <p:cNvSpPr txBox="1">
                <a:spLocks noChangeArrowheads="1"/>
              </p:cNvSpPr>
              <p:nvPr/>
            </p:nvSpPr>
            <p:spPr bwMode="auto">
              <a:xfrm>
                <a:off x="1837" y="2671"/>
                <a:ext cx="39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4A</a:t>
                </a:r>
              </a:p>
            </p:txBody>
          </p:sp>
          <p:grpSp>
            <p:nvGrpSpPr>
              <p:cNvPr id="61463" name="Group 177"/>
              <p:cNvGrpSpPr>
                <a:grpSpLocks/>
              </p:cNvGrpSpPr>
              <p:nvPr/>
            </p:nvGrpSpPr>
            <p:grpSpPr bwMode="auto">
              <a:xfrm>
                <a:off x="2231" y="2302"/>
                <a:ext cx="245" cy="1058"/>
                <a:chOff x="2142" y="2499"/>
                <a:chExt cx="272" cy="1175"/>
              </a:xfrm>
            </p:grpSpPr>
            <p:grpSp>
              <p:nvGrpSpPr>
                <p:cNvPr id="61473" name="Group 178"/>
                <p:cNvGrpSpPr>
                  <a:grpSpLocks/>
                </p:cNvGrpSpPr>
                <p:nvPr/>
              </p:nvGrpSpPr>
              <p:grpSpPr bwMode="auto">
                <a:xfrm>
                  <a:off x="2142" y="2956"/>
                  <a:ext cx="272" cy="261"/>
                  <a:chOff x="2142" y="2956"/>
                  <a:chExt cx="272" cy="261"/>
                </a:xfrm>
              </p:grpSpPr>
              <p:sp>
                <p:nvSpPr>
                  <p:cNvPr id="61476" name="Oval 179"/>
                  <p:cNvSpPr>
                    <a:spLocks noChangeArrowheads="1"/>
                  </p:cNvSpPr>
                  <p:nvPr/>
                </p:nvSpPr>
                <p:spPr bwMode="auto">
                  <a:xfrm flipV="1">
                    <a:off x="2142" y="2956"/>
                    <a:ext cx="272" cy="261"/>
                  </a:xfrm>
                  <a:prstGeom prst="ellipse">
                    <a:avLst/>
                  </a:prstGeom>
                  <a:noFill/>
                  <a:ln w="3810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77" name="Line 180"/>
                  <p:cNvSpPr>
                    <a:spLocks noChangeShapeType="1"/>
                  </p:cNvSpPr>
                  <p:nvPr/>
                </p:nvSpPr>
                <p:spPr bwMode="auto">
                  <a:xfrm flipV="1">
                    <a:off x="2142" y="3087"/>
                    <a:ext cx="272" cy="0"/>
                  </a:xfrm>
                  <a:prstGeom prst="line">
                    <a:avLst/>
                  </a:prstGeom>
                  <a:noFill/>
                  <a:ln w="3810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1474" name="Line 181"/>
                <p:cNvSpPr>
                  <a:spLocks noChangeShapeType="1"/>
                </p:cNvSpPr>
                <p:nvPr/>
              </p:nvSpPr>
              <p:spPr bwMode="auto">
                <a:xfrm>
                  <a:off x="2278" y="3217"/>
                  <a:ext cx="0" cy="45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75" name="Line 182"/>
                <p:cNvSpPr>
                  <a:spLocks noChangeShapeType="1"/>
                </p:cNvSpPr>
                <p:nvPr/>
              </p:nvSpPr>
              <p:spPr bwMode="auto">
                <a:xfrm>
                  <a:off x="2278" y="2499"/>
                  <a:ext cx="0" cy="45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1464" name="Line 183"/>
              <p:cNvSpPr>
                <a:spLocks noChangeShapeType="1"/>
              </p:cNvSpPr>
              <p:nvPr/>
            </p:nvSpPr>
            <p:spPr bwMode="auto">
              <a:xfrm>
                <a:off x="2368" y="3345"/>
                <a:ext cx="105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65" name="Oval 184"/>
              <p:cNvSpPr>
                <a:spLocks noChangeArrowheads="1"/>
              </p:cNvSpPr>
              <p:nvPr/>
            </p:nvSpPr>
            <p:spPr bwMode="auto">
              <a:xfrm>
                <a:off x="3410" y="3315"/>
                <a:ext cx="75" cy="74"/>
              </a:xfrm>
              <a:prstGeom prst="ellipse">
                <a:avLst/>
              </a:prstGeom>
              <a:noFill/>
              <a:ln w="381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66" name="Text Box 185"/>
              <p:cNvSpPr txBox="1">
                <a:spLocks noChangeArrowheads="1"/>
              </p:cNvSpPr>
              <p:nvPr/>
            </p:nvSpPr>
            <p:spPr bwMode="auto">
              <a:xfrm>
                <a:off x="3502" y="3173"/>
                <a:ext cx="24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61467" name="Line 186"/>
              <p:cNvSpPr>
                <a:spLocks noChangeShapeType="1"/>
              </p:cNvSpPr>
              <p:nvPr/>
            </p:nvSpPr>
            <p:spPr bwMode="auto">
              <a:xfrm flipV="1">
                <a:off x="2204" y="2678"/>
                <a:ext cx="0" cy="313"/>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68" name="Text Box 187"/>
              <p:cNvSpPr txBox="1">
                <a:spLocks noChangeArrowheads="1"/>
              </p:cNvSpPr>
              <p:nvPr/>
            </p:nvSpPr>
            <p:spPr bwMode="auto">
              <a:xfrm>
                <a:off x="3278" y="2679"/>
                <a:ext cx="280"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i="1">
                    <a:latin typeface="Times New Roman" panose="02020603050405020304" pitchFamily="18" charset="0"/>
                    <a:ea typeface="华文中宋" panose="02010600040101010101" pitchFamily="2" charset="-122"/>
                    <a:cs typeface="Times New Roman" panose="02020603050405020304" pitchFamily="18" charset="0"/>
                  </a:rPr>
                  <a:t>U</a:t>
                </a:r>
              </a:p>
            </p:txBody>
          </p:sp>
          <p:sp>
            <p:nvSpPr>
              <p:cNvPr id="61469" name="Text Box 188"/>
              <p:cNvSpPr txBox="1">
                <a:spLocks noChangeArrowheads="1"/>
              </p:cNvSpPr>
              <p:nvPr/>
            </p:nvSpPr>
            <p:spPr bwMode="auto">
              <a:xfrm>
                <a:off x="2448" y="2665"/>
                <a:ext cx="484"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2</a:t>
                </a: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endParaRPr kumimoji="1" lang="zh-CN" altLang="zh-CN" sz="2800" b="1">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70" name="Text Box 189"/>
              <p:cNvSpPr txBox="1">
                <a:spLocks noChangeArrowheads="1"/>
              </p:cNvSpPr>
              <p:nvPr/>
            </p:nvSpPr>
            <p:spPr bwMode="auto">
              <a:xfrm>
                <a:off x="2738" y="3321"/>
                <a:ext cx="391"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(b)</a:t>
                </a:r>
              </a:p>
            </p:txBody>
          </p:sp>
          <p:sp>
            <p:nvSpPr>
              <p:cNvPr id="61471" name="Text Box 190"/>
              <p:cNvSpPr txBox="1">
                <a:spLocks noChangeArrowheads="1"/>
              </p:cNvSpPr>
              <p:nvPr/>
            </p:nvSpPr>
            <p:spPr bwMode="auto">
              <a:xfrm>
                <a:off x="3343" y="2283"/>
                <a:ext cx="28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rPr>
                  <a:t>+</a:t>
                </a:r>
              </a:p>
            </p:txBody>
          </p:sp>
          <p:sp>
            <p:nvSpPr>
              <p:cNvPr id="61472" name="Text Box 191"/>
              <p:cNvSpPr txBox="1">
                <a:spLocks noChangeArrowheads="1"/>
              </p:cNvSpPr>
              <p:nvPr/>
            </p:nvSpPr>
            <p:spPr bwMode="auto">
              <a:xfrm>
                <a:off x="3312" y="3024"/>
                <a:ext cx="28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p:txBody>
          </p:sp>
        </p:grpSp>
        <p:sp>
          <p:nvSpPr>
            <p:cNvPr id="61456" name="Oval 192"/>
            <p:cNvSpPr>
              <a:spLocks noChangeArrowheads="1"/>
            </p:cNvSpPr>
            <p:nvPr/>
          </p:nvSpPr>
          <p:spPr bwMode="auto">
            <a:xfrm>
              <a:off x="2880" y="2471"/>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61457" name="Oval 193"/>
            <p:cNvSpPr>
              <a:spLocks noChangeArrowheads="1"/>
            </p:cNvSpPr>
            <p:nvPr/>
          </p:nvSpPr>
          <p:spPr bwMode="auto">
            <a:xfrm>
              <a:off x="2880" y="3504"/>
              <a:ext cx="57" cy="57"/>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grpSp>
      <p:sp>
        <p:nvSpPr>
          <p:cNvPr id="61454" name="AutoShape 194"/>
          <p:cNvSpPr>
            <a:spLocks noChangeArrowheads="1"/>
          </p:cNvSpPr>
          <p:nvPr/>
        </p:nvSpPr>
        <p:spPr bwMode="auto">
          <a:xfrm>
            <a:off x="4211638" y="4941888"/>
            <a:ext cx="533400" cy="381000"/>
          </a:xfrm>
          <a:prstGeom prst="rightArrow">
            <a:avLst>
              <a:gd name="adj1" fmla="val 50000"/>
              <a:gd name="adj2" fmla="val 35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latin typeface="Times New Roman" panose="02020603050405020304" pitchFamily="18" charset="0"/>
              <a:ea typeface="华文中宋"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0191"/>
                                        </p:tgtEl>
                                        <p:attrNameLst>
                                          <p:attrName>style.visibility</p:attrName>
                                        </p:attrNameLst>
                                      </p:cBhvr>
                                      <p:to>
                                        <p:strVal val="visible"/>
                                      </p:to>
                                    </p:set>
                                    <p:anim calcmode="lin" valueType="num">
                                      <p:cBhvr additive="base">
                                        <p:cTn id="7" dur="500" fill="hold"/>
                                        <p:tgtEl>
                                          <p:spTgt spid="130191"/>
                                        </p:tgtEl>
                                        <p:attrNameLst>
                                          <p:attrName>ppt_x</p:attrName>
                                        </p:attrNameLst>
                                      </p:cBhvr>
                                      <p:tavLst>
                                        <p:tav tm="0">
                                          <p:val>
                                            <p:strVal val="#ppt_x"/>
                                          </p:val>
                                        </p:tav>
                                        <p:tav tm="100000">
                                          <p:val>
                                            <p:strVal val="#ppt_x"/>
                                          </p:val>
                                        </p:tav>
                                      </p:tavLst>
                                    </p:anim>
                                    <p:anim calcmode="lin" valueType="num">
                                      <p:cBhvr additive="base">
                                        <p:cTn id="8" dur="500" fill="hold"/>
                                        <p:tgtEl>
                                          <p:spTgt spid="13019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30215"/>
                                        </p:tgtEl>
                                        <p:attrNameLst>
                                          <p:attrName>style.visibility</p:attrName>
                                        </p:attrNameLst>
                                      </p:cBhvr>
                                      <p:to>
                                        <p:strVal val="visible"/>
                                      </p:to>
                                    </p:set>
                                    <p:anim calcmode="lin" valueType="num">
                                      <p:cBhvr additive="base">
                                        <p:cTn id="13" dur="500" fill="hold"/>
                                        <p:tgtEl>
                                          <p:spTgt spid="130215"/>
                                        </p:tgtEl>
                                        <p:attrNameLst>
                                          <p:attrName>ppt_x</p:attrName>
                                        </p:attrNameLst>
                                      </p:cBhvr>
                                      <p:tavLst>
                                        <p:tav tm="0">
                                          <p:val>
                                            <p:strVal val="#ppt_x"/>
                                          </p:val>
                                        </p:tav>
                                        <p:tav tm="100000">
                                          <p:val>
                                            <p:strVal val="#ppt_x"/>
                                          </p:val>
                                        </p:tav>
                                      </p:tavLst>
                                    </p:anim>
                                    <p:anim calcmode="lin" valueType="num">
                                      <p:cBhvr additive="base">
                                        <p:cTn id="14" dur="500" fill="hold"/>
                                        <p:tgtEl>
                                          <p:spTgt spid="1302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bwMode="auto">
          <a:xfrm>
            <a:off x="395288" y="908050"/>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b="1" dirty="0" smtClean="0">
                <a:latin typeface="Times New Roman" panose="02020603050405020304" pitchFamily="18" charset="0"/>
                <a:ea typeface="华文中宋" panose="02010600040101010101" pitchFamily="2" charset="-122"/>
                <a:cs typeface="Times New Roman" panose="02020603050405020304" pitchFamily="18" charset="0"/>
              </a:rPr>
              <a:t>第一章作业</a:t>
            </a:r>
          </a:p>
        </p:txBody>
      </p:sp>
      <p:sp>
        <p:nvSpPr>
          <p:cNvPr id="90115" name="内容占位符 2"/>
          <p:cNvSpPr>
            <a:spLocks noGrp="1"/>
          </p:cNvSpPr>
          <p:nvPr>
            <p:ph idx="1"/>
          </p:nvPr>
        </p:nvSpPr>
        <p:spPr bwMode="auto">
          <a:xfrm>
            <a:off x="611188" y="2276475"/>
            <a:ext cx="8229600" cy="19732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dirty="0" smtClean="0">
                <a:latin typeface="Times New Roman" panose="02020603050405020304" pitchFamily="18" charset="0"/>
                <a:ea typeface="华文中宋" panose="02010600040101010101" pitchFamily="2" charset="-122"/>
                <a:cs typeface="Times New Roman" panose="02020603050405020304" pitchFamily="18" charset="0"/>
              </a:rPr>
              <a:t>P22</a:t>
            </a:r>
            <a:r>
              <a:rPr lang="zh-CN" altLang="en-US" dirty="0" smtClean="0">
                <a:latin typeface="Times New Roman" panose="02020603050405020304" pitchFamily="18" charset="0"/>
                <a:ea typeface="华文中宋" panose="02010600040101010101" pitchFamily="2" charset="-122"/>
                <a:cs typeface="Times New Roman" panose="02020603050405020304" pitchFamily="18" charset="0"/>
              </a:rPr>
              <a:t>至</a:t>
            </a:r>
            <a:r>
              <a:rPr lang="en-US" altLang="zh-CN" dirty="0" smtClean="0">
                <a:latin typeface="Times New Roman" panose="02020603050405020304" pitchFamily="18" charset="0"/>
                <a:ea typeface="华文中宋" panose="02010600040101010101" pitchFamily="2" charset="-122"/>
                <a:cs typeface="Times New Roman" panose="02020603050405020304" pitchFamily="18" charset="0"/>
              </a:rPr>
              <a:t>P23</a:t>
            </a:r>
          </a:p>
          <a:p>
            <a:r>
              <a:rPr lang="en-US" altLang="zh-CN" dirty="0" smtClean="0">
                <a:latin typeface="Times New Roman" panose="02020603050405020304" pitchFamily="18" charset="0"/>
                <a:ea typeface="华文中宋" panose="02010600040101010101" pitchFamily="2" charset="-122"/>
                <a:cs typeface="Times New Roman" panose="02020603050405020304" pitchFamily="18" charset="0"/>
              </a:rPr>
              <a:t>1-1</a:t>
            </a:r>
            <a:r>
              <a:rPr lang="zh-CN" altLang="en-US" dirty="0" smtClean="0">
                <a:latin typeface="Times New Roman" panose="02020603050405020304" pitchFamily="18" charset="0"/>
                <a:ea typeface="华文中宋" panose="02010600040101010101" pitchFamily="2" charset="-122"/>
                <a:cs typeface="Times New Roman" panose="02020603050405020304" pitchFamily="18" charset="0"/>
              </a:rPr>
              <a:t>至</a:t>
            </a:r>
            <a:r>
              <a:rPr lang="en-US" altLang="zh-CN" dirty="0" smtClean="0">
                <a:latin typeface="Times New Roman" panose="02020603050405020304" pitchFamily="18" charset="0"/>
                <a:ea typeface="华文中宋" panose="02010600040101010101" pitchFamily="2" charset="-122"/>
                <a:cs typeface="Times New Roman" panose="02020603050405020304" pitchFamily="18" charset="0"/>
              </a:rPr>
              <a:t>1-10</a:t>
            </a:r>
          </a:p>
          <a:p>
            <a:pPr marL="0" indent="0">
              <a:buNone/>
            </a:pPr>
            <a:endParaRPr lang="en-US" altLang="zh-CN"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90117" name="灯片编号占位符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fld id="{E54D28CF-A605-4A07-9698-6954FDDF8470}" type="slidenum">
              <a:rPr lang="en-US" altLang="zh-CN" sz="1400" b="0">
                <a:latin typeface="Times New Roman" panose="02020603050405020304" pitchFamily="18" charset="0"/>
                <a:ea typeface="华文中宋" panose="02010600040101010101" pitchFamily="2" charset="-122"/>
                <a:cs typeface="Times New Roman" panose="02020603050405020304" pitchFamily="18" charset="0"/>
              </a:rPr>
              <a:pPr eaLnBrk="1" hangingPunct="1"/>
              <a:t>57</a:t>
            </a:fld>
            <a:endParaRPr lang="en-US" altLang="zh-CN" sz="1400" b="0">
              <a:latin typeface="Times New Roman" panose="02020603050405020304" pitchFamily="18" charset="0"/>
              <a:ea typeface="华文中宋"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62581615"/>
      </p:ext>
    </p:extLst>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6838</TotalTime>
  <Words>4651</Words>
  <Application>Microsoft Office PowerPoint</Application>
  <PresentationFormat>全屏显示(4:3)</PresentationFormat>
  <Paragraphs>938</Paragraphs>
  <Slides>57</Slides>
  <Notes>5</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57</vt:i4>
      </vt:variant>
    </vt:vector>
  </HeadingPairs>
  <TitlesOfParts>
    <vt:vector size="61" baseType="lpstr">
      <vt:lpstr>默认设计模板</vt:lpstr>
      <vt:lpstr>Equation</vt:lpstr>
      <vt:lpstr>VISIO</vt:lpstr>
      <vt:lpstr>公式</vt:lpstr>
      <vt:lpstr>第 1 章 电路分析导论</vt:lpstr>
      <vt:lpstr>第1章  电路分析导论</vt:lpstr>
      <vt:lpstr>1.1 电路与电路模型</vt:lpstr>
      <vt:lpstr>1.1 电路与电路模型</vt:lpstr>
      <vt:lpstr>PowerPoint 演示文稿</vt:lpstr>
      <vt:lpstr>PowerPoint 演示文稿</vt:lpstr>
      <vt:lpstr>1.2 电路的基本物理量</vt:lpstr>
      <vt:lpstr>PowerPoint 演示文稿</vt:lpstr>
      <vt:lpstr>PowerPoint 演示文稿</vt:lpstr>
      <vt:lpstr>PowerPoint 演示文稿</vt:lpstr>
      <vt:lpstr>PowerPoint 演示文稿</vt:lpstr>
      <vt:lpstr>PowerPoint 演示文稿</vt:lpstr>
      <vt:lpstr>PowerPoint 演示文稿</vt:lpstr>
      <vt:lpstr>1.2.3  电功率</vt:lpstr>
      <vt:lpstr>PowerPoint 演示文稿</vt:lpstr>
      <vt:lpstr>PowerPoint 演示文稿</vt:lpstr>
      <vt:lpstr>PowerPoint 演示文稿</vt:lpstr>
      <vt:lpstr>1.3   电路基本元件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对照电容元件与电感元件</vt:lpstr>
      <vt:lpstr>PowerPoint 演示文稿</vt:lpstr>
      <vt:lpstr>PowerPoint 演示文稿</vt:lpstr>
      <vt:lpstr>PowerPoint 演示文稿</vt:lpstr>
      <vt:lpstr>PowerPoint 演示文稿</vt:lpstr>
      <vt:lpstr>PowerPoint 演示文稿</vt:lpstr>
      <vt:lpstr>PowerPoint 演示文稿</vt:lpstr>
      <vt:lpstr>1. 4  基尔霍夫定律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第1章  电路分析导论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第一章作业</vt:lpstr>
    </vt:vector>
  </TitlesOfParts>
  <Company>neu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电工基础</dc:title>
  <dc:creator>csl</dc:creator>
  <cp:lastModifiedBy>H</cp:lastModifiedBy>
  <cp:revision>272</cp:revision>
  <cp:lastPrinted>2020-02-18T15:46:51Z</cp:lastPrinted>
  <dcterms:created xsi:type="dcterms:W3CDTF">2004-08-05T01:47:15Z</dcterms:created>
  <dcterms:modified xsi:type="dcterms:W3CDTF">2021-03-10T02:25:58Z</dcterms:modified>
</cp:coreProperties>
</file>